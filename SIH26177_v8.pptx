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2.svg" ContentType="image/svg+xml"/>
  <Override PartName="/ppt/media/image14.svg" ContentType="image/svg+xml"/>
  <Override PartName="/ppt/media/image16.svg" ContentType="image/svg+xml"/>
  <Override PartName="/ppt/media/image2.svg" ContentType="image/svg+xml"/>
  <Override PartName="/ppt/media/image22.svg" ContentType="image/svg+xml"/>
  <Override PartName="/ppt/media/image26.svg" ContentType="image/svg+xml"/>
  <Override PartName="/ppt/media/image28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50.svg" ContentType="image/svg+xml"/>
  <Override PartName="/ppt/media/image56.svg" ContentType="image/svg+xml"/>
  <Override PartName="/ppt/media/image58.svg" ContentType="image/svg+xml"/>
  <Override PartName="/ppt/media/image60.svg" ContentType="image/svg+xml"/>
  <Override PartName="/ppt/media/image63.svg" ContentType="image/svg+xml"/>
  <Override PartName="/ppt/media/image6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amond Bold" charset="1" panose="02020804030307010803"/>
      <p:regular r:id="rId12"/>
    </p:embeddedFont>
    <p:embeddedFont>
      <p:font typeface="Calibri (MS) Bold" charset="1" panose="020F0702030404030204"/>
      <p:regular r:id="rId13"/>
    </p:embeddedFont>
    <p:embeddedFont>
      <p:font typeface="Calibri (MS)" charset="1" panose="020F0502020204030204"/>
      <p:regular r:id="rId14"/>
    </p:embeddedFont>
    <p:embeddedFont>
      <p:font typeface="Times New Roman Bold" charset="1" panose="02020803070505020304"/>
      <p:regular r:id="rId18"/>
    </p:embeddedFont>
    <p:embeddedFont>
      <p:font typeface="Arimo Bold" charset="1" panose="020B0704020202020204"/>
      <p:regular r:id="rId19"/>
    </p:embeddedFont>
    <p:embeddedFont>
      <p:font typeface="Courier New Bold" charset="1" panose="02070609020205020404"/>
      <p:regular r:id="rId24"/>
    </p:embeddedFont>
    <p:embeddedFont>
      <p:font typeface="Calibri (MS) Italics" charset="1" panose="020F05020202040A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font12.fntdata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notesMaster" Target="notesMasters/notesMaster1.xml"/><Relationship Id="rId16" Type="http://schemas.openxmlformats.org/officeDocument/2006/relationships/theme" Target="theme/theme2.xml"/><Relationship Id="rId17" Type="http://schemas.openxmlformats.org/officeDocument/2006/relationships/notesSlide" Target="notesSlides/notesSlide1.xml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notesSlide" Target="notesSlides/notesSlide2.xml"/><Relationship Id="rId21" Type="http://schemas.openxmlformats.org/officeDocument/2006/relationships/notesSlide" Target="notesSlides/notesSlide3.xml"/><Relationship Id="rId22" Type="http://schemas.openxmlformats.org/officeDocument/2006/relationships/notesSlide" Target="notesSlides/notesSlide4.xml"/><Relationship Id="rId23" Type="http://schemas.openxmlformats.org/officeDocument/2006/relationships/notesSlide" Target="notesSlides/notesSlide5.xml"/><Relationship Id="rId24" Type="http://schemas.openxmlformats.org/officeDocument/2006/relationships/font" Target="fonts/font24.fntdata"/><Relationship Id="rId25" Type="http://schemas.openxmlformats.org/officeDocument/2006/relationships/font" Target="fonts/font25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4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5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jpeg"/><Relationship Id="rId6" Type="http://schemas.openxmlformats.org/officeDocument/2006/relationships/image" Target="../media/image5.jpe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svg"/><Relationship Id="rId9" Type="http://schemas.openxmlformats.org/officeDocument/2006/relationships/image" Target="../media/image13.png"/><Relationship Id="rId10" Type="http://schemas.openxmlformats.org/officeDocument/2006/relationships/image" Target="../media/image14.svg"/><Relationship Id="rId11" Type="http://schemas.openxmlformats.org/officeDocument/2006/relationships/image" Target="../media/image15.png"/><Relationship Id="rId12" Type="http://schemas.openxmlformats.org/officeDocument/2006/relationships/image" Target="../media/image16.svg"/><Relationship Id="rId13" Type="http://schemas.openxmlformats.org/officeDocument/2006/relationships/image" Target="../media/image17.png"/><Relationship Id="rId14" Type="http://schemas.openxmlformats.org/officeDocument/2006/relationships/image" Target="../media/image18.png"/><Relationship Id="rId15" Type="http://schemas.openxmlformats.org/officeDocument/2006/relationships/image" Target="../media/image19.png"/><Relationship Id="rId16" Type="http://schemas.openxmlformats.org/officeDocument/2006/relationships/image" Target="../media/image20.png"/><Relationship Id="rId17" Type="http://schemas.openxmlformats.org/officeDocument/2006/relationships/image" Target="../media/image21.png"/><Relationship Id="rId18" Type="http://schemas.openxmlformats.org/officeDocument/2006/relationships/image" Target="../media/image22.svg"/><Relationship Id="rId19" Type="http://schemas.openxmlformats.org/officeDocument/2006/relationships/image" Target="../media/image23.png"/><Relationship Id="rId20" Type="http://schemas.openxmlformats.org/officeDocument/2006/relationships/image" Target="../media/image24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25.png"/><Relationship Id="rId8" Type="http://schemas.openxmlformats.org/officeDocument/2006/relationships/image" Target="../media/image26.svg"/><Relationship Id="rId9" Type="http://schemas.openxmlformats.org/officeDocument/2006/relationships/image" Target="../media/image27.png"/><Relationship Id="rId10" Type="http://schemas.openxmlformats.org/officeDocument/2006/relationships/image" Target="../media/image28.svg"/><Relationship Id="rId11" Type="http://schemas.openxmlformats.org/officeDocument/2006/relationships/image" Target="../media/image29.jpeg"/><Relationship Id="rId12" Type="http://schemas.openxmlformats.org/officeDocument/2006/relationships/image" Target="../media/image30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31.png"/><Relationship Id="rId8" Type="http://schemas.openxmlformats.org/officeDocument/2006/relationships/image" Target="../media/image32.svg"/><Relationship Id="rId9" Type="http://schemas.openxmlformats.org/officeDocument/2006/relationships/image" Target="../media/image33.png"/><Relationship Id="rId10" Type="http://schemas.openxmlformats.org/officeDocument/2006/relationships/image" Target="../media/image34.svg"/><Relationship Id="rId11" Type="http://schemas.openxmlformats.org/officeDocument/2006/relationships/image" Target="../media/image35.png"/><Relationship Id="rId12" Type="http://schemas.openxmlformats.org/officeDocument/2006/relationships/image" Target="../media/image36.svg"/><Relationship Id="rId13" Type="http://schemas.openxmlformats.org/officeDocument/2006/relationships/image" Target="../media/image37.png"/><Relationship Id="rId14" Type="http://schemas.openxmlformats.org/officeDocument/2006/relationships/image" Target="../media/image38.png"/><Relationship Id="rId15" Type="http://schemas.openxmlformats.org/officeDocument/2006/relationships/image" Target="../media/image39.png"/><Relationship Id="rId16" Type="http://schemas.openxmlformats.org/officeDocument/2006/relationships/image" Target="../media/image40.png"/><Relationship Id="rId17" Type="http://schemas.openxmlformats.org/officeDocument/2006/relationships/image" Target="../media/image41.png"/><Relationship Id="rId18" Type="http://schemas.openxmlformats.org/officeDocument/2006/relationships/image" Target="../media/image42.svg"/><Relationship Id="rId19" Type="http://schemas.openxmlformats.org/officeDocument/2006/relationships/image" Target="../media/image43.png"/><Relationship Id="rId20" Type="http://schemas.openxmlformats.org/officeDocument/2006/relationships/image" Target="../media/image44.svg"/><Relationship Id="rId21" Type="http://schemas.openxmlformats.org/officeDocument/2006/relationships/image" Target="../media/image45.png"/><Relationship Id="rId22" Type="http://schemas.openxmlformats.org/officeDocument/2006/relationships/image" Target="../media/image46.svg"/><Relationship Id="rId23" Type="http://schemas.openxmlformats.org/officeDocument/2006/relationships/image" Target="../media/image47.png"/><Relationship Id="rId24" Type="http://schemas.openxmlformats.org/officeDocument/2006/relationships/image" Target="../media/image4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49.png"/><Relationship Id="rId8" Type="http://schemas.openxmlformats.org/officeDocument/2006/relationships/image" Target="../media/image50.svg"/><Relationship Id="rId9" Type="http://schemas.openxmlformats.org/officeDocument/2006/relationships/image" Target="../media/image51.png"/><Relationship Id="rId10" Type="http://schemas.openxmlformats.org/officeDocument/2006/relationships/image" Target="../media/image52.png"/><Relationship Id="rId11" Type="http://schemas.openxmlformats.org/officeDocument/2006/relationships/image" Target="../media/image53.png"/><Relationship Id="rId12" Type="http://schemas.openxmlformats.org/officeDocument/2006/relationships/image" Target="../media/image54.png"/><Relationship Id="rId13" Type="http://schemas.openxmlformats.org/officeDocument/2006/relationships/image" Target="../media/image55.png"/><Relationship Id="rId14" Type="http://schemas.openxmlformats.org/officeDocument/2006/relationships/image" Target="../media/image56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57.png"/><Relationship Id="rId8" Type="http://schemas.openxmlformats.org/officeDocument/2006/relationships/image" Target="../media/image58.svg"/><Relationship Id="rId9" Type="http://schemas.openxmlformats.org/officeDocument/2006/relationships/hyperlink" Target="https://doi.org/10.1109/ACCESS.2026.3730315" TargetMode="External"/><Relationship Id="rId10" Type="http://schemas.openxmlformats.org/officeDocument/2006/relationships/hyperlink" Target="https://doi.org/10.1109/ACCESS.2026.3731317" TargetMode="External"/><Relationship Id="rId11" Type="http://schemas.openxmlformats.org/officeDocument/2006/relationships/hyperlink" Target="https://doi.org/10.1109/ACCESS.2023.3293737" TargetMode="External"/><Relationship Id="rId12" Type="http://schemas.openxmlformats.org/officeDocument/2006/relationships/hyperlink" Target="https://doi.org/10.1016/j.comcom.2020.03.042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svg"/><Relationship Id="rId15" Type="http://schemas.openxmlformats.org/officeDocument/2006/relationships/image" Target="../media/image61.png"/><Relationship Id="rId16" Type="http://schemas.openxmlformats.org/officeDocument/2006/relationships/image" Target="../media/image62.png"/><Relationship Id="rId17" Type="http://schemas.openxmlformats.org/officeDocument/2006/relationships/image" Target="../media/image63.svg"/><Relationship Id="rId18" Type="http://schemas.openxmlformats.org/officeDocument/2006/relationships/image" Target="../media/image64.png"/><Relationship Id="rId19" Type="http://schemas.openxmlformats.org/officeDocument/2006/relationships/image" Target="../media/image65.png"/><Relationship Id="rId20" Type="http://schemas.openxmlformats.org/officeDocument/2006/relationships/image" Target="../media/image66.png"/><Relationship Id="rId21" Type="http://schemas.openxmlformats.org/officeDocument/2006/relationships/image" Target="../media/image67.svg"/><Relationship Id="rId22" Type="http://schemas.openxmlformats.org/officeDocument/2006/relationships/hyperlink" Target="https://phoenix-sar-uav.vercel.app" TargetMode="External"/><Relationship Id="rId23" Type="http://schemas.openxmlformats.org/officeDocument/2006/relationships/image" Target="../media/image9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91288" y="1783080"/>
            <a:ext cx="4592222" cy="5103419"/>
          </a:xfrm>
          <a:custGeom>
            <a:avLst/>
            <a:gdLst/>
            <a:ahLst/>
            <a:cxnLst/>
            <a:rect r="r" b="b" t="t" l="l"/>
            <a:pathLst>
              <a:path h="5103419" w="4592222">
                <a:moveTo>
                  <a:pt x="0" y="0"/>
                </a:moveTo>
                <a:lnTo>
                  <a:pt x="4592222" y="0"/>
                </a:lnTo>
                <a:lnTo>
                  <a:pt x="4592222" y="5103419"/>
                </a:lnTo>
                <a:lnTo>
                  <a:pt x="0" y="51034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71" t="0" r="-71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777417" y="2638796"/>
            <a:ext cx="3171444" cy="3391948"/>
            <a:chOff x="0" y="0"/>
            <a:chExt cx="4228592" cy="4522597"/>
          </a:xfrm>
        </p:grpSpPr>
        <p:sp>
          <p:nvSpPr>
            <p:cNvPr name="Freeform 4" id="4" descr="Smart India Hackathon light-bulb logo"/>
            <p:cNvSpPr/>
            <p:nvPr/>
          </p:nvSpPr>
          <p:spPr>
            <a:xfrm flipH="false" flipV="false" rot="0">
              <a:off x="0" y="0"/>
              <a:ext cx="4228592" cy="4522597"/>
            </a:xfrm>
            <a:custGeom>
              <a:avLst/>
              <a:gdLst/>
              <a:ahLst/>
              <a:cxnLst/>
              <a:rect r="r" b="b" t="t" l="l"/>
              <a:pathLst>
                <a:path h="4522597" w="4228592">
                  <a:moveTo>
                    <a:pt x="0" y="0"/>
                  </a:moveTo>
                  <a:lnTo>
                    <a:pt x="4228592" y="0"/>
                  </a:lnTo>
                  <a:lnTo>
                    <a:pt x="4228592" y="4522597"/>
                  </a:lnTo>
                  <a:lnTo>
                    <a:pt x="0" y="4522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2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178" r="0" b="-4717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96929" y="-804424"/>
            <a:ext cx="15544800" cy="3128962"/>
            <a:chOff x="0" y="0"/>
            <a:chExt cx="20726400" cy="4171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4171950"/>
            </a:xfrm>
            <a:custGeom>
              <a:avLst/>
              <a:gdLst/>
              <a:ahLst/>
              <a:cxnLst/>
              <a:rect r="r" b="b" t="t" l="l"/>
              <a:pathLst>
                <a:path h="417195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71950"/>
                  </a:lnTo>
                  <a:lnTo>
                    <a:pt x="0" y="41719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6802" r="0" b="-4680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0726400" cy="4191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70129" y="2248"/>
            <a:ext cx="3374803" cy="1593532"/>
            <a:chOff x="0" y="0"/>
            <a:chExt cx="4499737" cy="21247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2" r="0" b="-2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17220" y="1303020"/>
            <a:ext cx="11247120" cy="356616"/>
            <a:chOff x="0" y="0"/>
            <a:chExt cx="14996160" cy="4754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996161" cy="475488"/>
            </a:xfrm>
            <a:custGeom>
              <a:avLst/>
              <a:gdLst/>
              <a:ahLst/>
              <a:cxnLst/>
              <a:rect r="r" b="b" t="t" l="l"/>
              <a:pathLst>
                <a:path h="475488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64099" r="0" b="-564102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17220" y="1281589"/>
            <a:ext cx="11247120" cy="378047"/>
            <a:chOff x="0" y="0"/>
            <a:chExt cx="14996160" cy="50406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996161" cy="504063"/>
            </a:xfrm>
            <a:custGeom>
              <a:avLst/>
              <a:gdLst/>
              <a:ahLst/>
              <a:cxnLst/>
              <a:rect r="r" b="b" t="t" l="l"/>
              <a:pathLst>
                <a:path h="504063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504063"/>
                  </a:lnTo>
                  <a:lnTo>
                    <a:pt x="0" y="50406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29690" r="0" b="-52969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4996160" cy="5326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en-US" sz="1599" b="true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HARDWARE EDITION  |  POWERED BY ARDUINO UNO Q (QUALCOMM INC.)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17220" y="1627632"/>
            <a:ext cx="11247120" cy="16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6"/>
              </a:lnSpc>
            </a:pPr>
            <a:r>
              <a:rPr lang="en-US" sz="5700" b="true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PROJECT PHOENIX X</a:t>
            </a:r>
          </a:p>
          <a:p>
            <a:pPr algn="l">
              <a:lnSpc>
                <a:spcPts val="6156"/>
              </a:lnSpc>
            </a:pPr>
            <a:r>
              <a:rPr lang="en-US" sz="5700" b="true">
                <a:solidFill>
                  <a:srgbClr val="D9700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SAR UAV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17220" y="3265170"/>
            <a:ext cx="10835640" cy="84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00">
                <a:solidFill>
                  <a:srgbClr val="566074"/>
                </a:solidFill>
                <a:latin typeface="Calibri (MS)"/>
                <a:ea typeface="Calibri (MS)"/>
                <a:cs typeface="Calibri (MS)"/>
                <a:sym typeface="Calibri (MS)"/>
              </a:rPr>
              <a:t>Arduino UNO Q Dual-Brain Edge-AI Scout for Zero-Infrastructure Disaster Reconnaissance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604714" y="4129726"/>
            <a:ext cx="10792063" cy="5429107"/>
          </a:xfrm>
          <a:custGeom>
            <a:avLst/>
            <a:gdLst/>
            <a:ahLst/>
            <a:cxnLst/>
            <a:rect r="r" b="b" t="t" l="l"/>
            <a:pathLst>
              <a:path h="5429107" w="10792063">
                <a:moveTo>
                  <a:pt x="0" y="0"/>
                </a:moveTo>
                <a:lnTo>
                  <a:pt x="10792063" y="0"/>
                </a:lnTo>
                <a:lnTo>
                  <a:pt x="10792063" y="5429107"/>
                </a:lnTo>
                <a:lnTo>
                  <a:pt x="0" y="54291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028700" y="4389120"/>
            <a:ext cx="5349240" cy="246888"/>
            <a:chOff x="0" y="0"/>
            <a:chExt cx="7132320" cy="3291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132320" cy="329184"/>
            </a:xfrm>
            <a:custGeom>
              <a:avLst/>
              <a:gdLst/>
              <a:ahLst/>
              <a:cxnLst/>
              <a:rect r="r" b="b" t="t" l="l"/>
              <a:pathLst>
                <a:path h="329184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71882" r="0" b="-371882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28700" y="4360545"/>
            <a:ext cx="5349240" cy="275463"/>
            <a:chOff x="0" y="0"/>
            <a:chExt cx="7132320" cy="3672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132320" cy="367284"/>
            </a:xfrm>
            <a:custGeom>
              <a:avLst/>
              <a:gdLst/>
              <a:ahLst/>
              <a:cxnLst/>
              <a:rect r="r" b="b" t="t" l="l"/>
              <a:pathLst>
                <a:path h="367284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367284"/>
                  </a:lnTo>
                  <a:lnTo>
                    <a:pt x="0" y="3672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28381" r="0" b="-32838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7132320" cy="4053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25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 ID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28700" y="4663440"/>
            <a:ext cx="5349240" cy="603504"/>
            <a:chOff x="0" y="0"/>
            <a:chExt cx="7132320" cy="80467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132320" cy="804672"/>
            </a:xfrm>
            <a:custGeom>
              <a:avLst/>
              <a:gdLst/>
              <a:ahLst/>
              <a:cxnLst/>
              <a:rect r="r" b="b" t="t" l="l"/>
              <a:pathLst>
                <a:path h="804672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2588" r="0" b="-122588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28700" y="4613434"/>
            <a:ext cx="5349240" cy="653510"/>
            <a:chOff x="0" y="0"/>
            <a:chExt cx="7132320" cy="87134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132320" cy="871347"/>
            </a:xfrm>
            <a:custGeom>
              <a:avLst/>
              <a:gdLst/>
              <a:ahLst/>
              <a:cxnLst/>
              <a:rect r="r" b="b" t="t" l="l"/>
              <a:pathLst>
                <a:path h="871347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871347"/>
                  </a:lnTo>
                  <a:lnTo>
                    <a:pt x="0" y="87134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9492" r="0" b="-10949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7132320" cy="9380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D9700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SIH26177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515100" y="4389120"/>
            <a:ext cx="4526280" cy="246888"/>
            <a:chOff x="0" y="0"/>
            <a:chExt cx="6035040" cy="32918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035040" cy="329184"/>
            </a:xfrm>
            <a:custGeom>
              <a:avLst/>
              <a:gdLst/>
              <a:ahLst/>
              <a:cxnLst/>
              <a:rect r="r" b="b" t="t" l="l"/>
              <a:pathLst>
                <a:path h="329184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6979" r="0" b="-306975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515100" y="4360545"/>
            <a:ext cx="4526280" cy="275463"/>
            <a:chOff x="0" y="0"/>
            <a:chExt cx="6035040" cy="36728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035040" cy="367284"/>
            </a:xfrm>
            <a:custGeom>
              <a:avLst/>
              <a:gdLst/>
              <a:ahLst/>
              <a:cxnLst/>
              <a:rect r="r" b="b" t="t" l="l"/>
              <a:pathLst>
                <a:path h="367284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367284"/>
                  </a:lnTo>
                  <a:lnTo>
                    <a:pt x="0" y="3672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0169" r="0" b="-27016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035040" cy="4053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25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THEME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515100" y="4663440"/>
            <a:ext cx="4526280" cy="603504"/>
            <a:chOff x="0" y="0"/>
            <a:chExt cx="6035040" cy="80467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035040" cy="804672"/>
            </a:xfrm>
            <a:custGeom>
              <a:avLst/>
              <a:gdLst/>
              <a:ahLst/>
              <a:cxnLst/>
              <a:rect r="r" b="b" t="t" l="l"/>
              <a:pathLst>
                <a:path h="804672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6036" r="0" b="-96035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515100" y="4627721"/>
            <a:ext cx="4526280" cy="639223"/>
            <a:chOff x="0" y="0"/>
            <a:chExt cx="6035040" cy="85229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035040" cy="852297"/>
            </a:xfrm>
            <a:custGeom>
              <a:avLst/>
              <a:gdLst/>
              <a:ahLst/>
              <a:cxnLst/>
              <a:rect r="r" b="b" t="t" l="l"/>
              <a:pathLst>
                <a:path h="852297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852297"/>
                  </a:lnTo>
                  <a:lnTo>
                    <a:pt x="0" y="85229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7971" r="0" b="-8797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6035040" cy="8999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Robotics and Drones</a:t>
              </a:r>
            </a:p>
          </p:txBody>
        </p:sp>
      </p:grpSp>
      <p:sp>
        <p:nvSpPr>
          <p:cNvPr name="AutoShape 40" id="40"/>
          <p:cNvSpPr/>
          <p:nvPr/>
        </p:nvSpPr>
        <p:spPr>
          <a:xfrm rot="3300">
            <a:off x="1014403" y="5367147"/>
            <a:ext cx="9972694" cy="0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1" id="41"/>
          <p:cNvGrpSpPr/>
          <p:nvPr/>
        </p:nvGrpSpPr>
        <p:grpSpPr>
          <a:xfrm rot="0">
            <a:off x="1028700" y="5513832"/>
            <a:ext cx="9944100" cy="246888"/>
            <a:chOff x="0" y="0"/>
            <a:chExt cx="13258800" cy="32918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258800" cy="329184"/>
            </a:xfrm>
            <a:custGeom>
              <a:avLst/>
              <a:gdLst/>
              <a:ahLst/>
              <a:cxnLst/>
              <a:rect r="r" b="b" t="t" l="l"/>
              <a:pathLst>
                <a:path h="329184" w="13258800">
                  <a:moveTo>
                    <a:pt x="0" y="0"/>
                  </a:moveTo>
                  <a:lnTo>
                    <a:pt x="13258800" y="0"/>
                  </a:lnTo>
                  <a:lnTo>
                    <a:pt x="132588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34266" r="0" b="-73427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028700" y="5485257"/>
            <a:ext cx="9944100" cy="275463"/>
            <a:chOff x="0" y="0"/>
            <a:chExt cx="13258800" cy="36728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3258800" cy="367284"/>
            </a:xfrm>
            <a:custGeom>
              <a:avLst/>
              <a:gdLst/>
              <a:ahLst/>
              <a:cxnLst/>
              <a:rect r="r" b="b" t="t" l="l"/>
              <a:pathLst>
                <a:path h="367284" w="13258800">
                  <a:moveTo>
                    <a:pt x="0" y="0"/>
                  </a:moveTo>
                  <a:lnTo>
                    <a:pt x="13258800" y="0"/>
                  </a:lnTo>
                  <a:lnTo>
                    <a:pt x="13258800" y="367284"/>
                  </a:lnTo>
                  <a:lnTo>
                    <a:pt x="0" y="3672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53401" r="0" b="-65340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3258800" cy="4053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25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 TITLE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028700" y="5725668"/>
            <a:ext cx="9944100" cy="652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B42318"/>
                </a:solidFill>
                <a:latin typeface="Calibri (MS)"/>
                <a:ea typeface="Calibri (MS)"/>
                <a:cs typeface="Calibri (MS)"/>
                <a:sym typeface="Calibri (MS)"/>
              </a:rPr>
              <a:t>A deployable AI-powered autonomous drone that aids search-and-rescue operations by detecting people and hazards, thereby improving responder safety and reducing victim discovery time.</a:t>
            </a:r>
          </a:p>
        </p:txBody>
      </p:sp>
      <p:sp>
        <p:nvSpPr>
          <p:cNvPr name="AutoShape 47" id="47"/>
          <p:cNvSpPr/>
          <p:nvPr/>
        </p:nvSpPr>
        <p:spPr>
          <a:xfrm rot="3300">
            <a:off x="1014403" y="6505575"/>
            <a:ext cx="9972694" cy="0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8" id="48"/>
          <p:cNvGrpSpPr/>
          <p:nvPr/>
        </p:nvGrpSpPr>
        <p:grpSpPr>
          <a:xfrm rot="0">
            <a:off x="1028700" y="6652260"/>
            <a:ext cx="5349240" cy="246888"/>
            <a:chOff x="0" y="0"/>
            <a:chExt cx="7132320" cy="32918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132320" cy="329184"/>
            </a:xfrm>
            <a:custGeom>
              <a:avLst/>
              <a:gdLst/>
              <a:ahLst/>
              <a:cxnLst/>
              <a:rect r="r" b="b" t="t" l="l"/>
              <a:pathLst>
                <a:path h="329184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71882" r="0" b="-371882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28700" y="6623685"/>
            <a:ext cx="5349240" cy="275463"/>
            <a:chOff x="0" y="0"/>
            <a:chExt cx="7132320" cy="36728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132320" cy="367284"/>
            </a:xfrm>
            <a:custGeom>
              <a:avLst/>
              <a:gdLst/>
              <a:ahLst/>
              <a:cxnLst/>
              <a:rect r="r" b="b" t="t" l="l"/>
              <a:pathLst>
                <a:path h="367284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367284"/>
                  </a:lnTo>
                  <a:lnTo>
                    <a:pt x="0" y="3672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28381" r="0" b="-32838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7132320" cy="4053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25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SPONSORING ORGANIZATION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515100" y="6652260"/>
            <a:ext cx="4526280" cy="246888"/>
            <a:chOff x="0" y="0"/>
            <a:chExt cx="6035040" cy="32918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035040" cy="329184"/>
            </a:xfrm>
            <a:custGeom>
              <a:avLst/>
              <a:gdLst/>
              <a:ahLst/>
              <a:cxnLst/>
              <a:rect r="r" b="b" t="t" l="l"/>
              <a:pathLst>
                <a:path h="329184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6979" r="0" b="-306975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6515100" y="6623685"/>
            <a:ext cx="4526280" cy="275463"/>
            <a:chOff x="0" y="0"/>
            <a:chExt cx="6035040" cy="36728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035040" cy="367284"/>
            </a:xfrm>
            <a:custGeom>
              <a:avLst/>
              <a:gdLst/>
              <a:ahLst/>
              <a:cxnLst/>
              <a:rect r="r" b="b" t="t" l="l"/>
              <a:pathLst>
                <a:path h="367284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367284"/>
                  </a:lnTo>
                  <a:lnTo>
                    <a:pt x="0" y="3672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0169" r="0" b="-270169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6035040" cy="4053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25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CATEGORY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28700" y="6926580"/>
            <a:ext cx="5349240" cy="411480"/>
            <a:chOff x="0" y="0"/>
            <a:chExt cx="7132320" cy="5486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132320" cy="548640"/>
            </a:xfrm>
            <a:custGeom>
              <a:avLst/>
              <a:gdLst/>
              <a:ahLst/>
              <a:cxnLst/>
              <a:rect r="r" b="b" t="t" l="l"/>
              <a:pathLst>
                <a:path h="54864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3129" r="0" b="-203129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028700" y="6890861"/>
            <a:ext cx="5349240" cy="447199"/>
            <a:chOff x="0" y="0"/>
            <a:chExt cx="7132320" cy="59626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132320" cy="596265"/>
            </a:xfrm>
            <a:custGeom>
              <a:avLst/>
              <a:gdLst/>
              <a:ahLst/>
              <a:cxnLst/>
              <a:rect r="r" b="b" t="t" l="l"/>
              <a:pathLst>
                <a:path h="596265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596265"/>
                  </a:lnTo>
                  <a:lnTo>
                    <a:pt x="0" y="5962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83073" r="0" b="-18307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7132320" cy="643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Qualcomm Inc.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515100" y="6926580"/>
            <a:ext cx="4526280" cy="411480"/>
            <a:chOff x="0" y="0"/>
            <a:chExt cx="6035040" cy="5486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035040" cy="548640"/>
            </a:xfrm>
            <a:custGeom>
              <a:avLst/>
              <a:gdLst/>
              <a:ahLst/>
              <a:cxnLst/>
              <a:rect r="r" b="b" t="t" l="l"/>
              <a:pathLst>
                <a:path h="54864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4187" r="0" b="-164185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6515100" y="6890861"/>
            <a:ext cx="4526280" cy="447199"/>
            <a:chOff x="0" y="0"/>
            <a:chExt cx="6035040" cy="59626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035040" cy="596265"/>
            </a:xfrm>
            <a:custGeom>
              <a:avLst/>
              <a:gdLst/>
              <a:ahLst/>
              <a:cxnLst/>
              <a:rect r="r" b="b" t="t" l="l"/>
              <a:pathLst>
                <a:path h="596265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596265"/>
                  </a:lnTo>
                  <a:lnTo>
                    <a:pt x="0" y="5962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7215" r="0" b="-14721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6035040" cy="643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Hardware</a:t>
              </a:r>
            </a:p>
          </p:txBody>
        </p:sp>
      </p:grpSp>
      <p:sp>
        <p:nvSpPr>
          <p:cNvPr name="AutoShape 68" id="68"/>
          <p:cNvSpPr/>
          <p:nvPr/>
        </p:nvSpPr>
        <p:spPr>
          <a:xfrm rot="3300">
            <a:off x="1014403" y="7465695"/>
            <a:ext cx="9972694" cy="0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9" id="69"/>
          <p:cNvGrpSpPr/>
          <p:nvPr/>
        </p:nvGrpSpPr>
        <p:grpSpPr>
          <a:xfrm rot="0">
            <a:off x="1028700" y="7612380"/>
            <a:ext cx="5349240" cy="246888"/>
            <a:chOff x="0" y="0"/>
            <a:chExt cx="7132320" cy="32918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132320" cy="329184"/>
            </a:xfrm>
            <a:custGeom>
              <a:avLst/>
              <a:gdLst/>
              <a:ahLst/>
              <a:cxnLst/>
              <a:rect r="r" b="b" t="t" l="l"/>
              <a:pathLst>
                <a:path h="329184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71882" r="0" b="-371882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028700" y="7583805"/>
            <a:ext cx="5349240" cy="275463"/>
            <a:chOff x="0" y="0"/>
            <a:chExt cx="7132320" cy="36728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132320" cy="367284"/>
            </a:xfrm>
            <a:custGeom>
              <a:avLst/>
              <a:gdLst/>
              <a:ahLst/>
              <a:cxnLst/>
              <a:rect r="r" b="b" t="t" l="l"/>
              <a:pathLst>
                <a:path h="367284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367284"/>
                  </a:lnTo>
                  <a:lnTo>
                    <a:pt x="0" y="3672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28381" r="0" b="-328381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7132320" cy="4053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25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NAME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515100" y="7612380"/>
            <a:ext cx="4526280" cy="246888"/>
            <a:chOff x="0" y="0"/>
            <a:chExt cx="6035040" cy="32918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035040" cy="329184"/>
            </a:xfrm>
            <a:custGeom>
              <a:avLst/>
              <a:gdLst/>
              <a:ahLst/>
              <a:cxnLst/>
              <a:rect r="r" b="b" t="t" l="l"/>
              <a:pathLst>
                <a:path h="329184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6979" r="0" b="-306975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6515100" y="7583805"/>
            <a:ext cx="4526280" cy="275463"/>
            <a:chOff x="0" y="0"/>
            <a:chExt cx="6035040" cy="36728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035040" cy="367284"/>
            </a:xfrm>
            <a:custGeom>
              <a:avLst/>
              <a:gdLst/>
              <a:ahLst/>
              <a:cxnLst/>
              <a:rect r="r" b="b" t="t" l="l"/>
              <a:pathLst>
                <a:path h="367284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367284"/>
                  </a:lnTo>
                  <a:lnTo>
                    <a:pt x="0" y="3672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0169" r="0" b="-270169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6035040" cy="4053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25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ID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028700" y="7886700"/>
            <a:ext cx="5349240" cy="411480"/>
            <a:chOff x="0" y="0"/>
            <a:chExt cx="7132320" cy="5486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132320" cy="548640"/>
            </a:xfrm>
            <a:custGeom>
              <a:avLst/>
              <a:gdLst/>
              <a:ahLst/>
              <a:cxnLst/>
              <a:rect r="r" b="b" t="t" l="l"/>
              <a:pathLst>
                <a:path h="54864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3129" r="0" b="-203129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028700" y="7850981"/>
            <a:ext cx="5349240" cy="447199"/>
            <a:chOff x="0" y="0"/>
            <a:chExt cx="7132320" cy="596265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7132320" cy="596265"/>
            </a:xfrm>
            <a:custGeom>
              <a:avLst/>
              <a:gdLst/>
              <a:ahLst/>
              <a:cxnLst/>
              <a:rect r="r" b="b" t="t" l="l"/>
              <a:pathLst>
                <a:path h="596265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596265"/>
                  </a:lnTo>
                  <a:lnTo>
                    <a:pt x="0" y="5962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83073" r="0" b="-183073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47625"/>
              <a:ext cx="7132320" cy="643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Phoenix X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6515100" y="7886700"/>
            <a:ext cx="4526280" cy="411480"/>
            <a:chOff x="0" y="0"/>
            <a:chExt cx="6035040" cy="5486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035040" cy="548640"/>
            </a:xfrm>
            <a:custGeom>
              <a:avLst/>
              <a:gdLst/>
              <a:ahLst/>
              <a:cxnLst/>
              <a:rect r="r" b="b" t="t" l="l"/>
              <a:pathLst>
                <a:path h="54864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4187" r="0" b="-164185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6515100" y="7850981"/>
            <a:ext cx="4526280" cy="447199"/>
            <a:chOff x="0" y="0"/>
            <a:chExt cx="6035040" cy="596265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035040" cy="596265"/>
            </a:xfrm>
            <a:custGeom>
              <a:avLst/>
              <a:gdLst/>
              <a:ahLst/>
              <a:cxnLst/>
              <a:rect r="r" b="b" t="t" l="l"/>
              <a:pathLst>
                <a:path h="596265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596265"/>
                  </a:lnTo>
                  <a:lnTo>
                    <a:pt x="0" y="5962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7215" r="0" b="-14721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6035040" cy="643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141943</a:t>
              </a:r>
            </a:p>
          </p:txBody>
        </p:sp>
      </p:grpSp>
      <p:sp>
        <p:nvSpPr>
          <p:cNvPr name="AutoShape 89" id="89"/>
          <p:cNvSpPr/>
          <p:nvPr/>
        </p:nvSpPr>
        <p:spPr>
          <a:xfrm rot="3300">
            <a:off x="1014403" y="8425815"/>
            <a:ext cx="9972694" cy="0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0" id="90"/>
          <p:cNvGrpSpPr/>
          <p:nvPr/>
        </p:nvGrpSpPr>
        <p:grpSpPr>
          <a:xfrm rot="0">
            <a:off x="1028700" y="8572500"/>
            <a:ext cx="5349240" cy="279816"/>
            <a:chOff x="0" y="0"/>
            <a:chExt cx="7132320" cy="37308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132320" cy="373126"/>
            </a:xfrm>
            <a:custGeom>
              <a:avLst/>
              <a:gdLst/>
              <a:ahLst/>
              <a:cxnLst/>
              <a:rect r="r" b="b" t="t" l="l"/>
              <a:pathLst>
                <a:path h="373126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373126"/>
                  </a:lnTo>
                  <a:lnTo>
                    <a:pt x="0" y="37312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202" r="0" b="-322195"/>
              </a:stretch>
            </a:blip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028700" y="8543925"/>
            <a:ext cx="5349240" cy="308391"/>
            <a:chOff x="0" y="0"/>
            <a:chExt cx="7132320" cy="41118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7132320" cy="411193"/>
            </a:xfrm>
            <a:custGeom>
              <a:avLst/>
              <a:gdLst/>
              <a:ahLst/>
              <a:cxnLst/>
              <a:rect r="r" b="b" t="t" l="l"/>
              <a:pathLst>
                <a:path h="411193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411193"/>
                  </a:lnTo>
                  <a:lnTo>
                    <a:pt x="0" y="41119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7976" r="0" b="-287975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7132320" cy="4492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25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WEB DEMO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6515100" y="8572500"/>
            <a:ext cx="4526280" cy="246888"/>
            <a:chOff x="0" y="0"/>
            <a:chExt cx="6035040" cy="32918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035040" cy="329184"/>
            </a:xfrm>
            <a:custGeom>
              <a:avLst/>
              <a:gdLst/>
              <a:ahLst/>
              <a:cxnLst/>
              <a:rect r="r" b="b" t="t" l="l"/>
              <a:pathLst>
                <a:path h="329184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6979" r="0" b="-306975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6515100" y="8543925"/>
            <a:ext cx="4526280" cy="275463"/>
            <a:chOff x="0" y="0"/>
            <a:chExt cx="6035040" cy="367284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6035040" cy="367284"/>
            </a:xfrm>
            <a:custGeom>
              <a:avLst/>
              <a:gdLst/>
              <a:ahLst/>
              <a:cxnLst/>
              <a:rect r="r" b="b" t="t" l="l"/>
              <a:pathLst>
                <a:path h="367284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367284"/>
                  </a:lnTo>
                  <a:lnTo>
                    <a:pt x="0" y="3672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0169" r="0" b="-270169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6035040" cy="4053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25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VIDEO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2344400" y="7379208"/>
            <a:ext cx="356616" cy="356616"/>
            <a:chOff x="0" y="0"/>
            <a:chExt cx="475488" cy="475488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237744"/>
                  </a:moveTo>
                  <a:cubicBezTo>
                    <a:pt x="0" y="106426"/>
                    <a:pt x="106426" y="0"/>
                    <a:pt x="237744" y="0"/>
                  </a:cubicBezTo>
                  <a:cubicBezTo>
                    <a:pt x="369062" y="0"/>
                    <a:pt x="475488" y="106426"/>
                    <a:pt x="475488" y="237744"/>
                  </a:cubicBezTo>
                  <a:cubicBezTo>
                    <a:pt x="475488" y="369062"/>
                    <a:pt x="369062" y="475488"/>
                    <a:pt x="237744" y="475488"/>
                  </a:cubicBezTo>
                  <a:cubicBezTo>
                    <a:pt x="106426" y="475488"/>
                    <a:pt x="0" y="369062"/>
                    <a:pt x="0" y="237744"/>
                  </a:cubicBez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2424639" y="7459447"/>
            <a:ext cx="196120" cy="196120"/>
            <a:chOff x="0" y="0"/>
            <a:chExt cx="261493" cy="261493"/>
          </a:xfrm>
        </p:grpSpPr>
        <p:sp>
          <p:nvSpPr>
            <p:cNvPr name="Freeform 103" id="103" descr="Check mark"/>
            <p:cNvSpPr/>
            <p:nvPr/>
          </p:nvSpPr>
          <p:spPr>
            <a:xfrm flipH="false" flipV="false" rot="0">
              <a:off x="0" y="0"/>
              <a:ext cx="261493" cy="261493"/>
            </a:xfrm>
            <a:custGeom>
              <a:avLst/>
              <a:gdLst/>
              <a:ahLst/>
              <a:cxnLst/>
              <a:rect r="r" b="b" t="t" l="l"/>
              <a:pathLst>
                <a:path h="261493" w="261493">
                  <a:moveTo>
                    <a:pt x="0" y="0"/>
                  </a:moveTo>
                  <a:lnTo>
                    <a:pt x="261493" y="0"/>
                  </a:lnTo>
                  <a:lnTo>
                    <a:pt x="261493" y="261493"/>
                  </a:lnTo>
                  <a:lnTo>
                    <a:pt x="0" y="261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2893040" y="7351776"/>
            <a:ext cx="4937760" cy="411480"/>
            <a:chOff x="0" y="0"/>
            <a:chExt cx="6583680" cy="54864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6583680" cy="548640"/>
            </a:xfrm>
            <a:custGeom>
              <a:avLst/>
              <a:gdLst/>
              <a:ahLst/>
              <a:cxnLst/>
              <a:rect r="r" b="b" t="t" l="l"/>
              <a:pathLst>
                <a:path h="5486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3657" r="0" b="-183657"/>
              </a:stretch>
            </a:blip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2893040" y="7316057"/>
            <a:ext cx="4937760" cy="447199"/>
            <a:chOff x="0" y="0"/>
            <a:chExt cx="6583680" cy="596265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6583680" cy="596265"/>
            </a:xfrm>
            <a:custGeom>
              <a:avLst/>
              <a:gdLst/>
              <a:ahLst/>
              <a:cxnLst/>
              <a:rect r="r" b="b" t="t" l="l"/>
              <a:pathLst>
                <a:path h="596265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96265"/>
                  </a:lnTo>
                  <a:lnTo>
                    <a:pt x="0" y="5962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65144" r="0" b="-165144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57150"/>
              <a:ext cx="6583680" cy="653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8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Arduino UNO Q Dual-Brain SBC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2344400" y="7872984"/>
            <a:ext cx="356616" cy="356616"/>
            <a:chOff x="0" y="0"/>
            <a:chExt cx="475488" cy="475488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237744"/>
                  </a:moveTo>
                  <a:cubicBezTo>
                    <a:pt x="0" y="106426"/>
                    <a:pt x="106426" y="0"/>
                    <a:pt x="237744" y="0"/>
                  </a:cubicBezTo>
                  <a:cubicBezTo>
                    <a:pt x="369062" y="0"/>
                    <a:pt x="475488" y="106426"/>
                    <a:pt x="475488" y="237744"/>
                  </a:cubicBezTo>
                  <a:cubicBezTo>
                    <a:pt x="475488" y="369062"/>
                    <a:pt x="369062" y="475488"/>
                    <a:pt x="237744" y="475488"/>
                  </a:cubicBezTo>
                  <a:cubicBezTo>
                    <a:pt x="106426" y="475488"/>
                    <a:pt x="0" y="369062"/>
                    <a:pt x="0" y="237744"/>
                  </a:cubicBez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12424639" y="7953223"/>
            <a:ext cx="196120" cy="196120"/>
            <a:chOff x="0" y="0"/>
            <a:chExt cx="261493" cy="261493"/>
          </a:xfrm>
        </p:grpSpPr>
        <p:sp>
          <p:nvSpPr>
            <p:cNvPr name="Freeform 112" id="112" descr="Check mark"/>
            <p:cNvSpPr/>
            <p:nvPr/>
          </p:nvSpPr>
          <p:spPr>
            <a:xfrm flipH="false" flipV="false" rot="0">
              <a:off x="0" y="0"/>
              <a:ext cx="261493" cy="261493"/>
            </a:xfrm>
            <a:custGeom>
              <a:avLst/>
              <a:gdLst/>
              <a:ahLst/>
              <a:cxnLst/>
              <a:rect r="r" b="b" t="t" l="l"/>
              <a:pathLst>
                <a:path h="261493" w="261493">
                  <a:moveTo>
                    <a:pt x="0" y="0"/>
                  </a:moveTo>
                  <a:lnTo>
                    <a:pt x="261493" y="0"/>
                  </a:lnTo>
                  <a:lnTo>
                    <a:pt x="261493" y="261493"/>
                  </a:lnTo>
                  <a:lnTo>
                    <a:pt x="0" y="261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2893040" y="7845552"/>
            <a:ext cx="4937760" cy="411480"/>
            <a:chOff x="0" y="0"/>
            <a:chExt cx="6583680" cy="54864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6583680" cy="548640"/>
            </a:xfrm>
            <a:custGeom>
              <a:avLst/>
              <a:gdLst/>
              <a:ahLst/>
              <a:cxnLst/>
              <a:rect r="r" b="b" t="t" l="l"/>
              <a:pathLst>
                <a:path h="5486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3657" r="0" b="-183657"/>
              </a:stretch>
            </a:blip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2893040" y="7809833"/>
            <a:ext cx="4937760" cy="447199"/>
            <a:chOff x="0" y="0"/>
            <a:chExt cx="6583680" cy="596265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583680" cy="596265"/>
            </a:xfrm>
            <a:custGeom>
              <a:avLst/>
              <a:gdLst/>
              <a:ahLst/>
              <a:cxnLst/>
              <a:rect r="r" b="b" t="t" l="l"/>
              <a:pathLst>
                <a:path h="596265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96265"/>
                  </a:lnTo>
                  <a:lnTo>
                    <a:pt x="0" y="5962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65144" r="0" b="-165144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57150"/>
              <a:ext cx="6583680" cy="653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8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QRB2210 Linux + STM32U5 RTOS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2344400" y="8366760"/>
            <a:ext cx="356616" cy="356616"/>
            <a:chOff x="0" y="0"/>
            <a:chExt cx="475488" cy="475488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237744"/>
                  </a:moveTo>
                  <a:cubicBezTo>
                    <a:pt x="0" y="106426"/>
                    <a:pt x="106426" y="0"/>
                    <a:pt x="237744" y="0"/>
                  </a:cubicBezTo>
                  <a:cubicBezTo>
                    <a:pt x="369062" y="0"/>
                    <a:pt x="475488" y="106426"/>
                    <a:pt x="475488" y="237744"/>
                  </a:cubicBezTo>
                  <a:cubicBezTo>
                    <a:pt x="475488" y="369062"/>
                    <a:pt x="369062" y="475488"/>
                    <a:pt x="237744" y="475488"/>
                  </a:cubicBezTo>
                  <a:cubicBezTo>
                    <a:pt x="106426" y="475488"/>
                    <a:pt x="0" y="369062"/>
                    <a:pt x="0" y="237744"/>
                  </a:cubicBez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12424639" y="8446999"/>
            <a:ext cx="196120" cy="196120"/>
            <a:chOff x="0" y="0"/>
            <a:chExt cx="261493" cy="261493"/>
          </a:xfrm>
        </p:grpSpPr>
        <p:sp>
          <p:nvSpPr>
            <p:cNvPr name="Freeform 121" id="121" descr="Check mark"/>
            <p:cNvSpPr/>
            <p:nvPr/>
          </p:nvSpPr>
          <p:spPr>
            <a:xfrm flipH="false" flipV="false" rot="0">
              <a:off x="0" y="0"/>
              <a:ext cx="261493" cy="261493"/>
            </a:xfrm>
            <a:custGeom>
              <a:avLst/>
              <a:gdLst/>
              <a:ahLst/>
              <a:cxnLst/>
              <a:rect r="r" b="b" t="t" l="l"/>
              <a:pathLst>
                <a:path h="261493" w="261493">
                  <a:moveTo>
                    <a:pt x="0" y="0"/>
                  </a:moveTo>
                  <a:lnTo>
                    <a:pt x="261493" y="0"/>
                  </a:lnTo>
                  <a:lnTo>
                    <a:pt x="261493" y="261493"/>
                  </a:lnTo>
                  <a:lnTo>
                    <a:pt x="0" y="261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2893040" y="8339328"/>
            <a:ext cx="4937760" cy="411480"/>
            <a:chOff x="0" y="0"/>
            <a:chExt cx="6583680" cy="54864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6583680" cy="548640"/>
            </a:xfrm>
            <a:custGeom>
              <a:avLst/>
              <a:gdLst/>
              <a:ahLst/>
              <a:cxnLst/>
              <a:rect r="r" b="b" t="t" l="l"/>
              <a:pathLst>
                <a:path h="5486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3657" r="0" b="-183657"/>
              </a:stretch>
            </a:blip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12893040" y="8303609"/>
            <a:ext cx="4937760" cy="447199"/>
            <a:chOff x="0" y="0"/>
            <a:chExt cx="6583680" cy="596265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583680" cy="596265"/>
            </a:xfrm>
            <a:custGeom>
              <a:avLst/>
              <a:gdLst/>
              <a:ahLst/>
              <a:cxnLst/>
              <a:rect r="r" b="b" t="t" l="l"/>
              <a:pathLst>
                <a:path h="596265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96265"/>
                  </a:lnTo>
                  <a:lnTo>
                    <a:pt x="0" y="5962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65144" r="0" b="-165144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104775"/>
              <a:ext cx="658368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28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Dual 1080p + Thermal Fusion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2344400" y="8860536"/>
            <a:ext cx="356616" cy="356616"/>
            <a:chOff x="0" y="0"/>
            <a:chExt cx="475488" cy="475488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237744"/>
                  </a:moveTo>
                  <a:cubicBezTo>
                    <a:pt x="0" y="106426"/>
                    <a:pt x="106426" y="0"/>
                    <a:pt x="237744" y="0"/>
                  </a:cubicBezTo>
                  <a:cubicBezTo>
                    <a:pt x="369062" y="0"/>
                    <a:pt x="475488" y="106426"/>
                    <a:pt x="475488" y="237744"/>
                  </a:cubicBezTo>
                  <a:cubicBezTo>
                    <a:pt x="475488" y="369062"/>
                    <a:pt x="369062" y="475488"/>
                    <a:pt x="237744" y="475488"/>
                  </a:cubicBezTo>
                  <a:cubicBezTo>
                    <a:pt x="106426" y="475488"/>
                    <a:pt x="0" y="369062"/>
                    <a:pt x="0" y="237744"/>
                  </a:cubicBez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12424639" y="8940775"/>
            <a:ext cx="196120" cy="196120"/>
            <a:chOff x="0" y="0"/>
            <a:chExt cx="261493" cy="261493"/>
          </a:xfrm>
        </p:grpSpPr>
        <p:sp>
          <p:nvSpPr>
            <p:cNvPr name="Freeform 130" id="130" descr="Check mark"/>
            <p:cNvSpPr/>
            <p:nvPr/>
          </p:nvSpPr>
          <p:spPr>
            <a:xfrm flipH="false" flipV="false" rot="0">
              <a:off x="0" y="0"/>
              <a:ext cx="261493" cy="261493"/>
            </a:xfrm>
            <a:custGeom>
              <a:avLst/>
              <a:gdLst/>
              <a:ahLst/>
              <a:cxnLst/>
              <a:rect r="r" b="b" t="t" l="l"/>
              <a:pathLst>
                <a:path h="261493" w="261493">
                  <a:moveTo>
                    <a:pt x="0" y="0"/>
                  </a:moveTo>
                  <a:lnTo>
                    <a:pt x="261493" y="0"/>
                  </a:lnTo>
                  <a:lnTo>
                    <a:pt x="261493" y="261493"/>
                  </a:lnTo>
                  <a:lnTo>
                    <a:pt x="0" y="261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12893040" y="8833104"/>
            <a:ext cx="4937760" cy="411480"/>
            <a:chOff x="0" y="0"/>
            <a:chExt cx="6583680" cy="54864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6583680" cy="548640"/>
            </a:xfrm>
            <a:custGeom>
              <a:avLst/>
              <a:gdLst/>
              <a:ahLst/>
              <a:cxnLst/>
              <a:rect r="r" b="b" t="t" l="l"/>
              <a:pathLst>
                <a:path h="5486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3657" r="0" b="-183657"/>
              </a:stretch>
            </a:blip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12893040" y="8797385"/>
            <a:ext cx="4937760" cy="447199"/>
            <a:chOff x="0" y="0"/>
            <a:chExt cx="6583680" cy="596265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6583680" cy="596265"/>
            </a:xfrm>
            <a:custGeom>
              <a:avLst/>
              <a:gdLst/>
              <a:ahLst/>
              <a:cxnLst/>
              <a:rect r="r" b="b" t="t" l="l"/>
              <a:pathLst>
                <a:path h="596265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96265"/>
                  </a:lnTo>
                  <a:lnTo>
                    <a:pt x="0" y="5962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65144" r="0" b="-165144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47625"/>
              <a:ext cx="6583680" cy="643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3-5 km LoRa Telemetry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12344400" y="9354312"/>
            <a:ext cx="356616" cy="356616"/>
            <a:chOff x="0" y="0"/>
            <a:chExt cx="475488" cy="475488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237744"/>
                  </a:moveTo>
                  <a:cubicBezTo>
                    <a:pt x="0" y="106426"/>
                    <a:pt x="106426" y="0"/>
                    <a:pt x="237744" y="0"/>
                  </a:cubicBezTo>
                  <a:cubicBezTo>
                    <a:pt x="369062" y="0"/>
                    <a:pt x="475488" y="106426"/>
                    <a:pt x="475488" y="237744"/>
                  </a:cubicBezTo>
                  <a:cubicBezTo>
                    <a:pt x="475488" y="369062"/>
                    <a:pt x="369062" y="475488"/>
                    <a:pt x="237744" y="475488"/>
                  </a:cubicBezTo>
                  <a:cubicBezTo>
                    <a:pt x="106426" y="475488"/>
                    <a:pt x="0" y="369062"/>
                    <a:pt x="0" y="237744"/>
                  </a:cubicBez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138" id="138"/>
          <p:cNvGrpSpPr/>
          <p:nvPr/>
        </p:nvGrpSpPr>
        <p:grpSpPr>
          <a:xfrm rot="0">
            <a:off x="12424639" y="9434551"/>
            <a:ext cx="196120" cy="196120"/>
            <a:chOff x="0" y="0"/>
            <a:chExt cx="261493" cy="261493"/>
          </a:xfrm>
        </p:grpSpPr>
        <p:sp>
          <p:nvSpPr>
            <p:cNvPr name="Freeform 139" id="139" descr="Check mark"/>
            <p:cNvSpPr/>
            <p:nvPr/>
          </p:nvSpPr>
          <p:spPr>
            <a:xfrm flipH="false" flipV="false" rot="0">
              <a:off x="0" y="0"/>
              <a:ext cx="261493" cy="261493"/>
            </a:xfrm>
            <a:custGeom>
              <a:avLst/>
              <a:gdLst/>
              <a:ahLst/>
              <a:cxnLst/>
              <a:rect r="r" b="b" t="t" l="l"/>
              <a:pathLst>
                <a:path h="261493" w="261493">
                  <a:moveTo>
                    <a:pt x="0" y="0"/>
                  </a:moveTo>
                  <a:lnTo>
                    <a:pt x="261493" y="0"/>
                  </a:lnTo>
                  <a:lnTo>
                    <a:pt x="261493" y="261493"/>
                  </a:lnTo>
                  <a:lnTo>
                    <a:pt x="0" y="261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12893040" y="9326880"/>
            <a:ext cx="4937760" cy="411480"/>
            <a:chOff x="0" y="0"/>
            <a:chExt cx="6583680" cy="54864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6583680" cy="548640"/>
            </a:xfrm>
            <a:custGeom>
              <a:avLst/>
              <a:gdLst/>
              <a:ahLst/>
              <a:cxnLst/>
              <a:rect r="r" b="b" t="t" l="l"/>
              <a:pathLst>
                <a:path h="5486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3657" r="0" b="-183657"/>
              </a:stretch>
            </a:blip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12893040" y="9291161"/>
            <a:ext cx="4937760" cy="447199"/>
            <a:chOff x="0" y="0"/>
            <a:chExt cx="6583680" cy="596265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6583680" cy="596265"/>
            </a:xfrm>
            <a:custGeom>
              <a:avLst/>
              <a:gdLst/>
              <a:ahLst/>
              <a:cxnLst/>
              <a:rect r="r" b="b" t="t" l="l"/>
              <a:pathLst>
                <a:path h="596265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96265"/>
                  </a:lnTo>
                  <a:lnTo>
                    <a:pt x="0" y="5962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65144" r="0" b="-165144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104775"/>
              <a:ext cx="658368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28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IEEE Anti-Drift VIO Navigation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811780" y="0"/>
            <a:ext cx="11658600" cy="1714500"/>
            <a:chOff x="0" y="0"/>
            <a:chExt cx="155448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5448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06" r="0" b="-8240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811780" y="-14288"/>
            <a:ext cx="11658600" cy="1728788"/>
            <a:chOff x="0" y="0"/>
            <a:chExt cx="15544800" cy="2305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544800" cy="2305050"/>
            </a:xfrm>
            <a:custGeom>
              <a:avLst/>
              <a:gdLst/>
              <a:ahLst/>
              <a:cxnLst/>
              <a:rect r="r" b="b" t="t" l="l"/>
              <a:pathLst>
                <a:path h="230505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2305050"/>
                  </a:lnTo>
                  <a:lnTo>
                    <a:pt x="0" y="23050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403" r="0" b="-8140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5544800" cy="2324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Disaster Reconnaissance &amp; Emergency Survivor Triage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707" r="0" b="-101709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106400" y="9520238"/>
            <a:ext cx="4267200" cy="561975"/>
            <a:chOff x="0" y="0"/>
            <a:chExt cx="5689600" cy="7493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89600" cy="749301"/>
            </a:xfrm>
            <a:custGeom>
              <a:avLst/>
              <a:gdLst/>
              <a:ahLst/>
              <a:cxnLst/>
              <a:rect r="r" b="b" t="t" l="l"/>
              <a:pathLst>
                <a:path h="74930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7954" r="0" b="-9795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670129" y="2248"/>
            <a:ext cx="3374803" cy="1593532"/>
            <a:chOff x="0" y="0"/>
            <a:chExt cx="4499737" cy="21247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2" r="0" b="-21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03504" y="315468"/>
            <a:ext cx="2263140" cy="740664"/>
            <a:chOff x="0" y="0"/>
            <a:chExt cx="3017520" cy="987552"/>
          </a:xfrm>
        </p:grpSpPr>
        <p:sp>
          <p:nvSpPr>
            <p:cNvPr name="Freeform 17" id="17" descr="Phoenix team logo"/>
            <p:cNvSpPr/>
            <p:nvPr/>
          </p:nvSpPr>
          <p:spPr>
            <a:xfrm flipH="false" flipV="false" rot="0">
              <a:off x="0" y="0"/>
              <a:ext cx="3017520" cy="987552"/>
            </a:xfrm>
            <a:custGeom>
              <a:avLst/>
              <a:gdLst/>
              <a:ahLst/>
              <a:cxnLst/>
              <a:rect r="r" b="b" t="t" l="l"/>
              <a:pathLst>
                <a:path h="987552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04" r="0" b="-105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48640" y="9532620"/>
            <a:ext cx="6515100" cy="754380"/>
            <a:chOff x="0" y="0"/>
            <a:chExt cx="8686800" cy="10058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686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162" r="0" b="-118162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48640" y="9511189"/>
            <a:ext cx="6515100" cy="775811"/>
            <a:chOff x="0" y="0"/>
            <a:chExt cx="8686800" cy="103441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686800" cy="1034415"/>
            </a:xfrm>
            <a:custGeom>
              <a:avLst/>
              <a:gdLst/>
              <a:ahLst/>
              <a:cxnLst/>
              <a:rect r="r" b="b" t="t" l="l"/>
              <a:pathLst>
                <a:path h="1034415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034415"/>
                  </a:lnTo>
                  <a:lnTo>
                    <a:pt x="0" y="10344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3631" r="0" b="-11363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868680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PROJECT PHOENIX: Autonomous Multi-Spectral Edge-AI UAV  |  SIH26177 (Qualcomm Inc.)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810454" y="1770574"/>
            <a:ext cx="5476713" cy="4071814"/>
          </a:xfrm>
          <a:custGeom>
            <a:avLst/>
            <a:gdLst/>
            <a:ahLst/>
            <a:cxnLst/>
            <a:rect r="r" b="b" t="t" l="l"/>
            <a:pathLst>
              <a:path h="4071814" w="5476713">
                <a:moveTo>
                  <a:pt x="0" y="0"/>
                </a:moveTo>
                <a:lnTo>
                  <a:pt x="5476713" y="0"/>
                </a:lnTo>
                <a:lnTo>
                  <a:pt x="5476713" y="4071813"/>
                </a:lnTo>
                <a:lnTo>
                  <a:pt x="0" y="40718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124712" y="2002536"/>
            <a:ext cx="2877502" cy="411480"/>
            <a:chOff x="0" y="0"/>
            <a:chExt cx="3836670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836670" cy="548640"/>
            </a:xfrm>
            <a:custGeom>
              <a:avLst/>
              <a:gdLst/>
              <a:ahLst/>
              <a:cxnLst/>
              <a:rect r="r" b="b" t="t" l="l"/>
              <a:pathLst>
                <a:path h="548640" w="383667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3562350" y="0"/>
                  </a:lnTo>
                  <a:cubicBezTo>
                    <a:pt x="3713861" y="0"/>
                    <a:pt x="3836670" y="122809"/>
                    <a:pt x="3836670" y="274320"/>
                  </a:cubicBezTo>
                  <a:cubicBezTo>
                    <a:pt x="3836670" y="425831"/>
                    <a:pt x="3713861" y="548640"/>
                    <a:pt x="356235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9E7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24712" y="2002536"/>
            <a:ext cx="2877474" cy="411480"/>
            <a:chOff x="0" y="0"/>
            <a:chExt cx="3836632" cy="548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836670" cy="548640"/>
            </a:xfrm>
            <a:custGeom>
              <a:avLst/>
              <a:gdLst/>
              <a:ahLst/>
              <a:cxnLst/>
              <a:rect r="r" b="b" t="t" l="l"/>
              <a:pathLst>
                <a:path h="548640" w="3836670">
                  <a:moveTo>
                    <a:pt x="0" y="0"/>
                  </a:moveTo>
                  <a:lnTo>
                    <a:pt x="3836670" y="0"/>
                  </a:lnTo>
                  <a:lnTo>
                    <a:pt x="383667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164" r="0" b="-86164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24712" y="1988248"/>
            <a:ext cx="2877474" cy="425768"/>
            <a:chOff x="0" y="0"/>
            <a:chExt cx="3836632" cy="56769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36632" cy="567690"/>
            </a:xfrm>
            <a:custGeom>
              <a:avLst/>
              <a:gdLst/>
              <a:ahLst/>
              <a:cxnLst/>
              <a:rect r="r" b="b" t="t" l="l"/>
              <a:pathLst>
                <a:path h="567690" w="3836632">
                  <a:moveTo>
                    <a:pt x="0" y="0"/>
                  </a:moveTo>
                  <a:lnTo>
                    <a:pt x="3836632" y="0"/>
                  </a:lnTo>
                  <a:lnTo>
                    <a:pt x="3836632" y="567690"/>
                  </a:lnTo>
                  <a:lnTo>
                    <a:pt x="0" y="567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686" r="0" b="-8168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3836632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223">
                  <a:solidFill>
                    <a:srgbClr val="B4231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1964086" y="1770526"/>
            <a:ext cx="5412076" cy="4071909"/>
          </a:xfrm>
          <a:custGeom>
            <a:avLst/>
            <a:gdLst/>
            <a:ahLst/>
            <a:cxnLst/>
            <a:rect r="r" b="b" t="t" l="l"/>
            <a:pathLst>
              <a:path h="4071909" w="5412076">
                <a:moveTo>
                  <a:pt x="0" y="0"/>
                </a:moveTo>
                <a:lnTo>
                  <a:pt x="5412076" y="0"/>
                </a:lnTo>
                <a:lnTo>
                  <a:pt x="5412076" y="4071909"/>
                </a:lnTo>
                <a:lnTo>
                  <a:pt x="0" y="40719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12179294" y="2002536"/>
            <a:ext cx="2877502" cy="411480"/>
            <a:chOff x="0" y="0"/>
            <a:chExt cx="3836670" cy="548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836670" cy="548640"/>
            </a:xfrm>
            <a:custGeom>
              <a:avLst/>
              <a:gdLst/>
              <a:ahLst/>
              <a:cxnLst/>
              <a:rect r="r" b="b" t="t" l="l"/>
              <a:pathLst>
                <a:path h="548640" w="383667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3562350" y="0"/>
                  </a:lnTo>
                  <a:cubicBezTo>
                    <a:pt x="3713861" y="0"/>
                    <a:pt x="3836670" y="122809"/>
                    <a:pt x="3836670" y="274320"/>
                  </a:cubicBezTo>
                  <a:cubicBezTo>
                    <a:pt x="3836670" y="425831"/>
                    <a:pt x="3713861" y="548640"/>
                    <a:pt x="356235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08418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179294" y="2002536"/>
            <a:ext cx="2877474" cy="411480"/>
            <a:chOff x="0" y="0"/>
            <a:chExt cx="3836632" cy="5486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836670" cy="548640"/>
            </a:xfrm>
            <a:custGeom>
              <a:avLst/>
              <a:gdLst/>
              <a:ahLst/>
              <a:cxnLst/>
              <a:rect r="r" b="b" t="t" l="l"/>
              <a:pathLst>
                <a:path h="548640" w="3836670">
                  <a:moveTo>
                    <a:pt x="0" y="0"/>
                  </a:moveTo>
                  <a:lnTo>
                    <a:pt x="3836670" y="0"/>
                  </a:lnTo>
                  <a:lnTo>
                    <a:pt x="383667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164" r="0" b="-86164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179294" y="1988248"/>
            <a:ext cx="2877474" cy="425768"/>
            <a:chOff x="0" y="0"/>
            <a:chExt cx="3836632" cy="56769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836632" cy="567690"/>
            </a:xfrm>
            <a:custGeom>
              <a:avLst/>
              <a:gdLst/>
              <a:ahLst/>
              <a:cxnLst/>
              <a:rect r="r" b="b" t="t" l="l"/>
              <a:pathLst>
                <a:path h="567690" w="3836632">
                  <a:moveTo>
                    <a:pt x="0" y="0"/>
                  </a:moveTo>
                  <a:lnTo>
                    <a:pt x="3836632" y="0"/>
                  </a:lnTo>
                  <a:lnTo>
                    <a:pt x="3836632" y="567690"/>
                  </a:lnTo>
                  <a:lnTo>
                    <a:pt x="0" y="567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686" r="0" b="-8168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3836632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223">
                  <a:solidFill>
                    <a:srgbClr val="1434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PROPOSED SOLUTION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251192" y="5425326"/>
            <a:ext cx="3689699" cy="384048"/>
            <a:chOff x="0" y="0"/>
            <a:chExt cx="4919599" cy="51206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919599" cy="512064"/>
            </a:xfrm>
            <a:custGeom>
              <a:avLst/>
              <a:gdLst/>
              <a:ahLst/>
              <a:cxnLst/>
              <a:rect r="r" b="b" t="t" l="l"/>
              <a:pathLst>
                <a:path h="512064" w="4919599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4663567" y="0"/>
                  </a:lnTo>
                  <a:cubicBezTo>
                    <a:pt x="4804918" y="0"/>
                    <a:pt x="4919599" y="114681"/>
                    <a:pt x="4919599" y="256032"/>
                  </a:cubicBezTo>
                  <a:cubicBezTo>
                    <a:pt x="4919599" y="397383"/>
                    <a:pt x="4804918" y="512064"/>
                    <a:pt x="4663567" y="512064"/>
                  </a:cubicBezTo>
                  <a:lnTo>
                    <a:pt x="256032" y="512064"/>
                  </a:ln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251192" y="5425326"/>
            <a:ext cx="3689737" cy="384048"/>
            <a:chOff x="0" y="0"/>
            <a:chExt cx="4919650" cy="51206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919599" cy="512064"/>
            </a:xfrm>
            <a:custGeom>
              <a:avLst/>
              <a:gdLst/>
              <a:ahLst/>
              <a:cxnLst/>
              <a:rect r="r" b="b" t="t" l="l"/>
              <a:pathLst>
                <a:path h="512064" w="4919599">
                  <a:moveTo>
                    <a:pt x="0" y="0"/>
                  </a:moveTo>
                  <a:lnTo>
                    <a:pt x="4919599" y="0"/>
                  </a:lnTo>
                  <a:lnTo>
                    <a:pt x="4919599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73" r="-1" b="-13707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51192" y="5411038"/>
            <a:ext cx="3689737" cy="398336"/>
            <a:chOff x="0" y="0"/>
            <a:chExt cx="4919650" cy="53111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919649" cy="531114"/>
            </a:xfrm>
            <a:custGeom>
              <a:avLst/>
              <a:gdLst/>
              <a:ahLst/>
              <a:cxnLst/>
              <a:rect r="r" b="b" t="t" l="l"/>
              <a:pathLst>
                <a:path h="531114" w="4919649">
                  <a:moveTo>
                    <a:pt x="0" y="0"/>
                  </a:moveTo>
                  <a:lnTo>
                    <a:pt x="4919649" y="0"/>
                  </a:lnTo>
                  <a:lnTo>
                    <a:pt x="4919649" y="531114"/>
                  </a:lnTo>
                  <a:lnTo>
                    <a:pt x="0" y="5311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0487" r="0" b="-13048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491965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223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INNOVATION / UNIQUENESS</a:t>
              </a: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810454" y="6095124"/>
            <a:ext cx="3188732" cy="1533763"/>
          </a:xfrm>
          <a:custGeom>
            <a:avLst/>
            <a:gdLst/>
            <a:ahLst/>
            <a:cxnLst/>
            <a:rect r="r" b="b" t="t" l="l"/>
            <a:pathLst>
              <a:path h="1533763" w="3188732">
                <a:moveTo>
                  <a:pt x="0" y="0"/>
                </a:moveTo>
                <a:lnTo>
                  <a:pt x="3188732" y="0"/>
                </a:lnTo>
                <a:lnTo>
                  <a:pt x="3188732" y="1533763"/>
                </a:lnTo>
                <a:lnTo>
                  <a:pt x="0" y="153376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1014984" y="6231074"/>
            <a:ext cx="2285905" cy="411480"/>
            <a:chOff x="0" y="0"/>
            <a:chExt cx="3047873" cy="5486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047873" cy="548640"/>
            </a:xfrm>
            <a:custGeom>
              <a:avLst/>
              <a:gdLst/>
              <a:ahLst/>
              <a:cxnLst/>
              <a:rect r="r" b="b" t="t" l="l"/>
              <a:pathLst>
                <a:path h="548640" w="3047873">
                  <a:moveTo>
                    <a:pt x="0" y="0"/>
                  </a:moveTo>
                  <a:lnTo>
                    <a:pt x="3047873" y="0"/>
                  </a:lnTo>
                  <a:lnTo>
                    <a:pt x="3047873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171" r="0" b="-58168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014984" y="6209643"/>
            <a:ext cx="2285905" cy="432911"/>
            <a:chOff x="0" y="0"/>
            <a:chExt cx="3047873" cy="57721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047873" cy="577215"/>
            </a:xfrm>
            <a:custGeom>
              <a:avLst/>
              <a:gdLst/>
              <a:ahLst/>
              <a:cxnLst/>
              <a:rect r="r" b="b" t="t" l="l"/>
              <a:pathLst>
                <a:path h="577215" w="3047873">
                  <a:moveTo>
                    <a:pt x="0" y="0"/>
                  </a:moveTo>
                  <a:lnTo>
                    <a:pt x="3047873" y="0"/>
                  </a:lnTo>
                  <a:lnTo>
                    <a:pt x="3047873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887" r="0" b="-5288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3047873" cy="605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Dual-Brain Architecture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3383185" y="6231074"/>
            <a:ext cx="411480" cy="411480"/>
            <a:chOff x="0" y="0"/>
            <a:chExt cx="54864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3486055" y="6333944"/>
            <a:ext cx="205740" cy="205740"/>
            <a:chOff x="0" y="0"/>
            <a:chExt cx="274320" cy="274320"/>
          </a:xfrm>
        </p:grpSpPr>
        <p:sp>
          <p:nvSpPr>
            <p:cNvPr name="Freeform 55" id="55" descr="Dual-Brain Architecture icon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Freeform 56" id="56"/>
          <p:cNvSpPr/>
          <p:nvPr/>
        </p:nvSpPr>
        <p:spPr>
          <a:xfrm flipH="false" flipV="false" rot="0">
            <a:off x="4179922" y="6095124"/>
            <a:ext cx="3188732" cy="1533763"/>
          </a:xfrm>
          <a:custGeom>
            <a:avLst/>
            <a:gdLst/>
            <a:ahLst/>
            <a:cxnLst/>
            <a:rect r="r" b="b" t="t" l="l"/>
            <a:pathLst>
              <a:path h="1533763" w="3188732">
                <a:moveTo>
                  <a:pt x="0" y="0"/>
                </a:moveTo>
                <a:lnTo>
                  <a:pt x="3188732" y="0"/>
                </a:lnTo>
                <a:lnTo>
                  <a:pt x="3188732" y="1533763"/>
                </a:lnTo>
                <a:lnTo>
                  <a:pt x="0" y="153376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7" id="57"/>
          <p:cNvGrpSpPr/>
          <p:nvPr/>
        </p:nvGrpSpPr>
        <p:grpSpPr>
          <a:xfrm rot="0">
            <a:off x="4384453" y="6231074"/>
            <a:ext cx="2285905" cy="411480"/>
            <a:chOff x="0" y="0"/>
            <a:chExt cx="3047873" cy="548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047873" cy="548640"/>
            </a:xfrm>
            <a:custGeom>
              <a:avLst/>
              <a:gdLst/>
              <a:ahLst/>
              <a:cxnLst/>
              <a:rect r="r" b="b" t="t" l="l"/>
              <a:pathLst>
                <a:path h="548640" w="3047873">
                  <a:moveTo>
                    <a:pt x="0" y="0"/>
                  </a:moveTo>
                  <a:lnTo>
                    <a:pt x="3047873" y="0"/>
                  </a:lnTo>
                  <a:lnTo>
                    <a:pt x="3047873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171" r="0" b="-58168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4384453" y="6209643"/>
            <a:ext cx="2285905" cy="432911"/>
            <a:chOff x="0" y="0"/>
            <a:chExt cx="3047873" cy="57721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047873" cy="577215"/>
            </a:xfrm>
            <a:custGeom>
              <a:avLst/>
              <a:gdLst/>
              <a:ahLst/>
              <a:cxnLst/>
              <a:rect r="r" b="b" t="t" l="l"/>
              <a:pathLst>
                <a:path h="577215" w="3047873">
                  <a:moveTo>
                    <a:pt x="0" y="0"/>
                  </a:moveTo>
                  <a:lnTo>
                    <a:pt x="3047873" y="0"/>
                  </a:lnTo>
                  <a:lnTo>
                    <a:pt x="3047873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887" r="0" b="-5288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3047873" cy="605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5W Edge YOLO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752663" y="6231074"/>
            <a:ext cx="411480" cy="411480"/>
            <a:chOff x="0" y="0"/>
            <a:chExt cx="548640" cy="5486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6855533" y="6333944"/>
            <a:ext cx="205740" cy="205740"/>
            <a:chOff x="0" y="0"/>
            <a:chExt cx="274320" cy="274320"/>
          </a:xfrm>
        </p:grpSpPr>
        <p:sp>
          <p:nvSpPr>
            <p:cNvPr name="Freeform 65" id="65" descr="5W Edge YOLO icon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Freeform 66" id="66"/>
          <p:cNvSpPr/>
          <p:nvPr/>
        </p:nvSpPr>
        <p:spPr>
          <a:xfrm flipH="false" flipV="false" rot="0">
            <a:off x="7549401" y="6095124"/>
            <a:ext cx="3188732" cy="1533763"/>
          </a:xfrm>
          <a:custGeom>
            <a:avLst/>
            <a:gdLst/>
            <a:ahLst/>
            <a:cxnLst/>
            <a:rect r="r" b="b" t="t" l="l"/>
            <a:pathLst>
              <a:path h="1533763" w="3188732">
                <a:moveTo>
                  <a:pt x="0" y="0"/>
                </a:moveTo>
                <a:lnTo>
                  <a:pt x="3188732" y="0"/>
                </a:lnTo>
                <a:lnTo>
                  <a:pt x="3188732" y="1533763"/>
                </a:lnTo>
                <a:lnTo>
                  <a:pt x="0" y="153376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7" id="67"/>
          <p:cNvGrpSpPr/>
          <p:nvPr/>
        </p:nvGrpSpPr>
        <p:grpSpPr>
          <a:xfrm rot="0">
            <a:off x="7753931" y="6231074"/>
            <a:ext cx="2285905" cy="411480"/>
            <a:chOff x="0" y="0"/>
            <a:chExt cx="3047873" cy="5486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047873" cy="548640"/>
            </a:xfrm>
            <a:custGeom>
              <a:avLst/>
              <a:gdLst/>
              <a:ahLst/>
              <a:cxnLst/>
              <a:rect r="r" b="b" t="t" l="l"/>
              <a:pathLst>
                <a:path h="548640" w="3047873">
                  <a:moveTo>
                    <a:pt x="0" y="0"/>
                  </a:moveTo>
                  <a:lnTo>
                    <a:pt x="3047873" y="0"/>
                  </a:lnTo>
                  <a:lnTo>
                    <a:pt x="3047873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171" r="0" b="-58168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7753931" y="6209643"/>
            <a:ext cx="2285905" cy="432911"/>
            <a:chOff x="0" y="0"/>
            <a:chExt cx="3047873" cy="57721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047873" cy="577215"/>
            </a:xfrm>
            <a:custGeom>
              <a:avLst/>
              <a:gdLst/>
              <a:ahLst/>
              <a:cxnLst/>
              <a:rect r="r" b="b" t="t" l="l"/>
              <a:pathLst>
                <a:path h="577215" w="3047873">
                  <a:moveTo>
                    <a:pt x="0" y="0"/>
                  </a:moveTo>
                  <a:lnTo>
                    <a:pt x="3047873" y="0"/>
                  </a:lnTo>
                  <a:lnTo>
                    <a:pt x="3047873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887" r="0" b="-52887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28575"/>
              <a:ext cx="3047873" cy="605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Ray-Cast Geolocation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0122132" y="6231074"/>
            <a:ext cx="411480" cy="411480"/>
            <a:chOff x="0" y="0"/>
            <a:chExt cx="548640" cy="5486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0225002" y="6333944"/>
            <a:ext cx="205740" cy="205740"/>
            <a:chOff x="0" y="0"/>
            <a:chExt cx="274320" cy="274320"/>
          </a:xfrm>
        </p:grpSpPr>
        <p:sp>
          <p:nvSpPr>
            <p:cNvPr name="Freeform 75" id="75" descr="Ray-Cast Geolocation icon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Freeform 76" id="76"/>
          <p:cNvSpPr/>
          <p:nvPr/>
        </p:nvSpPr>
        <p:spPr>
          <a:xfrm flipH="false" flipV="false" rot="0">
            <a:off x="10918869" y="6095124"/>
            <a:ext cx="3188732" cy="1533763"/>
          </a:xfrm>
          <a:custGeom>
            <a:avLst/>
            <a:gdLst/>
            <a:ahLst/>
            <a:cxnLst/>
            <a:rect r="r" b="b" t="t" l="l"/>
            <a:pathLst>
              <a:path h="1533763" w="3188732">
                <a:moveTo>
                  <a:pt x="0" y="0"/>
                </a:moveTo>
                <a:lnTo>
                  <a:pt x="3188732" y="0"/>
                </a:lnTo>
                <a:lnTo>
                  <a:pt x="3188732" y="1533763"/>
                </a:lnTo>
                <a:lnTo>
                  <a:pt x="0" y="153376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7" id="77"/>
          <p:cNvGrpSpPr/>
          <p:nvPr/>
        </p:nvGrpSpPr>
        <p:grpSpPr>
          <a:xfrm rot="0">
            <a:off x="11123400" y="6231074"/>
            <a:ext cx="2285905" cy="411480"/>
            <a:chOff x="0" y="0"/>
            <a:chExt cx="3047873" cy="5486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047873" cy="548640"/>
            </a:xfrm>
            <a:custGeom>
              <a:avLst/>
              <a:gdLst/>
              <a:ahLst/>
              <a:cxnLst/>
              <a:rect r="r" b="b" t="t" l="l"/>
              <a:pathLst>
                <a:path h="548640" w="3047873">
                  <a:moveTo>
                    <a:pt x="0" y="0"/>
                  </a:moveTo>
                  <a:lnTo>
                    <a:pt x="3047873" y="0"/>
                  </a:lnTo>
                  <a:lnTo>
                    <a:pt x="3047873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171" r="0" b="-58168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123400" y="6209643"/>
            <a:ext cx="2285905" cy="432911"/>
            <a:chOff x="0" y="0"/>
            <a:chExt cx="3047873" cy="577215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047873" cy="577215"/>
            </a:xfrm>
            <a:custGeom>
              <a:avLst/>
              <a:gdLst/>
              <a:ahLst/>
              <a:cxnLst/>
              <a:rect r="r" b="b" t="t" l="l"/>
              <a:pathLst>
                <a:path h="577215" w="3047873">
                  <a:moveTo>
                    <a:pt x="0" y="0"/>
                  </a:moveTo>
                  <a:lnTo>
                    <a:pt x="3047873" y="0"/>
                  </a:lnTo>
                  <a:lnTo>
                    <a:pt x="3047873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887" r="0" b="-52887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28575"/>
              <a:ext cx="3047873" cy="605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ROS-LoRa P2P Bridge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3491610" y="6231074"/>
            <a:ext cx="411480" cy="411480"/>
            <a:chOff x="0" y="0"/>
            <a:chExt cx="548640" cy="5486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3594480" y="6333944"/>
            <a:ext cx="205740" cy="205740"/>
            <a:chOff x="0" y="0"/>
            <a:chExt cx="274320" cy="274320"/>
          </a:xfrm>
        </p:grpSpPr>
        <p:sp>
          <p:nvSpPr>
            <p:cNvPr name="Freeform 85" id="85" descr="ROS-LoRa P2P Bridge icon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Freeform 86" id="86"/>
          <p:cNvSpPr/>
          <p:nvPr/>
        </p:nvSpPr>
        <p:spPr>
          <a:xfrm flipH="false" flipV="false" rot="0">
            <a:off x="14288186" y="6095124"/>
            <a:ext cx="2470509" cy="1533763"/>
          </a:xfrm>
          <a:custGeom>
            <a:avLst/>
            <a:gdLst/>
            <a:ahLst/>
            <a:cxnLst/>
            <a:rect r="r" b="b" t="t" l="l"/>
            <a:pathLst>
              <a:path h="1533763" w="2470509">
                <a:moveTo>
                  <a:pt x="0" y="0"/>
                </a:moveTo>
                <a:lnTo>
                  <a:pt x="2470509" y="0"/>
                </a:lnTo>
                <a:lnTo>
                  <a:pt x="2470509" y="1533763"/>
                </a:lnTo>
                <a:lnTo>
                  <a:pt x="0" y="153376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7" id="87"/>
          <p:cNvGrpSpPr/>
          <p:nvPr/>
        </p:nvGrpSpPr>
        <p:grpSpPr>
          <a:xfrm rot="0">
            <a:off x="14492878" y="6231074"/>
            <a:ext cx="2285905" cy="411480"/>
            <a:chOff x="0" y="0"/>
            <a:chExt cx="3047873" cy="54864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047873" cy="548640"/>
            </a:xfrm>
            <a:custGeom>
              <a:avLst/>
              <a:gdLst/>
              <a:ahLst/>
              <a:cxnLst/>
              <a:rect r="r" b="b" t="t" l="l"/>
              <a:pathLst>
                <a:path h="548640" w="3047873">
                  <a:moveTo>
                    <a:pt x="0" y="0"/>
                  </a:moveTo>
                  <a:lnTo>
                    <a:pt x="3047873" y="0"/>
                  </a:lnTo>
                  <a:lnTo>
                    <a:pt x="3047873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171" r="0" b="-58168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4492878" y="6209643"/>
            <a:ext cx="2285905" cy="432911"/>
            <a:chOff x="0" y="0"/>
            <a:chExt cx="3047873" cy="577215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047873" cy="577215"/>
            </a:xfrm>
            <a:custGeom>
              <a:avLst/>
              <a:gdLst/>
              <a:ahLst/>
              <a:cxnLst/>
              <a:rect r="r" b="b" t="t" l="l"/>
              <a:pathLst>
                <a:path h="577215" w="3047873">
                  <a:moveTo>
                    <a:pt x="0" y="0"/>
                  </a:moveTo>
                  <a:lnTo>
                    <a:pt x="3047873" y="0"/>
                  </a:lnTo>
                  <a:lnTo>
                    <a:pt x="3047873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887" r="0" b="-52887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28575"/>
              <a:ext cx="3047873" cy="605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Anti-Compass Drift VIO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6861079" y="6231074"/>
            <a:ext cx="411480" cy="411480"/>
            <a:chOff x="0" y="0"/>
            <a:chExt cx="548640" cy="54864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6963949" y="6333944"/>
            <a:ext cx="205740" cy="205740"/>
            <a:chOff x="0" y="0"/>
            <a:chExt cx="274320" cy="274320"/>
          </a:xfrm>
        </p:grpSpPr>
        <p:sp>
          <p:nvSpPr>
            <p:cNvPr name="Freeform 95" id="95" descr="Anti-Compass Drift VIO icon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085850" y="7886986"/>
            <a:ext cx="3634740" cy="630936"/>
            <a:chOff x="0" y="0"/>
            <a:chExt cx="4846320" cy="841248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4846320" cy="841248"/>
            </a:xfrm>
            <a:custGeom>
              <a:avLst/>
              <a:gdLst/>
              <a:ahLst/>
              <a:cxnLst/>
              <a:rect r="r" b="b" t="t" l="l"/>
              <a:pathLst>
                <a:path h="841248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172" r="0" b="-62172"/>
              </a:stretch>
            </a:blip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085850" y="7872698"/>
            <a:ext cx="3634740" cy="645223"/>
            <a:chOff x="0" y="0"/>
            <a:chExt cx="4846320" cy="86029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846320" cy="860298"/>
            </a:xfrm>
            <a:custGeom>
              <a:avLst/>
              <a:gdLst/>
              <a:ahLst/>
              <a:cxnLst/>
              <a:rect r="r" b="b" t="t" l="l"/>
              <a:pathLst>
                <a:path h="860298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860298"/>
                  </a:lnTo>
                  <a:lnTo>
                    <a:pt x="0" y="86029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9765" r="0" b="-59765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19050"/>
              <a:ext cx="4846320" cy="879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43">
                  <a:solidFill>
                    <a:srgbClr val="B4231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TRADITIONAL DISASTER SEARCH</a:t>
              </a:r>
            </a:p>
            <a:p>
              <a:pPr algn="l">
                <a:lnSpc>
                  <a:spcPts val="1889"/>
                </a:lnSpc>
              </a:pPr>
              <a:r>
                <a:rPr lang="en-US" sz="1575" spc="43">
                  <a:solidFill>
                    <a:srgbClr val="5660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(Current Approach)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4789170" y="7886986"/>
            <a:ext cx="2263140" cy="630936"/>
            <a:chOff x="0" y="0"/>
            <a:chExt cx="3017520" cy="84124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017520" cy="841248"/>
            </a:xfrm>
            <a:custGeom>
              <a:avLst/>
              <a:gdLst/>
              <a:ahLst/>
              <a:cxnLst/>
              <a:rect r="r" b="b" t="t" l="l"/>
              <a:pathLst>
                <a:path h="841248" w="30175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834640" y="0"/>
                  </a:lnTo>
                  <a:cubicBezTo>
                    <a:pt x="2935605" y="0"/>
                    <a:pt x="3017520" y="81915"/>
                    <a:pt x="3017520" y="182880"/>
                  </a:cubicBezTo>
                  <a:lnTo>
                    <a:pt x="3017520" y="658368"/>
                  </a:lnTo>
                  <a:cubicBezTo>
                    <a:pt x="3017520" y="759333"/>
                    <a:pt x="2935605" y="841248"/>
                    <a:pt x="2834640" y="841248"/>
                  </a:cubicBezTo>
                  <a:lnTo>
                    <a:pt x="182880" y="841248"/>
                  </a:lnTo>
                  <a:cubicBezTo>
                    <a:pt x="81915" y="841248"/>
                    <a:pt x="0" y="759333"/>
                    <a:pt x="0" y="658368"/>
                  </a:cubicBezTo>
                  <a:close/>
                </a:path>
              </a:pathLst>
            </a:custGeom>
            <a:solidFill>
              <a:srgbClr val="FBE6E3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4885182" y="7886986"/>
            <a:ext cx="2071116" cy="630936"/>
            <a:chOff x="0" y="0"/>
            <a:chExt cx="2761488" cy="841248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761488" cy="841248"/>
            </a:xfrm>
            <a:custGeom>
              <a:avLst/>
              <a:gdLst/>
              <a:ahLst/>
              <a:cxnLst/>
              <a:rect r="r" b="b" t="t" l="l"/>
              <a:pathLst>
                <a:path h="841248" w="2761488">
                  <a:moveTo>
                    <a:pt x="0" y="0"/>
                  </a:moveTo>
                  <a:lnTo>
                    <a:pt x="2761488" y="0"/>
                  </a:lnTo>
                  <a:lnTo>
                    <a:pt x="276148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17" r="0" b="-13917"/>
              </a:stretch>
            </a:blip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4885182" y="7872698"/>
            <a:ext cx="2071116" cy="645223"/>
            <a:chOff x="0" y="0"/>
            <a:chExt cx="2761488" cy="860298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761488" cy="860298"/>
            </a:xfrm>
            <a:custGeom>
              <a:avLst/>
              <a:gdLst/>
              <a:ahLst/>
              <a:cxnLst/>
              <a:rect r="r" b="b" t="t" l="l"/>
              <a:pathLst>
                <a:path h="860298" w="2761488">
                  <a:moveTo>
                    <a:pt x="0" y="0"/>
                  </a:moveTo>
                  <a:lnTo>
                    <a:pt x="2761488" y="0"/>
                  </a:lnTo>
                  <a:lnTo>
                    <a:pt x="2761488" y="860298"/>
                  </a:lnTo>
                  <a:lnTo>
                    <a:pt x="0" y="86029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545" r="0" b="-12545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19050"/>
              <a:ext cx="2761488" cy="879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4A161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Manual Foot Sweeps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7127748" y="8092726"/>
            <a:ext cx="123444" cy="219456"/>
            <a:chOff x="0" y="0"/>
            <a:chExt cx="164592" cy="292608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64592" cy="292608"/>
            </a:xfrm>
            <a:custGeom>
              <a:avLst/>
              <a:gdLst/>
              <a:ahLst/>
              <a:cxnLst/>
              <a:rect r="r" b="b" t="t" l="l"/>
              <a:pathLst>
                <a:path h="292608" w="164592">
                  <a:moveTo>
                    <a:pt x="0" y="0"/>
                  </a:moveTo>
                  <a:lnTo>
                    <a:pt x="82296" y="0"/>
                  </a:lnTo>
                  <a:lnTo>
                    <a:pt x="164592" y="146304"/>
                  </a:lnTo>
                  <a:lnTo>
                    <a:pt x="82296" y="292608"/>
                  </a:lnTo>
                  <a:lnTo>
                    <a:pt x="0" y="292608"/>
                  </a:lnTo>
                  <a:lnTo>
                    <a:pt x="82296" y="146304"/>
                  </a:lnTo>
                  <a:close/>
                </a:path>
              </a:pathLst>
            </a:custGeom>
            <a:solidFill>
              <a:srgbClr val="C9A29D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7326630" y="7886986"/>
            <a:ext cx="2263140" cy="630936"/>
            <a:chOff x="0" y="0"/>
            <a:chExt cx="3017520" cy="84124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017520" cy="841248"/>
            </a:xfrm>
            <a:custGeom>
              <a:avLst/>
              <a:gdLst/>
              <a:ahLst/>
              <a:cxnLst/>
              <a:rect r="r" b="b" t="t" l="l"/>
              <a:pathLst>
                <a:path h="841248" w="30175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834640" y="0"/>
                  </a:lnTo>
                  <a:cubicBezTo>
                    <a:pt x="2935605" y="0"/>
                    <a:pt x="3017520" y="81915"/>
                    <a:pt x="3017520" y="182880"/>
                  </a:cubicBezTo>
                  <a:lnTo>
                    <a:pt x="3017520" y="658368"/>
                  </a:lnTo>
                  <a:cubicBezTo>
                    <a:pt x="3017520" y="759333"/>
                    <a:pt x="2935605" y="841248"/>
                    <a:pt x="2834640" y="841248"/>
                  </a:cubicBezTo>
                  <a:lnTo>
                    <a:pt x="182880" y="841248"/>
                  </a:lnTo>
                  <a:cubicBezTo>
                    <a:pt x="81915" y="841248"/>
                    <a:pt x="0" y="759333"/>
                    <a:pt x="0" y="658368"/>
                  </a:cubicBezTo>
                  <a:close/>
                </a:path>
              </a:pathLst>
            </a:custGeom>
            <a:solidFill>
              <a:srgbClr val="FBE6E3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7422642" y="7886986"/>
            <a:ext cx="2071116" cy="630936"/>
            <a:chOff x="0" y="0"/>
            <a:chExt cx="2761488" cy="841248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761488" cy="841248"/>
            </a:xfrm>
            <a:custGeom>
              <a:avLst/>
              <a:gdLst/>
              <a:ahLst/>
              <a:cxnLst/>
              <a:rect r="r" b="b" t="t" l="l"/>
              <a:pathLst>
                <a:path h="841248" w="2761488">
                  <a:moveTo>
                    <a:pt x="0" y="0"/>
                  </a:moveTo>
                  <a:lnTo>
                    <a:pt x="2761488" y="0"/>
                  </a:lnTo>
                  <a:lnTo>
                    <a:pt x="276148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17" r="0" b="-13917"/>
              </a:stretch>
            </a:blip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7422642" y="7872698"/>
            <a:ext cx="2071116" cy="645223"/>
            <a:chOff x="0" y="0"/>
            <a:chExt cx="2761488" cy="860298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761488" cy="860298"/>
            </a:xfrm>
            <a:custGeom>
              <a:avLst/>
              <a:gdLst/>
              <a:ahLst/>
              <a:cxnLst/>
              <a:rect r="r" b="b" t="t" l="l"/>
              <a:pathLst>
                <a:path h="860298" w="2761488">
                  <a:moveTo>
                    <a:pt x="0" y="0"/>
                  </a:moveTo>
                  <a:lnTo>
                    <a:pt x="2761488" y="0"/>
                  </a:lnTo>
                  <a:lnTo>
                    <a:pt x="2761488" y="860298"/>
                  </a:lnTo>
                  <a:lnTo>
                    <a:pt x="0" y="86029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545" r="0" b="-12545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19050"/>
              <a:ext cx="2761488" cy="879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4A161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Blind Rubble Digging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9665208" y="8092726"/>
            <a:ext cx="123444" cy="219456"/>
            <a:chOff x="0" y="0"/>
            <a:chExt cx="164592" cy="292608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64592" cy="292608"/>
            </a:xfrm>
            <a:custGeom>
              <a:avLst/>
              <a:gdLst/>
              <a:ahLst/>
              <a:cxnLst/>
              <a:rect r="r" b="b" t="t" l="l"/>
              <a:pathLst>
                <a:path h="292608" w="164592">
                  <a:moveTo>
                    <a:pt x="0" y="0"/>
                  </a:moveTo>
                  <a:lnTo>
                    <a:pt x="82296" y="0"/>
                  </a:lnTo>
                  <a:lnTo>
                    <a:pt x="164592" y="146304"/>
                  </a:lnTo>
                  <a:lnTo>
                    <a:pt x="82296" y="292608"/>
                  </a:lnTo>
                  <a:lnTo>
                    <a:pt x="0" y="292608"/>
                  </a:lnTo>
                  <a:lnTo>
                    <a:pt x="82296" y="146304"/>
                  </a:lnTo>
                  <a:close/>
                </a:path>
              </a:pathLst>
            </a:custGeom>
            <a:solidFill>
              <a:srgbClr val="C9A29D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9864090" y="7886986"/>
            <a:ext cx="2263140" cy="630936"/>
            <a:chOff x="0" y="0"/>
            <a:chExt cx="3017520" cy="841248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3017520" cy="841248"/>
            </a:xfrm>
            <a:custGeom>
              <a:avLst/>
              <a:gdLst/>
              <a:ahLst/>
              <a:cxnLst/>
              <a:rect r="r" b="b" t="t" l="l"/>
              <a:pathLst>
                <a:path h="841248" w="30175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834640" y="0"/>
                  </a:lnTo>
                  <a:cubicBezTo>
                    <a:pt x="2935605" y="0"/>
                    <a:pt x="3017520" y="81915"/>
                    <a:pt x="3017520" y="182880"/>
                  </a:cubicBezTo>
                  <a:lnTo>
                    <a:pt x="3017520" y="658368"/>
                  </a:lnTo>
                  <a:cubicBezTo>
                    <a:pt x="3017520" y="759333"/>
                    <a:pt x="2935605" y="841248"/>
                    <a:pt x="2834640" y="841248"/>
                  </a:cubicBezTo>
                  <a:lnTo>
                    <a:pt x="182880" y="841248"/>
                  </a:lnTo>
                  <a:cubicBezTo>
                    <a:pt x="81915" y="841248"/>
                    <a:pt x="0" y="759333"/>
                    <a:pt x="0" y="658368"/>
                  </a:cubicBezTo>
                  <a:close/>
                </a:path>
              </a:pathLst>
            </a:custGeom>
            <a:solidFill>
              <a:srgbClr val="FBE6E3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9960102" y="7886986"/>
            <a:ext cx="2071116" cy="630936"/>
            <a:chOff x="0" y="0"/>
            <a:chExt cx="2761488" cy="841248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2761488" cy="841248"/>
            </a:xfrm>
            <a:custGeom>
              <a:avLst/>
              <a:gdLst/>
              <a:ahLst/>
              <a:cxnLst/>
              <a:rect r="r" b="b" t="t" l="l"/>
              <a:pathLst>
                <a:path h="841248" w="2761488">
                  <a:moveTo>
                    <a:pt x="0" y="0"/>
                  </a:moveTo>
                  <a:lnTo>
                    <a:pt x="2761488" y="0"/>
                  </a:lnTo>
                  <a:lnTo>
                    <a:pt x="276148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17" r="0" b="-13917"/>
              </a:stretch>
            </a:blip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9960102" y="7872698"/>
            <a:ext cx="2071116" cy="645223"/>
            <a:chOff x="0" y="0"/>
            <a:chExt cx="2761488" cy="860298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761488" cy="860298"/>
            </a:xfrm>
            <a:custGeom>
              <a:avLst/>
              <a:gdLst/>
              <a:ahLst/>
              <a:cxnLst/>
              <a:rect r="r" b="b" t="t" l="l"/>
              <a:pathLst>
                <a:path h="860298" w="2761488">
                  <a:moveTo>
                    <a:pt x="0" y="0"/>
                  </a:moveTo>
                  <a:lnTo>
                    <a:pt x="2761488" y="0"/>
                  </a:lnTo>
                  <a:lnTo>
                    <a:pt x="2761488" y="860298"/>
                  </a:lnTo>
                  <a:lnTo>
                    <a:pt x="0" y="86029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545" r="0" b="-12545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19050"/>
              <a:ext cx="2761488" cy="879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4A161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Stalled at Sunset (Darkness)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2202668" y="8092726"/>
            <a:ext cx="123444" cy="219456"/>
            <a:chOff x="0" y="0"/>
            <a:chExt cx="164592" cy="292608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64592" cy="292608"/>
            </a:xfrm>
            <a:custGeom>
              <a:avLst/>
              <a:gdLst/>
              <a:ahLst/>
              <a:cxnLst/>
              <a:rect r="r" b="b" t="t" l="l"/>
              <a:pathLst>
                <a:path h="292608" w="164592">
                  <a:moveTo>
                    <a:pt x="0" y="0"/>
                  </a:moveTo>
                  <a:lnTo>
                    <a:pt x="82296" y="0"/>
                  </a:lnTo>
                  <a:lnTo>
                    <a:pt x="164592" y="146304"/>
                  </a:lnTo>
                  <a:lnTo>
                    <a:pt x="82296" y="292608"/>
                  </a:lnTo>
                  <a:lnTo>
                    <a:pt x="0" y="292608"/>
                  </a:lnTo>
                  <a:lnTo>
                    <a:pt x="82296" y="146304"/>
                  </a:lnTo>
                  <a:close/>
                </a:path>
              </a:pathLst>
            </a:custGeom>
            <a:solidFill>
              <a:srgbClr val="C9A29D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12401550" y="7886986"/>
            <a:ext cx="2263140" cy="630936"/>
            <a:chOff x="0" y="0"/>
            <a:chExt cx="3017520" cy="841248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3017520" cy="841248"/>
            </a:xfrm>
            <a:custGeom>
              <a:avLst/>
              <a:gdLst/>
              <a:ahLst/>
              <a:cxnLst/>
              <a:rect r="r" b="b" t="t" l="l"/>
              <a:pathLst>
                <a:path h="841248" w="30175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834640" y="0"/>
                  </a:lnTo>
                  <a:cubicBezTo>
                    <a:pt x="2935605" y="0"/>
                    <a:pt x="3017520" y="81915"/>
                    <a:pt x="3017520" y="182880"/>
                  </a:cubicBezTo>
                  <a:lnTo>
                    <a:pt x="3017520" y="658368"/>
                  </a:lnTo>
                  <a:cubicBezTo>
                    <a:pt x="3017520" y="759333"/>
                    <a:pt x="2935605" y="841248"/>
                    <a:pt x="2834640" y="841248"/>
                  </a:cubicBezTo>
                  <a:lnTo>
                    <a:pt x="182880" y="841248"/>
                  </a:lnTo>
                  <a:cubicBezTo>
                    <a:pt x="81915" y="841248"/>
                    <a:pt x="0" y="759333"/>
                    <a:pt x="0" y="658368"/>
                  </a:cubicBezTo>
                  <a:close/>
                </a:path>
              </a:pathLst>
            </a:custGeom>
            <a:solidFill>
              <a:srgbClr val="FBE6E3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12497562" y="7886986"/>
            <a:ext cx="2071116" cy="630936"/>
            <a:chOff x="0" y="0"/>
            <a:chExt cx="2761488" cy="841248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2761488" cy="841248"/>
            </a:xfrm>
            <a:custGeom>
              <a:avLst/>
              <a:gdLst/>
              <a:ahLst/>
              <a:cxnLst/>
              <a:rect r="r" b="b" t="t" l="l"/>
              <a:pathLst>
                <a:path h="841248" w="2761488">
                  <a:moveTo>
                    <a:pt x="0" y="0"/>
                  </a:moveTo>
                  <a:lnTo>
                    <a:pt x="2761488" y="0"/>
                  </a:lnTo>
                  <a:lnTo>
                    <a:pt x="276148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17" r="0" b="-13917"/>
              </a:stretch>
            </a:blip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12497562" y="7872698"/>
            <a:ext cx="2071116" cy="645223"/>
            <a:chOff x="0" y="0"/>
            <a:chExt cx="2761488" cy="860298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761488" cy="860298"/>
            </a:xfrm>
            <a:custGeom>
              <a:avLst/>
              <a:gdLst/>
              <a:ahLst/>
              <a:cxnLst/>
              <a:rect r="r" b="b" t="t" l="l"/>
              <a:pathLst>
                <a:path h="860298" w="2761488">
                  <a:moveTo>
                    <a:pt x="0" y="0"/>
                  </a:moveTo>
                  <a:lnTo>
                    <a:pt x="2761488" y="0"/>
                  </a:lnTo>
                  <a:lnTo>
                    <a:pt x="2761488" y="860298"/>
                  </a:lnTo>
                  <a:lnTo>
                    <a:pt x="0" y="86029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545" r="0" b="-12545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19050"/>
              <a:ext cx="2761488" cy="879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4A161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 Responder Casualty Risk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14740128" y="8092726"/>
            <a:ext cx="123444" cy="219456"/>
            <a:chOff x="0" y="0"/>
            <a:chExt cx="164592" cy="292608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64592" cy="292608"/>
            </a:xfrm>
            <a:custGeom>
              <a:avLst/>
              <a:gdLst/>
              <a:ahLst/>
              <a:cxnLst/>
              <a:rect r="r" b="b" t="t" l="l"/>
              <a:pathLst>
                <a:path h="292608" w="164592">
                  <a:moveTo>
                    <a:pt x="0" y="0"/>
                  </a:moveTo>
                  <a:lnTo>
                    <a:pt x="82296" y="0"/>
                  </a:lnTo>
                  <a:lnTo>
                    <a:pt x="164592" y="146304"/>
                  </a:lnTo>
                  <a:lnTo>
                    <a:pt x="82296" y="292608"/>
                  </a:lnTo>
                  <a:lnTo>
                    <a:pt x="0" y="292608"/>
                  </a:lnTo>
                  <a:lnTo>
                    <a:pt x="82296" y="146304"/>
                  </a:lnTo>
                  <a:close/>
                </a:path>
              </a:pathLst>
            </a:custGeom>
            <a:solidFill>
              <a:srgbClr val="C9A29D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14939010" y="7886986"/>
            <a:ext cx="2263140" cy="630936"/>
            <a:chOff x="0" y="0"/>
            <a:chExt cx="3017520" cy="841248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3017520" cy="841248"/>
            </a:xfrm>
            <a:custGeom>
              <a:avLst/>
              <a:gdLst/>
              <a:ahLst/>
              <a:cxnLst/>
              <a:rect r="r" b="b" t="t" l="l"/>
              <a:pathLst>
                <a:path h="841248" w="30175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834640" y="0"/>
                  </a:lnTo>
                  <a:cubicBezTo>
                    <a:pt x="2935605" y="0"/>
                    <a:pt x="3017520" y="81915"/>
                    <a:pt x="3017520" y="182880"/>
                  </a:cubicBezTo>
                  <a:lnTo>
                    <a:pt x="3017520" y="658368"/>
                  </a:lnTo>
                  <a:cubicBezTo>
                    <a:pt x="3017520" y="759333"/>
                    <a:pt x="2935605" y="841248"/>
                    <a:pt x="2834640" y="841248"/>
                  </a:cubicBezTo>
                  <a:lnTo>
                    <a:pt x="182880" y="841248"/>
                  </a:lnTo>
                  <a:cubicBezTo>
                    <a:pt x="81915" y="841248"/>
                    <a:pt x="0" y="759333"/>
                    <a:pt x="0" y="658368"/>
                  </a:cubicBezTo>
                  <a:close/>
                </a:path>
              </a:pathLst>
            </a:custGeom>
            <a:solidFill>
              <a:srgbClr val="B42318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15035022" y="7886986"/>
            <a:ext cx="2071116" cy="630936"/>
            <a:chOff x="0" y="0"/>
            <a:chExt cx="2761488" cy="841248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2761488" cy="841248"/>
            </a:xfrm>
            <a:custGeom>
              <a:avLst/>
              <a:gdLst/>
              <a:ahLst/>
              <a:cxnLst/>
              <a:rect r="r" b="b" t="t" l="l"/>
              <a:pathLst>
                <a:path h="841248" w="2761488">
                  <a:moveTo>
                    <a:pt x="0" y="0"/>
                  </a:moveTo>
                  <a:lnTo>
                    <a:pt x="2761488" y="0"/>
                  </a:lnTo>
                  <a:lnTo>
                    <a:pt x="276148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17" r="0" b="-13917"/>
              </a:stretch>
            </a:blip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15035022" y="7872698"/>
            <a:ext cx="2071116" cy="645223"/>
            <a:chOff x="0" y="0"/>
            <a:chExt cx="2761488" cy="860298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2761488" cy="860298"/>
            </a:xfrm>
            <a:custGeom>
              <a:avLst/>
              <a:gdLst/>
              <a:ahLst/>
              <a:cxnLst/>
              <a:rect r="r" b="b" t="t" l="l"/>
              <a:pathLst>
                <a:path h="860298" w="2761488">
                  <a:moveTo>
                    <a:pt x="0" y="0"/>
                  </a:moveTo>
                  <a:lnTo>
                    <a:pt x="2761488" y="0"/>
                  </a:lnTo>
                  <a:lnTo>
                    <a:pt x="2761488" y="860298"/>
                  </a:lnTo>
                  <a:lnTo>
                    <a:pt x="0" y="86029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545" r="0" b="-12545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19050"/>
              <a:ext cx="2761488" cy="879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Critical Hours Lost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1085850" y="8655082"/>
            <a:ext cx="3634740" cy="630936"/>
            <a:chOff x="0" y="0"/>
            <a:chExt cx="4846320" cy="841248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4846320" cy="841248"/>
            </a:xfrm>
            <a:custGeom>
              <a:avLst/>
              <a:gdLst/>
              <a:ahLst/>
              <a:cxnLst/>
              <a:rect r="r" b="b" t="t" l="l"/>
              <a:pathLst>
                <a:path h="841248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172" r="0" b="-62172"/>
              </a:stretch>
            </a:blip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1085850" y="8640794"/>
            <a:ext cx="3634740" cy="645223"/>
            <a:chOff x="0" y="0"/>
            <a:chExt cx="4846320" cy="860298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4846320" cy="860298"/>
            </a:xfrm>
            <a:custGeom>
              <a:avLst/>
              <a:gdLst/>
              <a:ahLst/>
              <a:cxnLst/>
              <a:rect r="r" b="b" t="t" l="l"/>
              <a:pathLst>
                <a:path h="860298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860298"/>
                  </a:lnTo>
                  <a:lnTo>
                    <a:pt x="0" y="86029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9765" r="0" b="-59765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19050"/>
              <a:ext cx="4846320" cy="879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43">
                  <a:solidFill>
                    <a:srgbClr val="0A7A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PHOENIX AUTONOMOUS SAR</a:t>
              </a:r>
            </a:p>
            <a:p>
              <a:pPr algn="l">
                <a:lnSpc>
                  <a:spcPts val="1889"/>
                </a:lnSpc>
              </a:pPr>
              <a:r>
                <a:rPr lang="en-US" sz="1575" spc="43">
                  <a:solidFill>
                    <a:srgbClr val="5660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(Our Approach)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4789170" y="8655082"/>
            <a:ext cx="2263140" cy="630936"/>
            <a:chOff x="0" y="0"/>
            <a:chExt cx="3017520" cy="841248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3017520" cy="841248"/>
            </a:xfrm>
            <a:custGeom>
              <a:avLst/>
              <a:gdLst/>
              <a:ahLst/>
              <a:cxnLst/>
              <a:rect r="r" b="b" t="t" l="l"/>
              <a:pathLst>
                <a:path h="841248" w="30175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834640" y="0"/>
                  </a:lnTo>
                  <a:cubicBezTo>
                    <a:pt x="2935605" y="0"/>
                    <a:pt x="3017520" y="81915"/>
                    <a:pt x="3017520" y="182880"/>
                  </a:cubicBezTo>
                  <a:lnTo>
                    <a:pt x="3017520" y="658368"/>
                  </a:lnTo>
                  <a:cubicBezTo>
                    <a:pt x="3017520" y="759333"/>
                    <a:pt x="2935605" y="841248"/>
                    <a:pt x="2834640" y="841248"/>
                  </a:cubicBezTo>
                  <a:lnTo>
                    <a:pt x="182880" y="841248"/>
                  </a:lnTo>
                  <a:cubicBezTo>
                    <a:pt x="81915" y="841248"/>
                    <a:pt x="0" y="759333"/>
                    <a:pt x="0" y="658368"/>
                  </a:cubicBezTo>
                  <a:close/>
                </a:path>
              </a:pathLst>
            </a:custGeom>
            <a:solidFill>
              <a:srgbClr val="E3F4E9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4885182" y="8655082"/>
            <a:ext cx="2071116" cy="630936"/>
            <a:chOff x="0" y="0"/>
            <a:chExt cx="2761488" cy="841248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2761488" cy="841248"/>
            </a:xfrm>
            <a:custGeom>
              <a:avLst/>
              <a:gdLst/>
              <a:ahLst/>
              <a:cxnLst/>
              <a:rect r="r" b="b" t="t" l="l"/>
              <a:pathLst>
                <a:path h="841248" w="2761488">
                  <a:moveTo>
                    <a:pt x="0" y="0"/>
                  </a:moveTo>
                  <a:lnTo>
                    <a:pt x="2761488" y="0"/>
                  </a:lnTo>
                  <a:lnTo>
                    <a:pt x="276148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17" r="0" b="-13917"/>
              </a:stretch>
            </a:blip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4885182" y="8640794"/>
            <a:ext cx="2071116" cy="645223"/>
            <a:chOff x="0" y="0"/>
            <a:chExt cx="2761488" cy="860298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2761488" cy="860298"/>
            </a:xfrm>
            <a:custGeom>
              <a:avLst/>
              <a:gdLst/>
              <a:ahLst/>
              <a:cxnLst/>
              <a:rect r="r" b="b" t="t" l="l"/>
              <a:pathLst>
                <a:path h="860298" w="2761488">
                  <a:moveTo>
                    <a:pt x="0" y="0"/>
                  </a:moveTo>
                  <a:lnTo>
                    <a:pt x="2761488" y="0"/>
                  </a:lnTo>
                  <a:lnTo>
                    <a:pt x="2761488" y="860298"/>
                  </a:lnTo>
                  <a:lnTo>
                    <a:pt x="0" y="86029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545" r="0" b="-12545"/>
              </a:stretch>
            </a:blipFill>
          </p:spPr>
        </p:sp>
        <p:sp>
          <p:nvSpPr>
            <p:cNvPr name="TextBox 155" id="155"/>
            <p:cNvSpPr txBox="true"/>
            <p:nvPr/>
          </p:nvSpPr>
          <p:spPr>
            <a:xfrm>
              <a:off x="0" y="-19050"/>
              <a:ext cx="2761488" cy="879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B3D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Autonomous Aerial Sweep</a:t>
              </a:r>
            </a:p>
          </p:txBody>
        </p:sp>
      </p:grpSp>
      <p:grpSp>
        <p:nvGrpSpPr>
          <p:cNvPr name="Group 156" id="156"/>
          <p:cNvGrpSpPr/>
          <p:nvPr/>
        </p:nvGrpSpPr>
        <p:grpSpPr>
          <a:xfrm rot="0">
            <a:off x="7127748" y="8860822"/>
            <a:ext cx="123444" cy="219456"/>
            <a:chOff x="0" y="0"/>
            <a:chExt cx="164592" cy="292608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164592" cy="292608"/>
            </a:xfrm>
            <a:custGeom>
              <a:avLst/>
              <a:gdLst/>
              <a:ahLst/>
              <a:cxnLst/>
              <a:rect r="r" b="b" t="t" l="l"/>
              <a:pathLst>
                <a:path h="292608" w="164592">
                  <a:moveTo>
                    <a:pt x="0" y="0"/>
                  </a:moveTo>
                  <a:lnTo>
                    <a:pt x="82296" y="0"/>
                  </a:lnTo>
                  <a:lnTo>
                    <a:pt x="164592" y="146304"/>
                  </a:lnTo>
                  <a:lnTo>
                    <a:pt x="82296" y="292608"/>
                  </a:lnTo>
                  <a:lnTo>
                    <a:pt x="0" y="292608"/>
                  </a:lnTo>
                  <a:lnTo>
                    <a:pt x="82296" y="146304"/>
                  </a:ln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7326630" y="8655082"/>
            <a:ext cx="2263140" cy="630936"/>
            <a:chOff x="0" y="0"/>
            <a:chExt cx="3017520" cy="841248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3017520" cy="841248"/>
            </a:xfrm>
            <a:custGeom>
              <a:avLst/>
              <a:gdLst/>
              <a:ahLst/>
              <a:cxnLst/>
              <a:rect r="r" b="b" t="t" l="l"/>
              <a:pathLst>
                <a:path h="841248" w="30175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834640" y="0"/>
                  </a:lnTo>
                  <a:cubicBezTo>
                    <a:pt x="2935605" y="0"/>
                    <a:pt x="3017520" y="81915"/>
                    <a:pt x="3017520" y="182880"/>
                  </a:cubicBezTo>
                  <a:lnTo>
                    <a:pt x="3017520" y="658368"/>
                  </a:lnTo>
                  <a:cubicBezTo>
                    <a:pt x="3017520" y="759333"/>
                    <a:pt x="2935605" y="841248"/>
                    <a:pt x="2834640" y="841248"/>
                  </a:cubicBezTo>
                  <a:lnTo>
                    <a:pt x="182880" y="841248"/>
                  </a:lnTo>
                  <a:cubicBezTo>
                    <a:pt x="81915" y="841248"/>
                    <a:pt x="0" y="759333"/>
                    <a:pt x="0" y="658368"/>
                  </a:cubicBezTo>
                  <a:close/>
                </a:path>
              </a:pathLst>
            </a:custGeom>
            <a:solidFill>
              <a:srgbClr val="E3F4E9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7422642" y="8655082"/>
            <a:ext cx="2071116" cy="630936"/>
            <a:chOff x="0" y="0"/>
            <a:chExt cx="2761488" cy="841248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2761488" cy="841248"/>
            </a:xfrm>
            <a:custGeom>
              <a:avLst/>
              <a:gdLst/>
              <a:ahLst/>
              <a:cxnLst/>
              <a:rect r="r" b="b" t="t" l="l"/>
              <a:pathLst>
                <a:path h="841248" w="2761488">
                  <a:moveTo>
                    <a:pt x="0" y="0"/>
                  </a:moveTo>
                  <a:lnTo>
                    <a:pt x="2761488" y="0"/>
                  </a:lnTo>
                  <a:lnTo>
                    <a:pt x="276148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17" r="0" b="-13917"/>
              </a:stretch>
            </a:blip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7422642" y="8640794"/>
            <a:ext cx="2071116" cy="645223"/>
            <a:chOff x="0" y="0"/>
            <a:chExt cx="2761488" cy="860298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2761488" cy="860298"/>
            </a:xfrm>
            <a:custGeom>
              <a:avLst/>
              <a:gdLst/>
              <a:ahLst/>
              <a:cxnLst/>
              <a:rect r="r" b="b" t="t" l="l"/>
              <a:pathLst>
                <a:path h="860298" w="2761488">
                  <a:moveTo>
                    <a:pt x="0" y="0"/>
                  </a:moveTo>
                  <a:lnTo>
                    <a:pt x="2761488" y="0"/>
                  </a:lnTo>
                  <a:lnTo>
                    <a:pt x="2761488" y="860298"/>
                  </a:lnTo>
                  <a:lnTo>
                    <a:pt x="0" y="86029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545" r="0" b="-12545"/>
              </a:stretch>
            </a:blipFill>
          </p:spPr>
        </p:sp>
        <p:sp>
          <p:nvSpPr>
            <p:cNvPr name="TextBox 164" id="164"/>
            <p:cNvSpPr txBox="true"/>
            <p:nvPr/>
          </p:nvSpPr>
          <p:spPr>
            <a:xfrm>
              <a:off x="0" y="-19050"/>
              <a:ext cx="2761488" cy="879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B3D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24/7 Thermal Night Vision</a:t>
              </a:r>
            </a:p>
          </p:txBody>
        </p:sp>
      </p:grpSp>
      <p:grpSp>
        <p:nvGrpSpPr>
          <p:cNvPr name="Group 165" id="165"/>
          <p:cNvGrpSpPr/>
          <p:nvPr/>
        </p:nvGrpSpPr>
        <p:grpSpPr>
          <a:xfrm rot="0">
            <a:off x="9665208" y="8860822"/>
            <a:ext cx="123444" cy="219456"/>
            <a:chOff x="0" y="0"/>
            <a:chExt cx="164592" cy="292608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164592" cy="292608"/>
            </a:xfrm>
            <a:custGeom>
              <a:avLst/>
              <a:gdLst/>
              <a:ahLst/>
              <a:cxnLst/>
              <a:rect r="r" b="b" t="t" l="l"/>
              <a:pathLst>
                <a:path h="292608" w="164592">
                  <a:moveTo>
                    <a:pt x="0" y="0"/>
                  </a:moveTo>
                  <a:lnTo>
                    <a:pt x="82296" y="0"/>
                  </a:lnTo>
                  <a:lnTo>
                    <a:pt x="164592" y="146304"/>
                  </a:lnTo>
                  <a:lnTo>
                    <a:pt x="82296" y="292608"/>
                  </a:lnTo>
                  <a:lnTo>
                    <a:pt x="0" y="292608"/>
                  </a:lnTo>
                  <a:lnTo>
                    <a:pt x="82296" y="146304"/>
                  </a:ln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9864090" y="8655082"/>
            <a:ext cx="2263140" cy="630936"/>
            <a:chOff x="0" y="0"/>
            <a:chExt cx="3017520" cy="841248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3017520" cy="841248"/>
            </a:xfrm>
            <a:custGeom>
              <a:avLst/>
              <a:gdLst/>
              <a:ahLst/>
              <a:cxnLst/>
              <a:rect r="r" b="b" t="t" l="l"/>
              <a:pathLst>
                <a:path h="841248" w="30175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834640" y="0"/>
                  </a:lnTo>
                  <a:cubicBezTo>
                    <a:pt x="2935605" y="0"/>
                    <a:pt x="3017520" y="81915"/>
                    <a:pt x="3017520" y="182880"/>
                  </a:cubicBezTo>
                  <a:lnTo>
                    <a:pt x="3017520" y="658368"/>
                  </a:lnTo>
                  <a:cubicBezTo>
                    <a:pt x="3017520" y="759333"/>
                    <a:pt x="2935605" y="841248"/>
                    <a:pt x="2834640" y="841248"/>
                  </a:cubicBezTo>
                  <a:lnTo>
                    <a:pt x="182880" y="841248"/>
                  </a:lnTo>
                  <a:cubicBezTo>
                    <a:pt x="81915" y="841248"/>
                    <a:pt x="0" y="759333"/>
                    <a:pt x="0" y="658368"/>
                  </a:cubicBezTo>
                  <a:close/>
                </a:path>
              </a:pathLst>
            </a:custGeom>
            <a:solidFill>
              <a:srgbClr val="E3F4E9"/>
            </a:solid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9960102" y="8655082"/>
            <a:ext cx="2071116" cy="630936"/>
            <a:chOff x="0" y="0"/>
            <a:chExt cx="2761488" cy="841248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2761488" cy="841248"/>
            </a:xfrm>
            <a:custGeom>
              <a:avLst/>
              <a:gdLst/>
              <a:ahLst/>
              <a:cxnLst/>
              <a:rect r="r" b="b" t="t" l="l"/>
              <a:pathLst>
                <a:path h="841248" w="2761488">
                  <a:moveTo>
                    <a:pt x="0" y="0"/>
                  </a:moveTo>
                  <a:lnTo>
                    <a:pt x="2761488" y="0"/>
                  </a:lnTo>
                  <a:lnTo>
                    <a:pt x="276148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17" r="0" b="-13917"/>
              </a:stretch>
            </a:blipFill>
          </p:spPr>
        </p:sp>
      </p:grpSp>
      <p:grpSp>
        <p:nvGrpSpPr>
          <p:cNvPr name="Group 171" id="171"/>
          <p:cNvGrpSpPr/>
          <p:nvPr/>
        </p:nvGrpSpPr>
        <p:grpSpPr>
          <a:xfrm rot="0">
            <a:off x="9960102" y="8640794"/>
            <a:ext cx="2071116" cy="645223"/>
            <a:chOff x="0" y="0"/>
            <a:chExt cx="2761488" cy="860298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2761488" cy="860298"/>
            </a:xfrm>
            <a:custGeom>
              <a:avLst/>
              <a:gdLst/>
              <a:ahLst/>
              <a:cxnLst/>
              <a:rect r="r" b="b" t="t" l="l"/>
              <a:pathLst>
                <a:path h="860298" w="2761488">
                  <a:moveTo>
                    <a:pt x="0" y="0"/>
                  </a:moveTo>
                  <a:lnTo>
                    <a:pt x="2761488" y="0"/>
                  </a:lnTo>
                  <a:lnTo>
                    <a:pt x="2761488" y="860298"/>
                  </a:lnTo>
                  <a:lnTo>
                    <a:pt x="0" y="86029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545" r="0" b="-12545"/>
              </a:stretch>
            </a:blipFill>
          </p:spPr>
        </p:sp>
        <p:sp>
          <p:nvSpPr>
            <p:cNvPr name="TextBox 173" id="173"/>
            <p:cNvSpPr txBox="true"/>
            <p:nvPr/>
          </p:nvSpPr>
          <p:spPr>
            <a:xfrm>
              <a:off x="0" y="-19050"/>
              <a:ext cx="2761488" cy="879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B3D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Instant Survivor GPS Raycasting</a:t>
              </a:r>
            </a:p>
          </p:txBody>
        </p:sp>
      </p:grpSp>
      <p:grpSp>
        <p:nvGrpSpPr>
          <p:cNvPr name="Group 174" id="174"/>
          <p:cNvGrpSpPr/>
          <p:nvPr/>
        </p:nvGrpSpPr>
        <p:grpSpPr>
          <a:xfrm rot="0">
            <a:off x="12202668" y="8860822"/>
            <a:ext cx="123444" cy="219456"/>
            <a:chOff x="0" y="0"/>
            <a:chExt cx="164592" cy="292608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164592" cy="292608"/>
            </a:xfrm>
            <a:custGeom>
              <a:avLst/>
              <a:gdLst/>
              <a:ahLst/>
              <a:cxnLst/>
              <a:rect r="r" b="b" t="t" l="l"/>
              <a:pathLst>
                <a:path h="292608" w="164592">
                  <a:moveTo>
                    <a:pt x="0" y="0"/>
                  </a:moveTo>
                  <a:lnTo>
                    <a:pt x="82296" y="0"/>
                  </a:lnTo>
                  <a:lnTo>
                    <a:pt x="164592" y="146304"/>
                  </a:lnTo>
                  <a:lnTo>
                    <a:pt x="82296" y="292608"/>
                  </a:lnTo>
                  <a:lnTo>
                    <a:pt x="0" y="292608"/>
                  </a:lnTo>
                  <a:lnTo>
                    <a:pt x="82296" y="146304"/>
                  </a:ln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12401550" y="8655082"/>
            <a:ext cx="2263140" cy="630936"/>
            <a:chOff x="0" y="0"/>
            <a:chExt cx="3017520" cy="841248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3017520" cy="841248"/>
            </a:xfrm>
            <a:custGeom>
              <a:avLst/>
              <a:gdLst/>
              <a:ahLst/>
              <a:cxnLst/>
              <a:rect r="r" b="b" t="t" l="l"/>
              <a:pathLst>
                <a:path h="841248" w="30175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834640" y="0"/>
                  </a:lnTo>
                  <a:cubicBezTo>
                    <a:pt x="2935605" y="0"/>
                    <a:pt x="3017520" y="81915"/>
                    <a:pt x="3017520" y="182880"/>
                  </a:cubicBezTo>
                  <a:lnTo>
                    <a:pt x="3017520" y="658368"/>
                  </a:lnTo>
                  <a:cubicBezTo>
                    <a:pt x="3017520" y="759333"/>
                    <a:pt x="2935605" y="841248"/>
                    <a:pt x="2834640" y="841248"/>
                  </a:cubicBezTo>
                  <a:lnTo>
                    <a:pt x="182880" y="841248"/>
                  </a:lnTo>
                  <a:cubicBezTo>
                    <a:pt x="81915" y="841248"/>
                    <a:pt x="0" y="759333"/>
                    <a:pt x="0" y="658368"/>
                  </a:cubicBezTo>
                  <a:close/>
                </a:path>
              </a:pathLst>
            </a:custGeom>
            <a:solidFill>
              <a:srgbClr val="E3F4E9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12497562" y="8655082"/>
            <a:ext cx="2071116" cy="630936"/>
            <a:chOff x="0" y="0"/>
            <a:chExt cx="2761488" cy="841248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2761488" cy="841248"/>
            </a:xfrm>
            <a:custGeom>
              <a:avLst/>
              <a:gdLst/>
              <a:ahLst/>
              <a:cxnLst/>
              <a:rect r="r" b="b" t="t" l="l"/>
              <a:pathLst>
                <a:path h="841248" w="2761488">
                  <a:moveTo>
                    <a:pt x="0" y="0"/>
                  </a:moveTo>
                  <a:lnTo>
                    <a:pt x="2761488" y="0"/>
                  </a:lnTo>
                  <a:lnTo>
                    <a:pt x="276148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17" r="0" b="-13917"/>
              </a:stretch>
            </a:blip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12497562" y="8640794"/>
            <a:ext cx="2071116" cy="645223"/>
            <a:chOff x="0" y="0"/>
            <a:chExt cx="2761488" cy="860298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2761488" cy="860298"/>
            </a:xfrm>
            <a:custGeom>
              <a:avLst/>
              <a:gdLst/>
              <a:ahLst/>
              <a:cxnLst/>
              <a:rect r="r" b="b" t="t" l="l"/>
              <a:pathLst>
                <a:path h="860298" w="2761488">
                  <a:moveTo>
                    <a:pt x="0" y="0"/>
                  </a:moveTo>
                  <a:lnTo>
                    <a:pt x="2761488" y="0"/>
                  </a:lnTo>
                  <a:lnTo>
                    <a:pt x="2761488" y="860298"/>
                  </a:lnTo>
                  <a:lnTo>
                    <a:pt x="0" y="86029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545" r="0" b="-12545"/>
              </a:stretch>
            </a:blipFill>
          </p:spPr>
        </p:sp>
        <p:sp>
          <p:nvSpPr>
            <p:cNvPr name="TextBox 182" id="182"/>
            <p:cNvSpPr txBox="true"/>
            <p:nvPr/>
          </p:nvSpPr>
          <p:spPr>
            <a:xfrm>
              <a:off x="0" y="-19050"/>
              <a:ext cx="2761488" cy="879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B3D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Zero-Drop LoRa Telemetry</a:t>
              </a:r>
            </a:p>
          </p:txBody>
        </p:sp>
      </p:grpSp>
      <p:grpSp>
        <p:nvGrpSpPr>
          <p:cNvPr name="Group 183" id="183"/>
          <p:cNvGrpSpPr/>
          <p:nvPr/>
        </p:nvGrpSpPr>
        <p:grpSpPr>
          <a:xfrm rot="0">
            <a:off x="14740128" y="8860822"/>
            <a:ext cx="123444" cy="219456"/>
            <a:chOff x="0" y="0"/>
            <a:chExt cx="164592" cy="292608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164592" cy="292608"/>
            </a:xfrm>
            <a:custGeom>
              <a:avLst/>
              <a:gdLst/>
              <a:ahLst/>
              <a:cxnLst/>
              <a:rect r="r" b="b" t="t" l="l"/>
              <a:pathLst>
                <a:path h="292608" w="164592">
                  <a:moveTo>
                    <a:pt x="0" y="0"/>
                  </a:moveTo>
                  <a:lnTo>
                    <a:pt x="82296" y="0"/>
                  </a:lnTo>
                  <a:lnTo>
                    <a:pt x="164592" y="146304"/>
                  </a:lnTo>
                  <a:lnTo>
                    <a:pt x="82296" y="292608"/>
                  </a:lnTo>
                  <a:lnTo>
                    <a:pt x="0" y="292608"/>
                  </a:lnTo>
                  <a:lnTo>
                    <a:pt x="82296" y="146304"/>
                  </a:ln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185" id="185"/>
          <p:cNvGrpSpPr/>
          <p:nvPr/>
        </p:nvGrpSpPr>
        <p:grpSpPr>
          <a:xfrm rot="0">
            <a:off x="14939010" y="8655082"/>
            <a:ext cx="2263140" cy="630936"/>
            <a:chOff x="0" y="0"/>
            <a:chExt cx="3017520" cy="841248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017520" cy="841248"/>
            </a:xfrm>
            <a:custGeom>
              <a:avLst/>
              <a:gdLst/>
              <a:ahLst/>
              <a:cxnLst/>
              <a:rect r="r" b="b" t="t" l="l"/>
              <a:pathLst>
                <a:path h="841248" w="30175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834640" y="0"/>
                  </a:lnTo>
                  <a:cubicBezTo>
                    <a:pt x="2935605" y="0"/>
                    <a:pt x="3017520" y="81915"/>
                    <a:pt x="3017520" y="182880"/>
                  </a:cubicBezTo>
                  <a:lnTo>
                    <a:pt x="3017520" y="658368"/>
                  </a:lnTo>
                  <a:cubicBezTo>
                    <a:pt x="3017520" y="759333"/>
                    <a:pt x="2935605" y="841248"/>
                    <a:pt x="2834640" y="841248"/>
                  </a:cubicBezTo>
                  <a:lnTo>
                    <a:pt x="182880" y="841248"/>
                  </a:lnTo>
                  <a:cubicBezTo>
                    <a:pt x="81915" y="841248"/>
                    <a:pt x="0" y="759333"/>
                    <a:pt x="0" y="658368"/>
                  </a:cubicBez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187" id="187"/>
          <p:cNvGrpSpPr/>
          <p:nvPr/>
        </p:nvGrpSpPr>
        <p:grpSpPr>
          <a:xfrm rot="0">
            <a:off x="15035022" y="8655082"/>
            <a:ext cx="2071116" cy="630936"/>
            <a:chOff x="0" y="0"/>
            <a:chExt cx="2761488" cy="841248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0" y="0"/>
              <a:ext cx="2761488" cy="841248"/>
            </a:xfrm>
            <a:custGeom>
              <a:avLst/>
              <a:gdLst/>
              <a:ahLst/>
              <a:cxnLst/>
              <a:rect r="r" b="b" t="t" l="l"/>
              <a:pathLst>
                <a:path h="841248" w="2761488">
                  <a:moveTo>
                    <a:pt x="0" y="0"/>
                  </a:moveTo>
                  <a:lnTo>
                    <a:pt x="2761488" y="0"/>
                  </a:lnTo>
                  <a:lnTo>
                    <a:pt x="276148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17" r="0" b="-13917"/>
              </a:stretch>
            </a:blipFill>
          </p:spPr>
        </p:sp>
      </p:grpSp>
      <p:grpSp>
        <p:nvGrpSpPr>
          <p:cNvPr name="Group 189" id="189"/>
          <p:cNvGrpSpPr/>
          <p:nvPr/>
        </p:nvGrpSpPr>
        <p:grpSpPr>
          <a:xfrm rot="0">
            <a:off x="15035022" y="8640794"/>
            <a:ext cx="2071116" cy="645223"/>
            <a:chOff x="0" y="0"/>
            <a:chExt cx="2761488" cy="860298"/>
          </a:xfrm>
        </p:grpSpPr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2761488" cy="860298"/>
            </a:xfrm>
            <a:custGeom>
              <a:avLst/>
              <a:gdLst/>
              <a:ahLst/>
              <a:cxnLst/>
              <a:rect r="r" b="b" t="t" l="l"/>
              <a:pathLst>
                <a:path h="860298" w="2761488">
                  <a:moveTo>
                    <a:pt x="0" y="0"/>
                  </a:moveTo>
                  <a:lnTo>
                    <a:pt x="2761488" y="0"/>
                  </a:lnTo>
                  <a:lnTo>
                    <a:pt x="2761488" y="860298"/>
                  </a:lnTo>
                  <a:lnTo>
                    <a:pt x="0" y="86029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545" r="0" b="-12545"/>
              </a:stretch>
            </a:blipFill>
          </p:spPr>
        </p:sp>
        <p:sp>
          <p:nvSpPr>
            <p:cNvPr name="TextBox 191" id="191"/>
            <p:cNvSpPr txBox="true"/>
            <p:nvPr/>
          </p:nvSpPr>
          <p:spPr>
            <a:xfrm>
              <a:off x="0" y="-19050"/>
              <a:ext cx="2761488" cy="879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Safe Responder Path Routing</a:t>
              </a:r>
            </a:p>
          </p:txBody>
        </p:sp>
      </p:grpSp>
      <p:grpSp>
        <p:nvGrpSpPr>
          <p:cNvPr name="Group 192" id="192"/>
          <p:cNvGrpSpPr/>
          <p:nvPr/>
        </p:nvGrpSpPr>
        <p:grpSpPr>
          <a:xfrm rot="0">
            <a:off x="6483972" y="1823942"/>
            <a:ext cx="5284356" cy="3227260"/>
            <a:chOff x="0" y="0"/>
            <a:chExt cx="7045808" cy="4303014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7045833" cy="4303014"/>
            </a:xfrm>
            <a:custGeom>
              <a:avLst/>
              <a:gdLst/>
              <a:ahLst/>
              <a:cxnLst/>
              <a:rect r="r" b="b" t="t" l="l"/>
              <a:pathLst>
                <a:path h="4303014" w="7045833">
                  <a:moveTo>
                    <a:pt x="241300" y="0"/>
                  </a:moveTo>
                  <a:lnTo>
                    <a:pt x="6804533" y="0"/>
                  </a:lnTo>
                  <a:cubicBezTo>
                    <a:pt x="6868530" y="0"/>
                    <a:pt x="6929905" y="25423"/>
                    <a:pt x="6975158" y="70675"/>
                  </a:cubicBezTo>
                  <a:cubicBezTo>
                    <a:pt x="7020410" y="115928"/>
                    <a:pt x="7045833" y="177303"/>
                    <a:pt x="7045833" y="241300"/>
                  </a:cubicBezTo>
                  <a:lnTo>
                    <a:pt x="7045833" y="4061714"/>
                  </a:lnTo>
                  <a:cubicBezTo>
                    <a:pt x="7045833" y="4194980"/>
                    <a:pt x="6937799" y="4303014"/>
                    <a:pt x="6804533" y="4303014"/>
                  </a:cubicBezTo>
                  <a:lnTo>
                    <a:pt x="241300" y="4303014"/>
                  </a:lnTo>
                  <a:cubicBezTo>
                    <a:pt x="177303" y="4303014"/>
                    <a:pt x="115928" y="4277592"/>
                    <a:pt x="70675" y="4232339"/>
                  </a:cubicBezTo>
                  <a:cubicBezTo>
                    <a:pt x="25423" y="4187086"/>
                    <a:pt x="0" y="4125711"/>
                    <a:pt x="0" y="4061714"/>
                  </a:cubicBezTo>
                  <a:lnTo>
                    <a:pt x="0" y="241300"/>
                  </a:lnTo>
                  <a:cubicBezTo>
                    <a:pt x="0" y="108034"/>
                    <a:pt x="108034" y="0"/>
                    <a:pt x="241300" y="0"/>
                  </a:cubicBezTo>
                  <a:close/>
                </a:path>
              </a:pathLst>
            </a:custGeom>
            <a:blipFill>
              <a:blip r:embed="rId20"/>
              <a:stretch>
                <a:fillRect l="-10500" t="-1318" r="-367" b="0"/>
              </a:stretch>
            </a:blipFill>
          </p:spPr>
        </p:sp>
      </p:grpSp>
      <p:sp>
        <p:nvSpPr>
          <p:cNvPr name="TextBox 194" id="194"/>
          <p:cNvSpPr txBox="true"/>
          <p:nvPr/>
        </p:nvSpPr>
        <p:spPr>
          <a:xfrm rot="0">
            <a:off x="1074506" y="2495226"/>
            <a:ext cx="5028838" cy="3006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500" b="true">
                <a:solidFill>
                  <a:srgbClr val="B4281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CRITICAL DISASTER BARRIERS — FOUR OPERATIONAL FAILURES:</a:t>
            </a:r>
          </a:p>
          <a:p>
            <a:pPr algn="l">
              <a:lnSpc>
                <a:spcPts val="2351"/>
              </a:lnSpc>
            </a:pPr>
            <a:r>
              <a:rPr lang="en-US" sz="1399" b="true">
                <a:solidFill>
                  <a:srgbClr val="1E26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— TOTAL COMMS BLACKOUT: </a:t>
            </a:r>
            <a:r>
              <a:rPr lang="en-US" sz="1399">
                <a:solidFill>
                  <a:srgbClr val="323C50"/>
                </a:solidFill>
                <a:latin typeface="Calibri (MS)"/>
                <a:ea typeface="Calibri (MS)"/>
                <a:cs typeface="Calibri (MS)"/>
                <a:sym typeface="Calibri (MS)"/>
              </a:rPr>
              <a:t>Cellular and Wi-Fi networks down; cloud-reliant commercial drones fail immediately.</a:t>
            </a:r>
          </a:p>
          <a:p>
            <a:pPr algn="l">
              <a:lnSpc>
                <a:spcPts val="2351"/>
              </a:lnSpc>
            </a:pPr>
            <a:r>
              <a:rPr lang="en-US" sz="1399" b="true">
                <a:solidFill>
                  <a:srgbClr val="1E26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— ZERO OPTICAL VISIBILITY: </a:t>
            </a:r>
            <a:r>
              <a:rPr lang="en-US" sz="1399">
                <a:solidFill>
                  <a:srgbClr val="323C50"/>
                </a:solidFill>
                <a:latin typeface="Calibri (MS)"/>
                <a:ea typeface="Calibri (MS)"/>
                <a:cs typeface="Calibri (MS)"/>
                <a:sym typeface="Calibri (MS)"/>
              </a:rPr>
              <a:t>Darkness, dense smoke, and debris dust blind conventional visible-light RGB cameras.</a:t>
            </a:r>
          </a:p>
          <a:p>
            <a:pPr algn="l">
              <a:lnSpc>
                <a:spcPts val="2351"/>
              </a:lnSpc>
            </a:pPr>
            <a:r>
              <a:rPr lang="en-US" sz="1399" b="true">
                <a:solidFill>
                  <a:srgbClr val="1E26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— UNLOCALIZED CASUALTIES: </a:t>
            </a:r>
            <a:r>
              <a:rPr lang="en-US" sz="1399">
                <a:solidFill>
                  <a:srgbClr val="323C50"/>
                </a:solidFill>
                <a:latin typeface="Calibri (MS)"/>
                <a:ea typeface="Calibri (MS)"/>
                <a:cs typeface="Calibri (MS)"/>
                <a:sym typeface="Calibri (MS)"/>
              </a:rPr>
              <a:t>Visual spotting lacks coordinates; rescue teams dig blindly without actionable GPS fixes.</a:t>
            </a:r>
          </a:p>
          <a:p>
            <a:pPr algn="l">
              <a:lnSpc>
                <a:spcPts val="2351"/>
              </a:lnSpc>
            </a:pPr>
            <a:r>
              <a:rPr lang="en-US" sz="1399" b="true">
                <a:solidFill>
                  <a:srgbClr val="1E26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— SECONDARY RESCUER HAZARDS: </a:t>
            </a:r>
            <a:r>
              <a:rPr lang="en-US" sz="1399">
                <a:solidFill>
                  <a:srgbClr val="323C50"/>
                </a:solidFill>
                <a:latin typeface="Calibri (MS)"/>
                <a:ea typeface="Calibri (MS)"/>
                <a:cs typeface="Calibri (MS)"/>
                <a:sym typeface="Calibri (MS)"/>
              </a:rPr>
              <a:t>Live electrical lines, shifting rubble piles, and gas voids endanger ground rescue crews.</a:t>
            </a:r>
          </a:p>
        </p:txBody>
      </p:sp>
      <p:sp>
        <p:nvSpPr>
          <p:cNvPr name="TextBox 195" id="195"/>
          <p:cNvSpPr txBox="true"/>
          <p:nvPr/>
        </p:nvSpPr>
        <p:spPr>
          <a:xfrm rot="0">
            <a:off x="12179294" y="2533326"/>
            <a:ext cx="5140385" cy="303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sz="1500" b="true">
                <a:solidFill>
                  <a:srgbClr val="38BDF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PROJECT PHOENIX: ARDUINO UNO Q DUAL-BRAIN ARCHITECTURE</a:t>
            </a:r>
          </a:p>
          <a:p>
            <a:pPr algn="l">
              <a:lnSpc>
                <a:spcPts val="1973"/>
              </a:lnSpc>
            </a:pPr>
            <a:r>
              <a:rPr lang="en-US" sz="1399" b="true">
                <a:solidFill>
                  <a:srgbClr val="FBB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ARDUINO UNO Q DUAL-BRAIN: </a:t>
            </a:r>
            <a:r>
              <a:rPr lang="en-US" sz="13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QRB2210 MPU performs INT8 edge-AI on Linux; STM32U585 MCU runs deterministic 250 Hz flight loop on Zephyr.</a:t>
            </a:r>
          </a:p>
          <a:p>
            <a:pPr algn="l">
              <a:lnSpc>
                <a:spcPts val="1973"/>
              </a:lnSpc>
            </a:pPr>
            <a:r>
              <a:rPr lang="en-US" sz="1399" b="true">
                <a:solidFill>
                  <a:srgbClr val="FBB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1080P + THERMAL FUSION: </a:t>
            </a:r>
            <a:r>
              <a:rPr lang="en-US" sz="13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Fuses 1080p optical with 8–14μm LWIR to detect human heat signatures in darkness, smoke &amp; debris.</a:t>
            </a:r>
          </a:p>
          <a:p>
            <a:pPr algn="l">
              <a:lnSpc>
                <a:spcPts val="1973"/>
              </a:lnSpc>
            </a:pPr>
            <a:r>
              <a:rPr lang="en-US" sz="1399" b="true">
                <a:solidFill>
                  <a:srgbClr val="FBB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CONTINUOUS GEOREFERENCING: </a:t>
            </a:r>
            <a:r>
              <a:rPr lang="en-US" sz="13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Synchronized GNSS, attitude, camera geometry &amp; ToF altitude georeference victims in real time without hovering.</a:t>
            </a:r>
          </a:p>
          <a:p>
            <a:pPr algn="l">
              <a:lnSpc>
                <a:spcPts val="1973"/>
              </a:lnSpc>
            </a:pPr>
            <a:r>
              <a:rPr lang="en-US" sz="1399" b="true">
                <a:solidFill>
                  <a:srgbClr val="FBB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OFFLINE RESCUE ROUTING: </a:t>
            </a:r>
            <a:r>
              <a:rPr lang="en-US" sz="13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Prioritizes triage on-chip; broadcasts 17-byte LoRa packets to chart Dijkstra corridors avoiding hazards [1, 3].</a:t>
            </a:r>
          </a:p>
        </p:txBody>
      </p:sp>
      <p:sp>
        <p:nvSpPr>
          <p:cNvPr name="TextBox 196" id="196"/>
          <p:cNvSpPr txBox="true"/>
          <p:nvPr/>
        </p:nvSpPr>
        <p:spPr>
          <a:xfrm rot="0">
            <a:off x="1014984" y="6634934"/>
            <a:ext cx="2779681" cy="954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280" b="true">
                <a:solidFill>
                  <a:srgbClr val="1E26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ARDUINO UNO Q SBC (4GB/32GB): </a:t>
            </a:r>
            <a:r>
              <a:rPr lang="en-US" sz="1280">
                <a:solidFill>
                  <a:srgbClr val="3C465A"/>
                </a:solidFill>
                <a:latin typeface="Calibri (MS)"/>
                <a:ea typeface="Calibri (MS)"/>
                <a:cs typeface="Calibri (MS)"/>
                <a:sym typeface="Calibri (MS)"/>
              </a:rPr>
              <a:t>Qualcomm Dragonwing QRB2210 MPU + STM32U585 MCU on a single 42g board.</a:t>
            </a:r>
          </a:p>
        </p:txBody>
      </p:sp>
      <p:sp>
        <p:nvSpPr>
          <p:cNvPr name="TextBox 197" id="197"/>
          <p:cNvSpPr txBox="true"/>
          <p:nvPr/>
        </p:nvSpPr>
        <p:spPr>
          <a:xfrm rot="0">
            <a:off x="4384453" y="6634934"/>
            <a:ext cx="2779681" cy="954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280" b="true">
                <a:solidFill>
                  <a:srgbClr val="1E26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SUB-5W HETEROGENEOUS AI: </a:t>
            </a:r>
            <a:r>
              <a:rPr lang="en-US" sz="1280">
                <a:solidFill>
                  <a:srgbClr val="3C465A"/>
                </a:solidFill>
                <a:latin typeface="Calibri (MS)"/>
                <a:ea typeface="Calibri (MS)"/>
                <a:cs typeface="Calibri (MS)"/>
                <a:sym typeface="Calibri (MS)"/>
              </a:rPr>
              <a:t>QRB2210 CPU/GPU/DSP executes INT8 YOLO inference, preserving battery for flight.</a:t>
            </a:r>
          </a:p>
        </p:txBody>
      </p:sp>
      <p:sp>
        <p:nvSpPr>
          <p:cNvPr name="TextBox 198" id="198"/>
          <p:cNvSpPr txBox="true"/>
          <p:nvPr/>
        </p:nvSpPr>
        <p:spPr>
          <a:xfrm rot="0">
            <a:off x="7753931" y="6634934"/>
            <a:ext cx="2779681" cy="954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280" b="true">
                <a:solidFill>
                  <a:srgbClr val="1E26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REAL-TIME GEOREFERENCING: </a:t>
            </a:r>
            <a:r>
              <a:rPr lang="en-US" sz="1280">
                <a:solidFill>
                  <a:srgbClr val="3C465A"/>
                </a:solidFill>
                <a:latin typeface="Calibri (MS)"/>
                <a:ea typeface="Calibri (MS)"/>
                <a:cs typeface="Calibri (MS)"/>
                <a:sym typeface="Calibri (MS)"/>
              </a:rPr>
              <a:t>Tait-Bryan ray projection calculates ground WGS-84 coordinates on the fly without hovering.</a:t>
            </a:r>
          </a:p>
        </p:txBody>
      </p:sp>
      <p:sp>
        <p:nvSpPr>
          <p:cNvPr name="TextBox 199" id="199"/>
          <p:cNvSpPr txBox="true"/>
          <p:nvPr/>
        </p:nvSpPr>
        <p:spPr>
          <a:xfrm rot="0">
            <a:off x="11123400" y="6634934"/>
            <a:ext cx="2779681" cy="954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280" b="true">
                <a:solidFill>
                  <a:srgbClr val="1E26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17-BYTE LORA TELEMETRY: </a:t>
            </a:r>
            <a:r>
              <a:rPr lang="en-US" sz="1280">
                <a:solidFill>
                  <a:srgbClr val="3C465A"/>
                </a:solidFill>
                <a:latin typeface="Calibri (MS)"/>
                <a:ea typeface="Calibri (MS)"/>
                <a:cs typeface="Calibri (MS)"/>
                <a:sym typeface="Calibri (MS)"/>
              </a:rPr>
              <a:t>Off-grid bit-packed triage stream reaches 3–5+ km in complete cellular blackouts [3].</a:t>
            </a:r>
          </a:p>
        </p:txBody>
      </p:sp>
      <p:sp>
        <p:nvSpPr>
          <p:cNvPr name="TextBox 200" id="200"/>
          <p:cNvSpPr txBox="true"/>
          <p:nvPr/>
        </p:nvSpPr>
        <p:spPr>
          <a:xfrm rot="0">
            <a:off x="14492878" y="6634934"/>
            <a:ext cx="2779681" cy="954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280" b="true">
                <a:solidFill>
                  <a:srgbClr val="1E26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ANTI-DRIFT VIO NAVIGATION: </a:t>
            </a:r>
            <a:r>
              <a:rPr lang="en-US" sz="1280">
                <a:solidFill>
                  <a:srgbClr val="3C465A"/>
                </a:solidFill>
                <a:latin typeface="Calibri (MS)"/>
                <a:ea typeface="Calibri (MS)"/>
                <a:cs typeface="Calibri (MS)"/>
                <a:sym typeface="Calibri (MS)"/>
              </a:rPr>
              <a:t>Visual-Inertial Odometry overrides compromised magnetometers in metallic rubble environments.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26" r="0" b="-13692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-92869"/>
            <a:ext cx="16459200" cy="1735931"/>
            <a:chOff x="0" y="0"/>
            <a:chExt cx="21945600" cy="23145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2314575"/>
            </a:xfrm>
            <a:custGeom>
              <a:avLst/>
              <a:gdLst/>
              <a:ahLst/>
              <a:cxnLst/>
              <a:rect r="r" b="b" t="t" l="l"/>
              <a:pathLst>
                <a:path h="231457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314575"/>
                  </a:lnTo>
                  <a:lnTo>
                    <a:pt x="0" y="23145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4747" r="0" b="-13474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1945600" cy="2343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707" r="0" b="-101709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106400" y="9520238"/>
            <a:ext cx="4267200" cy="561975"/>
            <a:chOff x="0" y="0"/>
            <a:chExt cx="5689600" cy="7493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89600" cy="749301"/>
            </a:xfrm>
            <a:custGeom>
              <a:avLst/>
              <a:gdLst/>
              <a:ahLst/>
              <a:cxnLst/>
              <a:rect r="r" b="b" t="t" l="l"/>
              <a:pathLst>
                <a:path h="74930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7954" r="0" b="-9795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670129" y="2248"/>
            <a:ext cx="3374803" cy="1593532"/>
            <a:chOff x="0" y="0"/>
            <a:chExt cx="4499737" cy="21247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2" r="0" b="-21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03504" y="315468"/>
            <a:ext cx="2263140" cy="740664"/>
            <a:chOff x="0" y="0"/>
            <a:chExt cx="3017520" cy="987552"/>
          </a:xfrm>
        </p:grpSpPr>
        <p:sp>
          <p:nvSpPr>
            <p:cNvPr name="Freeform 17" id="17" descr="Phoenix team logo"/>
            <p:cNvSpPr/>
            <p:nvPr/>
          </p:nvSpPr>
          <p:spPr>
            <a:xfrm flipH="false" flipV="false" rot="0">
              <a:off x="0" y="0"/>
              <a:ext cx="3017520" cy="987552"/>
            </a:xfrm>
            <a:custGeom>
              <a:avLst/>
              <a:gdLst/>
              <a:ahLst/>
              <a:cxnLst/>
              <a:rect r="r" b="b" t="t" l="l"/>
              <a:pathLst>
                <a:path h="987552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04" r="0" b="-105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48640" y="9532620"/>
            <a:ext cx="6515100" cy="754380"/>
            <a:chOff x="0" y="0"/>
            <a:chExt cx="8686800" cy="10058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686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162" r="0" b="-118162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48640" y="9511189"/>
            <a:ext cx="6515100" cy="775811"/>
            <a:chOff x="0" y="0"/>
            <a:chExt cx="8686800" cy="103441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686800" cy="1034415"/>
            </a:xfrm>
            <a:custGeom>
              <a:avLst/>
              <a:gdLst/>
              <a:ahLst/>
              <a:cxnLst/>
              <a:rect r="r" b="b" t="t" l="l"/>
              <a:pathLst>
                <a:path h="1034415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034415"/>
                  </a:lnTo>
                  <a:lnTo>
                    <a:pt x="0" y="10344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3631" r="0" b="-11363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868680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PROJECT PHOENIX: Autonomous Multi-Spectral Edge-AI UAV  |  SIH26177 (Qualcomm Inc.)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8972" y="1275588"/>
            <a:ext cx="16459200" cy="466344"/>
            <a:chOff x="0" y="0"/>
            <a:chExt cx="21945600" cy="6217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45600" cy="621792"/>
            </a:xfrm>
            <a:custGeom>
              <a:avLst/>
              <a:gdLst/>
              <a:ahLst/>
              <a:cxnLst/>
              <a:rect r="r" b="b" t="t" l="l"/>
              <a:pathLst>
                <a:path h="6217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7228" r="0" b="-63723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18972" y="1247013"/>
            <a:ext cx="16459200" cy="494919"/>
            <a:chOff x="0" y="0"/>
            <a:chExt cx="21945600" cy="65989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45600" cy="659892"/>
            </a:xfrm>
            <a:custGeom>
              <a:avLst/>
              <a:gdLst/>
              <a:ahLst/>
              <a:cxnLst/>
              <a:rect r="r" b="b" t="t" l="l"/>
              <a:pathLst>
                <a:path h="6598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59892"/>
                  </a:lnTo>
                  <a:lnTo>
                    <a:pt x="0" y="6598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98001" r="0" b="-59800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1945600" cy="697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8"/>
                </a:lnSpc>
              </a:pPr>
              <a:r>
                <a:rPr lang="en-US" sz="24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Dual-Brain Architecture &amp; Workflow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328003" y="1859442"/>
            <a:ext cx="6537093" cy="7404211"/>
          </a:xfrm>
          <a:custGeom>
            <a:avLst/>
            <a:gdLst/>
            <a:ahLst/>
            <a:cxnLst/>
            <a:rect r="r" b="b" t="t" l="l"/>
            <a:pathLst>
              <a:path h="7404211" w="6537093">
                <a:moveTo>
                  <a:pt x="0" y="0"/>
                </a:moveTo>
                <a:lnTo>
                  <a:pt x="6537093" y="0"/>
                </a:lnTo>
                <a:lnTo>
                  <a:pt x="6537093" y="7404211"/>
                </a:lnTo>
                <a:lnTo>
                  <a:pt x="0" y="74042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683400" y="2118836"/>
            <a:ext cx="3689699" cy="411480"/>
            <a:chOff x="0" y="0"/>
            <a:chExt cx="4919599" cy="5486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919599" cy="548640"/>
            </a:xfrm>
            <a:custGeom>
              <a:avLst/>
              <a:gdLst/>
              <a:ahLst/>
              <a:cxnLst/>
              <a:rect r="r" b="b" t="t" l="l"/>
              <a:pathLst>
                <a:path h="548640" w="4919599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4645279" y="0"/>
                  </a:lnTo>
                  <a:cubicBezTo>
                    <a:pt x="4796790" y="0"/>
                    <a:pt x="4919599" y="122809"/>
                    <a:pt x="4919599" y="274320"/>
                  </a:cubicBezTo>
                  <a:cubicBezTo>
                    <a:pt x="4919599" y="425831"/>
                    <a:pt x="4796790" y="548640"/>
                    <a:pt x="4645279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E1EEF9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83400" y="2118836"/>
            <a:ext cx="3689737" cy="411480"/>
            <a:chOff x="0" y="0"/>
            <a:chExt cx="4919650" cy="5486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919599" cy="548640"/>
            </a:xfrm>
            <a:custGeom>
              <a:avLst/>
              <a:gdLst/>
              <a:ahLst/>
              <a:cxnLst/>
              <a:rect r="r" b="b" t="t" l="l"/>
              <a:pathLst>
                <a:path h="548640" w="4919599">
                  <a:moveTo>
                    <a:pt x="0" y="0"/>
                  </a:moveTo>
                  <a:lnTo>
                    <a:pt x="4919599" y="0"/>
                  </a:lnTo>
                  <a:lnTo>
                    <a:pt x="491959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4601" r="-1" b="-124599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83400" y="2104549"/>
            <a:ext cx="3689737" cy="425768"/>
            <a:chOff x="0" y="0"/>
            <a:chExt cx="4919650" cy="56769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919649" cy="567690"/>
            </a:xfrm>
            <a:custGeom>
              <a:avLst/>
              <a:gdLst/>
              <a:ahLst/>
              <a:cxnLst/>
              <a:rect r="r" b="b" t="t" l="l"/>
              <a:pathLst>
                <a:path h="567690" w="4919649">
                  <a:moveTo>
                    <a:pt x="0" y="0"/>
                  </a:moveTo>
                  <a:lnTo>
                    <a:pt x="4919649" y="0"/>
                  </a:lnTo>
                  <a:lnTo>
                    <a:pt x="4919649" y="567690"/>
                  </a:lnTo>
                  <a:lnTo>
                    <a:pt x="0" y="567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8858" r="0" b="-11885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491965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223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IMPLEMENTATION WORKFLOW</a:t>
              </a:r>
            </a:p>
          </p:txBody>
        </p:sp>
      </p:grpSp>
      <p:sp>
        <p:nvSpPr>
          <p:cNvPr name="AutoShape 36" id="36"/>
          <p:cNvSpPr/>
          <p:nvPr/>
        </p:nvSpPr>
        <p:spPr>
          <a:xfrm rot="5281800">
            <a:off x="666855" y="3638645"/>
            <a:ext cx="554298" cy="0"/>
          </a:xfrm>
          <a:prstGeom prst="line">
            <a:avLst/>
          </a:prstGeom>
          <a:ln cap="rnd" w="19050">
            <a:solidFill>
              <a:srgbClr val="F3C9A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7" id="37"/>
          <p:cNvGrpSpPr/>
          <p:nvPr/>
        </p:nvGrpSpPr>
        <p:grpSpPr>
          <a:xfrm rot="0">
            <a:off x="683400" y="2859500"/>
            <a:ext cx="521208" cy="521208"/>
            <a:chOff x="0" y="0"/>
            <a:chExt cx="694944" cy="69494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683400" y="2859500"/>
            <a:ext cx="521208" cy="521208"/>
            <a:chOff x="0" y="0"/>
            <a:chExt cx="694944" cy="69494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3" t="0" r="-78391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83400" y="2823781"/>
            <a:ext cx="521208" cy="556927"/>
            <a:chOff x="0" y="0"/>
            <a:chExt cx="694944" cy="74256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94944" cy="742569"/>
            </a:xfrm>
            <a:custGeom>
              <a:avLst/>
              <a:gdLst/>
              <a:ahLst/>
              <a:cxnLst/>
              <a:rect r="r" b="b" t="t" l="l"/>
              <a:pathLst>
                <a:path h="742569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742569"/>
                  </a:lnTo>
                  <a:lnTo>
                    <a:pt x="0" y="7425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7096" t="0" r="-87096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694944" cy="7901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506360" y="2818352"/>
            <a:ext cx="7543800" cy="384048"/>
            <a:chOff x="0" y="0"/>
            <a:chExt cx="10058400" cy="51206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058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475" r="0" b="-332475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506360" y="2782634"/>
            <a:ext cx="7543800" cy="419767"/>
            <a:chOff x="0" y="0"/>
            <a:chExt cx="10058400" cy="55968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058400" cy="559689"/>
            </a:xfrm>
            <a:custGeom>
              <a:avLst/>
              <a:gdLst/>
              <a:ahLst/>
              <a:cxnLst/>
              <a:rect r="r" b="b" t="t" l="l"/>
              <a:pathLst>
                <a:path h="559689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59689"/>
                  </a:lnTo>
                  <a:lnTo>
                    <a:pt x="0" y="5596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0173" r="0" b="-300173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10058400" cy="6073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Sector Partition &amp; Launch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506360" y="3130391"/>
            <a:ext cx="5074920" cy="543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9"/>
              </a:lnSpc>
            </a:pPr>
            <a:r>
              <a:rPr lang="en-US" sz="1400" b="true">
                <a:solidFill>
                  <a:srgbClr val="1E26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OFFLINE SECTOR SETUP: </a:t>
            </a:r>
            <a:r>
              <a:rPr lang="en-US" sz="1400">
                <a:solidFill>
                  <a:srgbClr val="3C465A"/>
                </a:solidFill>
                <a:latin typeface="Calibri (MS)"/>
                <a:ea typeface="Calibri (MS)"/>
                <a:cs typeface="Calibri (MS)"/>
                <a:sym typeface="Calibri (MS)"/>
              </a:rPr>
              <a:t>Operator defines 2 km² search polygon on tactical tablet; autonomous launch in &lt; 3 minutes.</a:t>
            </a:r>
          </a:p>
        </p:txBody>
      </p:sp>
      <p:sp>
        <p:nvSpPr>
          <p:cNvPr name="AutoShape 50" id="50"/>
          <p:cNvSpPr/>
          <p:nvPr/>
        </p:nvSpPr>
        <p:spPr>
          <a:xfrm rot="5290020">
            <a:off x="646290" y="4674203"/>
            <a:ext cx="595427" cy="0"/>
          </a:xfrm>
          <a:prstGeom prst="line">
            <a:avLst/>
          </a:prstGeom>
          <a:ln cap="rnd" w="19050">
            <a:solidFill>
              <a:srgbClr val="F3C9A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1" id="51"/>
          <p:cNvGrpSpPr/>
          <p:nvPr/>
        </p:nvGrpSpPr>
        <p:grpSpPr>
          <a:xfrm rot="0">
            <a:off x="683400" y="3915632"/>
            <a:ext cx="521208" cy="521208"/>
            <a:chOff x="0" y="0"/>
            <a:chExt cx="694944" cy="69494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83400" y="3915632"/>
            <a:ext cx="521208" cy="521208"/>
            <a:chOff x="0" y="0"/>
            <a:chExt cx="694944" cy="69494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3" t="0" r="-78391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683400" y="3879914"/>
            <a:ext cx="521208" cy="556927"/>
            <a:chOff x="0" y="0"/>
            <a:chExt cx="694944" cy="74256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94944" cy="742569"/>
            </a:xfrm>
            <a:custGeom>
              <a:avLst/>
              <a:gdLst/>
              <a:ahLst/>
              <a:cxnLst/>
              <a:rect r="r" b="b" t="t" l="l"/>
              <a:pathLst>
                <a:path h="742569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742569"/>
                  </a:lnTo>
                  <a:lnTo>
                    <a:pt x="0" y="7425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7096" t="0" r="-87096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694944" cy="7901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506360" y="3874484"/>
            <a:ext cx="7543800" cy="384048"/>
            <a:chOff x="0" y="0"/>
            <a:chExt cx="10058400" cy="51206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058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475" r="0" b="-332475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506360" y="3838766"/>
            <a:ext cx="7543800" cy="419767"/>
            <a:chOff x="0" y="0"/>
            <a:chExt cx="10058400" cy="55968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058400" cy="559689"/>
            </a:xfrm>
            <a:custGeom>
              <a:avLst/>
              <a:gdLst/>
              <a:ahLst/>
              <a:cxnLst/>
              <a:rect r="r" b="b" t="t" l="l"/>
              <a:pathLst>
                <a:path h="559689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59689"/>
                  </a:lnTo>
                  <a:lnTo>
                    <a:pt x="0" y="5596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0173" r="0" b="-30017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10058400" cy="6073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Autonomous Grid Sweep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506360" y="4186523"/>
            <a:ext cx="5074920" cy="543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9"/>
              </a:lnSpc>
            </a:pPr>
            <a:r>
              <a:rPr lang="en-US" sz="1400" b="true">
                <a:solidFill>
                  <a:srgbClr val="1E26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TERRAIN-FOLLOWING GRID: </a:t>
            </a:r>
            <a:r>
              <a:rPr lang="en-US" sz="1400">
                <a:solidFill>
                  <a:srgbClr val="3C465A"/>
                </a:solidFill>
                <a:latin typeface="Calibri (MS)"/>
                <a:ea typeface="Calibri (MS)"/>
                <a:cs typeface="Calibri (MS)"/>
                <a:sym typeface="Calibri (MS)"/>
              </a:rPr>
              <a:t>Boustrophedon sweep with 60% sidelap; downward ToF altimeter maintains constant GSD over sloped terrain.</a:t>
            </a:r>
          </a:p>
        </p:txBody>
      </p:sp>
      <p:sp>
        <p:nvSpPr>
          <p:cNvPr name="AutoShape 64" id="64"/>
          <p:cNvSpPr/>
          <p:nvPr/>
        </p:nvSpPr>
        <p:spPr>
          <a:xfrm rot="5281800">
            <a:off x="666855" y="5750909"/>
            <a:ext cx="554298" cy="0"/>
          </a:xfrm>
          <a:prstGeom prst="line">
            <a:avLst/>
          </a:prstGeom>
          <a:ln cap="rnd" w="19050">
            <a:solidFill>
              <a:srgbClr val="F3C9A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5" id="65"/>
          <p:cNvGrpSpPr/>
          <p:nvPr/>
        </p:nvGrpSpPr>
        <p:grpSpPr>
          <a:xfrm rot="0">
            <a:off x="683400" y="4971764"/>
            <a:ext cx="521208" cy="521208"/>
            <a:chOff x="0" y="0"/>
            <a:chExt cx="694944" cy="69494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683400" y="4971764"/>
            <a:ext cx="521208" cy="521208"/>
            <a:chOff x="0" y="0"/>
            <a:chExt cx="694944" cy="69494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3" t="0" r="-78391" b="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683400" y="4936046"/>
            <a:ext cx="521208" cy="556927"/>
            <a:chOff x="0" y="0"/>
            <a:chExt cx="694944" cy="742569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94944" cy="742569"/>
            </a:xfrm>
            <a:custGeom>
              <a:avLst/>
              <a:gdLst/>
              <a:ahLst/>
              <a:cxnLst/>
              <a:rect r="r" b="b" t="t" l="l"/>
              <a:pathLst>
                <a:path h="742569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742569"/>
                  </a:lnTo>
                  <a:lnTo>
                    <a:pt x="0" y="7425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7096" t="0" r="-87096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694944" cy="7901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506360" y="4930616"/>
            <a:ext cx="7543800" cy="384048"/>
            <a:chOff x="0" y="0"/>
            <a:chExt cx="10058400" cy="51206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058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475" r="0" b="-332475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506360" y="4894897"/>
            <a:ext cx="7543800" cy="419767"/>
            <a:chOff x="0" y="0"/>
            <a:chExt cx="10058400" cy="55968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058400" cy="559689"/>
            </a:xfrm>
            <a:custGeom>
              <a:avLst/>
              <a:gdLst/>
              <a:ahLst/>
              <a:cxnLst/>
              <a:rect r="r" b="b" t="t" l="l"/>
              <a:pathLst>
                <a:path h="559689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59689"/>
                  </a:lnTo>
                  <a:lnTo>
                    <a:pt x="0" y="5596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0173" r="0" b="-300173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10058400" cy="6073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Multi-Spectral Perception</a:t>
              </a:r>
            </a:p>
          </p:txBody>
        </p:sp>
      </p:grpSp>
      <p:sp>
        <p:nvSpPr>
          <p:cNvPr name="TextBox 77" id="77"/>
          <p:cNvSpPr txBox="true"/>
          <p:nvPr/>
        </p:nvSpPr>
        <p:spPr>
          <a:xfrm rot="0">
            <a:off x="1506360" y="5242655"/>
            <a:ext cx="5074920" cy="543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9"/>
              </a:lnSpc>
            </a:pPr>
            <a:r>
              <a:rPr lang="en-US" sz="1400" b="true">
                <a:solidFill>
                  <a:srgbClr val="1E26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1080P + THERMAL FUSION: </a:t>
            </a:r>
            <a:r>
              <a:rPr lang="en-US" sz="1400">
                <a:solidFill>
                  <a:srgbClr val="3C465A"/>
                </a:solidFill>
                <a:latin typeface="Calibri (MS)"/>
                <a:ea typeface="Calibri (MS)"/>
                <a:cs typeface="Calibri (MS)"/>
                <a:sym typeface="Calibri (MS)"/>
              </a:rPr>
              <a:t>Dual 1080p RGB + LWIR thermal fusion; edge YOLO detects survivor heat anomalies in darkness, smoke &amp; debris.</a:t>
            </a:r>
          </a:p>
        </p:txBody>
      </p:sp>
      <p:sp>
        <p:nvSpPr>
          <p:cNvPr name="AutoShape 78" id="78"/>
          <p:cNvSpPr/>
          <p:nvPr/>
        </p:nvSpPr>
        <p:spPr>
          <a:xfrm rot="5281800">
            <a:off x="666855" y="6807041"/>
            <a:ext cx="554298" cy="0"/>
          </a:xfrm>
          <a:prstGeom prst="line">
            <a:avLst/>
          </a:prstGeom>
          <a:ln cap="rnd" w="19050">
            <a:solidFill>
              <a:srgbClr val="F3C9A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9" id="79"/>
          <p:cNvGrpSpPr/>
          <p:nvPr/>
        </p:nvGrpSpPr>
        <p:grpSpPr>
          <a:xfrm rot="0">
            <a:off x="683400" y="6027896"/>
            <a:ext cx="521208" cy="521208"/>
            <a:chOff x="0" y="0"/>
            <a:chExt cx="694944" cy="69494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683400" y="6027896"/>
            <a:ext cx="521208" cy="521208"/>
            <a:chOff x="0" y="0"/>
            <a:chExt cx="694944" cy="69494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3" t="0" r="-78391" b="0"/>
              </a:stretch>
            </a:blip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683400" y="5992178"/>
            <a:ext cx="521208" cy="556927"/>
            <a:chOff x="0" y="0"/>
            <a:chExt cx="694944" cy="742569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94944" cy="742569"/>
            </a:xfrm>
            <a:custGeom>
              <a:avLst/>
              <a:gdLst/>
              <a:ahLst/>
              <a:cxnLst/>
              <a:rect r="r" b="b" t="t" l="l"/>
              <a:pathLst>
                <a:path h="742569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742569"/>
                  </a:lnTo>
                  <a:lnTo>
                    <a:pt x="0" y="7425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7096" t="0" r="-87096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694944" cy="7901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506360" y="5986748"/>
            <a:ext cx="7543800" cy="384048"/>
            <a:chOff x="0" y="0"/>
            <a:chExt cx="10058400" cy="51206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058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475" r="0" b="-332475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506360" y="5951030"/>
            <a:ext cx="7543800" cy="419767"/>
            <a:chOff x="0" y="0"/>
            <a:chExt cx="10058400" cy="559689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058400" cy="559689"/>
            </a:xfrm>
            <a:custGeom>
              <a:avLst/>
              <a:gdLst/>
              <a:ahLst/>
              <a:cxnLst/>
              <a:rect r="r" b="b" t="t" l="l"/>
              <a:pathLst>
                <a:path h="559689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59689"/>
                  </a:lnTo>
                  <a:lnTo>
                    <a:pt x="0" y="5596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0173" r="0" b="-300173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47625"/>
              <a:ext cx="10058400" cy="6073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Ray-Cast Geolocation</a:t>
              </a:r>
            </a:p>
          </p:txBody>
        </p:sp>
      </p:grpSp>
      <p:sp>
        <p:nvSpPr>
          <p:cNvPr name="TextBox 91" id="91"/>
          <p:cNvSpPr txBox="true"/>
          <p:nvPr/>
        </p:nvSpPr>
        <p:spPr>
          <a:xfrm rot="0">
            <a:off x="1506360" y="6298787"/>
            <a:ext cx="5074920" cy="543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9"/>
              </a:lnSpc>
            </a:pPr>
            <a:r>
              <a:rPr lang="en-US" sz="1400" b="true">
                <a:solidFill>
                  <a:srgbClr val="1E26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INSTANT GEOREFERENCING: </a:t>
            </a:r>
            <a:r>
              <a:rPr lang="en-US" sz="1400">
                <a:solidFill>
                  <a:srgbClr val="3C465A"/>
                </a:solidFill>
                <a:latin typeface="Calibri (MS)"/>
                <a:ea typeface="Calibri (MS)"/>
                <a:cs typeface="Calibri (MS)"/>
                <a:sym typeface="Calibri (MS)"/>
              </a:rPr>
              <a:t>Synchronized GNSS, attitude, camera geometry &amp; ToF altitude georeference victims on the fly without hovering.</a:t>
            </a:r>
          </a:p>
        </p:txBody>
      </p:sp>
      <p:sp>
        <p:nvSpPr>
          <p:cNvPr name="AutoShape 92" id="92"/>
          <p:cNvSpPr/>
          <p:nvPr/>
        </p:nvSpPr>
        <p:spPr>
          <a:xfrm rot="5281800">
            <a:off x="666855" y="7863173"/>
            <a:ext cx="554298" cy="0"/>
          </a:xfrm>
          <a:prstGeom prst="line">
            <a:avLst/>
          </a:prstGeom>
          <a:ln cap="rnd" w="19050">
            <a:solidFill>
              <a:srgbClr val="F3C9A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3" id="93"/>
          <p:cNvGrpSpPr/>
          <p:nvPr/>
        </p:nvGrpSpPr>
        <p:grpSpPr>
          <a:xfrm rot="0">
            <a:off x="683400" y="7084028"/>
            <a:ext cx="521208" cy="521208"/>
            <a:chOff x="0" y="0"/>
            <a:chExt cx="694944" cy="694944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688000" y="7132034"/>
            <a:ext cx="521208" cy="521208"/>
            <a:chOff x="0" y="0"/>
            <a:chExt cx="694944" cy="69494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3" t="0" r="-78391" b="0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688000" y="7096316"/>
            <a:ext cx="521208" cy="556927"/>
            <a:chOff x="0" y="0"/>
            <a:chExt cx="694944" cy="742569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694944" cy="742569"/>
            </a:xfrm>
            <a:custGeom>
              <a:avLst/>
              <a:gdLst/>
              <a:ahLst/>
              <a:cxnLst/>
              <a:rect r="r" b="b" t="t" l="l"/>
              <a:pathLst>
                <a:path h="742569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742569"/>
                  </a:lnTo>
                  <a:lnTo>
                    <a:pt x="0" y="7425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7096" t="0" r="-87096" b="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47625"/>
              <a:ext cx="694944" cy="7901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506360" y="7039223"/>
            <a:ext cx="4782074" cy="391373"/>
            <a:chOff x="0" y="0"/>
            <a:chExt cx="6376098" cy="52183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6376035" cy="521843"/>
            </a:xfrm>
            <a:custGeom>
              <a:avLst/>
              <a:gdLst/>
              <a:ahLst/>
              <a:cxnLst/>
              <a:rect r="r" b="b" t="t" l="l"/>
              <a:pathLst>
                <a:path h="521843" w="6376035">
                  <a:moveTo>
                    <a:pt x="0" y="0"/>
                  </a:moveTo>
                  <a:lnTo>
                    <a:pt x="6376035" y="0"/>
                  </a:lnTo>
                  <a:lnTo>
                    <a:pt x="6376035" y="521843"/>
                  </a:lnTo>
                  <a:lnTo>
                    <a:pt x="0" y="5218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7911" r="0" b="-187909"/>
              </a:stretch>
            </a:blip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506360" y="7003504"/>
            <a:ext cx="4782074" cy="427091"/>
            <a:chOff x="0" y="0"/>
            <a:chExt cx="6376098" cy="569455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6376096" cy="569453"/>
            </a:xfrm>
            <a:custGeom>
              <a:avLst/>
              <a:gdLst/>
              <a:ahLst/>
              <a:cxnLst/>
              <a:rect r="r" b="b" t="t" l="l"/>
              <a:pathLst>
                <a:path h="569453" w="6376096">
                  <a:moveTo>
                    <a:pt x="0" y="0"/>
                  </a:moveTo>
                  <a:lnTo>
                    <a:pt x="6376096" y="0"/>
                  </a:lnTo>
                  <a:lnTo>
                    <a:pt x="6376096" y="569453"/>
                  </a:lnTo>
                  <a:lnTo>
                    <a:pt x="0" y="5694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8171" r="0" b="-168171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47625"/>
              <a:ext cx="6376098" cy="617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Binary LoRa Packet Burst</a:t>
              </a:r>
            </a:p>
          </p:txBody>
        </p:sp>
      </p:grpSp>
      <p:sp>
        <p:nvSpPr>
          <p:cNvPr name="TextBox 105" id="105"/>
          <p:cNvSpPr txBox="true"/>
          <p:nvPr/>
        </p:nvSpPr>
        <p:spPr>
          <a:xfrm rot="0">
            <a:off x="1506360" y="7354919"/>
            <a:ext cx="5074920" cy="543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9"/>
              </a:lnSpc>
            </a:pPr>
            <a:r>
              <a:rPr lang="en-US" sz="1400" b="true">
                <a:solidFill>
                  <a:srgbClr val="1E26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17-BYTE LORA BURST: </a:t>
            </a:r>
            <a:r>
              <a:rPr lang="en-US" sz="1400">
                <a:solidFill>
                  <a:srgbClr val="3C465A"/>
                </a:solidFill>
                <a:latin typeface="Calibri (MS)"/>
                <a:ea typeface="Calibri (MS)"/>
                <a:cs typeface="Calibri (MS)"/>
                <a:sym typeface="Calibri (MS)"/>
              </a:rPr>
              <a:t>Onboard edge triage scores urgency and broadcasts compact binary frame over 868 MHz UART LoRa [3].</a:t>
            </a:r>
          </a:p>
        </p:txBody>
      </p:sp>
      <p:grpSp>
        <p:nvGrpSpPr>
          <p:cNvPr name="Group 106" id="106"/>
          <p:cNvGrpSpPr/>
          <p:nvPr/>
        </p:nvGrpSpPr>
        <p:grpSpPr>
          <a:xfrm rot="0">
            <a:off x="683400" y="8140160"/>
            <a:ext cx="521208" cy="521208"/>
            <a:chOff x="0" y="0"/>
            <a:chExt cx="694944" cy="694944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683400" y="8140160"/>
            <a:ext cx="521208" cy="521208"/>
            <a:chOff x="0" y="0"/>
            <a:chExt cx="694944" cy="694944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3" t="0" r="-78391" b="0"/>
              </a:stretch>
            </a:blip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683400" y="8104442"/>
            <a:ext cx="521208" cy="556927"/>
            <a:chOff x="0" y="0"/>
            <a:chExt cx="694944" cy="742569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694944" cy="742569"/>
            </a:xfrm>
            <a:custGeom>
              <a:avLst/>
              <a:gdLst/>
              <a:ahLst/>
              <a:cxnLst/>
              <a:rect r="r" b="b" t="t" l="l"/>
              <a:pathLst>
                <a:path h="742569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742569"/>
                  </a:lnTo>
                  <a:lnTo>
                    <a:pt x="0" y="7425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7096" t="0" r="-87096" b="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694944" cy="7901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506360" y="8095355"/>
            <a:ext cx="4782074" cy="391373"/>
            <a:chOff x="0" y="0"/>
            <a:chExt cx="6376098" cy="52183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6376035" cy="521843"/>
            </a:xfrm>
            <a:custGeom>
              <a:avLst/>
              <a:gdLst/>
              <a:ahLst/>
              <a:cxnLst/>
              <a:rect r="r" b="b" t="t" l="l"/>
              <a:pathLst>
                <a:path h="521843" w="6376035">
                  <a:moveTo>
                    <a:pt x="0" y="0"/>
                  </a:moveTo>
                  <a:lnTo>
                    <a:pt x="6376035" y="0"/>
                  </a:lnTo>
                  <a:lnTo>
                    <a:pt x="6376035" y="521843"/>
                  </a:lnTo>
                  <a:lnTo>
                    <a:pt x="0" y="5218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7911" r="0" b="-187909"/>
              </a:stretch>
            </a:blip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506360" y="8059636"/>
            <a:ext cx="4782074" cy="427091"/>
            <a:chOff x="0" y="0"/>
            <a:chExt cx="6376098" cy="569455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376096" cy="569453"/>
            </a:xfrm>
            <a:custGeom>
              <a:avLst/>
              <a:gdLst/>
              <a:ahLst/>
              <a:cxnLst/>
              <a:rect r="r" b="b" t="t" l="l"/>
              <a:pathLst>
                <a:path h="569453" w="6376096">
                  <a:moveTo>
                    <a:pt x="0" y="0"/>
                  </a:moveTo>
                  <a:lnTo>
                    <a:pt x="6376096" y="0"/>
                  </a:lnTo>
                  <a:lnTo>
                    <a:pt x="6376096" y="569453"/>
                  </a:lnTo>
                  <a:lnTo>
                    <a:pt x="0" y="5694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8171" r="0" b="-168171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47625"/>
              <a:ext cx="6376098" cy="617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GCS Triage &amp; Route Planning</a:t>
              </a:r>
            </a:p>
          </p:txBody>
        </p:sp>
      </p:grpSp>
      <p:sp>
        <p:nvSpPr>
          <p:cNvPr name="TextBox 118" id="118"/>
          <p:cNvSpPr txBox="true"/>
          <p:nvPr/>
        </p:nvSpPr>
        <p:spPr>
          <a:xfrm rot="0">
            <a:off x="1506360" y="8411051"/>
            <a:ext cx="5074920" cy="543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9"/>
              </a:lnSpc>
            </a:pPr>
            <a:r>
              <a:rPr lang="en-US" sz="1400" b="true">
                <a:solidFill>
                  <a:srgbClr val="1E26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DYNAMIC SAFE ROUTING: </a:t>
            </a:r>
            <a:r>
              <a:rPr lang="en-US" sz="1400">
                <a:solidFill>
                  <a:srgbClr val="3C465A"/>
                </a:solidFill>
                <a:latin typeface="Calibri (MS)"/>
                <a:ea typeface="Calibri (MS)"/>
                <a:cs typeface="Calibri (MS)"/>
                <a:sym typeface="Calibri (MS)"/>
              </a:rPr>
              <a:t>Tactical GCS runs Dijkstra graph search [1] to generate hazard-free ground ingress corridors for first responders.</a:t>
            </a:r>
          </a:p>
        </p:txBody>
      </p:sp>
      <p:sp>
        <p:nvSpPr>
          <p:cNvPr name="Freeform 119" id="119"/>
          <p:cNvSpPr/>
          <p:nvPr/>
        </p:nvSpPr>
        <p:spPr>
          <a:xfrm flipH="false" flipV="false" rot="0">
            <a:off x="11326549" y="6549104"/>
            <a:ext cx="6642573" cy="2663619"/>
          </a:xfrm>
          <a:custGeom>
            <a:avLst/>
            <a:gdLst/>
            <a:ahLst/>
            <a:cxnLst/>
            <a:rect r="r" b="b" t="t" l="l"/>
            <a:pathLst>
              <a:path h="2663619" w="6642573">
                <a:moveTo>
                  <a:pt x="0" y="0"/>
                </a:moveTo>
                <a:lnTo>
                  <a:pt x="6642573" y="0"/>
                </a:lnTo>
                <a:lnTo>
                  <a:pt x="6642573" y="2663619"/>
                </a:lnTo>
                <a:lnTo>
                  <a:pt x="0" y="266361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0" id="120"/>
          <p:cNvGrpSpPr/>
          <p:nvPr/>
        </p:nvGrpSpPr>
        <p:grpSpPr>
          <a:xfrm rot="0">
            <a:off x="11648656" y="6712487"/>
            <a:ext cx="1746294" cy="370332"/>
            <a:chOff x="0" y="0"/>
            <a:chExt cx="2328393" cy="493776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328418" cy="493776"/>
            </a:xfrm>
            <a:custGeom>
              <a:avLst/>
              <a:gdLst/>
              <a:ahLst/>
              <a:cxnLst/>
              <a:rect r="r" b="b" t="t" l="l"/>
              <a:pathLst>
                <a:path h="493776" w="2328418">
                  <a:moveTo>
                    <a:pt x="0" y="246888"/>
                  </a:moveTo>
                  <a:cubicBezTo>
                    <a:pt x="0" y="110490"/>
                    <a:pt x="99949" y="0"/>
                    <a:pt x="223393" y="0"/>
                  </a:cubicBezTo>
                  <a:lnTo>
                    <a:pt x="2105025" y="0"/>
                  </a:lnTo>
                  <a:cubicBezTo>
                    <a:pt x="2228469" y="0"/>
                    <a:pt x="2328418" y="110490"/>
                    <a:pt x="2328418" y="246888"/>
                  </a:cubicBezTo>
                  <a:cubicBezTo>
                    <a:pt x="2328418" y="383286"/>
                    <a:pt x="2228469" y="493776"/>
                    <a:pt x="2105025" y="493776"/>
                  </a:cubicBezTo>
                  <a:lnTo>
                    <a:pt x="223393" y="493776"/>
                  </a:lnTo>
                  <a:cubicBezTo>
                    <a:pt x="99949" y="493776"/>
                    <a:pt x="0" y="383286"/>
                    <a:pt x="0" y="246888"/>
                  </a:cubicBezTo>
                  <a:close/>
                </a:path>
              </a:pathLst>
            </a:custGeom>
            <a:solidFill>
              <a:srgbClr val="E1EEF9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1648656" y="6712487"/>
            <a:ext cx="1746266" cy="370332"/>
            <a:chOff x="0" y="0"/>
            <a:chExt cx="2328354" cy="493776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328418" cy="493776"/>
            </a:xfrm>
            <a:custGeom>
              <a:avLst/>
              <a:gdLst/>
              <a:ahLst/>
              <a:cxnLst/>
              <a:rect r="r" b="b" t="t" l="l"/>
              <a:pathLst>
                <a:path h="493776" w="2328418">
                  <a:moveTo>
                    <a:pt x="0" y="0"/>
                  </a:moveTo>
                  <a:lnTo>
                    <a:pt x="2328418" y="0"/>
                  </a:lnTo>
                  <a:lnTo>
                    <a:pt x="2328418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815" r="2" b="-41815"/>
              </a:stretch>
            </a:blip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11648656" y="6691055"/>
            <a:ext cx="1746275" cy="391763"/>
            <a:chOff x="0" y="0"/>
            <a:chExt cx="2328367" cy="522351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2328361" cy="522351"/>
            </a:xfrm>
            <a:custGeom>
              <a:avLst/>
              <a:gdLst/>
              <a:ahLst/>
              <a:cxnLst/>
              <a:rect r="r" b="b" t="t" l="l"/>
              <a:pathLst>
                <a:path h="522351" w="2328361">
                  <a:moveTo>
                    <a:pt x="0" y="0"/>
                  </a:moveTo>
                  <a:lnTo>
                    <a:pt x="2328361" y="0"/>
                  </a:lnTo>
                  <a:lnTo>
                    <a:pt x="2328361" y="522351"/>
                  </a:lnTo>
                  <a:lnTo>
                    <a:pt x="0" y="52235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854" r="0" b="-36854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28575"/>
              <a:ext cx="2328367" cy="5509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49"/>
                </a:lnSpc>
              </a:pPr>
              <a:r>
                <a:rPr lang="en-US" b="true" sz="1374" spc="195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 STACK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1648656" y="7192547"/>
            <a:ext cx="2234032" cy="290541"/>
            <a:chOff x="0" y="0"/>
            <a:chExt cx="2978709" cy="387388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2978658" cy="387350"/>
            </a:xfrm>
            <a:custGeom>
              <a:avLst/>
              <a:gdLst/>
              <a:ahLst/>
              <a:cxnLst/>
              <a:rect r="r" b="b" t="t" l="l"/>
              <a:pathLst>
                <a:path h="387350" w="2978658">
                  <a:moveTo>
                    <a:pt x="0" y="0"/>
                  </a:moveTo>
                  <a:lnTo>
                    <a:pt x="2978658" y="0"/>
                  </a:lnTo>
                  <a:lnTo>
                    <a:pt x="2978658" y="387350"/>
                  </a:lnTo>
                  <a:lnTo>
                    <a:pt x="0" y="3873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731" r="-1" b="-99740"/>
              </a:stretch>
            </a:blip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11648656" y="7171115"/>
            <a:ext cx="2234032" cy="311972"/>
            <a:chOff x="0" y="0"/>
            <a:chExt cx="2978709" cy="415963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2978713" cy="415963"/>
            </a:xfrm>
            <a:custGeom>
              <a:avLst/>
              <a:gdLst/>
              <a:ahLst/>
              <a:cxnLst/>
              <a:rect r="r" b="b" t="t" l="l"/>
              <a:pathLst>
                <a:path h="415963" w="2978713">
                  <a:moveTo>
                    <a:pt x="0" y="0"/>
                  </a:moveTo>
                  <a:lnTo>
                    <a:pt x="2978713" y="0"/>
                  </a:lnTo>
                  <a:lnTo>
                    <a:pt x="2978713" y="415963"/>
                  </a:lnTo>
                  <a:lnTo>
                    <a:pt x="0" y="4159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9532" r="0" b="-89532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38100"/>
              <a:ext cx="2978709" cy="45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39"/>
                </a:lnSpc>
              </a:pPr>
              <a:r>
                <a:rPr lang="en-US" sz="1449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Flight Stack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13882688" y="7192547"/>
            <a:ext cx="3764347" cy="290541"/>
            <a:chOff x="0" y="0"/>
            <a:chExt cx="5019129" cy="387388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019167" cy="387350"/>
            </a:xfrm>
            <a:custGeom>
              <a:avLst/>
              <a:gdLst/>
              <a:ahLst/>
              <a:cxnLst/>
              <a:rect r="r" b="b" t="t" l="l"/>
              <a:pathLst>
                <a:path h="387350" w="5019167">
                  <a:moveTo>
                    <a:pt x="0" y="0"/>
                  </a:moveTo>
                  <a:lnTo>
                    <a:pt x="5019167" y="0"/>
                  </a:lnTo>
                  <a:lnTo>
                    <a:pt x="5019167" y="387350"/>
                  </a:lnTo>
                  <a:lnTo>
                    <a:pt x="0" y="3873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298" r="0" b="-202308"/>
              </a:stretch>
            </a:blip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13882688" y="7171115"/>
            <a:ext cx="3764347" cy="311972"/>
            <a:chOff x="0" y="0"/>
            <a:chExt cx="5019129" cy="415963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5019133" cy="415963"/>
            </a:xfrm>
            <a:custGeom>
              <a:avLst/>
              <a:gdLst/>
              <a:ahLst/>
              <a:cxnLst/>
              <a:rect r="r" b="b" t="t" l="l"/>
              <a:pathLst>
                <a:path h="415963" w="5019133">
                  <a:moveTo>
                    <a:pt x="0" y="0"/>
                  </a:moveTo>
                  <a:lnTo>
                    <a:pt x="5019133" y="0"/>
                  </a:lnTo>
                  <a:lnTo>
                    <a:pt x="5019133" y="415963"/>
                  </a:lnTo>
                  <a:lnTo>
                    <a:pt x="0" y="4159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5112" r="0" b="-185112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5019129" cy="45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39"/>
                </a:lnSpc>
              </a:pPr>
              <a:r>
                <a:rPr lang="en-US" sz="1449">
                  <a:solidFill>
                    <a:srgbClr val="1E26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Zephyr RTOS, YMFC-32 Core, PX4 Autopilot</a:t>
              </a:r>
            </a:p>
          </p:txBody>
        </p:sp>
      </p:grpSp>
      <p:sp>
        <p:nvSpPr>
          <p:cNvPr name="AutoShape 137" id="137"/>
          <p:cNvSpPr/>
          <p:nvPr/>
        </p:nvSpPr>
        <p:spPr>
          <a:xfrm>
            <a:off x="11637421" y="7489282"/>
            <a:ext cx="6020839" cy="23749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8" id="138"/>
          <p:cNvGrpSpPr/>
          <p:nvPr/>
        </p:nvGrpSpPr>
        <p:grpSpPr>
          <a:xfrm rot="0">
            <a:off x="11648656" y="7514873"/>
            <a:ext cx="2234032" cy="290541"/>
            <a:chOff x="0" y="0"/>
            <a:chExt cx="2978709" cy="387388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2978658" cy="387350"/>
            </a:xfrm>
            <a:custGeom>
              <a:avLst/>
              <a:gdLst/>
              <a:ahLst/>
              <a:cxnLst/>
              <a:rect r="r" b="b" t="t" l="l"/>
              <a:pathLst>
                <a:path h="387350" w="2978658">
                  <a:moveTo>
                    <a:pt x="0" y="0"/>
                  </a:moveTo>
                  <a:lnTo>
                    <a:pt x="2978658" y="0"/>
                  </a:lnTo>
                  <a:lnTo>
                    <a:pt x="2978658" y="387350"/>
                  </a:lnTo>
                  <a:lnTo>
                    <a:pt x="0" y="3873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731" r="-1" b="-99740"/>
              </a:stretch>
            </a:blip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11648656" y="7493441"/>
            <a:ext cx="2234032" cy="311972"/>
            <a:chOff x="0" y="0"/>
            <a:chExt cx="2978709" cy="415963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978713" cy="415963"/>
            </a:xfrm>
            <a:custGeom>
              <a:avLst/>
              <a:gdLst/>
              <a:ahLst/>
              <a:cxnLst/>
              <a:rect r="r" b="b" t="t" l="l"/>
              <a:pathLst>
                <a:path h="415963" w="2978713">
                  <a:moveTo>
                    <a:pt x="0" y="0"/>
                  </a:moveTo>
                  <a:lnTo>
                    <a:pt x="2978713" y="0"/>
                  </a:lnTo>
                  <a:lnTo>
                    <a:pt x="2978713" y="415963"/>
                  </a:lnTo>
                  <a:lnTo>
                    <a:pt x="0" y="4159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9532" r="0" b="-89532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2978709" cy="45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39"/>
                </a:lnSpc>
              </a:pPr>
              <a:r>
                <a:rPr lang="en-US" sz="1449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Edge AI &amp; Vision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3882688" y="7514873"/>
            <a:ext cx="3764347" cy="290541"/>
            <a:chOff x="0" y="0"/>
            <a:chExt cx="5019129" cy="387388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5019167" cy="387350"/>
            </a:xfrm>
            <a:custGeom>
              <a:avLst/>
              <a:gdLst/>
              <a:ahLst/>
              <a:cxnLst/>
              <a:rect r="r" b="b" t="t" l="l"/>
              <a:pathLst>
                <a:path h="387350" w="5019167">
                  <a:moveTo>
                    <a:pt x="0" y="0"/>
                  </a:moveTo>
                  <a:lnTo>
                    <a:pt x="5019167" y="0"/>
                  </a:lnTo>
                  <a:lnTo>
                    <a:pt x="5019167" y="387350"/>
                  </a:lnTo>
                  <a:lnTo>
                    <a:pt x="0" y="3873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298" r="0" b="-202308"/>
              </a:stretch>
            </a:blip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13882688" y="7523385"/>
            <a:ext cx="3764347" cy="311972"/>
            <a:chOff x="0" y="0"/>
            <a:chExt cx="5019129" cy="415963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5019133" cy="415963"/>
            </a:xfrm>
            <a:custGeom>
              <a:avLst/>
              <a:gdLst/>
              <a:ahLst/>
              <a:cxnLst/>
              <a:rect r="r" b="b" t="t" l="l"/>
              <a:pathLst>
                <a:path h="415963" w="5019133">
                  <a:moveTo>
                    <a:pt x="0" y="0"/>
                  </a:moveTo>
                  <a:lnTo>
                    <a:pt x="5019133" y="0"/>
                  </a:lnTo>
                  <a:lnTo>
                    <a:pt x="5019133" y="415963"/>
                  </a:lnTo>
                  <a:lnTo>
                    <a:pt x="0" y="4159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5112" r="0" b="-185112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38100"/>
              <a:ext cx="5019129" cy="45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3"/>
                </a:lnSpc>
              </a:pPr>
              <a:r>
                <a:rPr lang="en-US" sz="1050">
                  <a:solidFill>
                    <a:srgbClr val="1E26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YOLOv8n INT8 (Detection &amp; Avoidance), SNPE SDK, ONNX, OpenCV</a:t>
              </a:r>
            </a:p>
          </p:txBody>
        </p:sp>
      </p:grpSp>
      <p:sp>
        <p:nvSpPr>
          <p:cNvPr name="AutoShape 148" id="148"/>
          <p:cNvSpPr/>
          <p:nvPr/>
        </p:nvSpPr>
        <p:spPr>
          <a:xfrm>
            <a:off x="11637421" y="7811608"/>
            <a:ext cx="6020839" cy="23749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9" id="149"/>
          <p:cNvGrpSpPr/>
          <p:nvPr/>
        </p:nvGrpSpPr>
        <p:grpSpPr>
          <a:xfrm rot="0">
            <a:off x="11648656" y="7837199"/>
            <a:ext cx="2234032" cy="290541"/>
            <a:chOff x="0" y="0"/>
            <a:chExt cx="2978709" cy="387388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2978658" cy="387350"/>
            </a:xfrm>
            <a:custGeom>
              <a:avLst/>
              <a:gdLst/>
              <a:ahLst/>
              <a:cxnLst/>
              <a:rect r="r" b="b" t="t" l="l"/>
              <a:pathLst>
                <a:path h="387350" w="2978658">
                  <a:moveTo>
                    <a:pt x="0" y="0"/>
                  </a:moveTo>
                  <a:lnTo>
                    <a:pt x="2978658" y="0"/>
                  </a:lnTo>
                  <a:lnTo>
                    <a:pt x="2978658" y="387350"/>
                  </a:lnTo>
                  <a:lnTo>
                    <a:pt x="0" y="3873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731" r="-1" b="-99740"/>
              </a:stretch>
            </a:blip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11648656" y="7815767"/>
            <a:ext cx="2234032" cy="311972"/>
            <a:chOff x="0" y="0"/>
            <a:chExt cx="2978709" cy="415963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2978713" cy="415963"/>
            </a:xfrm>
            <a:custGeom>
              <a:avLst/>
              <a:gdLst/>
              <a:ahLst/>
              <a:cxnLst/>
              <a:rect r="r" b="b" t="t" l="l"/>
              <a:pathLst>
                <a:path h="415963" w="2978713">
                  <a:moveTo>
                    <a:pt x="0" y="0"/>
                  </a:moveTo>
                  <a:lnTo>
                    <a:pt x="2978713" y="0"/>
                  </a:lnTo>
                  <a:lnTo>
                    <a:pt x="2978713" y="415963"/>
                  </a:lnTo>
                  <a:lnTo>
                    <a:pt x="0" y="4159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9532" r="0" b="-89532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38100"/>
              <a:ext cx="2978709" cy="45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39"/>
                </a:lnSpc>
              </a:pPr>
              <a:r>
                <a:rPr lang="en-US" sz="1449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Robotics Middleware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13882688" y="7837199"/>
            <a:ext cx="3764347" cy="290541"/>
            <a:chOff x="0" y="0"/>
            <a:chExt cx="5019129" cy="387388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5019167" cy="387350"/>
            </a:xfrm>
            <a:custGeom>
              <a:avLst/>
              <a:gdLst/>
              <a:ahLst/>
              <a:cxnLst/>
              <a:rect r="r" b="b" t="t" l="l"/>
              <a:pathLst>
                <a:path h="387350" w="5019167">
                  <a:moveTo>
                    <a:pt x="0" y="0"/>
                  </a:moveTo>
                  <a:lnTo>
                    <a:pt x="5019167" y="0"/>
                  </a:lnTo>
                  <a:lnTo>
                    <a:pt x="5019167" y="387350"/>
                  </a:lnTo>
                  <a:lnTo>
                    <a:pt x="0" y="3873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298" r="0" b="-202308"/>
              </a:stretch>
            </a:blipFill>
          </p:spPr>
        </p:sp>
      </p:grpSp>
      <p:grpSp>
        <p:nvGrpSpPr>
          <p:cNvPr name="Group 156" id="156"/>
          <p:cNvGrpSpPr/>
          <p:nvPr/>
        </p:nvGrpSpPr>
        <p:grpSpPr>
          <a:xfrm rot="0">
            <a:off x="13882688" y="7815767"/>
            <a:ext cx="3764347" cy="311972"/>
            <a:chOff x="0" y="0"/>
            <a:chExt cx="5019129" cy="415963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5019133" cy="415963"/>
            </a:xfrm>
            <a:custGeom>
              <a:avLst/>
              <a:gdLst/>
              <a:ahLst/>
              <a:cxnLst/>
              <a:rect r="r" b="b" t="t" l="l"/>
              <a:pathLst>
                <a:path h="415963" w="5019133">
                  <a:moveTo>
                    <a:pt x="0" y="0"/>
                  </a:moveTo>
                  <a:lnTo>
                    <a:pt x="5019133" y="0"/>
                  </a:lnTo>
                  <a:lnTo>
                    <a:pt x="5019133" y="415963"/>
                  </a:lnTo>
                  <a:lnTo>
                    <a:pt x="0" y="4159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5112" r="0" b="-185112"/>
              </a:stretch>
            </a:blipFill>
          </p:spPr>
        </p:sp>
        <p:sp>
          <p:nvSpPr>
            <p:cNvPr name="TextBox 158" id="158"/>
            <p:cNvSpPr txBox="true"/>
            <p:nvPr/>
          </p:nvSpPr>
          <p:spPr>
            <a:xfrm>
              <a:off x="0" y="-38100"/>
              <a:ext cx="5019129" cy="45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39"/>
                </a:lnSpc>
              </a:pPr>
              <a:r>
                <a:rPr lang="en-US" sz="1449">
                  <a:solidFill>
                    <a:srgbClr val="1E26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ROS2 Humble, MAVLink v2, micro-ROS</a:t>
              </a:r>
            </a:p>
          </p:txBody>
        </p:sp>
      </p:grpSp>
      <p:sp>
        <p:nvSpPr>
          <p:cNvPr name="AutoShape 159" id="159"/>
          <p:cNvSpPr/>
          <p:nvPr/>
        </p:nvSpPr>
        <p:spPr>
          <a:xfrm>
            <a:off x="11637421" y="8133934"/>
            <a:ext cx="6020839" cy="23749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0" id="160"/>
          <p:cNvGrpSpPr/>
          <p:nvPr/>
        </p:nvGrpSpPr>
        <p:grpSpPr>
          <a:xfrm rot="0">
            <a:off x="11648656" y="8159525"/>
            <a:ext cx="2234032" cy="290541"/>
            <a:chOff x="0" y="0"/>
            <a:chExt cx="2978709" cy="387388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2978658" cy="387350"/>
            </a:xfrm>
            <a:custGeom>
              <a:avLst/>
              <a:gdLst/>
              <a:ahLst/>
              <a:cxnLst/>
              <a:rect r="r" b="b" t="t" l="l"/>
              <a:pathLst>
                <a:path h="387350" w="2978658">
                  <a:moveTo>
                    <a:pt x="0" y="0"/>
                  </a:moveTo>
                  <a:lnTo>
                    <a:pt x="2978658" y="0"/>
                  </a:lnTo>
                  <a:lnTo>
                    <a:pt x="2978658" y="387350"/>
                  </a:lnTo>
                  <a:lnTo>
                    <a:pt x="0" y="3873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731" r="-1" b="-99740"/>
              </a:stretch>
            </a:blip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1648656" y="8138093"/>
            <a:ext cx="2234032" cy="311972"/>
            <a:chOff x="0" y="0"/>
            <a:chExt cx="2978709" cy="415963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2978713" cy="415963"/>
            </a:xfrm>
            <a:custGeom>
              <a:avLst/>
              <a:gdLst/>
              <a:ahLst/>
              <a:cxnLst/>
              <a:rect r="r" b="b" t="t" l="l"/>
              <a:pathLst>
                <a:path h="415963" w="2978713">
                  <a:moveTo>
                    <a:pt x="0" y="0"/>
                  </a:moveTo>
                  <a:lnTo>
                    <a:pt x="2978713" y="0"/>
                  </a:lnTo>
                  <a:lnTo>
                    <a:pt x="2978713" y="415963"/>
                  </a:lnTo>
                  <a:lnTo>
                    <a:pt x="0" y="4159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9532" r="0" b="-89532"/>
              </a:stretch>
            </a:blipFill>
          </p:spPr>
        </p:sp>
        <p:sp>
          <p:nvSpPr>
            <p:cNvPr name="TextBox 164" id="164"/>
            <p:cNvSpPr txBox="true"/>
            <p:nvPr/>
          </p:nvSpPr>
          <p:spPr>
            <a:xfrm>
              <a:off x="0" y="-38100"/>
              <a:ext cx="2978709" cy="45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39"/>
                </a:lnSpc>
              </a:pPr>
              <a:r>
                <a:rPr lang="en-US" sz="1449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Long-Range RF Comms</a:t>
              </a:r>
            </a:p>
          </p:txBody>
        </p:sp>
      </p:grpSp>
      <p:grpSp>
        <p:nvGrpSpPr>
          <p:cNvPr name="Group 165" id="165"/>
          <p:cNvGrpSpPr/>
          <p:nvPr/>
        </p:nvGrpSpPr>
        <p:grpSpPr>
          <a:xfrm rot="0">
            <a:off x="13882688" y="8159525"/>
            <a:ext cx="3764347" cy="290541"/>
            <a:chOff x="0" y="0"/>
            <a:chExt cx="5019129" cy="387388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5019167" cy="387350"/>
            </a:xfrm>
            <a:custGeom>
              <a:avLst/>
              <a:gdLst/>
              <a:ahLst/>
              <a:cxnLst/>
              <a:rect r="r" b="b" t="t" l="l"/>
              <a:pathLst>
                <a:path h="387350" w="5019167">
                  <a:moveTo>
                    <a:pt x="0" y="0"/>
                  </a:moveTo>
                  <a:lnTo>
                    <a:pt x="5019167" y="0"/>
                  </a:lnTo>
                  <a:lnTo>
                    <a:pt x="5019167" y="387350"/>
                  </a:lnTo>
                  <a:lnTo>
                    <a:pt x="0" y="3873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298" r="0" b="-202308"/>
              </a:stretch>
            </a:blip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13882688" y="8138093"/>
            <a:ext cx="3764347" cy="311972"/>
            <a:chOff x="0" y="0"/>
            <a:chExt cx="5019129" cy="415963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5019133" cy="415963"/>
            </a:xfrm>
            <a:custGeom>
              <a:avLst/>
              <a:gdLst/>
              <a:ahLst/>
              <a:cxnLst/>
              <a:rect r="r" b="b" t="t" l="l"/>
              <a:pathLst>
                <a:path h="415963" w="5019133">
                  <a:moveTo>
                    <a:pt x="0" y="0"/>
                  </a:moveTo>
                  <a:lnTo>
                    <a:pt x="5019133" y="0"/>
                  </a:lnTo>
                  <a:lnTo>
                    <a:pt x="5019133" y="415963"/>
                  </a:lnTo>
                  <a:lnTo>
                    <a:pt x="0" y="4159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5112" r="0" b="-185112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38100"/>
              <a:ext cx="5019129" cy="45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40"/>
                </a:lnSpc>
              </a:pPr>
              <a:r>
                <a:rPr lang="en-US" sz="1400">
                  <a:solidFill>
                    <a:srgbClr val="1E26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Ebyte E22-900T22S LoRa (868 MHz UART)</a:t>
              </a:r>
            </a:p>
          </p:txBody>
        </p:sp>
      </p:grpSp>
      <p:sp>
        <p:nvSpPr>
          <p:cNvPr name="AutoShape 170" id="170"/>
          <p:cNvSpPr/>
          <p:nvPr/>
        </p:nvSpPr>
        <p:spPr>
          <a:xfrm>
            <a:off x="11637421" y="8456260"/>
            <a:ext cx="6020839" cy="23749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1" id="171"/>
          <p:cNvGrpSpPr/>
          <p:nvPr/>
        </p:nvGrpSpPr>
        <p:grpSpPr>
          <a:xfrm rot="0">
            <a:off x="11648656" y="8481851"/>
            <a:ext cx="2234032" cy="290541"/>
            <a:chOff x="0" y="0"/>
            <a:chExt cx="2978709" cy="387388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2978658" cy="387350"/>
            </a:xfrm>
            <a:custGeom>
              <a:avLst/>
              <a:gdLst/>
              <a:ahLst/>
              <a:cxnLst/>
              <a:rect r="r" b="b" t="t" l="l"/>
              <a:pathLst>
                <a:path h="387350" w="2978658">
                  <a:moveTo>
                    <a:pt x="0" y="0"/>
                  </a:moveTo>
                  <a:lnTo>
                    <a:pt x="2978658" y="0"/>
                  </a:lnTo>
                  <a:lnTo>
                    <a:pt x="2978658" y="387350"/>
                  </a:lnTo>
                  <a:lnTo>
                    <a:pt x="0" y="3873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731" r="-1" b="-99740"/>
              </a:stretch>
            </a:blip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11648656" y="8460419"/>
            <a:ext cx="2234032" cy="311972"/>
            <a:chOff x="0" y="0"/>
            <a:chExt cx="2978709" cy="415963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2978713" cy="415963"/>
            </a:xfrm>
            <a:custGeom>
              <a:avLst/>
              <a:gdLst/>
              <a:ahLst/>
              <a:cxnLst/>
              <a:rect r="r" b="b" t="t" l="l"/>
              <a:pathLst>
                <a:path h="415963" w="2978713">
                  <a:moveTo>
                    <a:pt x="0" y="0"/>
                  </a:moveTo>
                  <a:lnTo>
                    <a:pt x="2978713" y="0"/>
                  </a:lnTo>
                  <a:lnTo>
                    <a:pt x="2978713" y="415963"/>
                  </a:lnTo>
                  <a:lnTo>
                    <a:pt x="0" y="4159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9532" r="0" b="-89532"/>
              </a:stretch>
            </a:blipFill>
          </p:spPr>
        </p:sp>
        <p:sp>
          <p:nvSpPr>
            <p:cNvPr name="TextBox 175" id="175"/>
            <p:cNvSpPr txBox="true"/>
            <p:nvPr/>
          </p:nvSpPr>
          <p:spPr>
            <a:xfrm>
              <a:off x="0" y="-38100"/>
              <a:ext cx="2978709" cy="45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39"/>
                </a:lnSpc>
              </a:pPr>
              <a:r>
                <a:rPr lang="en-US" sz="1449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Tactical GCS</a:t>
              </a:r>
            </a:p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13882688" y="8481851"/>
            <a:ext cx="3764347" cy="290541"/>
            <a:chOff x="0" y="0"/>
            <a:chExt cx="5019129" cy="387388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5019167" cy="387350"/>
            </a:xfrm>
            <a:custGeom>
              <a:avLst/>
              <a:gdLst/>
              <a:ahLst/>
              <a:cxnLst/>
              <a:rect r="r" b="b" t="t" l="l"/>
              <a:pathLst>
                <a:path h="387350" w="5019167">
                  <a:moveTo>
                    <a:pt x="0" y="0"/>
                  </a:moveTo>
                  <a:lnTo>
                    <a:pt x="5019167" y="0"/>
                  </a:lnTo>
                  <a:lnTo>
                    <a:pt x="5019167" y="387350"/>
                  </a:lnTo>
                  <a:lnTo>
                    <a:pt x="0" y="3873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298" r="0" b="-202308"/>
              </a:stretch>
            </a:blip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13882688" y="8460419"/>
            <a:ext cx="3764347" cy="311972"/>
            <a:chOff x="0" y="0"/>
            <a:chExt cx="5019129" cy="415963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5019133" cy="415963"/>
            </a:xfrm>
            <a:custGeom>
              <a:avLst/>
              <a:gdLst/>
              <a:ahLst/>
              <a:cxnLst/>
              <a:rect r="r" b="b" t="t" l="l"/>
              <a:pathLst>
                <a:path h="415963" w="5019133">
                  <a:moveTo>
                    <a:pt x="0" y="0"/>
                  </a:moveTo>
                  <a:lnTo>
                    <a:pt x="5019133" y="0"/>
                  </a:lnTo>
                  <a:lnTo>
                    <a:pt x="5019133" y="415963"/>
                  </a:lnTo>
                  <a:lnTo>
                    <a:pt x="0" y="4159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5112" r="0" b="-185112"/>
              </a:stretch>
            </a:blipFill>
          </p:spPr>
        </p:sp>
        <p:sp>
          <p:nvSpPr>
            <p:cNvPr name="TextBox 180" id="180"/>
            <p:cNvSpPr txBox="true"/>
            <p:nvPr/>
          </p:nvSpPr>
          <p:spPr>
            <a:xfrm>
              <a:off x="0" y="-38100"/>
              <a:ext cx="5019129" cy="45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39"/>
                </a:lnSpc>
              </a:pPr>
              <a:r>
                <a:rPr lang="en-US" sz="1449">
                  <a:solidFill>
                    <a:srgbClr val="1E26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React, Leaflet, Tailwind CSS, WebSockets</a:t>
              </a:r>
            </a:p>
          </p:txBody>
        </p:sp>
      </p:grpSp>
      <p:sp>
        <p:nvSpPr>
          <p:cNvPr name="AutoShape 181" id="181"/>
          <p:cNvSpPr/>
          <p:nvPr/>
        </p:nvSpPr>
        <p:spPr>
          <a:xfrm>
            <a:off x="11637421" y="8778586"/>
            <a:ext cx="6020839" cy="23749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2" id="182"/>
          <p:cNvGrpSpPr/>
          <p:nvPr/>
        </p:nvGrpSpPr>
        <p:grpSpPr>
          <a:xfrm rot="0">
            <a:off x="11648656" y="8804177"/>
            <a:ext cx="2234032" cy="290541"/>
            <a:chOff x="0" y="0"/>
            <a:chExt cx="2978709" cy="38738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2978658" cy="387350"/>
            </a:xfrm>
            <a:custGeom>
              <a:avLst/>
              <a:gdLst/>
              <a:ahLst/>
              <a:cxnLst/>
              <a:rect r="r" b="b" t="t" l="l"/>
              <a:pathLst>
                <a:path h="387350" w="2978658">
                  <a:moveTo>
                    <a:pt x="0" y="0"/>
                  </a:moveTo>
                  <a:lnTo>
                    <a:pt x="2978658" y="0"/>
                  </a:lnTo>
                  <a:lnTo>
                    <a:pt x="2978658" y="387350"/>
                  </a:lnTo>
                  <a:lnTo>
                    <a:pt x="0" y="3873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731" r="-1" b="-99740"/>
              </a:stretch>
            </a:blipFill>
          </p:spPr>
        </p:sp>
      </p:grpSp>
      <p:grpSp>
        <p:nvGrpSpPr>
          <p:cNvPr name="Group 184" id="184"/>
          <p:cNvGrpSpPr/>
          <p:nvPr/>
        </p:nvGrpSpPr>
        <p:grpSpPr>
          <a:xfrm rot="0">
            <a:off x="11648656" y="8782745"/>
            <a:ext cx="2234032" cy="311972"/>
            <a:chOff x="0" y="0"/>
            <a:chExt cx="2978709" cy="415963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0" y="0"/>
              <a:ext cx="2978713" cy="415963"/>
            </a:xfrm>
            <a:custGeom>
              <a:avLst/>
              <a:gdLst/>
              <a:ahLst/>
              <a:cxnLst/>
              <a:rect r="r" b="b" t="t" l="l"/>
              <a:pathLst>
                <a:path h="415963" w="2978713">
                  <a:moveTo>
                    <a:pt x="0" y="0"/>
                  </a:moveTo>
                  <a:lnTo>
                    <a:pt x="2978713" y="0"/>
                  </a:lnTo>
                  <a:lnTo>
                    <a:pt x="2978713" y="415963"/>
                  </a:lnTo>
                  <a:lnTo>
                    <a:pt x="0" y="4159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9532" r="0" b="-89532"/>
              </a:stretch>
            </a:blipFill>
          </p:spPr>
        </p:sp>
        <p:sp>
          <p:nvSpPr>
            <p:cNvPr name="TextBox 186" id="186"/>
            <p:cNvSpPr txBox="true"/>
            <p:nvPr/>
          </p:nvSpPr>
          <p:spPr>
            <a:xfrm>
              <a:off x="0" y="-38100"/>
              <a:ext cx="2978709" cy="45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39"/>
                </a:lnSpc>
              </a:pPr>
              <a:r>
                <a:rPr lang="en-US" sz="1449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Security</a:t>
              </a:r>
            </a:p>
          </p:txBody>
        </p:sp>
      </p:grpSp>
      <p:grpSp>
        <p:nvGrpSpPr>
          <p:cNvPr name="Group 187" id="187"/>
          <p:cNvGrpSpPr/>
          <p:nvPr/>
        </p:nvGrpSpPr>
        <p:grpSpPr>
          <a:xfrm rot="0">
            <a:off x="13882688" y="8804177"/>
            <a:ext cx="3764347" cy="290541"/>
            <a:chOff x="0" y="0"/>
            <a:chExt cx="5019129" cy="387388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0" y="0"/>
              <a:ext cx="5019167" cy="387350"/>
            </a:xfrm>
            <a:custGeom>
              <a:avLst/>
              <a:gdLst/>
              <a:ahLst/>
              <a:cxnLst/>
              <a:rect r="r" b="b" t="t" l="l"/>
              <a:pathLst>
                <a:path h="387350" w="5019167">
                  <a:moveTo>
                    <a:pt x="0" y="0"/>
                  </a:moveTo>
                  <a:lnTo>
                    <a:pt x="5019167" y="0"/>
                  </a:lnTo>
                  <a:lnTo>
                    <a:pt x="5019167" y="387350"/>
                  </a:lnTo>
                  <a:lnTo>
                    <a:pt x="0" y="3873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298" r="0" b="-202308"/>
              </a:stretch>
            </a:blipFill>
          </p:spPr>
        </p:sp>
      </p:grpSp>
      <p:grpSp>
        <p:nvGrpSpPr>
          <p:cNvPr name="Group 189" id="189"/>
          <p:cNvGrpSpPr/>
          <p:nvPr/>
        </p:nvGrpSpPr>
        <p:grpSpPr>
          <a:xfrm rot="0">
            <a:off x="13882688" y="8782745"/>
            <a:ext cx="3764347" cy="311972"/>
            <a:chOff x="0" y="0"/>
            <a:chExt cx="5019129" cy="415963"/>
          </a:xfrm>
        </p:grpSpPr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5019133" cy="415963"/>
            </a:xfrm>
            <a:custGeom>
              <a:avLst/>
              <a:gdLst/>
              <a:ahLst/>
              <a:cxnLst/>
              <a:rect r="r" b="b" t="t" l="l"/>
              <a:pathLst>
                <a:path h="415963" w="5019133">
                  <a:moveTo>
                    <a:pt x="0" y="0"/>
                  </a:moveTo>
                  <a:lnTo>
                    <a:pt x="5019133" y="0"/>
                  </a:lnTo>
                  <a:lnTo>
                    <a:pt x="5019133" y="415963"/>
                  </a:lnTo>
                  <a:lnTo>
                    <a:pt x="0" y="4159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5112" r="0" b="-185112"/>
              </a:stretch>
            </a:blipFill>
          </p:spPr>
        </p:sp>
        <p:sp>
          <p:nvSpPr>
            <p:cNvPr name="TextBox 191" id="191"/>
            <p:cNvSpPr txBox="true"/>
            <p:nvPr/>
          </p:nvSpPr>
          <p:spPr>
            <a:xfrm>
              <a:off x="0" y="-38100"/>
              <a:ext cx="5019129" cy="45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39"/>
                </a:lnSpc>
              </a:pPr>
              <a:r>
                <a:rPr lang="en-US" sz="1449">
                  <a:solidFill>
                    <a:srgbClr val="1E26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HMAC-SHA256 Telemetry Packet Signatures</a:t>
              </a:r>
            </a:p>
          </p:txBody>
        </p:sp>
      </p:grpSp>
      <p:grpSp>
        <p:nvGrpSpPr>
          <p:cNvPr name="Group 192" id="192"/>
          <p:cNvGrpSpPr/>
          <p:nvPr/>
        </p:nvGrpSpPr>
        <p:grpSpPr>
          <a:xfrm rot="0">
            <a:off x="7062187" y="6563744"/>
            <a:ext cx="4104704" cy="2698128"/>
            <a:chOff x="0" y="0"/>
            <a:chExt cx="5472938" cy="3597504"/>
          </a:xfrm>
        </p:grpSpPr>
        <p:sp>
          <p:nvSpPr>
            <p:cNvPr name="Freeform 193" id="193" descr="gimbal_sensor_macro_render.jpg"/>
            <p:cNvSpPr/>
            <p:nvPr/>
          </p:nvSpPr>
          <p:spPr>
            <a:xfrm flipH="false" flipV="false" rot="0">
              <a:off x="0" y="0"/>
              <a:ext cx="5472938" cy="3597402"/>
            </a:xfrm>
            <a:custGeom>
              <a:avLst/>
              <a:gdLst/>
              <a:ahLst/>
              <a:cxnLst/>
              <a:rect r="r" b="b" t="t" l="l"/>
              <a:pathLst>
                <a:path h="3597402" w="5472938">
                  <a:moveTo>
                    <a:pt x="190881" y="0"/>
                  </a:moveTo>
                  <a:lnTo>
                    <a:pt x="5282057" y="0"/>
                  </a:lnTo>
                  <a:cubicBezTo>
                    <a:pt x="5332730" y="0"/>
                    <a:pt x="5381244" y="20066"/>
                    <a:pt x="5417058" y="55880"/>
                  </a:cubicBezTo>
                  <a:cubicBezTo>
                    <a:pt x="5452872" y="91694"/>
                    <a:pt x="5472938" y="140335"/>
                    <a:pt x="5472938" y="190881"/>
                  </a:cubicBezTo>
                  <a:lnTo>
                    <a:pt x="5472938" y="3406521"/>
                  </a:lnTo>
                  <a:cubicBezTo>
                    <a:pt x="5472938" y="3457194"/>
                    <a:pt x="5452872" y="3505708"/>
                    <a:pt x="5417058" y="3541522"/>
                  </a:cubicBezTo>
                  <a:cubicBezTo>
                    <a:pt x="5381244" y="3577336"/>
                    <a:pt x="5332730" y="3597402"/>
                    <a:pt x="5282057" y="3597402"/>
                  </a:cubicBezTo>
                  <a:lnTo>
                    <a:pt x="190881" y="3597402"/>
                  </a:lnTo>
                  <a:cubicBezTo>
                    <a:pt x="140208" y="3597402"/>
                    <a:pt x="91694" y="3577336"/>
                    <a:pt x="55880" y="3541522"/>
                  </a:cubicBezTo>
                  <a:cubicBezTo>
                    <a:pt x="20066" y="3505708"/>
                    <a:pt x="0" y="3457194"/>
                    <a:pt x="0" y="3406521"/>
                  </a:cubicBezTo>
                  <a:lnTo>
                    <a:pt x="0" y="191008"/>
                  </a:lnTo>
                  <a:cubicBezTo>
                    <a:pt x="0" y="140335"/>
                    <a:pt x="20066" y="91821"/>
                    <a:pt x="55880" y="55880"/>
                  </a:cubicBezTo>
                  <a:cubicBezTo>
                    <a:pt x="91694" y="19939"/>
                    <a:pt x="140208" y="0"/>
                    <a:pt x="190881" y="0"/>
                  </a:cubicBezTo>
                  <a:close/>
                </a:path>
              </a:pathLst>
            </a:custGeom>
            <a:blipFill>
              <a:blip r:embed="rId11"/>
              <a:stretch>
                <a:fillRect l="-563" t="0" r="-563" b="-2"/>
              </a:stretch>
            </a:blipFill>
            <a:ln w="19050" cap="sq">
              <a:solidFill>
                <a:srgbClr val="1E4A7E"/>
              </a:solidFill>
              <a:prstDash val="solid"/>
              <a:miter/>
            </a:ln>
          </p:spPr>
        </p:sp>
      </p:grpSp>
      <p:sp>
        <p:nvSpPr>
          <p:cNvPr name="Freeform 194" id="194" descr="phoenix_tactical_drone_render.jpg"/>
          <p:cNvSpPr/>
          <p:nvPr/>
        </p:nvSpPr>
        <p:spPr>
          <a:xfrm flipH="false" flipV="false" rot="0">
            <a:off x="7062187" y="1865816"/>
            <a:ext cx="10906935" cy="4480596"/>
          </a:xfrm>
          <a:custGeom>
            <a:avLst/>
            <a:gdLst/>
            <a:ahLst/>
            <a:cxnLst/>
            <a:rect r="r" b="b" t="t" l="l"/>
            <a:pathLst>
              <a:path h="4480596" w="10906935">
                <a:moveTo>
                  <a:pt x="0" y="0"/>
                </a:moveTo>
                <a:lnTo>
                  <a:pt x="10906935" y="0"/>
                </a:lnTo>
                <a:lnTo>
                  <a:pt x="10906935" y="4480596"/>
                </a:lnTo>
                <a:lnTo>
                  <a:pt x="0" y="448059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15500" r="0" b="-69503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26" r="0" b="-13692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-92869"/>
            <a:ext cx="16459200" cy="1735931"/>
            <a:chOff x="0" y="0"/>
            <a:chExt cx="21945600" cy="23145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2314575"/>
            </a:xfrm>
            <a:custGeom>
              <a:avLst/>
              <a:gdLst/>
              <a:ahLst/>
              <a:cxnLst/>
              <a:rect r="r" b="b" t="t" l="l"/>
              <a:pathLst>
                <a:path h="231457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314575"/>
                  </a:lnTo>
                  <a:lnTo>
                    <a:pt x="0" y="23145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4747" r="0" b="-13474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1945600" cy="2343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707" r="0" b="-101709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106400" y="9520238"/>
            <a:ext cx="4267200" cy="561975"/>
            <a:chOff x="0" y="0"/>
            <a:chExt cx="5689600" cy="7493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89600" cy="749301"/>
            </a:xfrm>
            <a:custGeom>
              <a:avLst/>
              <a:gdLst/>
              <a:ahLst/>
              <a:cxnLst/>
              <a:rect r="r" b="b" t="t" l="l"/>
              <a:pathLst>
                <a:path h="74930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7954" r="0" b="-9795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670129" y="2248"/>
            <a:ext cx="3374803" cy="1593532"/>
            <a:chOff x="0" y="0"/>
            <a:chExt cx="4499737" cy="21247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2" r="0" b="-21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03504" y="315468"/>
            <a:ext cx="2263140" cy="740664"/>
            <a:chOff x="0" y="0"/>
            <a:chExt cx="3017520" cy="987552"/>
          </a:xfrm>
        </p:grpSpPr>
        <p:sp>
          <p:nvSpPr>
            <p:cNvPr name="Freeform 17" id="17" descr="Phoenix team logo"/>
            <p:cNvSpPr/>
            <p:nvPr/>
          </p:nvSpPr>
          <p:spPr>
            <a:xfrm flipH="false" flipV="false" rot="0">
              <a:off x="0" y="0"/>
              <a:ext cx="3017520" cy="987552"/>
            </a:xfrm>
            <a:custGeom>
              <a:avLst/>
              <a:gdLst/>
              <a:ahLst/>
              <a:cxnLst/>
              <a:rect r="r" b="b" t="t" l="l"/>
              <a:pathLst>
                <a:path h="987552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04" r="0" b="-105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48640" y="9532620"/>
            <a:ext cx="6515100" cy="754380"/>
            <a:chOff x="0" y="0"/>
            <a:chExt cx="8686800" cy="10058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686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162" r="0" b="-118162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48640" y="9511189"/>
            <a:ext cx="6515100" cy="775811"/>
            <a:chOff x="0" y="0"/>
            <a:chExt cx="8686800" cy="103441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686800" cy="1034415"/>
            </a:xfrm>
            <a:custGeom>
              <a:avLst/>
              <a:gdLst/>
              <a:ahLst/>
              <a:cxnLst/>
              <a:rect r="r" b="b" t="t" l="l"/>
              <a:pathLst>
                <a:path h="1034415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034415"/>
                  </a:lnTo>
                  <a:lnTo>
                    <a:pt x="0" y="10344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3631" r="0" b="-11363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868680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PROJECT PHOENIX: Autonomous Multi-Spectral Edge-AI UAV  |  SIH26177 (Qualcomm Inc.)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8972" y="1275588"/>
            <a:ext cx="16459200" cy="466344"/>
            <a:chOff x="0" y="0"/>
            <a:chExt cx="21945600" cy="6217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45600" cy="621792"/>
            </a:xfrm>
            <a:custGeom>
              <a:avLst/>
              <a:gdLst/>
              <a:ahLst/>
              <a:cxnLst/>
              <a:rect r="r" b="b" t="t" l="l"/>
              <a:pathLst>
                <a:path h="6217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7228" r="0" b="-63723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18972" y="1247013"/>
            <a:ext cx="16459200" cy="494919"/>
            <a:chOff x="0" y="0"/>
            <a:chExt cx="21945600" cy="65989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45600" cy="659892"/>
            </a:xfrm>
            <a:custGeom>
              <a:avLst/>
              <a:gdLst/>
              <a:ahLst/>
              <a:cxnLst/>
              <a:rect r="r" b="b" t="t" l="l"/>
              <a:pathLst>
                <a:path h="6598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59892"/>
                  </a:lnTo>
                  <a:lnTo>
                    <a:pt x="0" y="6598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98001" r="0" b="-59800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1945600" cy="697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8"/>
                </a:lnSpc>
              </a:pPr>
              <a:r>
                <a:rPr lang="en-US" sz="24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Feasibility, Challenges-to-Strategies &amp; Market Viability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810454" y="1935166"/>
            <a:ext cx="4962763" cy="7404211"/>
          </a:xfrm>
          <a:custGeom>
            <a:avLst/>
            <a:gdLst/>
            <a:ahLst/>
            <a:cxnLst/>
            <a:rect r="r" b="b" t="t" l="l"/>
            <a:pathLst>
              <a:path h="7404211" w="4962763">
                <a:moveTo>
                  <a:pt x="0" y="0"/>
                </a:moveTo>
                <a:lnTo>
                  <a:pt x="4962763" y="0"/>
                </a:lnTo>
                <a:lnTo>
                  <a:pt x="4962763" y="7404211"/>
                </a:lnTo>
                <a:lnTo>
                  <a:pt x="0" y="74042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5982348" y="1935166"/>
            <a:ext cx="5579983" cy="7404211"/>
          </a:xfrm>
          <a:custGeom>
            <a:avLst/>
            <a:gdLst/>
            <a:ahLst/>
            <a:cxnLst/>
            <a:rect r="r" b="b" t="t" l="l"/>
            <a:pathLst>
              <a:path h="7404211" w="5579983">
                <a:moveTo>
                  <a:pt x="0" y="0"/>
                </a:moveTo>
                <a:lnTo>
                  <a:pt x="5579983" y="0"/>
                </a:lnTo>
                <a:lnTo>
                  <a:pt x="5579983" y="7404211"/>
                </a:lnTo>
                <a:lnTo>
                  <a:pt x="0" y="740421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1742106" y="1935166"/>
            <a:ext cx="5730859" cy="7404211"/>
          </a:xfrm>
          <a:custGeom>
            <a:avLst/>
            <a:gdLst/>
            <a:ahLst/>
            <a:cxnLst/>
            <a:rect r="r" b="b" t="t" l="l"/>
            <a:pathLst>
              <a:path h="7404211" w="5730859">
                <a:moveTo>
                  <a:pt x="0" y="0"/>
                </a:moveTo>
                <a:lnTo>
                  <a:pt x="5730859" y="0"/>
                </a:lnTo>
                <a:lnTo>
                  <a:pt x="5730859" y="7404211"/>
                </a:lnTo>
                <a:lnTo>
                  <a:pt x="0" y="740421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1124712" y="2194560"/>
            <a:ext cx="2065210" cy="411480"/>
            <a:chOff x="0" y="0"/>
            <a:chExt cx="2753614" cy="5486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753614" cy="548640"/>
            </a:xfrm>
            <a:custGeom>
              <a:avLst/>
              <a:gdLst/>
              <a:ahLst/>
              <a:cxnLst/>
              <a:rect r="r" b="b" t="t" l="l"/>
              <a:pathLst>
                <a:path h="548640" w="2753614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2479294" y="0"/>
                  </a:lnTo>
                  <a:cubicBezTo>
                    <a:pt x="2630805" y="0"/>
                    <a:pt x="2753614" y="122809"/>
                    <a:pt x="2753614" y="274320"/>
                  </a:cubicBezTo>
                  <a:cubicBezTo>
                    <a:pt x="2753614" y="425831"/>
                    <a:pt x="2630805" y="548640"/>
                    <a:pt x="2479294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E1EEF9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124712" y="2194560"/>
            <a:ext cx="2065220" cy="411480"/>
            <a:chOff x="0" y="0"/>
            <a:chExt cx="2753627" cy="548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753614" cy="548640"/>
            </a:xfrm>
            <a:custGeom>
              <a:avLst/>
              <a:gdLst/>
              <a:ahLst/>
              <a:cxnLst/>
              <a:rect r="r" b="b" t="t" l="l"/>
              <a:pathLst>
                <a:path h="548640" w="2753614">
                  <a:moveTo>
                    <a:pt x="0" y="0"/>
                  </a:moveTo>
                  <a:lnTo>
                    <a:pt x="2753614" y="0"/>
                  </a:lnTo>
                  <a:lnTo>
                    <a:pt x="275361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726" r="0" b="-47726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24712" y="2180272"/>
            <a:ext cx="2065220" cy="425768"/>
            <a:chOff x="0" y="0"/>
            <a:chExt cx="2753627" cy="56769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753627" cy="567690"/>
            </a:xfrm>
            <a:custGeom>
              <a:avLst/>
              <a:gdLst/>
              <a:ahLst/>
              <a:cxnLst/>
              <a:rect r="r" b="b" t="t" l="l"/>
              <a:pathLst>
                <a:path h="567690" w="2753627">
                  <a:moveTo>
                    <a:pt x="0" y="0"/>
                  </a:moveTo>
                  <a:lnTo>
                    <a:pt x="2753627" y="0"/>
                  </a:lnTo>
                  <a:lnTo>
                    <a:pt x="2753627" y="567690"/>
                  </a:lnTo>
                  <a:lnTo>
                    <a:pt x="0" y="567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513" r="0" b="-4451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2753627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223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FEASIBILITY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24712" y="2880360"/>
            <a:ext cx="411480" cy="411480"/>
            <a:chOff x="0" y="0"/>
            <a:chExt cx="548640" cy="548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27582" y="2983230"/>
            <a:ext cx="205740" cy="205740"/>
            <a:chOff x="0" y="0"/>
            <a:chExt cx="274320" cy="274320"/>
          </a:xfrm>
        </p:grpSpPr>
        <p:sp>
          <p:nvSpPr>
            <p:cNvPr name="Freeform 41" id="41" descr="Technical Feasibility icon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673352" y="2880360"/>
            <a:ext cx="4114800" cy="411480"/>
            <a:chOff x="0" y="0"/>
            <a:chExt cx="5486400" cy="5486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715" r="0" b="-144715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673352" y="2858929"/>
            <a:ext cx="4114800" cy="432911"/>
            <a:chOff x="0" y="0"/>
            <a:chExt cx="5486400" cy="57721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486400" cy="577215"/>
            </a:xfrm>
            <a:custGeom>
              <a:avLst/>
              <a:gdLst/>
              <a:ahLst/>
              <a:cxnLst/>
              <a:rect r="r" b="b" t="t" l="l"/>
              <a:pathLst>
                <a:path h="57721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5204" r="0" b="-13520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5486400" cy="605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20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TECHNICAL FEASIBILITY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724167" y="3292568"/>
            <a:ext cx="4762881" cy="1754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215900" lvl="2">
              <a:lnSpc>
                <a:spcPts val="2070"/>
              </a:lnSpc>
              <a:buFont typeface="Arial"/>
              <a:buChar char="⚬"/>
            </a:pPr>
            <a:r>
              <a:rPr lang="en-US" b="true" sz="1500">
                <a:solidFill>
                  <a:srgbClr val="1E26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THRUST HEADROOM: </a:t>
            </a:r>
            <a:r>
              <a:rPr lang="en-US" sz="1500">
                <a:solidFill>
                  <a:srgbClr val="3C465A"/>
                </a:solidFill>
                <a:latin typeface="Calibri (MS)"/>
                <a:ea typeface="Calibri (MS)"/>
                <a:cs typeface="Calibri (MS)"/>
                <a:sym typeface="Calibri (MS)"/>
              </a:rPr>
              <a:t>2.23:1 maximum thrust-to-weight ratio provides substantial control authority in wind gusts.</a:t>
            </a:r>
          </a:p>
          <a:p>
            <a:pPr algn="l">
              <a:lnSpc>
                <a:spcPts val="2070"/>
              </a:lnSpc>
            </a:pPr>
          </a:p>
          <a:p>
            <a:pPr algn="l" marL="647700" indent="-215900" lvl="2">
              <a:lnSpc>
                <a:spcPts val="1800"/>
              </a:lnSpc>
              <a:buFont typeface="Arial"/>
              <a:buChar char="⚬"/>
            </a:pPr>
            <a:r>
              <a:rPr lang="en-US" b="true" sz="1500">
                <a:solidFill>
                  <a:srgbClr val="1E26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SUB-5W COMPUTE: </a:t>
            </a:r>
            <a:r>
              <a:rPr lang="en-US" sz="1500">
                <a:solidFill>
                  <a:srgbClr val="3C465A"/>
                </a:solidFill>
                <a:latin typeface="Calibri (MS)"/>
                <a:ea typeface="Calibri (MS)"/>
                <a:cs typeface="Calibri (MS)"/>
                <a:sym typeface="Calibri (MS)"/>
              </a:rPr>
              <a:t>Arduino UNO Q heterogeneous AI consumes &lt;4% of power, reserving energy for rotor flight.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086136" y="5125840"/>
            <a:ext cx="411480" cy="411480"/>
            <a:chOff x="0" y="0"/>
            <a:chExt cx="548640" cy="5486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189006" y="5228710"/>
            <a:ext cx="205740" cy="205740"/>
            <a:chOff x="0" y="0"/>
            <a:chExt cx="274320" cy="274320"/>
          </a:xfrm>
        </p:grpSpPr>
        <p:sp>
          <p:nvSpPr>
            <p:cNvPr name="Freeform 51" id="51" descr="Operational Feasibility icon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634776" y="5125840"/>
            <a:ext cx="4114800" cy="411480"/>
            <a:chOff x="0" y="0"/>
            <a:chExt cx="548640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715" r="0" b="-144715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634776" y="5104409"/>
            <a:ext cx="4114800" cy="432911"/>
            <a:chOff x="0" y="0"/>
            <a:chExt cx="5486400" cy="57721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486400" cy="577215"/>
            </a:xfrm>
            <a:custGeom>
              <a:avLst/>
              <a:gdLst/>
              <a:ahLst/>
              <a:cxnLst/>
              <a:rect r="r" b="b" t="t" l="l"/>
              <a:pathLst>
                <a:path h="57721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5204" r="0" b="-135204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5486400" cy="605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20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OPERATIONAL FEASIBILITY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086136" y="5538082"/>
            <a:ext cx="4489598" cy="1497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215900" lvl="2">
              <a:lnSpc>
                <a:spcPts val="2070"/>
              </a:lnSpc>
              <a:buFont typeface="Arial"/>
              <a:buChar char="⚬"/>
            </a:pPr>
            <a:r>
              <a:rPr lang="en-US" b="true" sz="1500">
                <a:solidFill>
                  <a:srgbClr val="1E26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RAPID SETUP: </a:t>
            </a:r>
            <a:r>
              <a:rPr lang="en-US" sz="1500">
                <a:solidFill>
                  <a:srgbClr val="3C465A"/>
                </a:solidFill>
                <a:latin typeface="Calibri (MS)"/>
                <a:ea typeface="Calibri (MS)"/>
                <a:cs typeface="Calibri (MS)"/>
                <a:sym typeface="Calibri (MS)"/>
              </a:rPr>
              <a:t>&lt; 3 minutes from rugged backpack unboxing to active search flight.</a:t>
            </a:r>
          </a:p>
          <a:p>
            <a:pPr algn="l">
              <a:lnSpc>
                <a:spcPts val="2070"/>
              </a:lnSpc>
            </a:pPr>
          </a:p>
          <a:p>
            <a:pPr algn="l" marL="647700" indent="-215900" lvl="2">
              <a:lnSpc>
                <a:spcPts val="1800"/>
              </a:lnSpc>
              <a:buFont typeface="Arial"/>
              <a:buChar char="⚬"/>
            </a:pPr>
            <a:r>
              <a:rPr lang="en-US" b="true" sz="1500">
                <a:solidFill>
                  <a:srgbClr val="1E26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CONTINUOUS SORTIES: </a:t>
            </a:r>
            <a:r>
              <a:rPr lang="en-US" sz="1500">
                <a:solidFill>
                  <a:srgbClr val="3C465A"/>
                </a:solidFill>
                <a:latin typeface="Calibri (MS)"/>
                <a:ea typeface="Calibri (MS)"/>
                <a:cs typeface="Calibri (MS)"/>
                <a:sym typeface="Calibri (MS)"/>
              </a:rPr>
              <a:t>Dual-pack quick-swap batteries support rolling 100% duty-cycle rescue sweeps.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1028700" y="7091367"/>
            <a:ext cx="411480" cy="411480"/>
            <a:chOff x="0" y="0"/>
            <a:chExt cx="548640" cy="5486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131570" y="7194237"/>
            <a:ext cx="205740" cy="205740"/>
            <a:chOff x="0" y="0"/>
            <a:chExt cx="274320" cy="274320"/>
          </a:xfrm>
        </p:grpSpPr>
        <p:sp>
          <p:nvSpPr>
            <p:cNvPr name="Freeform 61" id="61" descr="Financial Feasibility icon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577340" y="7091367"/>
            <a:ext cx="4114800" cy="411480"/>
            <a:chOff x="0" y="0"/>
            <a:chExt cx="5486400" cy="5486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715" r="0" b="-144715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577340" y="7069936"/>
            <a:ext cx="4114800" cy="432911"/>
            <a:chOff x="0" y="0"/>
            <a:chExt cx="5486400" cy="57721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486400" cy="577215"/>
            </a:xfrm>
            <a:custGeom>
              <a:avLst/>
              <a:gdLst/>
              <a:ahLst/>
              <a:cxnLst/>
              <a:rect r="r" b="b" t="t" l="l"/>
              <a:pathLst>
                <a:path h="57721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5204" r="0" b="-135204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5486400" cy="605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20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FINANCIAL FEASIBILITY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1028700" y="7503609"/>
            <a:ext cx="4557561" cy="1754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215900" lvl="2">
              <a:lnSpc>
                <a:spcPts val="2070"/>
              </a:lnSpc>
              <a:buFont typeface="Arial"/>
              <a:buChar char="⚬"/>
            </a:pPr>
            <a:r>
              <a:rPr lang="en-US" b="true" sz="1500">
                <a:solidFill>
                  <a:srgbClr val="1E26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PROTOTYPE BUILD (₹37,400): </a:t>
            </a:r>
            <a:r>
              <a:rPr lang="en-US" sz="1500">
                <a:solidFill>
                  <a:srgbClr val="3C465A"/>
                </a:solidFill>
                <a:latin typeface="Calibri (MS)"/>
                <a:ea typeface="Calibri (MS)"/>
                <a:cs typeface="Calibri (MS)"/>
                <a:sym typeface="Calibri (MS)"/>
              </a:rPr>
              <a:t>Genuine Arduino UNO Q 4GB/32GB build for full hardware evaluation.</a:t>
            </a:r>
          </a:p>
          <a:p>
            <a:pPr algn="l">
              <a:lnSpc>
                <a:spcPts val="2070"/>
              </a:lnSpc>
            </a:pPr>
          </a:p>
          <a:p>
            <a:pPr algn="l" marL="647700" indent="-215900" lvl="2">
              <a:lnSpc>
                <a:spcPts val="1800"/>
              </a:lnSpc>
              <a:buFont typeface="Arial"/>
              <a:buChar char="⚬"/>
            </a:pPr>
            <a:r>
              <a:rPr lang="en-US" b="true" sz="1500">
                <a:solidFill>
                  <a:srgbClr val="1E26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PRODUCTION BOM (₹1.2 LAKH): </a:t>
            </a:r>
            <a:r>
              <a:rPr lang="en-US" sz="1500">
                <a:solidFill>
                  <a:srgbClr val="3C465A"/>
                </a:solidFill>
                <a:latin typeface="Calibri (MS)"/>
                <a:ea typeface="Calibri (MS)"/>
                <a:cs typeface="Calibri (MS)"/>
                <a:sym typeface="Calibri (MS)"/>
              </a:rPr>
              <a:t>Enterprise-grade SAR UAV at 1/10th the cost of imported commercial drones.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6227312" y="2194560"/>
            <a:ext cx="1794510" cy="411480"/>
            <a:chOff x="0" y="0"/>
            <a:chExt cx="2392680" cy="548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392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39268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2118360" y="0"/>
                  </a:lnTo>
                  <a:cubicBezTo>
                    <a:pt x="2269871" y="0"/>
                    <a:pt x="2392680" y="122809"/>
                    <a:pt x="2392680" y="274320"/>
                  </a:cubicBezTo>
                  <a:cubicBezTo>
                    <a:pt x="2392680" y="425831"/>
                    <a:pt x="2269871" y="548640"/>
                    <a:pt x="211836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08418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227312" y="2194560"/>
            <a:ext cx="1794462" cy="411480"/>
            <a:chOff x="0" y="0"/>
            <a:chExt cx="2392616" cy="5486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392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392680">
                  <a:moveTo>
                    <a:pt x="0" y="0"/>
                  </a:moveTo>
                  <a:lnTo>
                    <a:pt x="2392680" y="0"/>
                  </a:lnTo>
                  <a:lnTo>
                    <a:pt x="2392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14" r="2" b="-34916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6227312" y="2180272"/>
            <a:ext cx="1794462" cy="425768"/>
            <a:chOff x="0" y="0"/>
            <a:chExt cx="2392616" cy="56769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392616" cy="567690"/>
            </a:xfrm>
            <a:custGeom>
              <a:avLst/>
              <a:gdLst/>
              <a:ahLst/>
              <a:cxnLst/>
              <a:rect r="r" b="b" t="t" l="l"/>
              <a:pathLst>
                <a:path h="567690" w="2392616">
                  <a:moveTo>
                    <a:pt x="0" y="0"/>
                  </a:moveTo>
                  <a:lnTo>
                    <a:pt x="2392616" y="0"/>
                  </a:lnTo>
                  <a:lnTo>
                    <a:pt x="2392616" y="567690"/>
                  </a:lnTo>
                  <a:lnTo>
                    <a:pt x="0" y="567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122" r="0" b="-32122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2392616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223">
                  <a:solidFill>
                    <a:srgbClr val="1434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VIABILITY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6227312" y="2688336"/>
            <a:ext cx="411480" cy="411480"/>
            <a:chOff x="0" y="0"/>
            <a:chExt cx="548640" cy="5486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330182" y="2791206"/>
            <a:ext cx="205740" cy="205740"/>
            <a:chOff x="0" y="0"/>
            <a:chExt cx="274320" cy="274320"/>
          </a:xfrm>
        </p:grpSpPr>
        <p:sp>
          <p:nvSpPr>
            <p:cNvPr name="Freeform 78" id="78" descr="Economic Viability icon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6775952" y="2688336"/>
            <a:ext cx="4114800" cy="411480"/>
            <a:chOff x="0" y="0"/>
            <a:chExt cx="5486400" cy="5486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715" r="0" b="-144715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6775952" y="2666905"/>
            <a:ext cx="4114800" cy="432911"/>
            <a:chOff x="0" y="0"/>
            <a:chExt cx="5486400" cy="577215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486400" cy="577215"/>
            </a:xfrm>
            <a:custGeom>
              <a:avLst/>
              <a:gdLst/>
              <a:ahLst/>
              <a:cxnLst/>
              <a:rect r="r" b="b" t="t" l="l"/>
              <a:pathLst>
                <a:path h="57721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5204" r="0" b="-135204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28575"/>
              <a:ext cx="5486400" cy="605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20">
                  <a:solidFill>
                    <a:srgbClr val="FFB3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ECONOMIC VIABILITY</a:t>
              </a:r>
            </a:p>
          </p:txBody>
        </p:sp>
      </p:grpSp>
      <p:sp>
        <p:nvSpPr>
          <p:cNvPr name="Freeform 84" id="84"/>
          <p:cNvSpPr/>
          <p:nvPr/>
        </p:nvSpPr>
        <p:spPr>
          <a:xfrm flipH="false" flipV="false" rot="0">
            <a:off x="9238974" y="4314625"/>
            <a:ext cx="2188083" cy="748313"/>
          </a:xfrm>
          <a:custGeom>
            <a:avLst/>
            <a:gdLst/>
            <a:ahLst/>
            <a:cxnLst/>
            <a:rect r="r" b="b" t="t" l="l"/>
            <a:pathLst>
              <a:path h="748313" w="2188083">
                <a:moveTo>
                  <a:pt x="0" y="0"/>
                </a:moveTo>
                <a:lnTo>
                  <a:pt x="2188083" y="0"/>
                </a:lnTo>
                <a:lnTo>
                  <a:pt x="2188083" y="748313"/>
                </a:lnTo>
                <a:lnTo>
                  <a:pt x="0" y="74831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5" id="85"/>
          <p:cNvGrpSpPr/>
          <p:nvPr/>
        </p:nvGrpSpPr>
        <p:grpSpPr>
          <a:xfrm rot="0">
            <a:off x="6218787" y="4072957"/>
            <a:ext cx="4896612" cy="342233"/>
            <a:chOff x="0" y="0"/>
            <a:chExt cx="6528816" cy="456311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528816" cy="456311"/>
            </a:xfrm>
            <a:custGeom>
              <a:avLst/>
              <a:gdLst/>
              <a:ahLst/>
              <a:cxnLst/>
              <a:rect r="r" b="b" t="t" l="l"/>
              <a:pathLst>
                <a:path h="456311" w="6528816">
                  <a:moveTo>
                    <a:pt x="0" y="0"/>
                  </a:moveTo>
                  <a:lnTo>
                    <a:pt x="6528816" y="0"/>
                  </a:lnTo>
                  <a:lnTo>
                    <a:pt x="6528816" y="456311"/>
                  </a:lnTo>
                  <a:lnTo>
                    <a:pt x="0" y="4563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594" r="0" b="-228594"/>
              </a:stretch>
            </a:blip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218787" y="4044382"/>
            <a:ext cx="4896612" cy="370808"/>
            <a:chOff x="0" y="0"/>
            <a:chExt cx="6528816" cy="494411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6528815" cy="494413"/>
            </a:xfrm>
            <a:custGeom>
              <a:avLst/>
              <a:gdLst/>
              <a:ahLst/>
              <a:cxnLst/>
              <a:rect r="r" b="b" t="t" l="l"/>
              <a:pathLst>
                <a:path h="494413" w="6528815">
                  <a:moveTo>
                    <a:pt x="0" y="0"/>
                  </a:moveTo>
                  <a:lnTo>
                    <a:pt x="6528815" y="0"/>
                  </a:lnTo>
                  <a:lnTo>
                    <a:pt x="6528815" y="494413"/>
                  </a:lnTo>
                  <a:lnTo>
                    <a:pt x="0" y="49441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7303" r="0" b="-207303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6528816" cy="5325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Enterprise Drone Disruption costs: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6117622" y="4316435"/>
            <a:ext cx="2990983" cy="779059"/>
          </a:xfrm>
          <a:custGeom>
            <a:avLst/>
            <a:gdLst/>
            <a:ahLst/>
            <a:cxnLst/>
            <a:rect r="r" b="b" t="t" l="l"/>
            <a:pathLst>
              <a:path h="779059" w="2990983">
                <a:moveTo>
                  <a:pt x="0" y="0"/>
                </a:moveTo>
                <a:lnTo>
                  <a:pt x="2990983" y="0"/>
                </a:lnTo>
                <a:lnTo>
                  <a:pt x="2990983" y="779059"/>
                </a:lnTo>
                <a:lnTo>
                  <a:pt x="0" y="77905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1" id="91"/>
          <p:cNvGrpSpPr/>
          <p:nvPr/>
        </p:nvGrpSpPr>
        <p:grpSpPr>
          <a:xfrm rot="0">
            <a:off x="6195174" y="4596165"/>
            <a:ext cx="1841678" cy="392354"/>
            <a:chOff x="0" y="0"/>
            <a:chExt cx="2455570" cy="52313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455545" cy="523113"/>
            </a:xfrm>
            <a:custGeom>
              <a:avLst/>
              <a:gdLst/>
              <a:ahLst/>
              <a:cxnLst/>
              <a:rect r="r" b="b" t="t" l="l"/>
              <a:pathLst>
                <a:path h="523113" w="2455545">
                  <a:moveTo>
                    <a:pt x="0" y="0"/>
                  </a:moveTo>
                  <a:lnTo>
                    <a:pt x="2455545" y="0"/>
                  </a:lnTo>
                  <a:lnTo>
                    <a:pt x="2455545" y="523113"/>
                  </a:lnTo>
                  <a:lnTo>
                    <a:pt x="0" y="5231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398" r="-1" b="-41405"/>
              </a:stretch>
            </a:blip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6195174" y="4560789"/>
            <a:ext cx="1841678" cy="427730"/>
            <a:chOff x="0" y="0"/>
            <a:chExt cx="2455570" cy="570306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455565" cy="570311"/>
            </a:xfrm>
            <a:custGeom>
              <a:avLst/>
              <a:gdLst/>
              <a:ahLst/>
              <a:cxnLst/>
              <a:rect r="r" b="b" t="t" l="l"/>
              <a:pathLst>
                <a:path h="570311" w="2455565">
                  <a:moveTo>
                    <a:pt x="0" y="0"/>
                  </a:moveTo>
                  <a:lnTo>
                    <a:pt x="2455565" y="0"/>
                  </a:lnTo>
                  <a:lnTo>
                    <a:pt x="2455565" y="570311"/>
                  </a:lnTo>
                  <a:lnTo>
                    <a:pt x="0" y="5703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896" r="0" b="-33895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47625"/>
              <a:ext cx="2455570" cy="6179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64"/>
                </a:lnSpc>
              </a:pPr>
              <a:r>
                <a:rPr lang="en-US" sz="197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DJI Matrice 30T 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7888900" y="4562551"/>
            <a:ext cx="1121464" cy="428816"/>
            <a:chOff x="0" y="0"/>
            <a:chExt cx="1495285" cy="571754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495298" cy="571754"/>
            </a:xfrm>
            <a:custGeom>
              <a:avLst/>
              <a:gdLst/>
              <a:ahLst/>
              <a:cxnLst/>
              <a:rect r="r" b="b" t="t" l="l"/>
              <a:pathLst>
                <a:path h="571754" w="1495298">
                  <a:moveTo>
                    <a:pt x="0" y="0"/>
                  </a:moveTo>
                  <a:lnTo>
                    <a:pt x="1495298" y="0"/>
                  </a:lnTo>
                  <a:lnTo>
                    <a:pt x="1495298" y="571754"/>
                  </a:lnTo>
                  <a:lnTo>
                    <a:pt x="0" y="5717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4" r="0" b="-921"/>
              </a:stretch>
            </a:blip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7888900" y="4538424"/>
            <a:ext cx="1121464" cy="452942"/>
            <a:chOff x="0" y="0"/>
            <a:chExt cx="1495285" cy="603923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495291" cy="603924"/>
            </a:xfrm>
            <a:custGeom>
              <a:avLst/>
              <a:gdLst/>
              <a:ahLst/>
              <a:cxnLst/>
              <a:rect r="r" b="b" t="t" l="l"/>
              <a:pathLst>
                <a:path h="603924" w="1495291">
                  <a:moveTo>
                    <a:pt x="0" y="0"/>
                  </a:moveTo>
                  <a:lnTo>
                    <a:pt x="1495291" y="0"/>
                  </a:lnTo>
                  <a:lnTo>
                    <a:pt x="1495291" y="603924"/>
                  </a:lnTo>
                  <a:lnTo>
                    <a:pt x="0" y="6039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819" t="0" r="-1819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1495285" cy="642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79"/>
                </a:lnSpc>
              </a:pPr>
              <a:r>
                <a:rPr lang="en-US" sz="1899" b="true">
                  <a:solidFill>
                    <a:srgbClr val="B4231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₹10+ Lakhs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9367018" y="4562551"/>
            <a:ext cx="1191901" cy="455019"/>
            <a:chOff x="0" y="0"/>
            <a:chExt cx="1589202" cy="60669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589151" cy="606679"/>
            </a:xfrm>
            <a:custGeom>
              <a:avLst/>
              <a:gdLst/>
              <a:ahLst/>
              <a:cxnLst/>
              <a:rect r="r" b="b" t="t" l="l"/>
              <a:pathLst>
                <a:path h="606679" w="1589151">
                  <a:moveTo>
                    <a:pt x="0" y="0"/>
                  </a:moveTo>
                  <a:lnTo>
                    <a:pt x="1589151" y="0"/>
                  </a:lnTo>
                  <a:lnTo>
                    <a:pt x="1589151" y="606679"/>
                  </a:lnTo>
                  <a:lnTo>
                    <a:pt x="0" y="6066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4" r="-3" b="-1006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9367018" y="4542577"/>
            <a:ext cx="1191901" cy="474993"/>
            <a:chOff x="0" y="0"/>
            <a:chExt cx="1589202" cy="633324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589199" cy="633330"/>
            </a:xfrm>
            <a:custGeom>
              <a:avLst/>
              <a:gdLst/>
              <a:ahLst/>
              <a:cxnLst/>
              <a:rect r="r" b="b" t="t" l="l"/>
              <a:pathLst>
                <a:path h="633330" w="1589199">
                  <a:moveTo>
                    <a:pt x="0" y="0"/>
                  </a:moveTo>
                  <a:lnTo>
                    <a:pt x="1589199" y="0"/>
                  </a:lnTo>
                  <a:lnTo>
                    <a:pt x="1589199" y="633330"/>
                  </a:lnTo>
                  <a:lnTo>
                    <a:pt x="0" y="6333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31" t="0" r="-1131" b="0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47625"/>
              <a:ext cx="1589202" cy="680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9"/>
                </a:lnSpc>
              </a:pPr>
              <a:r>
                <a:rPr lang="en-US" sz="2274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Phoenix 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0034968" y="4548454"/>
            <a:ext cx="1325032" cy="483222"/>
            <a:chOff x="0" y="0"/>
            <a:chExt cx="1766710" cy="644296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766697" cy="644271"/>
            </a:xfrm>
            <a:custGeom>
              <a:avLst/>
              <a:gdLst/>
              <a:ahLst/>
              <a:cxnLst/>
              <a:rect r="r" b="b" t="t" l="l"/>
              <a:pathLst>
                <a:path h="644271" w="1766697">
                  <a:moveTo>
                    <a:pt x="0" y="0"/>
                  </a:moveTo>
                  <a:lnTo>
                    <a:pt x="1766697" y="0"/>
                  </a:lnTo>
                  <a:lnTo>
                    <a:pt x="1766697" y="644271"/>
                  </a:lnTo>
                  <a:lnTo>
                    <a:pt x="0" y="6442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2" r="0" b="-3396"/>
              </a:stretch>
            </a:blip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10034968" y="4519879"/>
            <a:ext cx="1325032" cy="511797"/>
            <a:chOff x="0" y="0"/>
            <a:chExt cx="1766710" cy="682396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766707" cy="682392"/>
            </a:xfrm>
            <a:custGeom>
              <a:avLst/>
              <a:gdLst/>
              <a:ahLst/>
              <a:cxnLst/>
              <a:rect r="r" b="b" t="t" l="l"/>
              <a:pathLst>
                <a:path h="682392" w="1766707">
                  <a:moveTo>
                    <a:pt x="0" y="0"/>
                  </a:moveTo>
                  <a:lnTo>
                    <a:pt x="1766707" y="0"/>
                  </a:lnTo>
                  <a:lnTo>
                    <a:pt x="1766707" y="682392"/>
                  </a:lnTo>
                  <a:lnTo>
                    <a:pt x="0" y="6823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6" r="0" b="-446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1766710" cy="7204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79"/>
                </a:lnSpc>
              </a:pPr>
              <a:r>
                <a:rPr lang="en-US" sz="1899" b="true">
                  <a:solidFill>
                    <a:srgbClr val="0A7A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₹1.2 Lakh</a:t>
              </a:r>
            </a:p>
          </p:txBody>
        </p:sp>
      </p:grpSp>
      <p:sp>
        <p:nvSpPr>
          <p:cNvPr name="Freeform 111" id="111"/>
          <p:cNvSpPr/>
          <p:nvPr/>
        </p:nvSpPr>
        <p:spPr>
          <a:xfrm flipH="false" flipV="false" rot="0">
            <a:off x="6117622" y="3095082"/>
            <a:ext cx="5309435" cy="793918"/>
          </a:xfrm>
          <a:custGeom>
            <a:avLst/>
            <a:gdLst/>
            <a:ahLst/>
            <a:cxnLst/>
            <a:rect r="r" b="b" t="t" l="l"/>
            <a:pathLst>
              <a:path h="793918" w="5309435">
                <a:moveTo>
                  <a:pt x="0" y="0"/>
                </a:moveTo>
                <a:lnTo>
                  <a:pt x="5309435" y="0"/>
                </a:lnTo>
                <a:lnTo>
                  <a:pt x="5309435" y="793918"/>
                </a:lnTo>
                <a:lnTo>
                  <a:pt x="0" y="793918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2" id="112"/>
          <p:cNvGrpSpPr/>
          <p:nvPr/>
        </p:nvGrpSpPr>
        <p:grpSpPr>
          <a:xfrm rot="0">
            <a:off x="6268831" y="3172149"/>
            <a:ext cx="5045716" cy="828465"/>
            <a:chOff x="0" y="0"/>
            <a:chExt cx="6727622" cy="1104621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727571" cy="1104646"/>
            </a:xfrm>
            <a:custGeom>
              <a:avLst/>
              <a:gdLst/>
              <a:ahLst/>
              <a:cxnLst/>
              <a:rect r="r" b="b" t="t" l="l"/>
              <a:pathLst>
                <a:path h="1104646" w="6727571">
                  <a:moveTo>
                    <a:pt x="0" y="0"/>
                  </a:moveTo>
                  <a:lnTo>
                    <a:pt x="6727571" y="0"/>
                  </a:lnTo>
                  <a:lnTo>
                    <a:pt x="6727571" y="1104646"/>
                  </a:lnTo>
                  <a:lnTo>
                    <a:pt x="0" y="11046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588" r="0" b="-68585"/>
              </a:stretch>
            </a:blip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6268831" y="3116237"/>
            <a:ext cx="5045716" cy="884377"/>
            <a:chOff x="0" y="0"/>
            <a:chExt cx="6727622" cy="117917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727618" cy="1179174"/>
            </a:xfrm>
            <a:custGeom>
              <a:avLst/>
              <a:gdLst/>
              <a:ahLst/>
              <a:cxnLst/>
              <a:rect r="r" b="b" t="t" l="l"/>
              <a:pathLst>
                <a:path h="1179174" w="6727618">
                  <a:moveTo>
                    <a:pt x="0" y="0"/>
                  </a:moveTo>
                  <a:lnTo>
                    <a:pt x="6727618" y="0"/>
                  </a:lnTo>
                  <a:lnTo>
                    <a:pt x="6727618" y="1179174"/>
                  </a:lnTo>
                  <a:lnTo>
                    <a:pt x="0" y="11791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1169" r="0" b="-61169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57150"/>
              <a:ext cx="6727622" cy="1236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 b="true">
                  <a:solidFill>
                    <a:srgbClr val="1434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Prototype cost:</a:t>
              </a:r>
              <a:r>
                <a:rPr lang="en-US" sz="285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  <a:r>
                <a:rPr lang="en-US" sz="28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&lt;40,000₹</a:t>
              </a:r>
            </a:p>
          </p:txBody>
        </p:sp>
      </p:grpSp>
      <p:sp>
        <p:nvSpPr>
          <p:cNvPr name="TextBox 117" id="117"/>
          <p:cNvSpPr txBox="true"/>
          <p:nvPr/>
        </p:nvSpPr>
        <p:spPr>
          <a:xfrm rot="0">
            <a:off x="6237446" y="5357431"/>
            <a:ext cx="4896612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0279" indent="-110093" lvl="2">
              <a:lnSpc>
                <a:spcPts val="1980"/>
              </a:lnSpc>
              <a:buFont typeface="Arial"/>
              <a:buChar char="⚬"/>
            </a:pPr>
            <a:r>
              <a:rPr lang="en-US" b="true" sz="15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FLEET SCALABILITY: </a:t>
            </a:r>
            <a:r>
              <a:rPr lang="en-US" sz="1500">
                <a:solidFill>
                  <a:srgbClr val="E4ECF7"/>
                </a:solidFill>
                <a:latin typeface="Calibri (MS)"/>
                <a:ea typeface="Calibri (MS)"/>
                <a:cs typeface="Calibri (MS)"/>
                <a:sym typeface="Calibri (MS)"/>
              </a:rPr>
              <a:t>NDRF battalions can deploy a 10-drone swarm for the acquisition cost of 1 imported drone.</a:t>
            </a:r>
          </a:p>
        </p:txBody>
      </p:sp>
      <p:grpSp>
        <p:nvGrpSpPr>
          <p:cNvPr name="Group 118" id="118"/>
          <p:cNvGrpSpPr/>
          <p:nvPr/>
        </p:nvGrpSpPr>
        <p:grpSpPr>
          <a:xfrm rot="0">
            <a:off x="6237446" y="6290882"/>
            <a:ext cx="411480" cy="411480"/>
            <a:chOff x="0" y="0"/>
            <a:chExt cx="548640" cy="54864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6340316" y="6393752"/>
            <a:ext cx="205740" cy="205740"/>
            <a:chOff x="0" y="0"/>
            <a:chExt cx="274320" cy="274320"/>
          </a:xfrm>
        </p:grpSpPr>
        <p:sp>
          <p:nvSpPr>
            <p:cNvPr name="Freeform 121" id="121" descr="National Data Sovereignty icon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6786086" y="6290882"/>
            <a:ext cx="4114800" cy="411480"/>
            <a:chOff x="0" y="0"/>
            <a:chExt cx="5486400" cy="54864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715" r="0" b="-144715"/>
              </a:stretch>
            </a:blip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6786086" y="6269450"/>
            <a:ext cx="4114800" cy="432911"/>
            <a:chOff x="0" y="0"/>
            <a:chExt cx="5486400" cy="577215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5486400" cy="577215"/>
            </a:xfrm>
            <a:custGeom>
              <a:avLst/>
              <a:gdLst/>
              <a:ahLst/>
              <a:cxnLst/>
              <a:rect r="r" b="b" t="t" l="l"/>
              <a:pathLst>
                <a:path h="57721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5204" r="0" b="-135204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28575"/>
              <a:ext cx="5486400" cy="605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FFB3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AIR-GAPPED TACTICAL RESILIENCE</a:t>
              </a:r>
            </a:p>
          </p:txBody>
        </p:sp>
      </p:grpSp>
      <p:sp>
        <p:nvSpPr>
          <p:cNvPr name="TextBox 127" id="127"/>
          <p:cNvSpPr txBox="true"/>
          <p:nvPr/>
        </p:nvSpPr>
        <p:spPr>
          <a:xfrm rot="0">
            <a:off x="6237446" y="6708457"/>
            <a:ext cx="4896612" cy="767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0279" indent="-110093" lvl="2">
              <a:lnSpc>
                <a:spcPts val="1980"/>
              </a:lnSpc>
              <a:buFont typeface="Arial"/>
              <a:buChar char="⚬"/>
            </a:pPr>
            <a:r>
              <a:rPr lang="en-US" b="true" sz="15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100% OFFLINE DATA PRIVACY: </a:t>
            </a:r>
            <a:r>
              <a:rPr lang="en-US" sz="1500">
                <a:solidFill>
                  <a:srgbClr val="E4ECF7"/>
                </a:solidFill>
                <a:latin typeface="Calibri (MS)"/>
                <a:ea typeface="Calibri (MS)"/>
                <a:cs typeface="Calibri (MS)"/>
                <a:sym typeface="Calibri (MS)"/>
              </a:rPr>
              <a:t>Zero cloud dependencies; all sensor feeds and victim GPS fixes remain strictly local with first responders.</a:t>
            </a:r>
          </a:p>
        </p:txBody>
      </p:sp>
      <p:grpSp>
        <p:nvGrpSpPr>
          <p:cNvPr name="Group 128" id="128"/>
          <p:cNvGrpSpPr/>
          <p:nvPr/>
        </p:nvGrpSpPr>
        <p:grpSpPr>
          <a:xfrm rot="0">
            <a:off x="6237446" y="7662482"/>
            <a:ext cx="411480" cy="411480"/>
            <a:chOff x="0" y="0"/>
            <a:chExt cx="548640" cy="54864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6340316" y="7765351"/>
            <a:ext cx="205740" cy="205740"/>
            <a:chOff x="0" y="0"/>
            <a:chExt cx="274320" cy="274320"/>
          </a:xfrm>
        </p:grpSpPr>
        <p:sp>
          <p:nvSpPr>
            <p:cNvPr name="Freeform 131" id="131" descr="Deployment Ecosystem icon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0" r="0" b="0"/>
              </a:stretch>
            </a:blip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6786086" y="7662482"/>
            <a:ext cx="4114800" cy="411480"/>
            <a:chOff x="0" y="0"/>
            <a:chExt cx="5486400" cy="548640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715" r="0" b="-144715"/>
              </a:stretch>
            </a:blip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6786086" y="7641050"/>
            <a:ext cx="4114800" cy="432911"/>
            <a:chOff x="0" y="0"/>
            <a:chExt cx="5486400" cy="577215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5486400" cy="577215"/>
            </a:xfrm>
            <a:custGeom>
              <a:avLst/>
              <a:gdLst/>
              <a:ahLst/>
              <a:cxnLst/>
              <a:rect r="r" b="b" t="t" l="l"/>
              <a:pathLst>
                <a:path h="57721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5204" r="0" b="-135204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28575"/>
              <a:ext cx="5486400" cy="605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20">
                  <a:solidFill>
                    <a:srgbClr val="FFB3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DEPLOYMENT ECOSYSTEM</a:t>
              </a:r>
            </a:p>
          </p:txBody>
        </p:sp>
      </p:grpSp>
      <p:sp>
        <p:nvSpPr>
          <p:cNvPr name="TextBox 137" id="137"/>
          <p:cNvSpPr txBox="true"/>
          <p:nvPr/>
        </p:nvSpPr>
        <p:spPr>
          <a:xfrm rot="0">
            <a:off x="6237446" y="8080057"/>
            <a:ext cx="4896612" cy="926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0279" indent="-110093" lvl="2">
              <a:lnSpc>
                <a:spcPts val="1980"/>
              </a:lnSpc>
              <a:buFont typeface="Arial"/>
              <a:buChar char="⚬"/>
            </a:pPr>
            <a:r>
              <a:rPr lang="en-US" b="true" sz="15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FIELD-READY INTEGRATION: </a:t>
            </a:r>
            <a:r>
              <a:rPr lang="en-US" sz="1500">
                <a:solidFill>
                  <a:srgbClr val="E4ECF7"/>
                </a:solidFill>
                <a:latin typeface="Calibri (MS)"/>
                <a:ea typeface="Calibri (MS)"/>
                <a:cs typeface="Calibri (MS)"/>
                <a:sym typeface="Calibri (MS)"/>
              </a:rPr>
              <a:t>Native protocol compatibility with NDRF, SDRF, and civil disaster response command units.</a:t>
            </a:r>
          </a:p>
        </p:txBody>
      </p:sp>
      <p:grpSp>
        <p:nvGrpSpPr>
          <p:cNvPr name="Group 138" id="138"/>
          <p:cNvGrpSpPr/>
          <p:nvPr/>
        </p:nvGrpSpPr>
        <p:grpSpPr>
          <a:xfrm rot="0">
            <a:off x="12056364" y="2194560"/>
            <a:ext cx="3689699" cy="411480"/>
            <a:chOff x="0" y="0"/>
            <a:chExt cx="4919599" cy="548640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4919599" cy="548640"/>
            </a:xfrm>
            <a:custGeom>
              <a:avLst/>
              <a:gdLst/>
              <a:ahLst/>
              <a:cxnLst/>
              <a:rect r="r" b="b" t="t" l="l"/>
              <a:pathLst>
                <a:path h="548640" w="4919599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4645279" y="0"/>
                  </a:lnTo>
                  <a:cubicBezTo>
                    <a:pt x="4796790" y="0"/>
                    <a:pt x="4919599" y="122809"/>
                    <a:pt x="4919599" y="274320"/>
                  </a:cubicBezTo>
                  <a:cubicBezTo>
                    <a:pt x="4919599" y="425831"/>
                    <a:pt x="4796790" y="548640"/>
                    <a:pt x="4645279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E1EEF9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12056364" y="2194560"/>
            <a:ext cx="3689737" cy="411480"/>
            <a:chOff x="0" y="0"/>
            <a:chExt cx="4919650" cy="54864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4919599" cy="548640"/>
            </a:xfrm>
            <a:custGeom>
              <a:avLst/>
              <a:gdLst/>
              <a:ahLst/>
              <a:cxnLst/>
              <a:rect r="r" b="b" t="t" l="l"/>
              <a:pathLst>
                <a:path h="548640" w="4919599">
                  <a:moveTo>
                    <a:pt x="0" y="0"/>
                  </a:moveTo>
                  <a:lnTo>
                    <a:pt x="4919599" y="0"/>
                  </a:lnTo>
                  <a:lnTo>
                    <a:pt x="491959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4601" r="-1" b="-124599"/>
              </a:stretch>
            </a:blip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12056364" y="2180272"/>
            <a:ext cx="3689737" cy="425768"/>
            <a:chOff x="0" y="0"/>
            <a:chExt cx="4919650" cy="56769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4919649" cy="567690"/>
            </a:xfrm>
            <a:custGeom>
              <a:avLst/>
              <a:gdLst/>
              <a:ahLst/>
              <a:cxnLst/>
              <a:rect r="r" b="b" t="t" l="l"/>
              <a:pathLst>
                <a:path h="567690" w="4919649">
                  <a:moveTo>
                    <a:pt x="0" y="0"/>
                  </a:moveTo>
                  <a:lnTo>
                    <a:pt x="4919649" y="0"/>
                  </a:lnTo>
                  <a:lnTo>
                    <a:pt x="4919649" y="567690"/>
                  </a:lnTo>
                  <a:lnTo>
                    <a:pt x="0" y="567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8858" r="0" b="-118858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19050"/>
              <a:ext cx="491965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223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CHALLENGES → STRATEGIES</a:t>
              </a: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12056364" y="2962656"/>
            <a:ext cx="438912" cy="438912"/>
            <a:chOff x="0" y="0"/>
            <a:chExt cx="585216" cy="585216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12056364" y="2962656"/>
            <a:ext cx="438912" cy="438912"/>
            <a:chOff x="0" y="0"/>
            <a:chExt cx="585216" cy="58521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1" t="0" r="-78394" b="0"/>
              </a:stretch>
            </a:blip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12056364" y="2934081"/>
            <a:ext cx="438912" cy="467487"/>
            <a:chOff x="0" y="0"/>
            <a:chExt cx="585216" cy="623316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585216" cy="623316"/>
            </a:xfrm>
            <a:custGeom>
              <a:avLst/>
              <a:gdLst/>
              <a:ahLst/>
              <a:cxnLst/>
              <a:rect r="r" b="b" t="t" l="l"/>
              <a:pathLst>
                <a:path h="6233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623316"/>
                  </a:lnTo>
                  <a:lnTo>
                    <a:pt x="0" y="6233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6656" t="0" r="-86656" b="0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38100"/>
              <a:ext cx="585216" cy="6614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12687300" y="2948940"/>
            <a:ext cx="4471416" cy="466344"/>
            <a:chOff x="0" y="0"/>
            <a:chExt cx="5961888" cy="621792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5961888" cy="621792"/>
            </a:xfrm>
            <a:custGeom>
              <a:avLst/>
              <a:gdLst/>
              <a:ahLst/>
              <a:cxnLst/>
              <a:rect r="r" b="b" t="t" l="l"/>
              <a:pathLst>
                <a:path h="621792" w="5961888">
                  <a:moveTo>
                    <a:pt x="0" y="0"/>
                  </a:moveTo>
                  <a:lnTo>
                    <a:pt x="5961888" y="0"/>
                  </a:lnTo>
                  <a:lnTo>
                    <a:pt x="5961888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697" r="0" b="-136697"/>
              </a:stretch>
            </a:blip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12687300" y="2920365"/>
            <a:ext cx="4471416" cy="494919"/>
            <a:chOff x="0" y="0"/>
            <a:chExt cx="5961888" cy="659892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5961888" cy="659892"/>
            </a:xfrm>
            <a:custGeom>
              <a:avLst/>
              <a:gdLst/>
              <a:ahLst/>
              <a:cxnLst/>
              <a:rect r="r" b="b" t="t" l="l"/>
              <a:pathLst>
                <a:path h="659892" w="5961888">
                  <a:moveTo>
                    <a:pt x="0" y="0"/>
                  </a:moveTo>
                  <a:lnTo>
                    <a:pt x="5961888" y="0"/>
                  </a:lnTo>
                  <a:lnTo>
                    <a:pt x="5961888" y="659892"/>
                  </a:lnTo>
                  <a:lnTo>
                    <a:pt x="0" y="6598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6040" r="0" b="-126040"/>
              </a:stretch>
            </a:blipFill>
          </p:spPr>
        </p:sp>
        <p:sp>
          <p:nvSpPr>
            <p:cNvPr name="TextBox 156" id="156"/>
            <p:cNvSpPr txBox="true"/>
            <p:nvPr/>
          </p:nvSpPr>
          <p:spPr>
            <a:xfrm>
              <a:off x="0" y="-38100"/>
              <a:ext cx="5961888" cy="697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Comms Blackout in Canyons</a:t>
              </a:r>
            </a:p>
          </p:txBody>
        </p:sp>
      </p:grpSp>
      <p:sp>
        <p:nvSpPr>
          <p:cNvPr name="TextBox 157" id="157"/>
          <p:cNvSpPr txBox="true"/>
          <p:nvPr/>
        </p:nvSpPr>
        <p:spPr>
          <a:xfrm rot="0">
            <a:off x="12687300" y="3356991"/>
            <a:ext cx="4471416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400" b="true">
                <a:solidFill>
                  <a:srgbClr val="1E26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868 MHZ LORA BRIDGE: </a:t>
            </a:r>
            <a:r>
              <a:rPr lang="en-US" sz="1400">
                <a:solidFill>
                  <a:srgbClr val="3C465A"/>
                </a:solidFill>
                <a:latin typeface="Calibri (MS)"/>
                <a:ea typeface="Calibri (MS)"/>
                <a:cs typeface="Calibri (MS)"/>
                <a:sym typeface="Calibri (MS)"/>
              </a:rPr>
              <a:t>Sustains NLoS micro-telemetry packet link [2] without cellular towers (DOI: 10.1109/ACCESS.2026.3731317).</a:t>
            </a:r>
          </a:p>
        </p:txBody>
      </p:sp>
      <p:grpSp>
        <p:nvGrpSpPr>
          <p:cNvPr name="Group 158" id="158"/>
          <p:cNvGrpSpPr/>
          <p:nvPr/>
        </p:nvGrpSpPr>
        <p:grpSpPr>
          <a:xfrm rot="0">
            <a:off x="12056364" y="4238244"/>
            <a:ext cx="438912" cy="438912"/>
            <a:chOff x="0" y="0"/>
            <a:chExt cx="585216" cy="58521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2056364" y="4238244"/>
            <a:ext cx="438912" cy="438912"/>
            <a:chOff x="0" y="0"/>
            <a:chExt cx="585216" cy="585216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1" t="0" r="-78394" b="0"/>
              </a:stretch>
            </a:blip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2056364" y="4209669"/>
            <a:ext cx="438912" cy="467487"/>
            <a:chOff x="0" y="0"/>
            <a:chExt cx="585216" cy="623316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585216" cy="623316"/>
            </a:xfrm>
            <a:custGeom>
              <a:avLst/>
              <a:gdLst/>
              <a:ahLst/>
              <a:cxnLst/>
              <a:rect r="r" b="b" t="t" l="l"/>
              <a:pathLst>
                <a:path h="6233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623316"/>
                  </a:lnTo>
                  <a:lnTo>
                    <a:pt x="0" y="6233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6656" t="0" r="-86656" b="0"/>
              </a:stretch>
            </a:blipFill>
          </p:spPr>
        </p:sp>
        <p:sp>
          <p:nvSpPr>
            <p:cNvPr name="TextBox 164" id="164"/>
            <p:cNvSpPr txBox="true"/>
            <p:nvPr/>
          </p:nvSpPr>
          <p:spPr>
            <a:xfrm>
              <a:off x="0" y="-38100"/>
              <a:ext cx="585216" cy="6614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165" id="165"/>
          <p:cNvGrpSpPr/>
          <p:nvPr/>
        </p:nvGrpSpPr>
        <p:grpSpPr>
          <a:xfrm rot="0">
            <a:off x="12687300" y="4224528"/>
            <a:ext cx="4471416" cy="466344"/>
            <a:chOff x="0" y="0"/>
            <a:chExt cx="5961888" cy="621792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5961888" cy="621792"/>
            </a:xfrm>
            <a:custGeom>
              <a:avLst/>
              <a:gdLst/>
              <a:ahLst/>
              <a:cxnLst/>
              <a:rect r="r" b="b" t="t" l="l"/>
              <a:pathLst>
                <a:path h="621792" w="5961888">
                  <a:moveTo>
                    <a:pt x="0" y="0"/>
                  </a:moveTo>
                  <a:lnTo>
                    <a:pt x="5961888" y="0"/>
                  </a:lnTo>
                  <a:lnTo>
                    <a:pt x="5961888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697" r="0" b="-136697"/>
              </a:stretch>
            </a:blip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12687300" y="4195953"/>
            <a:ext cx="4471416" cy="494919"/>
            <a:chOff x="0" y="0"/>
            <a:chExt cx="5961888" cy="659892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5961888" cy="659892"/>
            </a:xfrm>
            <a:custGeom>
              <a:avLst/>
              <a:gdLst/>
              <a:ahLst/>
              <a:cxnLst/>
              <a:rect r="r" b="b" t="t" l="l"/>
              <a:pathLst>
                <a:path h="659892" w="5961888">
                  <a:moveTo>
                    <a:pt x="0" y="0"/>
                  </a:moveTo>
                  <a:lnTo>
                    <a:pt x="5961888" y="0"/>
                  </a:lnTo>
                  <a:lnTo>
                    <a:pt x="5961888" y="659892"/>
                  </a:lnTo>
                  <a:lnTo>
                    <a:pt x="0" y="6598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6040" r="0" b="-126040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38100"/>
              <a:ext cx="5961888" cy="697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Smoke, Mud Slush &amp; Darkness</a:t>
              </a:r>
            </a:p>
          </p:txBody>
        </p:sp>
      </p:grpSp>
      <p:sp>
        <p:nvSpPr>
          <p:cNvPr name="TextBox 170" id="170"/>
          <p:cNvSpPr txBox="true"/>
          <p:nvPr/>
        </p:nvSpPr>
        <p:spPr>
          <a:xfrm rot="0">
            <a:off x="12687300" y="4632579"/>
            <a:ext cx="4471416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400" b="true">
                <a:solidFill>
                  <a:srgbClr val="1E26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LWIR THERMAL DETECTION: </a:t>
            </a:r>
            <a:r>
              <a:rPr lang="en-US" sz="1400">
                <a:solidFill>
                  <a:srgbClr val="3C465A"/>
                </a:solidFill>
                <a:latin typeface="Calibri (MS)"/>
                <a:ea typeface="Calibri (MS)"/>
                <a:cs typeface="Calibri (MS)"/>
                <a:sym typeface="Calibri (MS)"/>
              </a:rPr>
              <a:t>8–14μm radiometric array isolates 37°C casualties through smoke, dust, and debris [1] (Siotia, IEEE Access 2026).</a:t>
            </a:r>
          </a:p>
        </p:txBody>
      </p:sp>
      <p:grpSp>
        <p:nvGrpSpPr>
          <p:cNvPr name="Group 171" id="171"/>
          <p:cNvGrpSpPr/>
          <p:nvPr/>
        </p:nvGrpSpPr>
        <p:grpSpPr>
          <a:xfrm rot="0">
            <a:off x="12056364" y="5513832"/>
            <a:ext cx="438912" cy="438912"/>
            <a:chOff x="0" y="0"/>
            <a:chExt cx="585216" cy="585216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12056364" y="5513832"/>
            <a:ext cx="438912" cy="438912"/>
            <a:chOff x="0" y="0"/>
            <a:chExt cx="585216" cy="585216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1" t="0" r="-78394" b="0"/>
              </a:stretch>
            </a:blipFill>
          </p:spPr>
        </p:sp>
      </p:grpSp>
      <p:grpSp>
        <p:nvGrpSpPr>
          <p:cNvPr name="Group 175" id="175"/>
          <p:cNvGrpSpPr/>
          <p:nvPr/>
        </p:nvGrpSpPr>
        <p:grpSpPr>
          <a:xfrm rot="0">
            <a:off x="12056364" y="5485257"/>
            <a:ext cx="438912" cy="467487"/>
            <a:chOff x="0" y="0"/>
            <a:chExt cx="585216" cy="623316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585216" cy="623316"/>
            </a:xfrm>
            <a:custGeom>
              <a:avLst/>
              <a:gdLst/>
              <a:ahLst/>
              <a:cxnLst/>
              <a:rect r="r" b="b" t="t" l="l"/>
              <a:pathLst>
                <a:path h="6233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623316"/>
                  </a:lnTo>
                  <a:lnTo>
                    <a:pt x="0" y="6233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6656" t="0" r="-86656" b="0"/>
              </a:stretch>
            </a:blipFill>
          </p:spPr>
        </p:sp>
        <p:sp>
          <p:nvSpPr>
            <p:cNvPr name="TextBox 177" id="177"/>
            <p:cNvSpPr txBox="true"/>
            <p:nvPr/>
          </p:nvSpPr>
          <p:spPr>
            <a:xfrm>
              <a:off x="0" y="-38100"/>
              <a:ext cx="585216" cy="6614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178" id="178"/>
          <p:cNvGrpSpPr/>
          <p:nvPr/>
        </p:nvGrpSpPr>
        <p:grpSpPr>
          <a:xfrm rot="0">
            <a:off x="12687300" y="5500116"/>
            <a:ext cx="4471416" cy="466344"/>
            <a:chOff x="0" y="0"/>
            <a:chExt cx="5961888" cy="621792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5961888" cy="621792"/>
            </a:xfrm>
            <a:custGeom>
              <a:avLst/>
              <a:gdLst/>
              <a:ahLst/>
              <a:cxnLst/>
              <a:rect r="r" b="b" t="t" l="l"/>
              <a:pathLst>
                <a:path h="621792" w="5961888">
                  <a:moveTo>
                    <a:pt x="0" y="0"/>
                  </a:moveTo>
                  <a:lnTo>
                    <a:pt x="5961888" y="0"/>
                  </a:lnTo>
                  <a:lnTo>
                    <a:pt x="5961888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697" r="0" b="-136697"/>
              </a:stretch>
            </a:blip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12687300" y="5471541"/>
            <a:ext cx="4471416" cy="494919"/>
            <a:chOff x="0" y="0"/>
            <a:chExt cx="5961888" cy="659892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961888" cy="659892"/>
            </a:xfrm>
            <a:custGeom>
              <a:avLst/>
              <a:gdLst/>
              <a:ahLst/>
              <a:cxnLst/>
              <a:rect r="r" b="b" t="t" l="l"/>
              <a:pathLst>
                <a:path h="659892" w="5961888">
                  <a:moveTo>
                    <a:pt x="0" y="0"/>
                  </a:moveTo>
                  <a:lnTo>
                    <a:pt x="5961888" y="0"/>
                  </a:lnTo>
                  <a:lnTo>
                    <a:pt x="5961888" y="659892"/>
                  </a:lnTo>
                  <a:lnTo>
                    <a:pt x="0" y="6598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6040" r="0" b="-126040"/>
              </a:stretch>
            </a:blipFill>
          </p:spPr>
        </p:sp>
        <p:sp>
          <p:nvSpPr>
            <p:cNvPr name="TextBox 182" id="182"/>
            <p:cNvSpPr txBox="true"/>
            <p:nvPr/>
          </p:nvSpPr>
          <p:spPr>
            <a:xfrm>
              <a:off x="0" y="-38100"/>
              <a:ext cx="5961888" cy="697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Rubble Steel Magnetometer Distortion</a:t>
              </a:r>
            </a:p>
          </p:txBody>
        </p:sp>
      </p:grpSp>
      <p:sp>
        <p:nvSpPr>
          <p:cNvPr name="TextBox 183" id="183"/>
          <p:cNvSpPr txBox="true"/>
          <p:nvPr/>
        </p:nvSpPr>
        <p:spPr>
          <a:xfrm rot="0">
            <a:off x="12687300" y="5908167"/>
            <a:ext cx="4471416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400" b="true">
                <a:solidFill>
                  <a:srgbClr val="1E26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ANTI-DRIFT VIO NAVIGATION: </a:t>
            </a:r>
            <a:r>
              <a:rPr lang="en-US" sz="1400">
                <a:solidFill>
                  <a:srgbClr val="3C465A"/>
                </a:solidFill>
                <a:latin typeface="Calibri (MS)"/>
                <a:ea typeface="Calibri (MS)"/>
                <a:cs typeface="Calibri (MS)"/>
                <a:sym typeface="Calibri (MS)"/>
              </a:rPr>
              <a:t>Visual-Inertial Odometry overrides compromised magnetometers in collapsed steel rubble (IEEE standard).</a:t>
            </a:r>
          </a:p>
        </p:txBody>
      </p:sp>
      <p:grpSp>
        <p:nvGrpSpPr>
          <p:cNvPr name="Group 184" id="184"/>
          <p:cNvGrpSpPr/>
          <p:nvPr/>
        </p:nvGrpSpPr>
        <p:grpSpPr>
          <a:xfrm rot="0">
            <a:off x="12056364" y="6789420"/>
            <a:ext cx="438912" cy="438912"/>
            <a:chOff x="0" y="0"/>
            <a:chExt cx="585216" cy="585216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186" id="186"/>
          <p:cNvGrpSpPr/>
          <p:nvPr/>
        </p:nvGrpSpPr>
        <p:grpSpPr>
          <a:xfrm rot="0">
            <a:off x="12056364" y="6789420"/>
            <a:ext cx="438912" cy="438912"/>
            <a:chOff x="0" y="0"/>
            <a:chExt cx="585216" cy="585216"/>
          </a:xfrm>
        </p:grpSpPr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1" t="0" r="-78394" b="0"/>
              </a:stretch>
            </a:blipFill>
          </p:spPr>
        </p:sp>
      </p:grpSp>
      <p:grpSp>
        <p:nvGrpSpPr>
          <p:cNvPr name="Group 188" id="188"/>
          <p:cNvGrpSpPr/>
          <p:nvPr/>
        </p:nvGrpSpPr>
        <p:grpSpPr>
          <a:xfrm rot="0">
            <a:off x="12056364" y="6760845"/>
            <a:ext cx="438912" cy="467487"/>
            <a:chOff x="0" y="0"/>
            <a:chExt cx="585216" cy="62331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585216" cy="623316"/>
            </a:xfrm>
            <a:custGeom>
              <a:avLst/>
              <a:gdLst/>
              <a:ahLst/>
              <a:cxnLst/>
              <a:rect r="r" b="b" t="t" l="l"/>
              <a:pathLst>
                <a:path h="6233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623316"/>
                  </a:lnTo>
                  <a:lnTo>
                    <a:pt x="0" y="6233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6656" t="0" r="-86656" b="0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-38100"/>
              <a:ext cx="585216" cy="6614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12687300" y="6775704"/>
            <a:ext cx="4471416" cy="466344"/>
            <a:chOff x="0" y="0"/>
            <a:chExt cx="5961888" cy="621792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5961888" cy="621792"/>
            </a:xfrm>
            <a:custGeom>
              <a:avLst/>
              <a:gdLst/>
              <a:ahLst/>
              <a:cxnLst/>
              <a:rect r="r" b="b" t="t" l="l"/>
              <a:pathLst>
                <a:path h="621792" w="5961888">
                  <a:moveTo>
                    <a:pt x="0" y="0"/>
                  </a:moveTo>
                  <a:lnTo>
                    <a:pt x="5961888" y="0"/>
                  </a:lnTo>
                  <a:lnTo>
                    <a:pt x="5961888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697" r="0" b="-136697"/>
              </a:stretch>
            </a:blipFill>
          </p:spPr>
        </p:sp>
      </p:grpSp>
      <p:grpSp>
        <p:nvGrpSpPr>
          <p:cNvPr name="Group 193" id="193"/>
          <p:cNvGrpSpPr/>
          <p:nvPr/>
        </p:nvGrpSpPr>
        <p:grpSpPr>
          <a:xfrm rot="0">
            <a:off x="12687300" y="6747129"/>
            <a:ext cx="4471416" cy="494919"/>
            <a:chOff x="0" y="0"/>
            <a:chExt cx="5961888" cy="659892"/>
          </a:xfrm>
        </p:grpSpPr>
        <p:sp>
          <p:nvSpPr>
            <p:cNvPr name="Freeform 194" id="194"/>
            <p:cNvSpPr/>
            <p:nvPr/>
          </p:nvSpPr>
          <p:spPr>
            <a:xfrm flipH="false" flipV="false" rot="0">
              <a:off x="0" y="0"/>
              <a:ext cx="5961888" cy="659892"/>
            </a:xfrm>
            <a:custGeom>
              <a:avLst/>
              <a:gdLst/>
              <a:ahLst/>
              <a:cxnLst/>
              <a:rect r="r" b="b" t="t" l="l"/>
              <a:pathLst>
                <a:path h="659892" w="5961888">
                  <a:moveTo>
                    <a:pt x="0" y="0"/>
                  </a:moveTo>
                  <a:lnTo>
                    <a:pt x="5961888" y="0"/>
                  </a:lnTo>
                  <a:lnTo>
                    <a:pt x="5961888" y="659892"/>
                  </a:lnTo>
                  <a:lnTo>
                    <a:pt x="0" y="6598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6040" r="0" b="-126040"/>
              </a:stretch>
            </a:blipFill>
          </p:spPr>
        </p:sp>
        <p:sp>
          <p:nvSpPr>
            <p:cNvPr name="TextBox 195" id="195"/>
            <p:cNvSpPr txBox="true"/>
            <p:nvPr/>
          </p:nvSpPr>
          <p:spPr>
            <a:xfrm>
              <a:off x="0" y="-38100"/>
              <a:ext cx="5961888" cy="697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Propeller Vibration Sensor Noise</a:t>
              </a:r>
            </a:p>
          </p:txBody>
        </p:sp>
      </p:grpSp>
      <p:sp>
        <p:nvSpPr>
          <p:cNvPr name="TextBox 196" id="196"/>
          <p:cNvSpPr txBox="true"/>
          <p:nvPr/>
        </p:nvSpPr>
        <p:spPr>
          <a:xfrm rot="0">
            <a:off x="12687300" y="7183755"/>
            <a:ext cx="4471416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400" b="true">
                <a:solidFill>
                  <a:srgbClr val="1E26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HARMONIC NOTCH FILTERING: </a:t>
            </a:r>
            <a:r>
              <a:rPr lang="en-US" sz="1400">
                <a:solidFill>
                  <a:srgbClr val="3C465A"/>
                </a:solidFill>
                <a:latin typeface="Calibri (MS)"/>
                <a:ea typeface="Calibri (MS)"/>
                <a:cs typeface="Calibri (MS)"/>
                <a:sym typeface="Calibri (MS)"/>
              </a:rPr>
              <a:t>Silicone damping mounts + software notch filtering eliminate ESC/motor noise on 250Hz EKF loop.</a:t>
            </a:r>
          </a:p>
        </p:txBody>
      </p:sp>
      <p:grpSp>
        <p:nvGrpSpPr>
          <p:cNvPr name="Group 197" id="197"/>
          <p:cNvGrpSpPr/>
          <p:nvPr/>
        </p:nvGrpSpPr>
        <p:grpSpPr>
          <a:xfrm rot="0">
            <a:off x="12056364" y="8065008"/>
            <a:ext cx="438912" cy="438912"/>
            <a:chOff x="0" y="0"/>
            <a:chExt cx="585216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199" id="199"/>
          <p:cNvGrpSpPr/>
          <p:nvPr/>
        </p:nvGrpSpPr>
        <p:grpSpPr>
          <a:xfrm rot="0">
            <a:off x="12056364" y="8065008"/>
            <a:ext cx="438912" cy="438912"/>
            <a:chOff x="0" y="0"/>
            <a:chExt cx="585216" cy="585216"/>
          </a:xfrm>
        </p:grpSpPr>
        <p:sp>
          <p:nvSpPr>
            <p:cNvPr name="Freeform 200" id="200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1" t="0" r="-78394" b="0"/>
              </a:stretch>
            </a:blipFill>
          </p:spPr>
        </p:sp>
      </p:grpSp>
      <p:grpSp>
        <p:nvGrpSpPr>
          <p:cNvPr name="Group 201" id="201"/>
          <p:cNvGrpSpPr/>
          <p:nvPr/>
        </p:nvGrpSpPr>
        <p:grpSpPr>
          <a:xfrm rot="0">
            <a:off x="12056364" y="8036433"/>
            <a:ext cx="438912" cy="467487"/>
            <a:chOff x="0" y="0"/>
            <a:chExt cx="585216" cy="623316"/>
          </a:xfrm>
        </p:grpSpPr>
        <p:sp>
          <p:nvSpPr>
            <p:cNvPr name="Freeform 202" id="202"/>
            <p:cNvSpPr/>
            <p:nvPr/>
          </p:nvSpPr>
          <p:spPr>
            <a:xfrm flipH="false" flipV="false" rot="0">
              <a:off x="0" y="0"/>
              <a:ext cx="585216" cy="623316"/>
            </a:xfrm>
            <a:custGeom>
              <a:avLst/>
              <a:gdLst/>
              <a:ahLst/>
              <a:cxnLst/>
              <a:rect r="r" b="b" t="t" l="l"/>
              <a:pathLst>
                <a:path h="6233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623316"/>
                  </a:lnTo>
                  <a:lnTo>
                    <a:pt x="0" y="6233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6656" t="0" r="-86656" b="0"/>
              </a:stretch>
            </a:blipFill>
          </p:spPr>
        </p:sp>
        <p:sp>
          <p:nvSpPr>
            <p:cNvPr name="TextBox 203" id="203"/>
            <p:cNvSpPr txBox="true"/>
            <p:nvPr/>
          </p:nvSpPr>
          <p:spPr>
            <a:xfrm>
              <a:off x="0" y="-38100"/>
              <a:ext cx="585216" cy="6614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204" id="204"/>
          <p:cNvGrpSpPr/>
          <p:nvPr/>
        </p:nvGrpSpPr>
        <p:grpSpPr>
          <a:xfrm rot="0">
            <a:off x="12687300" y="8051292"/>
            <a:ext cx="4471416" cy="466344"/>
            <a:chOff x="0" y="0"/>
            <a:chExt cx="5961888" cy="621792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961888" cy="621792"/>
            </a:xfrm>
            <a:custGeom>
              <a:avLst/>
              <a:gdLst/>
              <a:ahLst/>
              <a:cxnLst/>
              <a:rect r="r" b="b" t="t" l="l"/>
              <a:pathLst>
                <a:path h="621792" w="5961888">
                  <a:moveTo>
                    <a:pt x="0" y="0"/>
                  </a:moveTo>
                  <a:lnTo>
                    <a:pt x="5961888" y="0"/>
                  </a:lnTo>
                  <a:lnTo>
                    <a:pt x="5961888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697" r="0" b="-136697"/>
              </a:stretch>
            </a:blip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12687300" y="8022717"/>
            <a:ext cx="4471416" cy="494919"/>
            <a:chOff x="0" y="0"/>
            <a:chExt cx="5961888" cy="659892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5961888" cy="659892"/>
            </a:xfrm>
            <a:custGeom>
              <a:avLst/>
              <a:gdLst/>
              <a:ahLst/>
              <a:cxnLst/>
              <a:rect r="r" b="b" t="t" l="l"/>
              <a:pathLst>
                <a:path h="659892" w="5961888">
                  <a:moveTo>
                    <a:pt x="0" y="0"/>
                  </a:moveTo>
                  <a:lnTo>
                    <a:pt x="5961888" y="0"/>
                  </a:lnTo>
                  <a:lnTo>
                    <a:pt x="5961888" y="659892"/>
                  </a:lnTo>
                  <a:lnTo>
                    <a:pt x="0" y="6598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6040" r="0" b="-126040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-38100"/>
              <a:ext cx="5961888" cy="697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Actuator Saturation in Gusts</a:t>
              </a:r>
            </a:p>
          </p:txBody>
        </p:sp>
      </p:grpSp>
      <p:sp>
        <p:nvSpPr>
          <p:cNvPr name="TextBox 209" id="209"/>
          <p:cNvSpPr txBox="true"/>
          <p:nvPr/>
        </p:nvSpPr>
        <p:spPr>
          <a:xfrm rot="0">
            <a:off x="12687300" y="8459343"/>
            <a:ext cx="4471416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400" b="true">
                <a:solidFill>
                  <a:srgbClr val="1E26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ANTI-WINDUP PID CLAMPING: </a:t>
            </a:r>
            <a:r>
              <a:rPr lang="en-US" sz="1400">
                <a:solidFill>
                  <a:srgbClr val="3C465A"/>
                </a:solidFill>
                <a:latin typeface="Calibri (MS)"/>
                <a:ea typeface="Calibri (MS)"/>
                <a:cs typeface="Calibri (MS)"/>
                <a:sym typeface="Calibri (MS)"/>
              </a:rPr>
              <a:t>Dynamic integrator clamping prevents control surface saturation during aggressive gusts.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26" r="0" b="-13692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-92869"/>
            <a:ext cx="16459200" cy="1735931"/>
            <a:chOff x="0" y="0"/>
            <a:chExt cx="21945600" cy="23145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2314575"/>
            </a:xfrm>
            <a:custGeom>
              <a:avLst/>
              <a:gdLst/>
              <a:ahLst/>
              <a:cxnLst/>
              <a:rect r="r" b="b" t="t" l="l"/>
              <a:pathLst>
                <a:path h="231457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314575"/>
                  </a:lnTo>
                  <a:lnTo>
                    <a:pt x="0" y="23145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4747" r="0" b="-13474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1945600" cy="2343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707" r="0" b="-101709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106400" y="9520238"/>
            <a:ext cx="4267200" cy="561975"/>
            <a:chOff x="0" y="0"/>
            <a:chExt cx="5689600" cy="7493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89600" cy="749301"/>
            </a:xfrm>
            <a:custGeom>
              <a:avLst/>
              <a:gdLst/>
              <a:ahLst/>
              <a:cxnLst/>
              <a:rect r="r" b="b" t="t" l="l"/>
              <a:pathLst>
                <a:path h="74930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7954" r="0" b="-9795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670129" y="2248"/>
            <a:ext cx="3374803" cy="1593532"/>
            <a:chOff x="0" y="0"/>
            <a:chExt cx="4499737" cy="21247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2" r="0" b="-21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03504" y="315468"/>
            <a:ext cx="2263140" cy="740664"/>
            <a:chOff x="0" y="0"/>
            <a:chExt cx="3017520" cy="987552"/>
          </a:xfrm>
        </p:grpSpPr>
        <p:sp>
          <p:nvSpPr>
            <p:cNvPr name="Freeform 17" id="17" descr="Phoenix team logo"/>
            <p:cNvSpPr/>
            <p:nvPr/>
          </p:nvSpPr>
          <p:spPr>
            <a:xfrm flipH="false" flipV="false" rot="0">
              <a:off x="0" y="0"/>
              <a:ext cx="3017520" cy="987552"/>
            </a:xfrm>
            <a:custGeom>
              <a:avLst/>
              <a:gdLst/>
              <a:ahLst/>
              <a:cxnLst/>
              <a:rect r="r" b="b" t="t" l="l"/>
              <a:pathLst>
                <a:path h="987552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04" r="0" b="-105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48640" y="9532620"/>
            <a:ext cx="6515100" cy="754380"/>
            <a:chOff x="0" y="0"/>
            <a:chExt cx="8686800" cy="10058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686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162" r="0" b="-118162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48640" y="9511189"/>
            <a:ext cx="6515100" cy="775811"/>
            <a:chOff x="0" y="0"/>
            <a:chExt cx="8686800" cy="103441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686800" cy="1034415"/>
            </a:xfrm>
            <a:custGeom>
              <a:avLst/>
              <a:gdLst/>
              <a:ahLst/>
              <a:cxnLst/>
              <a:rect r="r" b="b" t="t" l="l"/>
              <a:pathLst>
                <a:path h="1034415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034415"/>
                  </a:lnTo>
                  <a:lnTo>
                    <a:pt x="0" y="10344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3631" r="0" b="-11363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868680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PROJECT PHOENIX: Autonomous Multi-Spectral Edge-AI UAV  |  SIH26177 (Qualcomm Inc.)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8972" y="1275588"/>
            <a:ext cx="16459200" cy="466344"/>
            <a:chOff x="0" y="0"/>
            <a:chExt cx="21945600" cy="6217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45600" cy="621792"/>
            </a:xfrm>
            <a:custGeom>
              <a:avLst/>
              <a:gdLst/>
              <a:ahLst/>
              <a:cxnLst/>
              <a:rect r="r" b="b" t="t" l="l"/>
              <a:pathLst>
                <a:path h="6217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7228" r="0" b="-63723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18972" y="1247013"/>
            <a:ext cx="16459200" cy="494919"/>
            <a:chOff x="0" y="0"/>
            <a:chExt cx="21945600" cy="65989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45600" cy="659892"/>
            </a:xfrm>
            <a:custGeom>
              <a:avLst/>
              <a:gdLst/>
              <a:ahLst/>
              <a:cxnLst/>
              <a:rect r="r" b="b" t="t" l="l"/>
              <a:pathLst>
                <a:path h="6598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59892"/>
                  </a:lnTo>
                  <a:lnTo>
                    <a:pt x="0" y="6598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98001" r="0" b="-59800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1945600" cy="697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8"/>
                </a:lnSpc>
              </a:pPr>
              <a:r>
                <a:rPr lang="en-US" sz="24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Mission Impact &amp; Multi-Stakeholder Benefits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810282" y="6263764"/>
            <a:ext cx="3938540" cy="2895895"/>
          </a:xfrm>
          <a:custGeom>
            <a:avLst/>
            <a:gdLst/>
            <a:ahLst/>
            <a:cxnLst/>
            <a:rect r="r" b="b" t="t" l="l"/>
            <a:pathLst>
              <a:path h="2895895" w="3938540">
                <a:moveTo>
                  <a:pt x="0" y="0"/>
                </a:moveTo>
                <a:lnTo>
                  <a:pt x="3938540" y="0"/>
                </a:lnTo>
                <a:lnTo>
                  <a:pt x="3938540" y="2895895"/>
                </a:lnTo>
                <a:lnTo>
                  <a:pt x="0" y="28958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1124541" y="6495726"/>
            <a:ext cx="630936" cy="630936"/>
            <a:chOff x="0" y="0"/>
            <a:chExt cx="841248" cy="8412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82275" y="6653460"/>
            <a:ext cx="315468" cy="315468"/>
            <a:chOff x="0" y="0"/>
            <a:chExt cx="420624" cy="420624"/>
          </a:xfrm>
        </p:grpSpPr>
        <p:sp>
          <p:nvSpPr>
            <p:cNvPr name="Freeform 32" id="32" descr="TRAPPED VICTIMS icon"/>
            <p:cNvSpPr/>
            <p:nvPr/>
          </p:nvSpPr>
          <p:spPr>
            <a:xfrm flipH="false" flipV="false" rot="0">
              <a:off x="0" y="0"/>
              <a:ext cx="420624" cy="420624"/>
            </a:xfrm>
            <a:custGeom>
              <a:avLst/>
              <a:gdLst/>
              <a:ahLst/>
              <a:cxnLst/>
              <a:rect r="r" b="b" t="t" l="l"/>
              <a:pathLst>
                <a:path h="420624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420624"/>
                  </a:lnTo>
                  <a:lnTo>
                    <a:pt x="0" y="420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920069" y="6495726"/>
            <a:ext cx="2679078" cy="630936"/>
            <a:chOff x="0" y="0"/>
            <a:chExt cx="3572104" cy="84124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72129" cy="841248"/>
            </a:xfrm>
            <a:custGeom>
              <a:avLst/>
              <a:gdLst/>
              <a:ahLst/>
              <a:cxnLst/>
              <a:rect r="r" b="b" t="t" l="l"/>
              <a:pathLst>
                <a:path h="841248" w="3572129">
                  <a:moveTo>
                    <a:pt x="0" y="0"/>
                  </a:moveTo>
                  <a:lnTo>
                    <a:pt x="3572129" y="0"/>
                  </a:lnTo>
                  <a:lnTo>
                    <a:pt x="3572129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679" r="0" b="-32679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920069" y="6467151"/>
            <a:ext cx="2679078" cy="659511"/>
            <a:chOff x="0" y="0"/>
            <a:chExt cx="3572104" cy="87934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572104" cy="879348"/>
            </a:xfrm>
            <a:custGeom>
              <a:avLst/>
              <a:gdLst/>
              <a:ahLst/>
              <a:cxnLst/>
              <a:rect r="r" b="b" t="t" l="l"/>
              <a:pathLst>
                <a:path h="879348" w="3572104">
                  <a:moveTo>
                    <a:pt x="0" y="0"/>
                  </a:moveTo>
                  <a:lnTo>
                    <a:pt x="3572104" y="0"/>
                  </a:lnTo>
                  <a:lnTo>
                    <a:pt x="3572104" y="879348"/>
                  </a:lnTo>
                  <a:lnTo>
                    <a:pt x="0" y="8793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52" r="0" b="-2915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3572104" cy="917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spc="60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TRAPPED VICTIMS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918972" y="7221912"/>
            <a:ext cx="3762537" cy="1775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187113" lvl="2">
              <a:lnSpc>
                <a:spcPts val="1754"/>
              </a:lnSpc>
              <a:buFont typeface="Arial"/>
              <a:buChar char="⚬"/>
            </a:pPr>
            <a:r>
              <a:rPr lang="en-US" b="true" sz="1299">
                <a:solidFill>
                  <a:srgbClr val="1E26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GOLDEN 72H WINDOW: </a:t>
            </a:r>
            <a:r>
              <a:rPr lang="en-US" sz="1299">
                <a:solidFill>
                  <a:srgbClr val="3C465A"/>
                </a:solidFill>
                <a:latin typeface="Calibri (MS)"/>
                <a:ea typeface="Calibri (MS)"/>
                <a:cs typeface="Calibri (MS)"/>
                <a:sym typeface="Calibri (MS)"/>
              </a:rPr>
              <a:t>Rapid discovery within critical survival timeframe</a:t>
            </a:r>
          </a:p>
          <a:p>
            <a:pPr algn="l" marL="561339" indent="-187113" lvl="2">
              <a:lnSpc>
                <a:spcPts val="1754"/>
              </a:lnSpc>
              <a:buFont typeface="Arial"/>
              <a:buChar char="⚬"/>
            </a:pPr>
            <a:r>
              <a:rPr lang="en-US" b="true" sz="1299">
                <a:solidFill>
                  <a:srgbClr val="1E26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DEBRIS &amp; SMOKE SENSING: </a:t>
            </a:r>
            <a:r>
              <a:rPr lang="en-US" sz="1299">
                <a:solidFill>
                  <a:srgbClr val="3C465A"/>
                </a:solidFill>
                <a:latin typeface="Calibri (MS)"/>
                <a:ea typeface="Calibri (MS)"/>
                <a:cs typeface="Calibri (MS)"/>
                <a:sym typeface="Calibri (MS)"/>
              </a:rPr>
              <a:t>Thermal lock in zero-light and smoky collapse voids</a:t>
            </a:r>
          </a:p>
          <a:p>
            <a:pPr algn="l" marL="561339" indent="-187113" lvl="2">
              <a:lnSpc>
                <a:spcPts val="1754"/>
              </a:lnSpc>
              <a:buFont typeface="Arial"/>
              <a:buChar char="⚬"/>
            </a:pPr>
            <a:r>
              <a:rPr lang="en-US" b="true" sz="1299">
                <a:solidFill>
                  <a:srgbClr val="1E26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TRIAGE PRIORITIZATION: </a:t>
            </a:r>
            <a:r>
              <a:rPr lang="en-US" sz="1299">
                <a:solidFill>
                  <a:srgbClr val="3C465A"/>
                </a:solidFill>
                <a:latin typeface="Calibri (MS)"/>
                <a:ea typeface="Calibri (MS)"/>
                <a:cs typeface="Calibri (MS)"/>
                <a:sym typeface="Calibri (MS)"/>
              </a:rPr>
              <a:t>Instant medical urgency rating streamed to rescue teams</a:t>
            </a:r>
          </a:p>
          <a:p>
            <a:pPr algn="l" marL="561339" indent="-187113" lvl="2">
              <a:lnSpc>
                <a:spcPts val="1754"/>
              </a:lnSpc>
              <a:buFont typeface="Arial"/>
              <a:buChar char="⚬"/>
            </a:pPr>
            <a:r>
              <a:rPr lang="en-US" b="true" sz="1299">
                <a:solidFill>
                  <a:srgbClr val="1E26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SURVIVAL MULTIPLIER: </a:t>
            </a:r>
            <a:r>
              <a:rPr lang="en-US" sz="1299">
                <a:solidFill>
                  <a:srgbClr val="3C465A"/>
                </a:solidFill>
                <a:latin typeface="Calibri (MS)"/>
                <a:ea typeface="Calibri (MS)"/>
                <a:cs typeface="Calibri (MS)"/>
                <a:sym typeface="Calibri (MS)"/>
              </a:rPr>
              <a:t>Dramatically cuts time-to-extraction under rubble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5052984" y="6263764"/>
            <a:ext cx="3938540" cy="2895895"/>
          </a:xfrm>
          <a:custGeom>
            <a:avLst/>
            <a:gdLst/>
            <a:ahLst/>
            <a:cxnLst/>
            <a:rect r="r" b="b" t="t" l="l"/>
            <a:pathLst>
              <a:path h="2895895" w="3938540">
                <a:moveTo>
                  <a:pt x="0" y="0"/>
                </a:moveTo>
                <a:lnTo>
                  <a:pt x="3938540" y="0"/>
                </a:lnTo>
                <a:lnTo>
                  <a:pt x="3938540" y="2895895"/>
                </a:lnTo>
                <a:lnTo>
                  <a:pt x="0" y="28958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5367242" y="6495726"/>
            <a:ext cx="630936" cy="630936"/>
            <a:chOff x="0" y="0"/>
            <a:chExt cx="841248" cy="84124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5524976" y="6653460"/>
            <a:ext cx="315468" cy="315468"/>
            <a:chOff x="0" y="0"/>
            <a:chExt cx="420624" cy="420624"/>
          </a:xfrm>
        </p:grpSpPr>
        <p:sp>
          <p:nvSpPr>
            <p:cNvPr name="Freeform 43" id="43" descr="NDRF / SDRF TEAMS icon"/>
            <p:cNvSpPr/>
            <p:nvPr/>
          </p:nvSpPr>
          <p:spPr>
            <a:xfrm flipH="false" flipV="false" rot="0">
              <a:off x="0" y="0"/>
              <a:ext cx="420624" cy="420624"/>
            </a:xfrm>
            <a:custGeom>
              <a:avLst/>
              <a:gdLst/>
              <a:ahLst/>
              <a:cxnLst/>
              <a:rect r="r" b="b" t="t" l="l"/>
              <a:pathLst>
                <a:path h="420624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420624"/>
                  </a:lnTo>
                  <a:lnTo>
                    <a:pt x="0" y="420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162770" y="6495726"/>
            <a:ext cx="2679078" cy="630936"/>
            <a:chOff x="0" y="0"/>
            <a:chExt cx="3572104" cy="84124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572129" cy="841248"/>
            </a:xfrm>
            <a:custGeom>
              <a:avLst/>
              <a:gdLst/>
              <a:ahLst/>
              <a:cxnLst/>
              <a:rect r="r" b="b" t="t" l="l"/>
              <a:pathLst>
                <a:path h="841248" w="3572129">
                  <a:moveTo>
                    <a:pt x="0" y="0"/>
                  </a:moveTo>
                  <a:lnTo>
                    <a:pt x="3572129" y="0"/>
                  </a:lnTo>
                  <a:lnTo>
                    <a:pt x="3572129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679" r="0" b="-32679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6162770" y="6467151"/>
            <a:ext cx="2679078" cy="659511"/>
            <a:chOff x="0" y="0"/>
            <a:chExt cx="3572104" cy="87934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572104" cy="879348"/>
            </a:xfrm>
            <a:custGeom>
              <a:avLst/>
              <a:gdLst/>
              <a:ahLst/>
              <a:cxnLst/>
              <a:rect r="r" b="b" t="t" l="l"/>
              <a:pathLst>
                <a:path h="879348" w="3572104">
                  <a:moveTo>
                    <a:pt x="0" y="0"/>
                  </a:moveTo>
                  <a:lnTo>
                    <a:pt x="3572104" y="0"/>
                  </a:lnTo>
                  <a:lnTo>
                    <a:pt x="3572104" y="879348"/>
                  </a:lnTo>
                  <a:lnTo>
                    <a:pt x="0" y="8793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52" r="0" b="-2915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3572104" cy="917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spc="60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NDRF / SDRF TEAMS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5210685" y="7250487"/>
            <a:ext cx="3656375" cy="1615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187113" lvl="2">
              <a:lnSpc>
                <a:spcPts val="1442"/>
              </a:lnSpc>
              <a:buFont typeface="Arial"/>
              <a:buChar char="⚬"/>
            </a:pPr>
            <a:r>
              <a:rPr lang="en-US" b="true" sz="1299">
                <a:solidFill>
                  <a:srgbClr val="1E26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ADVANCE HAZARD MAPPING: </a:t>
            </a:r>
            <a:r>
              <a:rPr lang="en-US" sz="1299">
                <a:solidFill>
                  <a:srgbClr val="3C465A"/>
                </a:solidFill>
                <a:latin typeface="Calibri (MS)"/>
                <a:ea typeface="Calibri (MS)"/>
                <a:cs typeface="Calibri (MS)"/>
                <a:sym typeface="Calibri (MS)"/>
              </a:rPr>
              <a:t>Flags live high-voltage cables, gas leaks &amp; floodwaters</a:t>
            </a:r>
          </a:p>
          <a:p>
            <a:pPr algn="l" marL="561339" indent="-187113" lvl="2">
              <a:lnSpc>
                <a:spcPts val="1988"/>
              </a:lnSpc>
              <a:buFont typeface="Arial"/>
              <a:buChar char="⚬"/>
            </a:pPr>
            <a:r>
              <a:rPr lang="en-US" b="true" sz="1299">
                <a:solidFill>
                  <a:srgbClr val="1E26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SAFE ROUTE NAVIGATION: </a:t>
            </a:r>
            <a:r>
              <a:rPr lang="en-US" sz="1299">
                <a:solidFill>
                  <a:srgbClr val="3C465A"/>
                </a:solidFill>
                <a:latin typeface="Calibri (MS)"/>
                <a:ea typeface="Calibri (MS)"/>
                <a:cs typeface="Calibri (MS)"/>
                <a:sym typeface="Calibri (MS)"/>
              </a:rPr>
              <a:t>Dynamic Dijkstra corridor guides rescuers around hazards [1]</a:t>
            </a:r>
          </a:p>
          <a:p>
            <a:pPr algn="l" marL="561339" indent="-187113" lvl="2">
              <a:lnSpc>
                <a:spcPts val="1442"/>
              </a:lnSpc>
              <a:buFont typeface="Arial"/>
              <a:buChar char="⚬"/>
            </a:pPr>
            <a:r>
              <a:rPr lang="en-US" b="true" sz="1299">
                <a:solidFill>
                  <a:srgbClr val="1E26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TACTICAL AWARENESS: </a:t>
            </a:r>
            <a:r>
              <a:rPr lang="en-US" sz="1299">
                <a:solidFill>
                  <a:srgbClr val="3C465A"/>
                </a:solidFill>
                <a:latin typeface="Calibri (MS)"/>
                <a:ea typeface="Calibri (MS)"/>
                <a:cs typeface="Calibri (MS)"/>
                <a:sym typeface="Calibri (MS)"/>
              </a:rPr>
              <a:t>Crews proceed straight to verified survivor coordinates</a:t>
            </a:r>
          </a:p>
          <a:p>
            <a:pPr algn="l" marL="561339" indent="-187113" lvl="2">
              <a:lnSpc>
                <a:spcPts val="1442"/>
              </a:lnSpc>
              <a:buFont typeface="Arial"/>
              <a:buChar char="⚬"/>
            </a:pPr>
            <a:r>
              <a:rPr lang="en-US" b="true" sz="1299">
                <a:solidFill>
                  <a:srgbClr val="1E26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FATIGUE REDUCTION: </a:t>
            </a:r>
            <a:r>
              <a:rPr lang="en-US" sz="1299">
                <a:solidFill>
                  <a:srgbClr val="3C465A"/>
                </a:solidFill>
                <a:latin typeface="Calibri (MS)"/>
                <a:ea typeface="Calibri (MS)"/>
                <a:cs typeface="Calibri (MS)"/>
                <a:sym typeface="Calibri (MS)"/>
              </a:rPr>
              <a:t>Replaces blind shovel digs with targeted extraction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9295686" y="6263764"/>
            <a:ext cx="3938540" cy="2895895"/>
          </a:xfrm>
          <a:custGeom>
            <a:avLst/>
            <a:gdLst/>
            <a:ahLst/>
            <a:cxnLst/>
            <a:rect r="r" b="b" t="t" l="l"/>
            <a:pathLst>
              <a:path h="2895895" w="3938540">
                <a:moveTo>
                  <a:pt x="0" y="0"/>
                </a:moveTo>
                <a:lnTo>
                  <a:pt x="3938540" y="0"/>
                </a:lnTo>
                <a:lnTo>
                  <a:pt x="3938540" y="2895895"/>
                </a:lnTo>
                <a:lnTo>
                  <a:pt x="0" y="28958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9609944" y="6495726"/>
            <a:ext cx="630936" cy="630936"/>
            <a:chOff x="0" y="0"/>
            <a:chExt cx="841248" cy="84124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767678" y="6653460"/>
            <a:ext cx="315468" cy="315468"/>
            <a:chOff x="0" y="0"/>
            <a:chExt cx="420624" cy="420624"/>
          </a:xfrm>
        </p:grpSpPr>
        <p:sp>
          <p:nvSpPr>
            <p:cNvPr name="Freeform 54" id="54" descr="DISASTER AUTHORITIES icon"/>
            <p:cNvSpPr/>
            <p:nvPr/>
          </p:nvSpPr>
          <p:spPr>
            <a:xfrm flipH="false" flipV="false" rot="0">
              <a:off x="0" y="0"/>
              <a:ext cx="420624" cy="420624"/>
            </a:xfrm>
            <a:custGeom>
              <a:avLst/>
              <a:gdLst/>
              <a:ahLst/>
              <a:cxnLst/>
              <a:rect r="r" b="b" t="t" l="l"/>
              <a:pathLst>
                <a:path h="420624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420624"/>
                  </a:lnTo>
                  <a:lnTo>
                    <a:pt x="0" y="420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0405472" y="6495726"/>
            <a:ext cx="2679078" cy="630936"/>
            <a:chOff x="0" y="0"/>
            <a:chExt cx="3572104" cy="84124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572129" cy="841248"/>
            </a:xfrm>
            <a:custGeom>
              <a:avLst/>
              <a:gdLst/>
              <a:ahLst/>
              <a:cxnLst/>
              <a:rect r="r" b="b" t="t" l="l"/>
              <a:pathLst>
                <a:path h="841248" w="3572129">
                  <a:moveTo>
                    <a:pt x="0" y="0"/>
                  </a:moveTo>
                  <a:lnTo>
                    <a:pt x="3572129" y="0"/>
                  </a:lnTo>
                  <a:lnTo>
                    <a:pt x="3572129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679" r="0" b="-32679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0405472" y="6467151"/>
            <a:ext cx="2679078" cy="659511"/>
            <a:chOff x="0" y="0"/>
            <a:chExt cx="3572104" cy="87934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572104" cy="879348"/>
            </a:xfrm>
            <a:custGeom>
              <a:avLst/>
              <a:gdLst/>
              <a:ahLst/>
              <a:cxnLst/>
              <a:rect r="r" b="b" t="t" l="l"/>
              <a:pathLst>
                <a:path h="879348" w="3572104">
                  <a:moveTo>
                    <a:pt x="0" y="0"/>
                  </a:moveTo>
                  <a:lnTo>
                    <a:pt x="3572104" y="0"/>
                  </a:lnTo>
                  <a:lnTo>
                    <a:pt x="3572104" y="879348"/>
                  </a:lnTo>
                  <a:lnTo>
                    <a:pt x="0" y="8793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52" r="0" b="-2915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3572104" cy="917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spc="60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DISASTER AUTHORITIES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9366895" y="7212387"/>
            <a:ext cx="3739505" cy="1624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187113" lvl="2">
              <a:lnSpc>
                <a:spcPts val="1819"/>
              </a:lnSpc>
              <a:buFont typeface="Arial"/>
              <a:buChar char="⚬"/>
            </a:pPr>
            <a:r>
              <a:rPr lang="en-US" b="true" sz="1299">
                <a:solidFill>
                  <a:srgbClr val="1E26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UNIFIED COMMON PICTURE: </a:t>
            </a:r>
            <a:r>
              <a:rPr lang="en-US" sz="1299">
                <a:solidFill>
                  <a:srgbClr val="3C465A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casualty mapping with micro-telemetry tracking</a:t>
            </a:r>
          </a:p>
          <a:p>
            <a:pPr algn="l" marL="561339" indent="-187113" lvl="2">
              <a:lnSpc>
                <a:spcPts val="1819"/>
              </a:lnSpc>
              <a:buFont typeface="Arial"/>
              <a:buChar char="⚬"/>
            </a:pPr>
            <a:r>
              <a:rPr lang="en-US" b="true" sz="1299">
                <a:solidFill>
                  <a:srgbClr val="1E26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DYNAMIC SECTOR LOGS: </a:t>
            </a:r>
            <a:r>
              <a:rPr lang="en-US" sz="1299">
                <a:solidFill>
                  <a:srgbClr val="3C465A"/>
                </a:solidFill>
                <a:latin typeface="Calibri (MS)"/>
                <a:ea typeface="Calibri (MS)"/>
                <a:cs typeface="Calibri (MS)"/>
                <a:sym typeface="Calibri (MS)"/>
              </a:rPr>
              <a:t>Autonomous coverage tracking ensures no sector is missed</a:t>
            </a:r>
          </a:p>
          <a:p>
            <a:pPr algn="l" marL="561339" indent="-187113" lvl="2">
              <a:lnSpc>
                <a:spcPts val="1819"/>
              </a:lnSpc>
              <a:buFont typeface="Arial"/>
              <a:buChar char="⚬"/>
            </a:pPr>
            <a:r>
              <a:rPr lang="en-US" b="true" sz="1299">
                <a:solidFill>
                  <a:srgbClr val="1E26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17-BYTE LORA STREAM: </a:t>
            </a:r>
            <a:r>
              <a:rPr lang="en-US" sz="1299">
                <a:solidFill>
                  <a:srgbClr val="3C465A"/>
                </a:solidFill>
                <a:latin typeface="Calibri (MS)"/>
                <a:ea typeface="Calibri (MS)"/>
                <a:cs typeface="Calibri (MS)"/>
                <a:sym typeface="Calibri (MS)"/>
              </a:rPr>
              <a:t>Ultra-compact bit-packed alerts arrive in under 3 seconds [3]</a:t>
            </a:r>
          </a:p>
        </p:txBody>
      </p:sp>
      <p:sp>
        <p:nvSpPr>
          <p:cNvPr name="Freeform 61" id="61"/>
          <p:cNvSpPr/>
          <p:nvPr/>
        </p:nvSpPr>
        <p:spPr>
          <a:xfrm flipH="false" flipV="false" rot="0">
            <a:off x="13538387" y="6263764"/>
            <a:ext cx="3938540" cy="2895895"/>
          </a:xfrm>
          <a:custGeom>
            <a:avLst/>
            <a:gdLst/>
            <a:ahLst/>
            <a:cxnLst/>
            <a:rect r="r" b="b" t="t" l="l"/>
            <a:pathLst>
              <a:path h="2895895" w="3938540">
                <a:moveTo>
                  <a:pt x="0" y="0"/>
                </a:moveTo>
                <a:lnTo>
                  <a:pt x="3938540" y="0"/>
                </a:lnTo>
                <a:lnTo>
                  <a:pt x="3938540" y="2895895"/>
                </a:lnTo>
                <a:lnTo>
                  <a:pt x="0" y="28958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2" id="62"/>
          <p:cNvGrpSpPr/>
          <p:nvPr/>
        </p:nvGrpSpPr>
        <p:grpSpPr>
          <a:xfrm rot="0">
            <a:off x="13852646" y="6495726"/>
            <a:ext cx="630936" cy="630936"/>
            <a:chOff x="0" y="0"/>
            <a:chExt cx="841248" cy="84124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4010380" y="6653460"/>
            <a:ext cx="315468" cy="315468"/>
            <a:chOff x="0" y="0"/>
            <a:chExt cx="420624" cy="420624"/>
          </a:xfrm>
        </p:grpSpPr>
        <p:sp>
          <p:nvSpPr>
            <p:cNvPr name="Freeform 65" id="65" descr="DISTRICT GOVERNANCE icon"/>
            <p:cNvSpPr/>
            <p:nvPr/>
          </p:nvSpPr>
          <p:spPr>
            <a:xfrm flipH="false" flipV="false" rot="0">
              <a:off x="0" y="0"/>
              <a:ext cx="420624" cy="420624"/>
            </a:xfrm>
            <a:custGeom>
              <a:avLst/>
              <a:gdLst/>
              <a:ahLst/>
              <a:cxnLst/>
              <a:rect r="r" b="b" t="t" l="l"/>
              <a:pathLst>
                <a:path h="420624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420624"/>
                  </a:lnTo>
                  <a:lnTo>
                    <a:pt x="0" y="420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4648174" y="6495726"/>
            <a:ext cx="2679078" cy="630936"/>
            <a:chOff x="0" y="0"/>
            <a:chExt cx="3572104" cy="84124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572129" cy="841248"/>
            </a:xfrm>
            <a:custGeom>
              <a:avLst/>
              <a:gdLst/>
              <a:ahLst/>
              <a:cxnLst/>
              <a:rect r="r" b="b" t="t" l="l"/>
              <a:pathLst>
                <a:path h="841248" w="3572129">
                  <a:moveTo>
                    <a:pt x="0" y="0"/>
                  </a:moveTo>
                  <a:lnTo>
                    <a:pt x="3572129" y="0"/>
                  </a:lnTo>
                  <a:lnTo>
                    <a:pt x="3572129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679" r="0" b="-32679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4648174" y="6467151"/>
            <a:ext cx="2679078" cy="659511"/>
            <a:chOff x="0" y="0"/>
            <a:chExt cx="3572104" cy="87934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572104" cy="879348"/>
            </a:xfrm>
            <a:custGeom>
              <a:avLst/>
              <a:gdLst/>
              <a:ahLst/>
              <a:cxnLst/>
              <a:rect r="r" b="b" t="t" l="l"/>
              <a:pathLst>
                <a:path h="879348" w="3572104">
                  <a:moveTo>
                    <a:pt x="0" y="0"/>
                  </a:moveTo>
                  <a:lnTo>
                    <a:pt x="3572104" y="0"/>
                  </a:lnTo>
                  <a:lnTo>
                    <a:pt x="3572104" y="879348"/>
                  </a:lnTo>
                  <a:lnTo>
                    <a:pt x="0" y="8793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52" r="0" b="-29152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3572104" cy="917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spc="60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DISTRICT GOVERNANCE</a:t>
              </a: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13605700" y="7164762"/>
            <a:ext cx="3759401" cy="1617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187113" lvl="2">
              <a:lnSpc>
                <a:spcPts val="1871"/>
              </a:lnSpc>
              <a:buFont typeface="Arial"/>
              <a:buChar char="⚬"/>
            </a:pPr>
            <a:r>
              <a:rPr lang="en-US" b="true" sz="1299">
                <a:solidFill>
                  <a:srgbClr val="1E26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TARGETED RESOURCE DROPS: </a:t>
            </a:r>
            <a:r>
              <a:rPr lang="en-US" sz="1299">
                <a:solidFill>
                  <a:srgbClr val="3C465A"/>
                </a:solidFill>
                <a:latin typeface="Calibri (MS)"/>
                <a:ea typeface="Calibri (MS)"/>
                <a:cs typeface="Calibri (MS)"/>
                <a:sym typeface="Calibri (MS)"/>
              </a:rPr>
              <a:t>Prioritized airlift and medical kits based on triage data</a:t>
            </a:r>
          </a:p>
          <a:p>
            <a:pPr algn="l" marL="561339" indent="-187113" lvl="2">
              <a:lnSpc>
                <a:spcPts val="1871"/>
              </a:lnSpc>
              <a:buFont typeface="Arial"/>
              <a:buChar char="⚬"/>
            </a:pPr>
            <a:r>
              <a:rPr lang="en-US" b="true" sz="1299">
                <a:solidFill>
                  <a:srgbClr val="1E26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AFFORDABLE PROCUREMENT: </a:t>
            </a:r>
            <a:r>
              <a:rPr lang="en-US" sz="1299">
                <a:solidFill>
                  <a:srgbClr val="3C465A"/>
                </a:solidFill>
                <a:latin typeface="Calibri (MS)"/>
                <a:ea typeface="Calibri (MS)"/>
                <a:cs typeface="Calibri (MS)"/>
                <a:sym typeface="Calibri (MS)"/>
              </a:rPr>
              <a:t>Deploy 10 Phoenix drones for the price of 1 enterprise UAV</a:t>
            </a:r>
          </a:p>
          <a:p>
            <a:pPr algn="l" marL="561339" indent="-187113" lvl="2">
              <a:lnSpc>
                <a:spcPts val="1871"/>
              </a:lnSpc>
              <a:buFont typeface="Arial"/>
              <a:buChar char="⚬"/>
            </a:pPr>
            <a:r>
              <a:rPr lang="en-US" b="true" sz="1299">
                <a:solidFill>
                  <a:srgbClr val="1E26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SCALABLE STOCKPILING: </a:t>
            </a:r>
            <a:r>
              <a:rPr lang="en-US" sz="1299">
                <a:solidFill>
                  <a:srgbClr val="3C465A"/>
                </a:solidFill>
                <a:latin typeface="Calibri (MS)"/>
                <a:ea typeface="Calibri (MS)"/>
                <a:cs typeface="Calibri (MS)"/>
                <a:sym typeface="Calibri (MS)"/>
              </a:rPr>
              <a:t>Standardized COTS electronics enable rapid state-wide rollout</a:t>
            </a:r>
          </a:p>
        </p:txBody>
      </p:sp>
      <p:sp>
        <p:nvSpPr>
          <p:cNvPr name="Freeform 72" id="72"/>
          <p:cNvSpPr/>
          <p:nvPr/>
        </p:nvSpPr>
        <p:spPr>
          <a:xfrm flipH="false" flipV="false" rot="0">
            <a:off x="810454" y="1960597"/>
            <a:ext cx="16666607" cy="3947779"/>
          </a:xfrm>
          <a:custGeom>
            <a:avLst/>
            <a:gdLst/>
            <a:ahLst/>
            <a:cxnLst/>
            <a:rect r="r" b="b" t="t" l="l"/>
            <a:pathLst>
              <a:path h="3947779" w="16666607">
                <a:moveTo>
                  <a:pt x="0" y="0"/>
                </a:moveTo>
                <a:lnTo>
                  <a:pt x="16666607" y="0"/>
                </a:lnTo>
                <a:lnTo>
                  <a:pt x="16666607" y="3947780"/>
                </a:lnTo>
                <a:lnTo>
                  <a:pt x="0" y="394778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1124712" y="2137696"/>
            <a:ext cx="2606707" cy="384048"/>
            <a:chOff x="0" y="0"/>
            <a:chExt cx="3475609" cy="51206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475609" cy="512064"/>
            </a:xfrm>
            <a:custGeom>
              <a:avLst/>
              <a:gdLst/>
              <a:ahLst/>
              <a:cxnLst/>
              <a:rect r="r" b="b" t="t" l="l"/>
              <a:pathLst>
                <a:path h="512064" w="3475609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3219577" y="0"/>
                  </a:lnTo>
                  <a:cubicBezTo>
                    <a:pt x="3360928" y="0"/>
                    <a:pt x="3475609" y="114681"/>
                    <a:pt x="3475609" y="256032"/>
                  </a:cubicBezTo>
                  <a:cubicBezTo>
                    <a:pt x="3475609" y="397383"/>
                    <a:pt x="3360928" y="512064"/>
                    <a:pt x="3219577" y="512064"/>
                  </a:cubicBezTo>
                  <a:lnTo>
                    <a:pt x="256032" y="512064"/>
                  </a:ln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124712" y="2137696"/>
            <a:ext cx="2606726" cy="384048"/>
            <a:chOff x="0" y="0"/>
            <a:chExt cx="3475634" cy="51206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475609" cy="512064"/>
            </a:xfrm>
            <a:custGeom>
              <a:avLst/>
              <a:gdLst/>
              <a:ahLst/>
              <a:cxnLst/>
              <a:rect r="r" b="b" t="t" l="l"/>
              <a:pathLst>
                <a:path h="512064" w="3475609">
                  <a:moveTo>
                    <a:pt x="0" y="0"/>
                  </a:moveTo>
                  <a:lnTo>
                    <a:pt x="3475609" y="0"/>
                  </a:lnTo>
                  <a:lnTo>
                    <a:pt x="3475609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162" r="0" b="-82162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124712" y="2123408"/>
            <a:ext cx="2606726" cy="398336"/>
            <a:chOff x="0" y="0"/>
            <a:chExt cx="3475634" cy="53111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475635" cy="531114"/>
            </a:xfrm>
            <a:custGeom>
              <a:avLst/>
              <a:gdLst/>
              <a:ahLst/>
              <a:cxnLst/>
              <a:rect r="r" b="b" t="t" l="l"/>
              <a:pathLst>
                <a:path h="531114" w="3475635">
                  <a:moveTo>
                    <a:pt x="0" y="0"/>
                  </a:moveTo>
                  <a:lnTo>
                    <a:pt x="3475635" y="0"/>
                  </a:lnTo>
                  <a:lnTo>
                    <a:pt x="3475635" y="531114"/>
                  </a:lnTo>
                  <a:lnTo>
                    <a:pt x="0" y="5311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7510" r="0" b="-7751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9050"/>
              <a:ext cx="3475634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223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IMPACT PIPELINE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124712" y="3399568"/>
            <a:ext cx="1645920" cy="740664"/>
            <a:chOff x="0" y="0"/>
            <a:chExt cx="2194560" cy="98755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194560" cy="987552"/>
            </a:xfrm>
            <a:custGeom>
              <a:avLst/>
              <a:gdLst/>
              <a:ahLst/>
              <a:cxnLst/>
              <a:rect r="r" b="b" t="t" l="l"/>
              <a:pathLst>
                <a:path h="98755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76" t="0" r="-7777" b="0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124712" y="3370993"/>
            <a:ext cx="1645920" cy="769239"/>
            <a:chOff x="0" y="0"/>
            <a:chExt cx="2194560" cy="102565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194560" cy="1025652"/>
            </a:xfrm>
            <a:custGeom>
              <a:avLst/>
              <a:gdLst/>
              <a:ahLst/>
              <a:cxnLst/>
              <a:rect r="r" b="b" t="t" l="l"/>
              <a:pathLst>
                <a:path h="102565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025652"/>
                  </a:lnTo>
                  <a:lnTo>
                    <a:pt x="0" y="10256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964" t="0" r="-9964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2194560" cy="1063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PHOENIX DOES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124712" y="4195096"/>
            <a:ext cx="1645920" cy="740664"/>
            <a:chOff x="0" y="0"/>
            <a:chExt cx="2194560" cy="98755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194560" cy="987552"/>
            </a:xfrm>
            <a:custGeom>
              <a:avLst/>
              <a:gdLst/>
              <a:ahLst/>
              <a:cxnLst/>
              <a:rect r="r" b="b" t="t" l="l"/>
              <a:pathLst>
                <a:path h="98755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76" t="0" r="-7777" b="0"/>
              </a:stretch>
            </a:blip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124712" y="4166521"/>
            <a:ext cx="1645920" cy="769239"/>
            <a:chOff x="0" y="0"/>
            <a:chExt cx="2194560" cy="102565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194560" cy="1025652"/>
            </a:xfrm>
            <a:custGeom>
              <a:avLst/>
              <a:gdLst/>
              <a:ahLst/>
              <a:cxnLst/>
              <a:rect r="r" b="b" t="t" l="l"/>
              <a:pathLst>
                <a:path h="102565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025652"/>
                  </a:lnTo>
                  <a:lnTo>
                    <a:pt x="0" y="10256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964" t="0" r="-9964" b="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2194560" cy="1063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IMPACT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124712" y="4990624"/>
            <a:ext cx="1645920" cy="795528"/>
            <a:chOff x="0" y="0"/>
            <a:chExt cx="2194560" cy="1060704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194560" cy="1060704"/>
            </a:xfrm>
            <a:custGeom>
              <a:avLst/>
              <a:gdLst/>
              <a:ahLst/>
              <a:cxnLst/>
              <a:rect r="r" b="b" t="t" l="l"/>
              <a:pathLst>
                <a:path h="106070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056" t="0" r="-12056" b="0"/>
              </a:stretch>
            </a:blip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124712" y="4962049"/>
            <a:ext cx="1645920" cy="824103"/>
            <a:chOff x="0" y="0"/>
            <a:chExt cx="2194560" cy="109880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194560" cy="1098804"/>
            </a:xfrm>
            <a:custGeom>
              <a:avLst/>
              <a:gdLst/>
              <a:ahLst/>
              <a:cxnLst/>
              <a:rect r="r" b="b" t="t" l="l"/>
              <a:pathLst>
                <a:path h="109880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098804"/>
                  </a:lnTo>
                  <a:lnTo>
                    <a:pt x="0" y="10988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240" t="0" r="-14240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2194560" cy="11369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MEASURE</a:t>
              </a:r>
            </a:p>
          </p:txBody>
        </p:sp>
      </p:grpSp>
      <p:sp>
        <p:nvSpPr>
          <p:cNvPr name="AutoShape 95" id="95"/>
          <p:cNvSpPr/>
          <p:nvPr/>
        </p:nvSpPr>
        <p:spPr>
          <a:xfrm rot="2040">
            <a:off x="1112806" y="3348895"/>
            <a:ext cx="16089373" cy="0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6" id="96"/>
          <p:cNvSpPr/>
          <p:nvPr/>
        </p:nvSpPr>
        <p:spPr>
          <a:xfrm rot="2040">
            <a:off x="1112806" y="4144423"/>
            <a:ext cx="16089373" cy="0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7" id="97"/>
          <p:cNvSpPr/>
          <p:nvPr/>
        </p:nvSpPr>
        <p:spPr>
          <a:xfrm rot="2040">
            <a:off x="1112806" y="4939951"/>
            <a:ext cx="16089373" cy="0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8" id="98"/>
          <p:cNvGrpSpPr/>
          <p:nvPr/>
        </p:nvGrpSpPr>
        <p:grpSpPr>
          <a:xfrm rot="0">
            <a:off x="2880360" y="2658904"/>
            <a:ext cx="2796159" cy="603504"/>
            <a:chOff x="0" y="0"/>
            <a:chExt cx="3728212" cy="80467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3728212" cy="804672"/>
            </a:xfrm>
            <a:custGeom>
              <a:avLst/>
              <a:gdLst/>
              <a:ahLst/>
              <a:cxnLst/>
              <a:rect r="r" b="b" t="t" l="l"/>
              <a:pathLst>
                <a:path h="804672" w="3728212">
                  <a:moveTo>
                    <a:pt x="0" y="0"/>
                  </a:moveTo>
                  <a:lnTo>
                    <a:pt x="3454654" y="0"/>
                  </a:lnTo>
                  <a:lnTo>
                    <a:pt x="3728212" y="402336"/>
                  </a:lnTo>
                  <a:lnTo>
                    <a:pt x="3454654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1F497D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3044952" y="2658904"/>
            <a:ext cx="2247500" cy="603504"/>
            <a:chOff x="0" y="0"/>
            <a:chExt cx="2996667" cy="80467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996692" cy="804672"/>
            </a:xfrm>
            <a:custGeom>
              <a:avLst/>
              <a:gdLst/>
              <a:ahLst/>
              <a:cxnLst/>
              <a:rect r="r" b="b" t="t" l="l"/>
              <a:pathLst>
                <a:path h="804672" w="2996692">
                  <a:moveTo>
                    <a:pt x="0" y="0"/>
                  </a:moveTo>
                  <a:lnTo>
                    <a:pt x="2996692" y="0"/>
                  </a:lnTo>
                  <a:lnTo>
                    <a:pt x="299669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14" r="0" b="-22512"/>
              </a:stretch>
            </a:blip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3044952" y="2630329"/>
            <a:ext cx="2247500" cy="632079"/>
            <a:chOff x="0" y="0"/>
            <a:chExt cx="2996667" cy="84277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996667" cy="842772"/>
            </a:xfrm>
            <a:custGeom>
              <a:avLst/>
              <a:gdLst/>
              <a:ahLst/>
              <a:cxnLst/>
              <a:rect r="r" b="b" t="t" l="l"/>
              <a:pathLst>
                <a:path h="842772" w="2996667">
                  <a:moveTo>
                    <a:pt x="0" y="0"/>
                  </a:moveTo>
                  <a:lnTo>
                    <a:pt x="2996667" y="0"/>
                  </a:lnTo>
                  <a:lnTo>
                    <a:pt x="2996667" y="842772"/>
                  </a:lnTo>
                  <a:lnTo>
                    <a:pt x="0" y="8427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283" r="0" b="-19283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2996667" cy="8808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  DEPLOY</a:t>
              </a:r>
            </a:p>
          </p:txBody>
        </p:sp>
      </p:grpSp>
      <p:sp>
        <p:nvSpPr>
          <p:cNvPr name="TextBox 105" id="105"/>
          <p:cNvSpPr txBox="true"/>
          <p:nvPr/>
        </p:nvSpPr>
        <p:spPr>
          <a:xfrm rot="0">
            <a:off x="2962656" y="3432513"/>
            <a:ext cx="2604116" cy="854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250" b="true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BACKPACK DEPLOY: </a:t>
            </a:r>
            <a:r>
              <a:rPr lang="en-US" sz="1250">
                <a:solidFill>
                  <a:srgbClr val="3C465A"/>
                </a:solidFill>
                <a:latin typeface="Calibri (MS)"/>
                <a:ea typeface="Calibri (MS)"/>
                <a:cs typeface="Calibri (MS)"/>
                <a:sym typeface="Calibri (MS)"/>
              </a:rPr>
              <a:t>Unbox to autonomous flight in &lt; 3 minutes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2880360" y="4211277"/>
            <a:ext cx="2604116" cy="854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250" b="true">
                <a:solidFill>
                  <a:srgbClr val="1E26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ZERO INFRASTRUCTURE: </a:t>
            </a:r>
            <a:r>
              <a:rPr lang="en-US" sz="1250">
                <a:solidFill>
                  <a:srgbClr val="3C465A"/>
                </a:solidFill>
                <a:latin typeface="Calibri (MS)"/>
                <a:ea typeface="Calibri (MS)"/>
                <a:cs typeface="Calibri (MS)"/>
                <a:sym typeface="Calibri (MS)"/>
              </a:rPr>
              <a:t>Search begins immediately upon arrival</a:t>
            </a:r>
          </a:p>
        </p:txBody>
      </p:sp>
      <p:grpSp>
        <p:nvGrpSpPr>
          <p:cNvPr name="Group 107" id="107"/>
          <p:cNvGrpSpPr/>
          <p:nvPr/>
        </p:nvGrpSpPr>
        <p:grpSpPr>
          <a:xfrm rot="0">
            <a:off x="2880360" y="4990624"/>
            <a:ext cx="2713863" cy="795528"/>
            <a:chOff x="0" y="0"/>
            <a:chExt cx="3618484" cy="1060704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618484" cy="1060704"/>
            </a:xfrm>
            <a:custGeom>
              <a:avLst/>
              <a:gdLst/>
              <a:ahLst/>
              <a:cxnLst/>
              <a:rect r="r" b="b" t="t" l="l"/>
              <a:pathLst>
                <a:path h="1060704" w="361848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435604" y="0"/>
                  </a:lnTo>
                  <a:cubicBezTo>
                    <a:pt x="3536569" y="0"/>
                    <a:pt x="3618484" y="81915"/>
                    <a:pt x="3618484" y="182880"/>
                  </a:cubicBezTo>
                  <a:lnTo>
                    <a:pt x="3618484" y="877824"/>
                  </a:lnTo>
                  <a:cubicBezTo>
                    <a:pt x="3618484" y="978789"/>
                    <a:pt x="3536569" y="1060704"/>
                    <a:pt x="3435604" y="1060704"/>
                  </a:cubicBezTo>
                  <a:lnTo>
                    <a:pt x="182880" y="1060704"/>
                  </a:lnTo>
                  <a:cubicBezTo>
                    <a:pt x="81915" y="1060704"/>
                    <a:pt x="0" y="978789"/>
                    <a:pt x="0" y="877824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2880360" y="5027581"/>
            <a:ext cx="2713844" cy="411480"/>
            <a:chOff x="0" y="0"/>
            <a:chExt cx="3618459" cy="54864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3618484" cy="548640"/>
            </a:xfrm>
            <a:custGeom>
              <a:avLst/>
              <a:gdLst/>
              <a:ahLst/>
              <a:cxnLst/>
              <a:rect r="r" b="b" t="t" l="l"/>
              <a:pathLst>
                <a:path h="548640" w="3618484">
                  <a:moveTo>
                    <a:pt x="0" y="0"/>
                  </a:moveTo>
                  <a:lnTo>
                    <a:pt x="3618484" y="0"/>
                  </a:lnTo>
                  <a:lnTo>
                    <a:pt x="361848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21" r="0" b="-78421"/>
              </a:stretch>
            </a:blip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2880360" y="5000149"/>
            <a:ext cx="2713844" cy="454343"/>
            <a:chOff x="0" y="0"/>
            <a:chExt cx="3618459" cy="60579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3618459" cy="605790"/>
            </a:xfrm>
            <a:custGeom>
              <a:avLst/>
              <a:gdLst/>
              <a:ahLst/>
              <a:cxnLst/>
              <a:rect r="r" b="b" t="t" l="l"/>
              <a:pathLst>
                <a:path h="605790" w="3618459">
                  <a:moveTo>
                    <a:pt x="0" y="0"/>
                  </a:moveTo>
                  <a:lnTo>
                    <a:pt x="3618459" y="0"/>
                  </a:lnTo>
                  <a:lnTo>
                    <a:pt x="3618459" y="605790"/>
                  </a:lnTo>
                  <a:lnTo>
                    <a:pt x="0" y="6057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6386" r="0" b="-66386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57150"/>
              <a:ext cx="3618459" cy="662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&lt; 3 min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2880360" y="5429536"/>
            <a:ext cx="2713844" cy="329184"/>
            <a:chOff x="0" y="0"/>
            <a:chExt cx="3618459" cy="438912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3618484" cy="438912"/>
            </a:xfrm>
            <a:custGeom>
              <a:avLst/>
              <a:gdLst/>
              <a:ahLst/>
              <a:cxnLst/>
              <a:rect r="r" b="b" t="t" l="l"/>
              <a:pathLst>
                <a:path h="438912" w="3618484">
                  <a:moveTo>
                    <a:pt x="0" y="0"/>
                  </a:moveTo>
                  <a:lnTo>
                    <a:pt x="3618484" y="0"/>
                  </a:lnTo>
                  <a:lnTo>
                    <a:pt x="3618484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526" r="0" b="-110526"/>
              </a:stretch>
            </a:blip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2880360" y="5400961"/>
            <a:ext cx="2713844" cy="357759"/>
            <a:chOff x="0" y="0"/>
            <a:chExt cx="3618459" cy="477012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3618459" cy="477012"/>
            </a:xfrm>
            <a:custGeom>
              <a:avLst/>
              <a:gdLst/>
              <a:ahLst/>
              <a:cxnLst/>
              <a:rect r="r" b="b" t="t" l="l"/>
              <a:pathLst>
                <a:path h="477012" w="3618459">
                  <a:moveTo>
                    <a:pt x="0" y="0"/>
                  </a:moveTo>
                  <a:lnTo>
                    <a:pt x="3618459" y="0"/>
                  </a:lnTo>
                  <a:lnTo>
                    <a:pt x="3618459" y="477012"/>
                  </a:lnTo>
                  <a:lnTo>
                    <a:pt x="0" y="4770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7807" r="0" b="-97807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3618459" cy="5151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660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unboxing to flight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5758796" y="2658904"/>
            <a:ext cx="2796159" cy="603504"/>
            <a:chOff x="0" y="0"/>
            <a:chExt cx="3728212" cy="804672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3728212" cy="804672"/>
            </a:xfrm>
            <a:custGeom>
              <a:avLst/>
              <a:gdLst/>
              <a:ahLst/>
              <a:cxnLst/>
              <a:rect r="r" b="b" t="t" l="l"/>
              <a:pathLst>
                <a:path h="804672" w="3728212">
                  <a:moveTo>
                    <a:pt x="0" y="0"/>
                  </a:moveTo>
                  <a:lnTo>
                    <a:pt x="3454654" y="0"/>
                  </a:lnTo>
                  <a:lnTo>
                    <a:pt x="3728212" y="402336"/>
                  </a:lnTo>
                  <a:lnTo>
                    <a:pt x="3454654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1F497D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5923388" y="2658904"/>
            <a:ext cx="2247500" cy="603504"/>
            <a:chOff x="0" y="0"/>
            <a:chExt cx="2996667" cy="804672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2996692" cy="804672"/>
            </a:xfrm>
            <a:custGeom>
              <a:avLst/>
              <a:gdLst/>
              <a:ahLst/>
              <a:cxnLst/>
              <a:rect r="r" b="b" t="t" l="l"/>
              <a:pathLst>
                <a:path h="804672" w="2996692">
                  <a:moveTo>
                    <a:pt x="0" y="0"/>
                  </a:moveTo>
                  <a:lnTo>
                    <a:pt x="2996692" y="0"/>
                  </a:lnTo>
                  <a:lnTo>
                    <a:pt x="299669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14" r="0" b="-22512"/>
              </a:stretch>
            </a:blip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5923388" y="2630329"/>
            <a:ext cx="2247500" cy="632079"/>
            <a:chOff x="0" y="0"/>
            <a:chExt cx="2996667" cy="842772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996667" cy="842772"/>
            </a:xfrm>
            <a:custGeom>
              <a:avLst/>
              <a:gdLst/>
              <a:ahLst/>
              <a:cxnLst/>
              <a:rect r="r" b="b" t="t" l="l"/>
              <a:pathLst>
                <a:path h="842772" w="2996667">
                  <a:moveTo>
                    <a:pt x="0" y="0"/>
                  </a:moveTo>
                  <a:lnTo>
                    <a:pt x="2996667" y="0"/>
                  </a:lnTo>
                  <a:lnTo>
                    <a:pt x="2996667" y="842772"/>
                  </a:lnTo>
                  <a:lnTo>
                    <a:pt x="0" y="8427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283" r="0" b="-19283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38100"/>
              <a:ext cx="2996667" cy="8808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  SEARCH</a:t>
              </a:r>
            </a:p>
          </p:txBody>
        </p:sp>
      </p:grpSp>
      <p:sp>
        <p:nvSpPr>
          <p:cNvPr name="TextBox 126" id="126"/>
          <p:cNvSpPr txBox="true"/>
          <p:nvPr/>
        </p:nvSpPr>
        <p:spPr>
          <a:xfrm rot="0">
            <a:off x="5841092" y="3371355"/>
            <a:ext cx="2604116" cy="67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250" b="true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BOUSTROPHEDON SWEEP: </a:t>
            </a:r>
            <a:r>
              <a:rPr lang="en-US" sz="1250">
                <a:solidFill>
                  <a:srgbClr val="3C465A"/>
                </a:solidFill>
                <a:latin typeface="Calibri (MS)"/>
                <a:ea typeface="Calibri (MS)"/>
                <a:cs typeface="Calibri (MS)"/>
                <a:sym typeface="Calibri (MS)"/>
              </a:rPr>
              <a:t>Autonomous dual 1080p + thermal grid coverage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5758796" y="4211277"/>
            <a:ext cx="2604116" cy="854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250" b="true">
                <a:solidFill>
                  <a:srgbClr val="1E26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ALL-WEATHER SCAN: </a:t>
            </a:r>
            <a:r>
              <a:rPr lang="en-US" sz="1250">
                <a:solidFill>
                  <a:srgbClr val="3C465A"/>
                </a:solidFill>
                <a:latin typeface="Calibri (MS)"/>
                <a:ea typeface="Calibri (MS)"/>
                <a:cs typeface="Calibri (MS)"/>
                <a:sym typeface="Calibri (MS)"/>
              </a:rPr>
              <a:t>Continuous search in smoke, dust &amp; darkness</a:t>
            </a:r>
          </a:p>
        </p:txBody>
      </p:sp>
      <p:grpSp>
        <p:nvGrpSpPr>
          <p:cNvPr name="Group 128" id="128"/>
          <p:cNvGrpSpPr/>
          <p:nvPr/>
        </p:nvGrpSpPr>
        <p:grpSpPr>
          <a:xfrm rot="0">
            <a:off x="5758796" y="4990624"/>
            <a:ext cx="2713863" cy="795528"/>
            <a:chOff x="0" y="0"/>
            <a:chExt cx="3618484" cy="1060704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3618484" cy="1060704"/>
            </a:xfrm>
            <a:custGeom>
              <a:avLst/>
              <a:gdLst/>
              <a:ahLst/>
              <a:cxnLst/>
              <a:rect r="r" b="b" t="t" l="l"/>
              <a:pathLst>
                <a:path h="1060704" w="361848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435604" y="0"/>
                  </a:lnTo>
                  <a:cubicBezTo>
                    <a:pt x="3536569" y="0"/>
                    <a:pt x="3618484" y="81915"/>
                    <a:pt x="3618484" y="182880"/>
                  </a:cubicBezTo>
                  <a:lnTo>
                    <a:pt x="3618484" y="877824"/>
                  </a:lnTo>
                  <a:cubicBezTo>
                    <a:pt x="3618484" y="978789"/>
                    <a:pt x="3536569" y="1060704"/>
                    <a:pt x="3435604" y="1060704"/>
                  </a:cubicBezTo>
                  <a:lnTo>
                    <a:pt x="182880" y="1060704"/>
                  </a:lnTo>
                  <a:cubicBezTo>
                    <a:pt x="81915" y="1060704"/>
                    <a:pt x="0" y="978789"/>
                    <a:pt x="0" y="877824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5758796" y="5027581"/>
            <a:ext cx="2713844" cy="411480"/>
            <a:chOff x="0" y="0"/>
            <a:chExt cx="3618459" cy="54864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3618484" cy="548640"/>
            </a:xfrm>
            <a:custGeom>
              <a:avLst/>
              <a:gdLst/>
              <a:ahLst/>
              <a:cxnLst/>
              <a:rect r="r" b="b" t="t" l="l"/>
              <a:pathLst>
                <a:path h="548640" w="3618484">
                  <a:moveTo>
                    <a:pt x="0" y="0"/>
                  </a:moveTo>
                  <a:lnTo>
                    <a:pt x="3618484" y="0"/>
                  </a:lnTo>
                  <a:lnTo>
                    <a:pt x="361848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21" r="0" b="-78421"/>
              </a:stretch>
            </a:blip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5758796" y="5000149"/>
            <a:ext cx="2713844" cy="454343"/>
            <a:chOff x="0" y="0"/>
            <a:chExt cx="3618459" cy="605790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3618459" cy="605790"/>
            </a:xfrm>
            <a:custGeom>
              <a:avLst/>
              <a:gdLst/>
              <a:ahLst/>
              <a:cxnLst/>
              <a:rect r="r" b="b" t="t" l="l"/>
              <a:pathLst>
                <a:path h="605790" w="3618459">
                  <a:moveTo>
                    <a:pt x="0" y="0"/>
                  </a:moveTo>
                  <a:lnTo>
                    <a:pt x="3618459" y="0"/>
                  </a:lnTo>
                  <a:lnTo>
                    <a:pt x="3618459" y="605790"/>
                  </a:lnTo>
                  <a:lnTo>
                    <a:pt x="0" y="6057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6386" r="0" b="-66386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57150"/>
              <a:ext cx="3618459" cy="662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 km²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5758796" y="5429536"/>
            <a:ext cx="2713844" cy="329184"/>
            <a:chOff x="0" y="0"/>
            <a:chExt cx="3618459" cy="438912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3618484" cy="438912"/>
            </a:xfrm>
            <a:custGeom>
              <a:avLst/>
              <a:gdLst/>
              <a:ahLst/>
              <a:cxnLst/>
              <a:rect r="r" b="b" t="t" l="l"/>
              <a:pathLst>
                <a:path h="438912" w="3618484">
                  <a:moveTo>
                    <a:pt x="0" y="0"/>
                  </a:moveTo>
                  <a:lnTo>
                    <a:pt x="3618484" y="0"/>
                  </a:lnTo>
                  <a:lnTo>
                    <a:pt x="3618484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526" r="0" b="-110526"/>
              </a:stretch>
            </a:blip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5758796" y="5400961"/>
            <a:ext cx="2713844" cy="357759"/>
            <a:chOff x="0" y="0"/>
            <a:chExt cx="3618459" cy="477012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3618459" cy="477012"/>
            </a:xfrm>
            <a:custGeom>
              <a:avLst/>
              <a:gdLst/>
              <a:ahLst/>
              <a:cxnLst/>
              <a:rect r="r" b="b" t="t" l="l"/>
              <a:pathLst>
                <a:path h="477012" w="3618459">
                  <a:moveTo>
                    <a:pt x="0" y="0"/>
                  </a:moveTo>
                  <a:lnTo>
                    <a:pt x="3618459" y="0"/>
                  </a:lnTo>
                  <a:lnTo>
                    <a:pt x="3618459" y="477012"/>
                  </a:lnTo>
                  <a:lnTo>
                    <a:pt x="0" y="4770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7807" r="0" b="-97807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38100"/>
              <a:ext cx="3618459" cy="5151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660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search sector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8637241" y="2658904"/>
            <a:ext cx="2796159" cy="603504"/>
            <a:chOff x="0" y="0"/>
            <a:chExt cx="3728212" cy="804672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3728212" cy="804672"/>
            </a:xfrm>
            <a:custGeom>
              <a:avLst/>
              <a:gdLst/>
              <a:ahLst/>
              <a:cxnLst/>
              <a:rect r="r" b="b" t="t" l="l"/>
              <a:pathLst>
                <a:path h="804672" w="3728212">
                  <a:moveTo>
                    <a:pt x="0" y="0"/>
                  </a:moveTo>
                  <a:lnTo>
                    <a:pt x="3454654" y="0"/>
                  </a:lnTo>
                  <a:lnTo>
                    <a:pt x="3728212" y="402336"/>
                  </a:lnTo>
                  <a:lnTo>
                    <a:pt x="3454654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1F497D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8801833" y="2658904"/>
            <a:ext cx="2247500" cy="603504"/>
            <a:chOff x="0" y="0"/>
            <a:chExt cx="2996667" cy="804672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2996692" cy="804672"/>
            </a:xfrm>
            <a:custGeom>
              <a:avLst/>
              <a:gdLst/>
              <a:ahLst/>
              <a:cxnLst/>
              <a:rect r="r" b="b" t="t" l="l"/>
              <a:pathLst>
                <a:path h="804672" w="2996692">
                  <a:moveTo>
                    <a:pt x="0" y="0"/>
                  </a:moveTo>
                  <a:lnTo>
                    <a:pt x="2996692" y="0"/>
                  </a:lnTo>
                  <a:lnTo>
                    <a:pt x="299669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14" r="0" b="-22512"/>
              </a:stretch>
            </a:blip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8801833" y="2630329"/>
            <a:ext cx="2247500" cy="632079"/>
            <a:chOff x="0" y="0"/>
            <a:chExt cx="2996667" cy="842772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2996667" cy="842772"/>
            </a:xfrm>
            <a:custGeom>
              <a:avLst/>
              <a:gdLst/>
              <a:ahLst/>
              <a:cxnLst/>
              <a:rect r="r" b="b" t="t" l="l"/>
              <a:pathLst>
                <a:path h="842772" w="2996667">
                  <a:moveTo>
                    <a:pt x="0" y="0"/>
                  </a:moveTo>
                  <a:lnTo>
                    <a:pt x="2996667" y="0"/>
                  </a:lnTo>
                  <a:lnTo>
                    <a:pt x="2996667" y="842772"/>
                  </a:lnTo>
                  <a:lnTo>
                    <a:pt x="0" y="8427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283" r="0" b="-19283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38100"/>
              <a:ext cx="2996667" cy="8808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  LOCATE</a:t>
              </a:r>
            </a:p>
          </p:txBody>
        </p:sp>
      </p:grpSp>
      <p:sp>
        <p:nvSpPr>
          <p:cNvPr name="TextBox 147" id="147"/>
          <p:cNvSpPr txBox="true"/>
          <p:nvPr/>
        </p:nvSpPr>
        <p:spPr>
          <a:xfrm rot="0">
            <a:off x="8719537" y="3371355"/>
            <a:ext cx="2604116" cy="453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250" b="true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INSTANT GEOREFERENCING: </a:t>
            </a:r>
            <a:r>
              <a:rPr lang="en-US" sz="1250">
                <a:solidFill>
                  <a:srgbClr val="3C465A"/>
                </a:solidFill>
                <a:latin typeface="Calibri (MS)"/>
                <a:ea typeface="Calibri (MS)"/>
                <a:cs typeface="Calibri (MS)"/>
                <a:sym typeface="Calibri (MS)"/>
              </a:rPr>
              <a:t>Tait-Bryan projection calculates exact ground GPS</a:t>
            </a:r>
          </a:p>
        </p:txBody>
      </p:sp>
      <p:sp>
        <p:nvSpPr>
          <p:cNvPr name="TextBox 148" id="148"/>
          <p:cNvSpPr txBox="true"/>
          <p:nvPr/>
        </p:nvSpPr>
        <p:spPr>
          <a:xfrm rot="0">
            <a:off x="8637241" y="4211277"/>
            <a:ext cx="2604116" cy="854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250" b="true">
                <a:solidFill>
                  <a:srgbClr val="1E26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ZERO SEARCH DELAY: </a:t>
            </a:r>
            <a:r>
              <a:rPr lang="en-US" sz="1250">
                <a:solidFill>
                  <a:srgbClr val="3C465A"/>
                </a:solidFill>
                <a:latin typeface="Calibri (MS)"/>
                <a:ea typeface="Calibri (MS)"/>
                <a:cs typeface="Calibri (MS)"/>
                <a:sym typeface="Calibri (MS)"/>
              </a:rPr>
              <a:t>Rescuers proceed straight to survivor coordinates</a:t>
            </a:r>
          </a:p>
        </p:txBody>
      </p:sp>
      <p:grpSp>
        <p:nvGrpSpPr>
          <p:cNvPr name="Group 149" id="149"/>
          <p:cNvGrpSpPr/>
          <p:nvPr/>
        </p:nvGrpSpPr>
        <p:grpSpPr>
          <a:xfrm rot="0">
            <a:off x="8637241" y="4990624"/>
            <a:ext cx="2713863" cy="795528"/>
            <a:chOff x="0" y="0"/>
            <a:chExt cx="3618484" cy="1060704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3618484" cy="1060704"/>
            </a:xfrm>
            <a:custGeom>
              <a:avLst/>
              <a:gdLst/>
              <a:ahLst/>
              <a:cxnLst/>
              <a:rect r="r" b="b" t="t" l="l"/>
              <a:pathLst>
                <a:path h="1060704" w="361848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435604" y="0"/>
                  </a:lnTo>
                  <a:cubicBezTo>
                    <a:pt x="3536569" y="0"/>
                    <a:pt x="3618484" y="81915"/>
                    <a:pt x="3618484" y="182880"/>
                  </a:cubicBezTo>
                  <a:lnTo>
                    <a:pt x="3618484" y="877824"/>
                  </a:lnTo>
                  <a:cubicBezTo>
                    <a:pt x="3618484" y="978789"/>
                    <a:pt x="3536569" y="1060704"/>
                    <a:pt x="3435604" y="1060704"/>
                  </a:cubicBezTo>
                  <a:lnTo>
                    <a:pt x="182880" y="1060704"/>
                  </a:lnTo>
                  <a:cubicBezTo>
                    <a:pt x="81915" y="1060704"/>
                    <a:pt x="0" y="978789"/>
                    <a:pt x="0" y="877824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8637241" y="5027581"/>
            <a:ext cx="2713844" cy="411480"/>
            <a:chOff x="0" y="0"/>
            <a:chExt cx="3618459" cy="54864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3618484" cy="548640"/>
            </a:xfrm>
            <a:custGeom>
              <a:avLst/>
              <a:gdLst/>
              <a:ahLst/>
              <a:cxnLst/>
              <a:rect r="r" b="b" t="t" l="l"/>
              <a:pathLst>
                <a:path h="548640" w="3618484">
                  <a:moveTo>
                    <a:pt x="0" y="0"/>
                  </a:moveTo>
                  <a:lnTo>
                    <a:pt x="3618484" y="0"/>
                  </a:lnTo>
                  <a:lnTo>
                    <a:pt x="361848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21" r="0" b="-78421"/>
              </a:stretch>
            </a:blip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8637241" y="5000149"/>
            <a:ext cx="2713844" cy="454343"/>
            <a:chOff x="0" y="0"/>
            <a:chExt cx="3618459" cy="605790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3618459" cy="605790"/>
            </a:xfrm>
            <a:custGeom>
              <a:avLst/>
              <a:gdLst/>
              <a:ahLst/>
              <a:cxnLst/>
              <a:rect r="r" b="b" t="t" l="l"/>
              <a:pathLst>
                <a:path h="605790" w="3618459">
                  <a:moveTo>
                    <a:pt x="0" y="0"/>
                  </a:moveTo>
                  <a:lnTo>
                    <a:pt x="3618459" y="0"/>
                  </a:lnTo>
                  <a:lnTo>
                    <a:pt x="3618459" y="605790"/>
                  </a:lnTo>
                  <a:lnTo>
                    <a:pt x="0" y="6057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6386" r="0" b="-66386"/>
              </a:stretch>
            </a:blipFill>
          </p:spPr>
        </p:sp>
        <p:sp>
          <p:nvSpPr>
            <p:cNvPr name="TextBox 155" id="155"/>
            <p:cNvSpPr txBox="true"/>
            <p:nvPr/>
          </p:nvSpPr>
          <p:spPr>
            <a:xfrm>
              <a:off x="0" y="-57150"/>
              <a:ext cx="3618459" cy="662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 cell towers</a:t>
              </a:r>
            </a:p>
          </p:txBody>
        </p:sp>
      </p:grpSp>
      <p:grpSp>
        <p:nvGrpSpPr>
          <p:cNvPr name="Group 156" id="156"/>
          <p:cNvGrpSpPr/>
          <p:nvPr/>
        </p:nvGrpSpPr>
        <p:grpSpPr>
          <a:xfrm rot="0">
            <a:off x="8637241" y="5429536"/>
            <a:ext cx="2713844" cy="329184"/>
            <a:chOff x="0" y="0"/>
            <a:chExt cx="3618459" cy="438912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3618484" cy="438912"/>
            </a:xfrm>
            <a:custGeom>
              <a:avLst/>
              <a:gdLst/>
              <a:ahLst/>
              <a:cxnLst/>
              <a:rect r="r" b="b" t="t" l="l"/>
              <a:pathLst>
                <a:path h="438912" w="3618484">
                  <a:moveTo>
                    <a:pt x="0" y="0"/>
                  </a:moveTo>
                  <a:lnTo>
                    <a:pt x="3618484" y="0"/>
                  </a:lnTo>
                  <a:lnTo>
                    <a:pt x="3618484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526" r="0" b="-110526"/>
              </a:stretch>
            </a:blip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8637241" y="5400961"/>
            <a:ext cx="2713844" cy="357759"/>
            <a:chOff x="0" y="0"/>
            <a:chExt cx="3618459" cy="477012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3618459" cy="477012"/>
            </a:xfrm>
            <a:custGeom>
              <a:avLst/>
              <a:gdLst/>
              <a:ahLst/>
              <a:cxnLst/>
              <a:rect r="r" b="b" t="t" l="l"/>
              <a:pathLst>
                <a:path h="477012" w="3618459">
                  <a:moveTo>
                    <a:pt x="0" y="0"/>
                  </a:moveTo>
                  <a:lnTo>
                    <a:pt x="3618459" y="0"/>
                  </a:lnTo>
                  <a:lnTo>
                    <a:pt x="3618459" y="477012"/>
                  </a:lnTo>
                  <a:lnTo>
                    <a:pt x="0" y="4770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7807" r="0" b="-97807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38100"/>
              <a:ext cx="3618459" cy="5151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660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needed to report locations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1515677" y="2658904"/>
            <a:ext cx="2796159" cy="603504"/>
            <a:chOff x="0" y="0"/>
            <a:chExt cx="3728212" cy="804672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3728212" cy="804672"/>
            </a:xfrm>
            <a:custGeom>
              <a:avLst/>
              <a:gdLst/>
              <a:ahLst/>
              <a:cxnLst/>
              <a:rect r="r" b="b" t="t" l="l"/>
              <a:pathLst>
                <a:path h="804672" w="3728212">
                  <a:moveTo>
                    <a:pt x="0" y="0"/>
                  </a:moveTo>
                  <a:lnTo>
                    <a:pt x="3454654" y="0"/>
                  </a:lnTo>
                  <a:lnTo>
                    <a:pt x="3728212" y="402336"/>
                  </a:lnTo>
                  <a:lnTo>
                    <a:pt x="3454654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1F497D"/>
            </a:solid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11680269" y="2658904"/>
            <a:ext cx="2247500" cy="603504"/>
            <a:chOff x="0" y="0"/>
            <a:chExt cx="2996667" cy="804672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2996692" cy="804672"/>
            </a:xfrm>
            <a:custGeom>
              <a:avLst/>
              <a:gdLst/>
              <a:ahLst/>
              <a:cxnLst/>
              <a:rect r="r" b="b" t="t" l="l"/>
              <a:pathLst>
                <a:path h="804672" w="2996692">
                  <a:moveTo>
                    <a:pt x="0" y="0"/>
                  </a:moveTo>
                  <a:lnTo>
                    <a:pt x="2996692" y="0"/>
                  </a:lnTo>
                  <a:lnTo>
                    <a:pt x="299669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14" r="0" b="-22512"/>
              </a:stretch>
            </a:blip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11680269" y="2630329"/>
            <a:ext cx="2247500" cy="632079"/>
            <a:chOff x="0" y="0"/>
            <a:chExt cx="2996667" cy="842772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2996667" cy="842772"/>
            </a:xfrm>
            <a:custGeom>
              <a:avLst/>
              <a:gdLst/>
              <a:ahLst/>
              <a:cxnLst/>
              <a:rect r="r" b="b" t="t" l="l"/>
              <a:pathLst>
                <a:path h="842772" w="2996667">
                  <a:moveTo>
                    <a:pt x="0" y="0"/>
                  </a:moveTo>
                  <a:lnTo>
                    <a:pt x="2996667" y="0"/>
                  </a:lnTo>
                  <a:lnTo>
                    <a:pt x="2996667" y="842772"/>
                  </a:lnTo>
                  <a:lnTo>
                    <a:pt x="0" y="8427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283" r="0" b="-19283"/>
              </a:stretch>
            </a:blipFill>
          </p:spPr>
        </p:sp>
        <p:sp>
          <p:nvSpPr>
            <p:cNvPr name="TextBox 167" id="167"/>
            <p:cNvSpPr txBox="true"/>
            <p:nvPr/>
          </p:nvSpPr>
          <p:spPr>
            <a:xfrm>
              <a:off x="0" y="-38100"/>
              <a:ext cx="2996667" cy="8808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  RESPOND</a:t>
              </a:r>
            </a:p>
          </p:txBody>
        </p:sp>
      </p:grpSp>
      <p:sp>
        <p:nvSpPr>
          <p:cNvPr name="TextBox 168" id="168"/>
          <p:cNvSpPr txBox="true"/>
          <p:nvPr/>
        </p:nvSpPr>
        <p:spPr>
          <a:xfrm rot="0">
            <a:off x="11597973" y="3313843"/>
            <a:ext cx="2604116" cy="67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250" b="true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TRIAGE &amp; HAZARD ROUTE: </a:t>
            </a:r>
            <a:r>
              <a:rPr lang="en-US" sz="1250">
                <a:solidFill>
                  <a:srgbClr val="3C465A"/>
                </a:solidFill>
                <a:latin typeface="Calibri (MS)"/>
                <a:ea typeface="Calibri (MS)"/>
                <a:cs typeface="Calibri (MS)"/>
                <a:sym typeface="Calibri (MS)"/>
              </a:rPr>
              <a:t>Ranks casualties &amp; computes Dijkstra safe corridors [1]</a:t>
            </a:r>
          </a:p>
        </p:txBody>
      </p:sp>
      <p:sp>
        <p:nvSpPr>
          <p:cNvPr name="TextBox 169" id="169"/>
          <p:cNvSpPr txBox="true"/>
          <p:nvPr/>
        </p:nvSpPr>
        <p:spPr>
          <a:xfrm rot="0">
            <a:off x="11515677" y="4211277"/>
            <a:ext cx="2604116" cy="854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250" b="true">
                <a:solidFill>
                  <a:srgbClr val="1E26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CREW PROTECTION: </a:t>
            </a:r>
            <a:r>
              <a:rPr lang="en-US" sz="1250">
                <a:solidFill>
                  <a:srgbClr val="3C465A"/>
                </a:solidFill>
                <a:latin typeface="Calibri (MS)"/>
                <a:ea typeface="Calibri (MS)"/>
                <a:cs typeface="Calibri (MS)"/>
                <a:sym typeface="Calibri (MS)"/>
              </a:rPr>
              <a:t>Rescuers avoid live power cables &amp; gas hazards</a:t>
            </a:r>
          </a:p>
        </p:txBody>
      </p:sp>
      <p:grpSp>
        <p:nvGrpSpPr>
          <p:cNvPr name="Group 170" id="170"/>
          <p:cNvGrpSpPr/>
          <p:nvPr/>
        </p:nvGrpSpPr>
        <p:grpSpPr>
          <a:xfrm rot="0">
            <a:off x="11515677" y="4990624"/>
            <a:ext cx="2713863" cy="795528"/>
            <a:chOff x="0" y="0"/>
            <a:chExt cx="3618484" cy="1060704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3618484" cy="1060704"/>
            </a:xfrm>
            <a:custGeom>
              <a:avLst/>
              <a:gdLst/>
              <a:ahLst/>
              <a:cxnLst/>
              <a:rect r="r" b="b" t="t" l="l"/>
              <a:pathLst>
                <a:path h="1060704" w="361848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435604" y="0"/>
                  </a:lnTo>
                  <a:cubicBezTo>
                    <a:pt x="3536569" y="0"/>
                    <a:pt x="3618484" y="81915"/>
                    <a:pt x="3618484" y="182880"/>
                  </a:cubicBezTo>
                  <a:lnTo>
                    <a:pt x="3618484" y="877824"/>
                  </a:lnTo>
                  <a:cubicBezTo>
                    <a:pt x="3618484" y="978789"/>
                    <a:pt x="3536569" y="1060704"/>
                    <a:pt x="3435604" y="1060704"/>
                  </a:cubicBezTo>
                  <a:lnTo>
                    <a:pt x="182880" y="1060704"/>
                  </a:lnTo>
                  <a:cubicBezTo>
                    <a:pt x="81915" y="1060704"/>
                    <a:pt x="0" y="978789"/>
                    <a:pt x="0" y="877824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1515677" y="5027581"/>
            <a:ext cx="2713844" cy="411480"/>
            <a:chOff x="0" y="0"/>
            <a:chExt cx="3618459" cy="5486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3618484" cy="548640"/>
            </a:xfrm>
            <a:custGeom>
              <a:avLst/>
              <a:gdLst/>
              <a:ahLst/>
              <a:cxnLst/>
              <a:rect r="r" b="b" t="t" l="l"/>
              <a:pathLst>
                <a:path h="548640" w="3618484">
                  <a:moveTo>
                    <a:pt x="0" y="0"/>
                  </a:moveTo>
                  <a:lnTo>
                    <a:pt x="3618484" y="0"/>
                  </a:lnTo>
                  <a:lnTo>
                    <a:pt x="361848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21" r="0" b="-78421"/>
              </a:stretch>
            </a:blip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1515677" y="5000149"/>
            <a:ext cx="2713844" cy="454343"/>
            <a:chOff x="0" y="0"/>
            <a:chExt cx="3618459" cy="60579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3618459" cy="605790"/>
            </a:xfrm>
            <a:custGeom>
              <a:avLst/>
              <a:gdLst/>
              <a:ahLst/>
              <a:cxnLst/>
              <a:rect r="r" b="b" t="t" l="l"/>
              <a:pathLst>
                <a:path h="605790" w="3618459">
                  <a:moveTo>
                    <a:pt x="0" y="0"/>
                  </a:moveTo>
                  <a:lnTo>
                    <a:pt x="3618459" y="0"/>
                  </a:lnTo>
                  <a:lnTo>
                    <a:pt x="3618459" y="605790"/>
                  </a:lnTo>
                  <a:lnTo>
                    <a:pt x="0" y="6057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6386" r="0" b="-66386"/>
              </a:stretch>
            </a:blipFill>
          </p:spPr>
        </p:sp>
        <p:sp>
          <p:nvSpPr>
            <p:cNvPr name="TextBox 176" id="176"/>
            <p:cNvSpPr txBox="true"/>
            <p:nvPr/>
          </p:nvSpPr>
          <p:spPr>
            <a:xfrm>
              <a:off x="0" y="-57150"/>
              <a:ext cx="3618459" cy="662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Ranked queue</a:t>
              </a:r>
            </a:p>
          </p:txBody>
        </p:sp>
      </p:grpSp>
      <p:grpSp>
        <p:nvGrpSpPr>
          <p:cNvPr name="Group 177" id="177"/>
          <p:cNvGrpSpPr/>
          <p:nvPr/>
        </p:nvGrpSpPr>
        <p:grpSpPr>
          <a:xfrm rot="0">
            <a:off x="11515677" y="5429536"/>
            <a:ext cx="2713844" cy="329184"/>
            <a:chOff x="0" y="0"/>
            <a:chExt cx="3618459" cy="438912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3618484" cy="438912"/>
            </a:xfrm>
            <a:custGeom>
              <a:avLst/>
              <a:gdLst/>
              <a:ahLst/>
              <a:cxnLst/>
              <a:rect r="r" b="b" t="t" l="l"/>
              <a:pathLst>
                <a:path h="438912" w="3618484">
                  <a:moveTo>
                    <a:pt x="0" y="0"/>
                  </a:moveTo>
                  <a:lnTo>
                    <a:pt x="3618484" y="0"/>
                  </a:lnTo>
                  <a:lnTo>
                    <a:pt x="3618484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526" r="0" b="-110526"/>
              </a:stretch>
            </a:blip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11515677" y="5400961"/>
            <a:ext cx="2713844" cy="357759"/>
            <a:chOff x="0" y="0"/>
            <a:chExt cx="3618459" cy="477012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3618459" cy="477012"/>
            </a:xfrm>
            <a:custGeom>
              <a:avLst/>
              <a:gdLst/>
              <a:ahLst/>
              <a:cxnLst/>
              <a:rect r="r" b="b" t="t" l="l"/>
              <a:pathLst>
                <a:path h="477012" w="3618459">
                  <a:moveTo>
                    <a:pt x="0" y="0"/>
                  </a:moveTo>
                  <a:lnTo>
                    <a:pt x="3618459" y="0"/>
                  </a:lnTo>
                  <a:lnTo>
                    <a:pt x="3618459" y="477012"/>
                  </a:lnTo>
                  <a:lnTo>
                    <a:pt x="0" y="4770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7807" r="0" b="-97807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38100"/>
              <a:ext cx="3618459" cy="5151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660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 safe rescue route</a:t>
              </a:r>
            </a:p>
          </p:txBody>
        </p:sp>
      </p:grpSp>
      <p:grpSp>
        <p:nvGrpSpPr>
          <p:cNvPr name="Group 182" id="182"/>
          <p:cNvGrpSpPr/>
          <p:nvPr/>
        </p:nvGrpSpPr>
        <p:grpSpPr>
          <a:xfrm rot="0">
            <a:off x="14394123" y="2658904"/>
            <a:ext cx="2796159" cy="603504"/>
            <a:chOff x="0" y="0"/>
            <a:chExt cx="3728212" cy="804672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3728212" cy="804672"/>
            </a:xfrm>
            <a:custGeom>
              <a:avLst/>
              <a:gdLst/>
              <a:ahLst/>
              <a:cxnLst/>
              <a:rect r="r" b="b" t="t" l="l"/>
              <a:pathLst>
                <a:path h="804672" w="3728212">
                  <a:moveTo>
                    <a:pt x="0" y="0"/>
                  </a:moveTo>
                  <a:lnTo>
                    <a:pt x="3454654" y="0"/>
                  </a:lnTo>
                  <a:lnTo>
                    <a:pt x="3728212" y="402336"/>
                  </a:lnTo>
                  <a:lnTo>
                    <a:pt x="3454654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184" id="184"/>
          <p:cNvGrpSpPr/>
          <p:nvPr/>
        </p:nvGrpSpPr>
        <p:grpSpPr>
          <a:xfrm rot="0">
            <a:off x="14558715" y="2658904"/>
            <a:ext cx="2247500" cy="603504"/>
            <a:chOff x="0" y="0"/>
            <a:chExt cx="2996667" cy="804672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0" y="0"/>
              <a:ext cx="2996692" cy="804672"/>
            </a:xfrm>
            <a:custGeom>
              <a:avLst/>
              <a:gdLst/>
              <a:ahLst/>
              <a:cxnLst/>
              <a:rect r="r" b="b" t="t" l="l"/>
              <a:pathLst>
                <a:path h="804672" w="2996692">
                  <a:moveTo>
                    <a:pt x="0" y="0"/>
                  </a:moveTo>
                  <a:lnTo>
                    <a:pt x="2996692" y="0"/>
                  </a:lnTo>
                  <a:lnTo>
                    <a:pt x="299669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14" r="0" b="-22512"/>
              </a:stretch>
            </a:blipFill>
          </p:spPr>
        </p:sp>
      </p:grpSp>
      <p:grpSp>
        <p:nvGrpSpPr>
          <p:cNvPr name="Group 186" id="186"/>
          <p:cNvGrpSpPr/>
          <p:nvPr/>
        </p:nvGrpSpPr>
        <p:grpSpPr>
          <a:xfrm rot="0">
            <a:off x="14558715" y="2630329"/>
            <a:ext cx="2247500" cy="632079"/>
            <a:chOff x="0" y="0"/>
            <a:chExt cx="2996667" cy="842772"/>
          </a:xfrm>
        </p:grpSpPr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2996667" cy="842772"/>
            </a:xfrm>
            <a:custGeom>
              <a:avLst/>
              <a:gdLst/>
              <a:ahLst/>
              <a:cxnLst/>
              <a:rect r="r" b="b" t="t" l="l"/>
              <a:pathLst>
                <a:path h="842772" w="2996667">
                  <a:moveTo>
                    <a:pt x="0" y="0"/>
                  </a:moveTo>
                  <a:lnTo>
                    <a:pt x="2996667" y="0"/>
                  </a:lnTo>
                  <a:lnTo>
                    <a:pt x="2996667" y="842772"/>
                  </a:lnTo>
                  <a:lnTo>
                    <a:pt x="0" y="8427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283" r="0" b="-19283"/>
              </a:stretch>
            </a:blipFill>
          </p:spPr>
        </p:sp>
        <p:sp>
          <p:nvSpPr>
            <p:cNvPr name="TextBox 188" id="188"/>
            <p:cNvSpPr txBox="true"/>
            <p:nvPr/>
          </p:nvSpPr>
          <p:spPr>
            <a:xfrm>
              <a:off x="0" y="-38100"/>
              <a:ext cx="2996667" cy="8808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  OUTCOME</a:t>
              </a:r>
            </a:p>
          </p:txBody>
        </p:sp>
      </p:grpSp>
      <p:sp>
        <p:nvSpPr>
          <p:cNvPr name="TextBox 189" id="189"/>
          <p:cNvSpPr txBox="true"/>
          <p:nvPr/>
        </p:nvSpPr>
        <p:spPr>
          <a:xfrm rot="0">
            <a:off x="14476419" y="3285268"/>
            <a:ext cx="2604116" cy="854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250" b="true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FLEET ECONOMICS: </a:t>
            </a:r>
            <a:r>
              <a:rPr lang="en-US" sz="1250">
                <a:solidFill>
                  <a:srgbClr val="3C465A"/>
                </a:solidFill>
                <a:latin typeface="Calibri (MS)"/>
                <a:ea typeface="Calibri (MS)"/>
                <a:cs typeface="Calibri (MS)"/>
                <a:sym typeface="Calibri (MS)"/>
              </a:rPr>
              <a:t>Full autonomous capability at 1/10th enterprise cost</a:t>
            </a:r>
          </a:p>
        </p:txBody>
      </p:sp>
      <p:sp>
        <p:nvSpPr>
          <p:cNvPr name="TextBox 190" id="190"/>
          <p:cNvSpPr txBox="true"/>
          <p:nvPr/>
        </p:nvSpPr>
        <p:spPr>
          <a:xfrm rot="0">
            <a:off x="14476419" y="4080796"/>
            <a:ext cx="2604116" cy="854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250" b="true">
                <a:solidFill>
                  <a:srgbClr val="1E26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LIVES SAVED: </a:t>
            </a:r>
            <a:r>
              <a:rPr lang="en-US" sz="1250">
                <a:solidFill>
                  <a:srgbClr val="3C465A"/>
                </a:solidFill>
                <a:latin typeface="Calibri (MS)"/>
                <a:ea typeface="Calibri (MS)"/>
                <a:cs typeface="Calibri (MS)"/>
                <a:sym typeface="Calibri (MS)"/>
              </a:rPr>
              <a:t>Accelerates extraction within the Golden 72 hours</a:t>
            </a:r>
          </a:p>
        </p:txBody>
      </p:sp>
      <p:grpSp>
        <p:nvGrpSpPr>
          <p:cNvPr name="Group 191" id="191"/>
          <p:cNvGrpSpPr/>
          <p:nvPr/>
        </p:nvGrpSpPr>
        <p:grpSpPr>
          <a:xfrm rot="0">
            <a:off x="14394123" y="4990624"/>
            <a:ext cx="2713863" cy="795528"/>
            <a:chOff x="0" y="0"/>
            <a:chExt cx="3618484" cy="1060704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3618484" cy="1060704"/>
            </a:xfrm>
            <a:custGeom>
              <a:avLst/>
              <a:gdLst/>
              <a:ahLst/>
              <a:cxnLst/>
              <a:rect r="r" b="b" t="t" l="l"/>
              <a:pathLst>
                <a:path h="1060704" w="361848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435604" y="0"/>
                  </a:lnTo>
                  <a:cubicBezTo>
                    <a:pt x="3536569" y="0"/>
                    <a:pt x="3618484" y="81915"/>
                    <a:pt x="3618484" y="182880"/>
                  </a:cubicBezTo>
                  <a:lnTo>
                    <a:pt x="3618484" y="877824"/>
                  </a:lnTo>
                  <a:cubicBezTo>
                    <a:pt x="3618484" y="978789"/>
                    <a:pt x="3536569" y="1060704"/>
                    <a:pt x="3435604" y="1060704"/>
                  </a:cubicBezTo>
                  <a:lnTo>
                    <a:pt x="182880" y="1060704"/>
                  </a:lnTo>
                  <a:cubicBezTo>
                    <a:pt x="81915" y="1060704"/>
                    <a:pt x="0" y="978789"/>
                    <a:pt x="0" y="877824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193" id="193"/>
          <p:cNvGrpSpPr/>
          <p:nvPr/>
        </p:nvGrpSpPr>
        <p:grpSpPr>
          <a:xfrm rot="0">
            <a:off x="14394123" y="5027581"/>
            <a:ext cx="2713844" cy="411480"/>
            <a:chOff x="0" y="0"/>
            <a:chExt cx="3618459" cy="548640"/>
          </a:xfrm>
        </p:grpSpPr>
        <p:sp>
          <p:nvSpPr>
            <p:cNvPr name="Freeform 194" id="194"/>
            <p:cNvSpPr/>
            <p:nvPr/>
          </p:nvSpPr>
          <p:spPr>
            <a:xfrm flipH="false" flipV="false" rot="0">
              <a:off x="0" y="0"/>
              <a:ext cx="3618484" cy="548640"/>
            </a:xfrm>
            <a:custGeom>
              <a:avLst/>
              <a:gdLst/>
              <a:ahLst/>
              <a:cxnLst/>
              <a:rect r="r" b="b" t="t" l="l"/>
              <a:pathLst>
                <a:path h="548640" w="3618484">
                  <a:moveTo>
                    <a:pt x="0" y="0"/>
                  </a:moveTo>
                  <a:lnTo>
                    <a:pt x="3618484" y="0"/>
                  </a:lnTo>
                  <a:lnTo>
                    <a:pt x="361848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21" r="0" b="-78421"/>
              </a:stretch>
            </a:blipFill>
          </p:spPr>
        </p:sp>
      </p:grpSp>
      <p:grpSp>
        <p:nvGrpSpPr>
          <p:cNvPr name="Group 195" id="195"/>
          <p:cNvGrpSpPr/>
          <p:nvPr/>
        </p:nvGrpSpPr>
        <p:grpSpPr>
          <a:xfrm rot="0">
            <a:off x="14394123" y="5000149"/>
            <a:ext cx="2713844" cy="454343"/>
            <a:chOff x="0" y="0"/>
            <a:chExt cx="3618459" cy="605790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3618459" cy="605790"/>
            </a:xfrm>
            <a:custGeom>
              <a:avLst/>
              <a:gdLst/>
              <a:ahLst/>
              <a:cxnLst/>
              <a:rect r="r" b="b" t="t" l="l"/>
              <a:pathLst>
                <a:path h="605790" w="3618459">
                  <a:moveTo>
                    <a:pt x="0" y="0"/>
                  </a:moveTo>
                  <a:lnTo>
                    <a:pt x="3618459" y="0"/>
                  </a:lnTo>
                  <a:lnTo>
                    <a:pt x="3618459" y="605790"/>
                  </a:lnTo>
                  <a:lnTo>
                    <a:pt x="0" y="6057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6386" r="0" b="-66386"/>
              </a:stretch>
            </a:blipFill>
          </p:spPr>
        </p:sp>
        <p:sp>
          <p:nvSpPr>
            <p:cNvPr name="TextBox 197" id="197"/>
            <p:cNvSpPr txBox="true"/>
            <p:nvPr/>
          </p:nvSpPr>
          <p:spPr>
            <a:xfrm>
              <a:off x="0" y="-57150"/>
              <a:ext cx="3618459" cy="662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₹1.2 Lakh</a:t>
              </a:r>
            </a:p>
          </p:txBody>
        </p:sp>
      </p:grpSp>
      <p:grpSp>
        <p:nvGrpSpPr>
          <p:cNvPr name="Group 198" id="198"/>
          <p:cNvGrpSpPr/>
          <p:nvPr/>
        </p:nvGrpSpPr>
        <p:grpSpPr>
          <a:xfrm rot="0">
            <a:off x="14394123" y="5429536"/>
            <a:ext cx="2713844" cy="329184"/>
            <a:chOff x="0" y="0"/>
            <a:chExt cx="3618459" cy="438912"/>
          </a:xfrm>
        </p:grpSpPr>
        <p:sp>
          <p:nvSpPr>
            <p:cNvPr name="Freeform 199" id="199"/>
            <p:cNvSpPr/>
            <p:nvPr/>
          </p:nvSpPr>
          <p:spPr>
            <a:xfrm flipH="false" flipV="false" rot="0">
              <a:off x="0" y="0"/>
              <a:ext cx="3618484" cy="438912"/>
            </a:xfrm>
            <a:custGeom>
              <a:avLst/>
              <a:gdLst/>
              <a:ahLst/>
              <a:cxnLst/>
              <a:rect r="r" b="b" t="t" l="l"/>
              <a:pathLst>
                <a:path h="438912" w="3618484">
                  <a:moveTo>
                    <a:pt x="0" y="0"/>
                  </a:moveTo>
                  <a:lnTo>
                    <a:pt x="3618484" y="0"/>
                  </a:lnTo>
                  <a:lnTo>
                    <a:pt x="3618484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526" r="0" b="-110526"/>
              </a:stretch>
            </a:blipFill>
          </p:spPr>
        </p:sp>
      </p:grpSp>
      <p:grpSp>
        <p:nvGrpSpPr>
          <p:cNvPr name="Group 200" id="200"/>
          <p:cNvGrpSpPr/>
          <p:nvPr/>
        </p:nvGrpSpPr>
        <p:grpSpPr>
          <a:xfrm rot="0">
            <a:off x="14394123" y="5400961"/>
            <a:ext cx="2713844" cy="357759"/>
            <a:chOff x="0" y="0"/>
            <a:chExt cx="3618459" cy="477012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618459" cy="477012"/>
            </a:xfrm>
            <a:custGeom>
              <a:avLst/>
              <a:gdLst/>
              <a:ahLst/>
              <a:cxnLst/>
              <a:rect r="r" b="b" t="t" l="l"/>
              <a:pathLst>
                <a:path h="477012" w="3618459">
                  <a:moveTo>
                    <a:pt x="0" y="0"/>
                  </a:moveTo>
                  <a:lnTo>
                    <a:pt x="3618459" y="0"/>
                  </a:lnTo>
                  <a:lnTo>
                    <a:pt x="3618459" y="477012"/>
                  </a:lnTo>
                  <a:lnTo>
                    <a:pt x="0" y="4770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7807" r="0" b="-97807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-38100"/>
              <a:ext cx="3618459" cy="5151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660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vs ₹12-14 Lakhs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26" r="0" b="-13692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-92869"/>
            <a:ext cx="16459200" cy="1735931"/>
            <a:chOff x="0" y="0"/>
            <a:chExt cx="21945600" cy="23145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2314575"/>
            </a:xfrm>
            <a:custGeom>
              <a:avLst/>
              <a:gdLst/>
              <a:ahLst/>
              <a:cxnLst/>
              <a:rect r="r" b="b" t="t" l="l"/>
              <a:pathLst>
                <a:path h="231457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314575"/>
                  </a:lnTo>
                  <a:lnTo>
                    <a:pt x="0" y="23145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4747" r="0" b="-13474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1945600" cy="2343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707" r="0" b="-101709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106400" y="9520238"/>
            <a:ext cx="4267200" cy="561975"/>
            <a:chOff x="0" y="0"/>
            <a:chExt cx="5689600" cy="7493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89600" cy="749301"/>
            </a:xfrm>
            <a:custGeom>
              <a:avLst/>
              <a:gdLst/>
              <a:ahLst/>
              <a:cxnLst/>
              <a:rect r="r" b="b" t="t" l="l"/>
              <a:pathLst>
                <a:path h="74930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7954" r="0" b="-9795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670129" y="2248"/>
            <a:ext cx="3374803" cy="1593532"/>
            <a:chOff x="0" y="0"/>
            <a:chExt cx="4499737" cy="21247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2" r="0" b="-21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03504" y="315468"/>
            <a:ext cx="2263140" cy="740664"/>
            <a:chOff x="0" y="0"/>
            <a:chExt cx="3017520" cy="987552"/>
          </a:xfrm>
        </p:grpSpPr>
        <p:sp>
          <p:nvSpPr>
            <p:cNvPr name="Freeform 17" id="17" descr="Phoenix team logo"/>
            <p:cNvSpPr/>
            <p:nvPr/>
          </p:nvSpPr>
          <p:spPr>
            <a:xfrm flipH="false" flipV="false" rot="0">
              <a:off x="0" y="0"/>
              <a:ext cx="3017520" cy="987552"/>
            </a:xfrm>
            <a:custGeom>
              <a:avLst/>
              <a:gdLst/>
              <a:ahLst/>
              <a:cxnLst/>
              <a:rect r="r" b="b" t="t" l="l"/>
              <a:pathLst>
                <a:path h="987552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04" r="0" b="-105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48640" y="9532620"/>
            <a:ext cx="6515100" cy="754380"/>
            <a:chOff x="0" y="0"/>
            <a:chExt cx="8686800" cy="10058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686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162" r="0" b="-118162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48640" y="9511189"/>
            <a:ext cx="6515100" cy="775811"/>
            <a:chOff x="0" y="0"/>
            <a:chExt cx="8686800" cy="103441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686800" cy="1034415"/>
            </a:xfrm>
            <a:custGeom>
              <a:avLst/>
              <a:gdLst/>
              <a:ahLst/>
              <a:cxnLst/>
              <a:rect r="r" b="b" t="t" l="l"/>
              <a:pathLst>
                <a:path h="1034415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034415"/>
                  </a:lnTo>
                  <a:lnTo>
                    <a:pt x="0" y="10344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3631" r="0" b="-11363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868680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PROJECT PHOENIX: Autonomous Multi-Spectral Edge-AI UAV  |  SIH26177 (Qualcomm Inc.)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8972" y="1275588"/>
            <a:ext cx="16459200" cy="466344"/>
            <a:chOff x="0" y="0"/>
            <a:chExt cx="21945600" cy="6217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45600" cy="621792"/>
            </a:xfrm>
            <a:custGeom>
              <a:avLst/>
              <a:gdLst/>
              <a:ahLst/>
              <a:cxnLst/>
              <a:rect r="r" b="b" t="t" l="l"/>
              <a:pathLst>
                <a:path h="6217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7228" r="0" b="-63723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18972" y="1247013"/>
            <a:ext cx="16459200" cy="494919"/>
            <a:chOff x="0" y="0"/>
            <a:chExt cx="21945600" cy="65989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45600" cy="659892"/>
            </a:xfrm>
            <a:custGeom>
              <a:avLst/>
              <a:gdLst/>
              <a:ahLst/>
              <a:cxnLst/>
              <a:rect r="r" b="b" t="t" l="l"/>
              <a:pathLst>
                <a:path h="6598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59892"/>
                  </a:lnTo>
                  <a:lnTo>
                    <a:pt x="0" y="6598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98001" r="0" b="-59800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1945600" cy="697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8"/>
                </a:lnSpc>
              </a:pPr>
              <a:r>
                <a:rPr lang="en-US" sz="24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Academic Research Foundations &amp; Prototype Verification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22960" y="1892808"/>
            <a:ext cx="3418999" cy="411480"/>
            <a:chOff x="0" y="0"/>
            <a:chExt cx="4558665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558665" cy="548640"/>
            </a:xfrm>
            <a:custGeom>
              <a:avLst/>
              <a:gdLst/>
              <a:ahLst/>
              <a:cxnLst/>
              <a:rect r="r" b="b" t="t" l="l"/>
              <a:pathLst>
                <a:path h="548640" w="4558665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4284345" y="0"/>
                  </a:lnTo>
                  <a:cubicBezTo>
                    <a:pt x="4435856" y="0"/>
                    <a:pt x="4558665" y="122809"/>
                    <a:pt x="4558665" y="274320"/>
                  </a:cubicBezTo>
                  <a:cubicBezTo>
                    <a:pt x="4558665" y="425831"/>
                    <a:pt x="4435856" y="548640"/>
                    <a:pt x="4284345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08418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15816" y="1892808"/>
            <a:ext cx="3418989" cy="411480"/>
            <a:chOff x="0" y="0"/>
            <a:chExt cx="4558652" cy="548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558665" cy="548640"/>
            </a:xfrm>
            <a:custGeom>
              <a:avLst/>
              <a:gdLst/>
              <a:ahLst/>
              <a:cxnLst/>
              <a:rect r="r" b="b" t="t" l="l"/>
              <a:pathLst>
                <a:path h="548640" w="4558665">
                  <a:moveTo>
                    <a:pt x="0" y="0"/>
                  </a:moveTo>
                  <a:lnTo>
                    <a:pt x="4558665" y="0"/>
                  </a:lnTo>
                  <a:lnTo>
                    <a:pt x="4558665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789" r="0" b="-111787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15816" y="1878520"/>
            <a:ext cx="3418989" cy="425768"/>
            <a:chOff x="0" y="0"/>
            <a:chExt cx="4558652" cy="56769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558652" cy="567690"/>
            </a:xfrm>
            <a:custGeom>
              <a:avLst/>
              <a:gdLst/>
              <a:ahLst/>
              <a:cxnLst/>
              <a:rect r="r" b="b" t="t" l="l"/>
              <a:pathLst>
                <a:path h="567690" w="4558652">
                  <a:moveTo>
                    <a:pt x="0" y="0"/>
                  </a:moveTo>
                  <a:lnTo>
                    <a:pt x="4558652" y="0"/>
                  </a:lnTo>
                  <a:lnTo>
                    <a:pt x="4558652" y="567690"/>
                  </a:lnTo>
                  <a:lnTo>
                    <a:pt x="0" y="567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6468" r="0" b="-10646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4558652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223">
                  <a:solidFill>
                    <a:srgbClr val="1434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RESEARCH &amp; REFERENCES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424160" y="1892808"/>
            <a:ext cx="2606707" cy="411480"/>
            <a:chOff x="0" y="0"/>
            <a:chExt cx="3475609" cy="548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475609" cy="548640"/>
            </a:xfrm>
            <a:custGeom>
              <a:avLst/>
              <a:gdLst/>
              <a:ahLst/>
              <a:cxnLst/>
              <a:rect r="r" b="b" t="t" l="l"/>
              <a:pathLst>
                <a:path h="548640" w="3475609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3201289" y="0"/>
                  </a:lnTo>
                  <a:cubicBezTo>
                    <a:pt x="3352800" y="0"/>
                    <a:pt x="3475609" y="122809"/>
                    <a:pt x="3475609" y="274320"/>
                  </a:cubicBezTo>
                  <a:cubicBezTo>
                    <a:pt x="3475609" y="425831"/>
                    <a:pt x="3352800" y="548640"/>
                    <a:pt x="3201289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08418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424160" y="1924145"/>
            <a:ext cx="2606726" cy="411480"/>
            <a:chOff x="0" y="0"/>
            <a:chExt cx="3475634" cy="5486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475609" cy="548640"/>
            </a:xfrm>
            <a:custGeom>
              <a:avLst/>
              <a:gdLst/>
              <a:ahLst/>
              <a:cxnLst/>
              <a:rect r="r" b="b" t="t" l="l"/>
              <a:pathLst>
                <a:path h="548640" w="3475609">
                  <a:moveTo>
                    <a:pt x="0" y="0"/>
                  </a:moveTo>
                  <a:lnTo>
                    <a:pt x="3475609" y="0"/>
                  </a:lnTo>
                  <a:lnTo>
                    <a:pt x="347560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351" r="0" b="-73351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424160" y="1909858"/>
            <a:ext cx="2606726" cy="425768"/>
            <a:chOff x="0" y="0"/>
            <a:chExt cx="3475634" cy="56769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475635" cy="567690"/>
            </a:xfrm>
            <a:custGeom>
              <a:avLst/>
              <a:gdLst/>
              <a:ahLst/>
              <a:cxnLst/>
              <a:rect r="r" b="b" t="t" l="l"/>
              <a:pathLst>
                <a:path h="567690" w="3475635">
                  <a:moveTo>
                    <a:pt x="0" y="0"/>
                  </a:moveTo>
                  <a:lnTo>
                    <a:pt x="3475635" y="0"/>
                  </a:lnTo>
                  <a:lnTo>
                    <a:pt x="3475635" y="567690"/>
                  </a:lnTo>
                  <a:lnTo>
                    <a:pt x="0" y="567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9295" r="0" b="-6929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3475634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223">
                  <a:solidFill>
                    <a:srgbClr val="1434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PROTOTYPE PROOF</a:t>
              </a: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810454" y="2511238"/>
            <a:ext cx="9283303" cy="1561195"/>
          </a:xfrm>
          <a:custGeom>
            <a:avLst/>
            <a:gdLst/>
            <a:ahLst/>
            <a:cxnLst/>
            <a:rect r="r" b="b" t="t" l="l"/>
            <a:pathLst>
              <a:path h="1561195" w="9283303">
                <a:moveTo>
                  <a:pt x="0" y="0"/>
                </a:moveTo>
                <a:lnTo>
                  <a:pt x="9283303" y="0"/>
                </a:lnTo>
                <a:lnTo>
                  <a:pt x="9283303" y="1561195"/>
                </a:lnTo>
                <a:lnTo>
                  <a:pt x="0" y="15611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3" id="43"/>
          <p:cNvGrpSpPr/>
          <p:nvPr/>
        </p:nvGrpSpPr>
        <p:grpSpPr>
          <a:xfrm rot="0">
            <a:off x="1124712" y="2660904"/>
            <a:ext cx="822960" cy="411480"/>
            <a:chOff x="0" y="0"/>
            <a:chExt cx="1097280" cy="548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96" t="0" r="-14195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24712" y="2653760"/>
            <a:ext cx="822960" cy="418624"/>
            <a:chOff x="0" y="0"/>
            <a:chExt cx="1097280" cy="55816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97280" cy="558165"/>
            </a:xfrm>
            <a:custGeom>
              <a:avLst/>
              <a:gdLst/>
              <a:ahLst/>
              <a:cxnLst/>
              <a:rect r="r" b="b" t="t" l="l"/>
              <a:pathLst>
                <a:path h="558165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58165"/>
                  </a:lnTo>
                  <a:lnTo>
                    <a:pt x="0" y="5581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265" t="0" r="-15265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10972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8"/>
                </a:lnSpc>
              </a:pPr>
              <a:r>
                <a:rPr lang="en-US" sz="2400" b="true">
                  <a:solidFill>
                    <a:srgbClr val="D9700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01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057400" y="2633472"/>
            <a:ext cx="7749540" cy="431111"/>
            <a:chOff x="0" y="0"/>
            <a:chExt cx="10332720" cy="57481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332720" cy="574802"/>
            </a:xfrm>
            <a:custGeom>
              <a:avLst/>
              <a:gdLst/>
              <a:ahLst/>
              <a:cxnLst/>
              <a:rect r="r" b="b" t="t" l="l"/>
              <a:pathLst>
                <a:path h="574802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574802"/>
                  </a:lnTo>
                  <a:lnTo>
                    <a:pt x="0" y="5748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019" r="0" b="-300024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2057400" y="2597753"/>
            <a:ext cx="7749540" cy="466830"/>
            <a:chOff x="0" y="0"/>
            <a:chExt cx="10332720" cy="6224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332720" cy="622442"/>
            </a:xfrm>
            <a:custGeom>
              <a:avLst/>
              <a:gdLst/>
              <a:ahLst/>
              <a:cxnLst/>
              <a:rect r="r" b="b" t="t" l="l"/>
              <a:pathLst>
                <a:path h="622442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622442"/>
                  </a:lnTo>
                  <a:lnTo>
                    <a:pt x="0" y="62244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3457" r="0" b="-27345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10332720" cy="679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8"/>
                </a:lnSpc>
              </a:pPr>
              <a:r>
                <a:rPr sz="2000" b="1" i="0">
                  <a:solidFill>
                    <a:srgbClr val="1F497D"/>
                  </a:solidFill>
                  <a:latin typeface="Calibri"/>
                </a:rPr>
                <a:t>IIT Jodhpur &amp; Manipal Univ. (IEEE Access, Sept 2026) [1]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2057400" y="2968752"/>
            <a:ext cx="7749540" cy="922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0279" indent="-110093" lvl="2">
              <a:lnSpc>
                <a:spcPts val="1980"/>
              </a:lnSpc>
              <a:spcAft>
                <a:spcPts val="200"/>
              </a:spcAft>
              <a:buFont typeface="Arial"/>
              <a:buChar char="⚬"/>
            </a:pPr>
            <a:r>
              <a:rPr sz="1450" b="0" i="0">
                <a:solidFill>
                  <a:srgbClr val="566074"/>
                </a:solidFill>
                <a:latin typeface="Calibri"/>
              </a:rPr>
              <a:t>• 'SwarmSAR-FW: Drone-Based Swarm Search and Rescue in Fire and Water Disasters'</a:t>
            </a:r>
          </a:p>
          <a:p>
            <a:pPr>
              <a:spcAft>
                <a:spcPts val="200"/>
              </a:spcAft>
            </a:pPr>
            <a:r>
              <a:rPr sz="1450" b="1" i="0">
                <a:solidFill>
                  <a:srgbClr val="1E2638"/>
                </a:solidFill>
                <a:latin typeface="Calibri"/>
              </a:rPr>
              <a:t>• HAZARD-AWARE DIJKSTRA ROUTING: </a:t>
            </a:r>
            <a:r>
              <a:rPr sz="1450" b="0" i="0">
                <a:solidFill>
                  <a:srgbClr val="3C465A"/>
                </a:solidFill>
                <a:latin typeface="Calibri"/>
              </a:rPr>
              <a:t>Validates safe ingress routing (98.7% triage accuracy, 4.1s) avoiding debris &amp; power lines.</a:t>
            </a:r>
          </a:p>
          <a:p>
            <a:r>
              <a:rPr sz="1200" b="1" i="0">
                <a:solidFill>
                  <a:srgbClr val="B35A00"/>
                </a:solidFill>
                <a:latin typeface="Calibri"/>
              </a:rPr>
              <a:t>DOI: </a:t>
            </a:r>
            <a:r>
              <a:rPr sz="1200" b="0" i="0">
                <a:solidFill>
                  <a:srgbClr val="0000FF"/>
                </a:solidFill>
                <a:latin typeface="Calibri"/>
              </a:rPr>
              <a:t>10.1109/ACCESS.2026.3730315 (Direct IEEE Document Link)</a:t>
            </a:r>
          </a:p>
        </p:txBody>
      </p:sp>
      <p:sp>
        <p:nvSpPr>
          <p:cNvPr name="Freeform 54" id="54"/>
          <p:cNvSpPr/>
          <p:nvPr/>
        </p:nvSpPr>
        <p:spPr>
          <a:xfrm flipH="false" flipV="false" rot="0">
            <a:off x="810454" y="4212022"/>
            <a:ext cx="9283303" cy="1561195"/>
          </a:xfrm>
          <a:custGeom>
            <a:avLst/>
            <a:gdLst/>
            <a:ahLst/>
            <a:cxnLst/>
            <a:rect r="r" b="b" t="t" l="l"/>
            <a:pathLst>
              <a:path h="1561195" w="9283303">
                <a:moveTo>
                  <a:pt x="0" y="0"/>
                </a:moveTo>
                <a:lnTo>
                  <a:pt x="9283303" y="0"/>
                </a:lnTo>
                <a:lnTo>
                  <a:pt x="9283303" y="1561195"/>
                </a:lnTo>
                <a:lnTo>
                  <a:pt x="0" y="15611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5" id="55"/>
          <p:cNvGrpSpPr/>
          <p:nvPr/>
        </p:nvGrpSpPr>
        <p:grpSpPr>
          <a:xfrm rot="0">
            <a:off x="1124712" y="4361688"/>
            <a:ext cx="822960" cy="411480"/>
            <a:chOff x="0" y="0"/>
            <a:chExt cx="1097280" cy="5486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96" t="0" r="-14195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124712" y="4354544"/>
            <a:ext cx="822960" cy="418624"/>
            <a:chOff x="0" y="0"/>
            <a:chExt cx="1097280" cy="55816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97280" cy="558165"/>
            </a:xfrm>
            <a:custGeom>
              <a:avLst/>
              <a:gdLst/>
              <a:ahLst/>
              <a:cxnLst/>
              <a:rect r="r" b="b" t="t" l="l"/>
              <a:pathLst>
                <a:path h="558165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58165"/>
                  </a:lnTo>
                  <a:lnTo>
                    <a:pt x="0" y="5581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265" t="0" r="-15265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10972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8"/>
                </a:lnSpc>
              </a:pPr>
              <a:r>
                <a:rPr lang="en-US" sz="2400" b="true">
                  <a:solidFill>
                    <a:srgbClr val="D9700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02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2057400" y="4334256"/>
            <a:ext cx="7749540" cy="431111"/>
            <a:chOff x="0" y="0"/>
            <a:chExt cx="10332720" cy="57481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332720" cy="574802"/>
            </a:xfrm>
            <a:custGeom>
              <a:avLst/>
              <a:gdLst/>
              <a:ahLst/>
              <a:cxnLst/>
              <a:rect r="r" b="b" t="t" l="l"/>
              <a:pathLst>
                <a:path h="574802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574802"/>
                  </a:lnTo>
                  <a:lnTo>
                    <a:pt x="0" y="5748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019" r="0" b="-300024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2057400" y="4298537"/>
            <a:ext cx="7749540" cy="466830"/>
            <a:chOff x="0" y="0"/>
            <a:chExt cx="10332720" cy="6224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332720" cy="622442"/>
            </a:xfrm>
            <a:custGeom>
              <a:avLst/>
              <a:gdLst/>
              <a:ahLst/>
              <a:cxnLst/>
              <a:rect r="r" b="b" t="t" l="l"/>
              <a:pathLst>
                <a:path h="622442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622442"/>
                  </a:lnTo>
                  <a:lnTo>
                    <a:pt x="0" y="62244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3457" r="0" b="-273456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57150"/>
              <a:ext cx="10332720" cy="679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sz="2000" b="1" i="0">
                  <a:solidFill>
                    <a:srgbClr val="1F497D"/>
                  </a:solidFill>
                  <a:latin typeface="Calibri"/>
                </a:rPr>
                <a:t>UPC Spain &amp; Souli et al. (IEEE Access 2026 / Elsevier 2024) [2, 3]</a:t>
              </a: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2057400" y="4660011"/>
            <a:ext cx="7749540" cy="937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4247" indent="-108082" lvl="2">
              <a:lnSpc>
                <a:spcPts val="1980"/>
              </a:lnSpc>
              <a:spcAft>
                <a:spcPts val="200"/>
              </a:spcAft>
              <a:buFont typeface="Arial"/>
              <a:buChar char="⚬"/>
            </a:pPr>
            <a:r>
              <a:rPr sz="1450" b="0" i="0">
                <a:solidFill>
                  <a:srgbClr val="566074"/>
                </a:solidFill>
                <a:latin typeface="Calibri"/>
              </a:rPr>
              <a:t>• 'Long-Range BLE via Drone LoRa Relays' [2] &amp; 'Mission-Critical ROS-LoRa Architecture' [3]</a:t>
            </a:r>
          </a:p>
          <a:p>
            <a:pPr>
              <a:spcAft>
                <a:spcPts val="200"/>
              </a:spcAft>
            </a:pPr>
            <a:r>
              <a:rPr sz="1450" b="1" i="0">
                <a:solidFill>
                  <a:srgbClr val="1E2638"/>
                </a:solidFill>
                <a:latin typeface="Calibri"/>
              </a:rPr>
              <a:t>• 868 MHZ LORA &amp; 17-BYTE TELEMETRY: </a:t>
            </a:r>
            <a:r>
              <a:rPr sz="1450" b="0" i="0">
                <a:solidFill>
                  <a:srgbClr val="3C465A"/>
                </a:solidFill>
                <a:latin typeface="Calibri"/>
              </a:rPr>
              <a:t>Validates off-grid NLoS canyon relay and 17-byte bit-packed triage frames during blackouts.</a:t>
            </a:r>
          </a:p>
          <a:p>
            <a:r>
              <a:rPr sz="1200" b="1" i="0">
                <a:solidFill>
                  <a:srgbClr val="B35A00"/>
                </a:solidFill>
                <a:latin typeface="Calibri"/>
              </a:rPr>
              <a:t>DOIs: </a:t>
            </a:r>
            <a:r>
              <a:rPr sz="1200" b="0" i="0">
                <a:solidFill>
                  <a:srgbClr val="0000FF"/>
                </a:solidFill>
                <a:latin typeface="Calibri"/>
              </a:rPr>
              <a:t>10.1109/ACCESS.2026.3731317 [2]  |  10.1016/j.comcom.2024.04.015 [3]</a:t>
            </a:r>
          </a:p>
        </p:txBody>
      </p:sp>
      <p:sp>
        <p:nvSpPr>
          <p:cNvPr name="Freeform 66" id="66"/>
          <p:cNvSpPr/>
          <p:nvPr/>
        </p:nvSpPr>
        <p:spPr>
          <a:xfrm flipH="false" flipV="false" rot="0">
            <a:off x="810454" y="5912806"/>
            <a:ext cx="9283303" cy="1561195"/>
          </a:xfrm>
          <a:custGeom>
            <a:avLst/>
            <a:gdLst/>
            <a:ahLst/>
            <a:cxnLst/>
            <a:rect r="r" b="b" t="t" l="l"/>
            <a:pathLst>
              <a:path h="1561195" w="9283303">
                <a:moveTo>
                  <a:pt x="0" y="0"/>
                </a:moveTo>
                <a:lnTo>
                  <a:pt x="9283303" y="0"/>
                </a:lnTo>
                <a:lnTo>
                  <a:pt x="9283303" y="1561195"/>
                </a:lnTo>
                <a:lnTo>
                  <a:pt x="0" y="15611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7" id="67"/>
          <p:cNvGrpSpPr/>
          <p:nvPr/>
        </p:nvGrpSpPr>
        <p:grpSpPr>
          <a:xfrm rot="0">
            <a:off x="1124712" y="6062472"/>
            <a:ext cx="822960" cy="411480"/>
            <a:chOff x="0" y="0"/>
            <a:chExt cx="1097280" cy="5486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96" t="0" r="-14195" b="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124712" y="6055328"/>
            <a:ext cx="822960" cy="418624"/>
            <a:chOff x="0" y="0"/>
            <a:chExt cx="1097280" cy="55816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97280" cy="558165"/>
            </a:xfrm>
            <a:custGeom>
              <a:avLst/>
              <a:gdLst/>
              <a:ahLst/>
              <a:cxnLst/>
              <a:rect r="r" b="b" t="t" l="l"/>
              <a:pathLst>
                <a:path h="558165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58165"/>
                  </a:lnTo>
                  <a:lnTo>
                    <a:pt x="0" y="5581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265" t="0" r="-15265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9525"/>
              <a:ext cx="10972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8"/>
                </a:lnSpc>
              </a:pPr>
              <a:r>
                <a:rPr lang="en-US" sz="2400" b="true">
                  <a:solidFill>
                    <a:srgbClr val="D9700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03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2057400" y="6035040"/>
            <a:ext cx="7749540" cy="431111"/>
            <a:chOff x="0" y="0"/>
            <a:chExt cx="10332720" cy="574815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332720" cy="574802"/>
            </a:xfrm>
            <a:custGeom>
              <a:avLst/>
              <a:gdLst/>
              <a:ahLst/>
              <a:cxnLst/>
              <a:rect r="r" b="b" t="t" l="l"/>
              <a:pathLst>
                <a:path h="574802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574802"/>
                  </a:lnTo>
                  <a:lnTo>
                    <a:pt x="0" y="5748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019" r="0" b="-300024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2057400" y="5999321"/>
            <a:ext cx="7749540" cy="466830"/>
            <a:chOff x="0" y="0"/>
            <a:chExt cx="10332720" cy="6224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332720" cy="622442"/>
            </a:xfrm>
            <a:custGeom>
              <a:avLst/>
              <a:gdLst/>
              <a:ahLst/>
              <a:cxnLst/>
              <a:rect r="r" b="b" t="t" l="l"/>
              <a:pathLst>
                <a:path h="622442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622442"/>
                  </a:lnTo>
                  <a:lnTo>
                    <a:pt x="0" y="62244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3457" r="0" b="-273456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57150"/>
              <a:ext cx="10332720" cy="679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sz="2000" b="1" i="0">
                  <a:solidFill>
                    <a:srgbClr val="1F497D"/>
                  </a:solidFill>
                  <a:latin typeface="Calibri"/>
                </a:rPr>
                <a:t>TalTech Estonia (IEEE Access, July 2023) [4]</a:t>
              </a:r>
            </a:p>
          </p:txBody>
        </p:sp>
      </p:grpSp>
      <p:sp>
        <p:nvSpPr>
          <p:cNvPr name="TextBox 77" id="77"/>
          <p:cNvSpPr txBox="true"/>
          <p:nvPr/>
        </p:nvSpPr>
        <p:spPr>
          <a:xfrm rot="0">
            <a:off x="2057400" y="6360795"/>
            <a:ext cx="7749540" cy="908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4247" indent="-108082" lvl="2">
              <a:lnSpc>
                <a:spcPts val="1980"/>
              </a:lnSpc>
              <a:spcAft>
                <a:spcPts val="200"/>
              </a:spcAft>
              <a:buFont typeface="Arial"/>
              <a:buChar char="⚬"/>
            </a:pPr>
            <a:r>
              <a:rPr sz="1450" b="0" i="0">
                <a:solidFill>
                  <a:srgbClr val="566074"/>
                </a:solidFill>
                <a:latin typeface="Calibri"/>
              </a:rPr>
              <a:t>• 'Applying RIS-Based Communication for Collaborative Computing in a Swarm of Drones'</a:t>
            </a:r>
          </a:p>
          <a:p>
            <a:pPr>
              <a:spcAft>
                <a:spcPts val="200"/>
              </a:spcAft>
            </a:pPr>
            <a:r>
              <a:rPr sz="1450" b="1" i="0">
                <a:solidFill>
                  <a:srgbClr val="1E2638"/>
                </a:solidFill>
                <a:latin typeface="Calibri"/>
              </a:rPr>
              <a:t>• DECENTRALIZED EDGE COMPUTE: </a:t>
            </a:r>
            <a:r>
              <a:rPr sz="1450" b="0" i="0">
                <a:solidFill>
                  <a:srgbClr val="3C465A"/>
                </a:solidFill>
                <a:latin typeface="Calibri"/>
              </a:rPr>
              <a:t>Validates autonomous on-device computing (-32% energy, -18% latency) with zero cloud reliance.</a:t>
            </a:r>
          </a:p>
          <a:p>
            <a:r>
              <a:rPr sz="1200" b="1" i="0">
                <a:solidFill>
                  <a:srgbClr val="B35A00"/>
                </a:solidFill>
                <a:latin typeface="Calibri"/>
              </a:rPr>
              <a:t>DOI: </a:t>
            </a:r>
            <a:r>
              <a:rPr sz="1200" b="0" i="0">
                <a:solidFill>
                  <a:srgbClr val="0000FF"/>
                </a:solidFill>
                <a:latin typeface="Calibri"/>
              </a:rPr>
              <a:t>10.1109/ACCESS.2023.3293737 (Direct IEEE Document Link)</a:t>
            </a:r>
          </a:p>
        </p:txBody>
      </p:sp>
      <p:sp>
        <p:nvSpPr>
          <p:cNvPr name="Freeform 78" id="78"/>
          <p:cNvSpPr/>
          <p:nvPr/>
        </p:nvSpPr>
        <p:spPr>
          <a:xfrm flipH="false" flipV="false" rot="0">
            <a:off x="810454" y="7613590"/>
            <a:ext cx="9283303" cy="1561195"/>
          </a:xfrm>
          <a:custGeom>
            <a:avLst/>
            <a:gdLst/>
            <a:ahLst/>
            <a:cxnLst/>
            <a:rect r="r" b="b" t="t" l="l"/>
            <a:pathLst>
              <a:path h="1561195" w="9283303">
                <a:moveTo>
                  <a:pt x="0" y="0"/>
                </a:moveTo>
                <a:lnTo>
                  <a:pt x="9283303" y="0"/>
                </a:lnTo>
                <a:lnTo>
                  <a:pt x="9283303" y="1561195"/>
                </a:lnTo>
                <a:lnTo>
                  <a:pt x="0" y="15611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9" id="79"/>
          <p:cNvGrpSpPr/>
          <p:nvPr/>
        </p:nvGrpSpPr>
        <p:grpSpPr>
          <a:xfrm rot="0">
            <a:off x="1124712" y="7763256"/>
            <a:ext cx="822960" cy="411480"/>
            <a:chOff x="0" y="0"/>
            <a:chExt cx="1097280" cy="5486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96" t="0" r="-14195" b="0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124712" y="7756112"/>
            <a:ext cx="822960" cy="418624"/>
            <a:chOff x="0" y="0"/>
            <a:chExt cx="1097280" cy="558165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97280" cy="558165"/>
            </a:xfrm>
            <a:custGeom>
              <a:avLst/>
              <a:gdLst/>
              <a:ahLst/>
              <a:cxnLst/>
              <a:rect r="r" b="b" t="t" l="l"/>
              <a:pathLst>
                <a:path h="558165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58165"/>
                  </a:lnTo>
                  <a:lnTo>
                    <a:pt x="0" y="5581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265" t="0" r="-15265" b="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9525"/>
              <a:ext cx="10972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8"/>
                </a:lnSpc>
              </a:pPr>
              <a:r>
                <a:rPr lang="en-US" sz="2400" b="true">
                  <a:solidFill>
                    <a:srgbClr val="D9700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04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2057400" y="7735824"/>
            <a:ext cx="7749540" cy="431111"/>
            <a:chOff x="0" y="0"/>
            <a:chExt cx="10332720" cy="574815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332720" cy="574802"/>
            </a:xfrm>
            <a:custGeom>
              <a:avLst/>
              <a:gdLst/>
              <a:ahLst/>
              <a:cxnLst/>
              <a:rect r="r" b="b" t="t" l="l"/>
              <a:pathLst>
                <a:path h="574802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574802"/>
                  </a:lnTo>
                  <a:lnTo>
                    <a:pt x="0" y="5748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019" r="0" b="-300024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2057400" y="7700105"/>
            <a:ext cx="7749540" cy="466830"/>
            <a:chOff x="0" y="0"/>
            <a:chExt cx="10332720" cy="6224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332720" cy="622442"/>
            </a:xfrm>
            <a:custGeom>
              <a:avLst/>
              <a:gdLst/>
              <a:ahLst/>
              <a:cxnLst/>
              <a:rect r="r" b="b" t="t" l="l"/>
              <a:pathLst>
                <a:path h="622442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622442"/>
                  </a:lnTo>
                  <a:lnTo>
                    <a:pt x="0" y="62244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3457" r="0" b="-273456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57150"/>
              <a:ext cx="10332720" cy="679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sz="1950" b="1" i="0">
                  <a:solidFill>
                    <a:srgbClr val="1F497D"/>
                  </a:solidFill>
                  <a:latin typeface="Calibri"/>
                </a:rPr>
                <a:t>IEEE Trans. Geoscience &amp; Remote Sensing (IEEE TGRS 2023) [5, 6]</a:t>
              </a:r>
            </a:p>
          </p:txBody>
        </p:sp>
      </p:grpSp>
      <p:sp>
        <p:nvSpPr>
          <p:cNvPr name="TextBox 89" id="89"/>
          <p:cNvSpPr txBox="true"/>
          <p:nvPr/>
        </p:nvSpPr>
        <p:spPr>
          <a:xfrm rot="0">
            <a:off x="2057400" y="8061579"/>
            <a:ext cx="7749540" cy="1073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4247" indent="-108082" lvl="2">
              <a:lnSpc>
                <a:spcPts val="1980"/>
              </a:lnSpc>
              <a:spcAft>
                <a:spcPts val="200"/>
              </a:spcAft>
              <a:buFont typeface="Arial"/>
              <a:buChar char="⚬"/>
            </a:pPr>
            <a:r>
              <a:rPr sz="1450" b="0" i="0">
                <a:solidFill>
                  <a:srgbClr val="566074"/>
                </a:solidFill>
                <a:latin typeface="Calibri"/>
              </a:rPr>
              <a:t>• 'Unregistered RGB-T Salient Detection' [5] &amp; 'Monocular VIO in GNSS-Denied Zone' [6]</a:t>
            </a:r>
          </a:p>
          <a:p>
            <a:pPr>
              <a:spcAft>
                <a:spcPts val="200"/>
              </a:spcAft>
            </a:pPr>
            <a:r>
              <a:rPr sz="1450" b="1" i="0">
                <a:solidFill>
                  <a:srgbClr val="1E2638"/>
                </a:solidFill>
                <a:latin typeface="Calibri"/>
              </a:rPr>
              <a:t>• MULTI-SPECTRAL AI &amp; VIO SLAM: </a:t>
            </a:r>
            <a:r>
              <a:rPr sz="1450" b="0" i="0">
                <a:solidFill>
                  <a:srgbClr val="3C465A"/>
                </a:solidFill>
                <a:latin typeface="Calibri"/>
              </a:rPr>
              <a:t>Validates 1080p RGB + LWIR thermal fusion and anti-drift VIO state estimation in metallic rubble.</a:t>
            </a:r>
          </a:p>
          <a:p>
            <a:r>
              <a:rPr sz="1200" b="1" i="0">
                <a:solidFill>
                  <a:srgbClr val="B35A00"/>
                </a:solidFill>
                <a:latin typeface="Calibri"/>
              </a:rPr>
              <a:t>DOIs: </a:t>
            </a:r>
            <a:r>
              <a:rPr sz="1200" b="0" i="0">
                <a:solidFill>
                  <a:srgbClr val="0000FF"/>
                </a:solidFill>
                <a:latin typeface="Calibri"/>
              </a:rPr>
              <a:t>10.1109/TGRS.2023.3332179 [5]  |  10.1109/TGRS.2023.3323519 [6]</a:t>
            </a:r>
          </a:p>
        </p:txBody>
      </p:sp>
      <p:sp>
        <p:nvSpPr>
          <p:cNvPr name="Freeform 90" id="90"/>
          <p:cNvSpPr/>
          <p:nvPr/>
        </p:nvSpPr>
        <p:spPr>
          <a:xfrm flipH="false" flipV="false" rot="0">
            <a:off x="10411654" y="2511238"/>
            <a:ext cx="7065407" cy="6663547"/>
          </a:xfrm>
          <a:custGeom>
            <a:avLst/>
            <a:gdLst/>
            <a:ahLst/>
            <a:cxnLst/>
            <a:rect r="r" b="b" t="t" l="l"/>
            <a:pathLst>
              <a:path h="6663547" w="7065407">
                <a:moveTo>
                  <a:pt x="0" y="0"/>
                </a:moveTo>
                <a:lnTo>
                  <a:pt x="7065407" y="0"/>
                </a:lnTo>
                <a:lnTo>
                  <a:pt x="7065407" y="6663547"/>
                </a:lnTo>
                <a:lnTo>
                  <a:pt x="0" y="666354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1" id="91"/>
          <p:cNvGrpSpPr/>
          <p:nvPr/>
        </p:nvGrpSpPr>
        <p:grpSpPr>
          <a:xfrm rot="0">
            <a:off x="10767060" y="2688336"/>
            <a:ext cx="6354623" cy="411480"/>
            <a:chOff x="0" y="0"/>
            <a:chExt cx="8472830" cy="5486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8472805" cy="548640"/>
            </a:xfrm>
            <a:custGeom>
              <a:avLst/>
              <a:gdLst/>
              <a:ahLst/>
              <a:cxnLst/>
              <a:rect r="r" b="b" t="t" l="l"/>
              <a:pathLst>
                <a:path h="548640" w="8472805">
                  <a:moveTo>
                    <a:pt x="0" y="0"/>
                  </a:moveTo>
                  <a:lnTo>
                    <a:pt x="8472805" y="0"/>
                  </a:lnTo>
                  <a:lnTo>
                    <a:pt x="8472805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703" r="0" b="-250706"/>
              </a:stretch>
            </a:blip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0767060" y="2659761"/>
            <a:ext cx="6354623" cy="440055"/>
            <a:chOff x="0" y="0"/>
            <a:chExt cx="8472830" cy="58674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8472831" cy="586740"/>
            </a:xfrm>
            <a:custGeom>
              <a:avLst/>
              <a:gdLst/>
              <a:ahLst/>
              <a:cxnLst/>
              <a:rect r="r" b="b" t="t" l="l"/>
              <a:pathLst>
                <a:path h="586740" w="8472831">
                  <a:moveTo>
                    <a:pt x="0" y="0"/>
                  </a:moveTo>
                  <a:lnTo>
                    <a:pt x="8472831" y="0"/>
                  </a:lnTo>
                  <a:lnTo>
                    <a:pt x="8472831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1374" r="0" b="-231374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847283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118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OPEN-SOURCE REPOSITORY &amp; VERIFICATION ASSETS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10260">
            <a:off x="10752763" y="3200019"/>
            <a:ext cx="6383226" cy="9525"/>
            <a:chOff x="0" y="0"/>
            <a:chExt cx="8510968" cy="127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8510905" cy="12700"/>
            </a:xfrm>
            <a:custGeom>
              <a:avLst/>
              <a:gdLst/>
              <a:ahLst/>
              <a:cxnLst/>
              <a:rect r="r" b="b" t="t" l="l"/>
              <a:pathLst>
                <a:path h="12700" w="8510905">
                  <a:moveTo>
                    <a:pt x="0" y="0"/>
                  </a:moveTo>
                  <a:lnTo>
                    <a:pt x="8510905" y="12700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0" t="-13007995" r="0" b="-13007995"/>
              </a:stretch>
            </a:blipFill>
            <a:ln w="9525" cap="sq">
              <a:solidFill>
                <a:srgbClr val="D6E1EE"/>
              </a:solidFill>
              <a:prstDash val="solid"/>
              <a:miter/>
            </a:ln>
          </p:spPr>
        </p:sp>
        <p:sp>
          <p:nvSpPr>
            <p:cNvPr name="TextBox 98" id="98"/>
            <p:cNvSpPr txBox="true"/>
            <p:nvPr/>
          </p:nvSpPr>
          <p:spPr>
            <a:xfrm>
              <a:off x="0" y="-28575"/>
              <a:ext cx="8510968" cy="4127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559"/>
                </a:lnSpc>
              </a:pPr>
              <a:r>
                <a:rPr lang="en-US" sz="1299" i="true">
                  <a:solidFill>
                    <a:srgbClr val="78829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Video link: SIH Grand Finale Submission Portal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0767060" y="3374136"/>
            <a:ext cx="356616" cy="356616"/>
            <a:chOff x="0" y="0"/>
            <a:chExt cx="475488" cy="475488"/>
          </a:xfrm>
        </p:grpSpPr>
        <p:sp>
          <p:nvSpPr>
            <p:cNvPr name="Freeform 100" id="100" descr="YouTube logo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1233404" y="3360420"/>
            <a:ext cx="6354623" cy="329184"/>
            <a:chOff x="0" y="0"/>
            <a:chExt cx="8472830" cy="43891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8472805" cy="438912"/>
            </a:xfrm>
            <a:custGeom>
              <a:avLst/>
              <a:gdLst/>
              <a:ahLst/>
              <a:cxnLst/>
              <a:rect r="r" b="b" t="t" l="l"/>
              <a:pathLst>
                <a:path h="438912" w="8472805">
                  <a:moveTo>
                    <a:pt x="0" y="0"/>
                  </a:moveTo>
                  <a:lnTo>
                    <a:pt x="8472805" y="0"/>
                  </a:lnTo>
                  <a:lnTo>
                    <a:pt x="8472805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5879" r="0" b="-325882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1233404" y="3338989"/>
            <a:ext cx="6354623" cy="350615"/>
            <a:chOff x="0" y="0"/>
            <a:chExt cx="8472830" cy="467487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8472831" cy="467487"/>
            </a:xfrm>
            <a:custGeom>
              <a:avLst/>
              <a:gdLst/>
              <a:ahLst/>
              <a:cxnLst/>
              <a:rect r="r" b="b" t="t" l="l"/>
              <a:pathLst>
                <a:path h="467487" w="8472831">
                  <a:moveTo>
                    <a:pt x="0" y="0"/>
                  </a:moveTo>
                  <a:lnTo>
                    <a:pt x="8472831" y="0"/>
                  </a:lnTo>
                  <a:lnTo>
                    <a:pt x="8472831" y="467487"/>
                  </a:lnTo>
                  <a:lnTo>
                    <a:pt x="0" y="46748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150" r="0" b="-303150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28575"/>
              <a:ext cx="8472830" cy="4960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Presentation Video:</a:t>
              </a:r>
            </a:p>
          </p:txBody>
        </p:sp>
      </p:grpSp>
      <p:sp>
        <p:nvSpPr>
          <p:cNvPr name="Freeform 106" id="106"/>
          <p:cNvSpPr/>
          <p:nvPr/>
        </p:nvSpPr>
        <p:spPr>
          <a:xfrm flipH="false" flipV="false" rot="0">
            <a:off x="10754554" y="3773110"/>
            <a:ext cx="6379607" cy="518779"/>
          </a:xfrm>
          <a:custGeom>
            <a:avLst/>
            <a:gdLst/>
            <a:ahLst/>
            <a:cxnLst/>
            <a:rect r="r" b="b" t="t" l="l"/>
            <a:pathLst>
              <a:path h="518779" w="6379607">
                <a:moveTo>
                  <a:pt x="0" y="0"/>
                </a:moveTo>
                <a:lnTo>
                  <a:pt x="6379607" y="0"/>
                </a:lnTo>
                <a:lnTo>
                  <a:pt x="6379607" y="518779"/>
                </a:lnTo>
                <a:lnTo>
                  <a:pt x="0" y="51877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7" id="107"/>
          <p:cNvGrpSpPr/>
          <p:nvPr/>
        </p:nvGrpSpPr>
        <p:grpSpPr>
          <a:xfrm rot="0">
            <a:off x="10767060" y="4443984"/>
            <a:ext cx="301752" cy="301752"/>
            <a:chOff x="0" y="0"/>
            <a:chExt cx="402336" cy="402336"/>
          </a:xfrm>
        </p:grpSpPr>
        <p:sp>
          <p:nvSpPr>
            <p:cNvPr name="Freeform 108" id="108" descr="Globe icon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1178540" y="4430268"/>
            <a:ext cx="2662961" cy="329184"/>
            <a:chOff x="0" y="0"/>
            <a:chExt cx="3550615" cy="438912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3550666" cy="438912"/>
            </a:xfrm>
            <a:custGeom>
              <a:avLst/>
              <a:gdLst/>
              <a:ahLst/>
              <a:cxnLst/>
              <a:rect r="r" b="b" t="t" l="l"/>
              <a:pathLst>
                <a:path h="438912" w="3550666">
                  <a:moveTo>
                    <a:pt x="0" y="0"/>
                  </a:moveTo>
                  <a:lnTo>
                    <a:pt x="3550666" y="0"/>
                  </a:lnTo>
                  <a:lnTo>
                    <a:pt x="3550666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517" r="1" b="-107514"/>
              </a:stretch>
            </a:blip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11178540" y="4408837"/>
            <a:ext cx="2662961" cy="350615"/>
            <a:chOff x="0" y="0"/>
            <a:chExt cx="3550615" cy="467487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3550615" cy="467487"/>
            </a:xfrm>
            <a:custGeom>
              <a:avLst/>
              <a:gdLst/>
              <a:ahLst/>
              <a:cxnLst/>
              <a:rect r="r" b="b" t="t" l="l"/>
              <a:pathLst>
                <a:path h="467487" w="3550615">
                  <a:moveTo>
                    <a:pt x="0" y="0"/>
                  </a:moveTo>
                  <a:lnTo>
                    <a:pt x="3550615" y="0"/>
                  </a:lnTo>
                  <a:lnTo>
                    <a:pt x="3550615" y="467487"/>
                  </a:lnTo>
                  <a:lnTo>
                    <a:pt x="0" y="46748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7991" r="0" b="-97991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28575"/>
              <a:ext cx="3550615" cy="4960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Web Demo: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4047241" y="4443984"/>
            <a:ext cx="301752" cy="301752"/>
            <a:chOff x="0" y="0"/>
            <a:chExt cx="402336" cy="402336"/>
          </a:xfrm>
        </p:grpSpPr>
        <p:sp>
          <p:nvSpPr>
            <p:cNvPr name="Freeform 115" id="115" descr="GitHub logo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4458721" y="4430268"/>
            <a:ext cx="2662961" cy="329184"/>
            <a:chOff x="0" y="0"/>
            <a:chExt cx="3550615" cy="438912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3550666" cy="438912"/>
            </a:xfrm>
            <a:custGeom>
              <a:avLst/>
              <a:gdLst/>
              <a:ahLst/>
              <a:cxnLst/>
              <a:rect r="r" b="b" t="t" l="l"/>
              <a:pathLst>
                <a:path h="438912" w="3550666">
                  <a:moveTo>
                    <a:pt x="0" y="0"/>
                  </a:moveTo>
                  <a:lnTo>
                    <a:pt x="3550666" y="0"/>
                  </a:lnTo>
                  <a:lnTo>
                    <a:pt x="3550666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517" r="1" b="-107514"/>
              </a:stretch>
            </a:blip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14458721" y="4408837"/>
            <a:ext cx="2662961" cy="350615"/>
            <a:chOff x="0" y="0"/>
            <a:chExt cx="3550615" cy="467487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3550615" cy="467487"/>
            </a:xfrm>
            <a:custGeom>
              <a:avLst/>
              <a:gdLst/>
              <a:ahLst/>
              <a:cxnLst/>
              <a:rect r="r" b="b" t="t" l="l"/>
              <a:pathLst>
                <a:path h="467487" w="3550615">
                  <a:moveTo>
                    <a:pt x="0" y="0"/>
                  </a:moveTo>
                  <a:lnTo>
                    <a:pt x="3550615" y="0"/>
                  </a:lnTo>
                  <a:lnTo>
                    <a:pt x="3550615" y="467487"/>
                  </a:lnTo>
                  <a:lnTo>
                    <a:pt x="0" y="46748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7991" r="0" b="-97991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28575"/>
              <a:ext cx="3550615" cy="4960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Github Repo:</a:t>
              </a:r>
            </a:p>
          </p:txBody>
        </p:sp>
      </p:grpSp>
      <p:sp>
        <p:nvSpPr>
          <p:cNvPr name="Freeform 121" id="121"/>
          <p:cNvSpPr/>
          <p:nvPr/>
        </p:nvSpPr>
        <p:spPr>
          <a:xfrm flipH="false" flipV="false" rot="0">
            <a:off x="10754554" y="4842958"/>
            <a:ext cx="3099387" cy="518779"/>
          </a:xfrm>
          <a:custGeom>
            <a:avLst/>
            <a:gdLst/>
            <a:ahLst/>
            <a:cxnLst/>
            <a:rect r="r" b="b" t="t" l="l"/>
            <a:pathLst>
              <a:path h="518779" w="3099387">
                <a:moveTo>
                  <a:pt x="0" y="0"/>
                </a:moveTo>
                <a:lnTo>
                  <a:pt x="3099387" y="0"/>
                </a:lnTo>
                <a:lnTo>
                  <a:pt x="3099387" y="518779"/>
                </a:lnTo>
                <a:lnTo>
                  <a:pt x="0" y="51877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2" id="122"/>
          <p:cNvGrpSpPr/>
          <p:nvPr/>
        </p:nvGrpSpPr>
        <p:grpSpPr>
          <a:xfrm rot="0">
            <a:off x="10904220" y="4855464"/>
            <a:ext cx="2800121" cy="493776"/>
            <a:chOff x="0" y="0"/>
            <a:chExt cx="3733495" cy="658368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3733546" cy="658368"/>
            </a:xfrm>
            <a:custGeom>
              <a:avLst/>
              <a:gdLst/>
              <a:ahLst/>
              <a:cxnLst/>
              <a:rect r="r" b="b" t="t" l="l"/>
              <a:pathLst>
                <a:path h="658368" w="3733546">
                  <a:moveTo>
                    <a:pt x="0" y="0"/>
                  </a:moveTo>
                  <a:lnTo>
                    <a:pt x="3733546" y="0"/>
                  </a:lnTo>
                  <a:lnTo>
                    <a:pt x="3733546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8" r="1" b="-60420"/>
              </a:stretch>
            </a:blip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10904220" y="4841176"/>
            <a:ext cx="2800121" cy="508064"/>
            <a:chOff x="0" y="0"/>
            <a:chExt cx="3733495" cy="677418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3733495" cy="677418"/>
            </a:xfrm>
            <a:custGeom>
              <a:avLst/>
              <a:gdLst/>
              <a:ahLst/>
              <a:cxnLst/>
              <a:rect r="r" b="b" t="t" l="l"/>
              <a:pathLst>
                <a:path h="677418" w="3733495">
                  <a:moveTo>
                    <a:pt x="0" y="0"/>
                  </a:moveTo>
                  <a:lnTo>
                    <a:pt x="3733495" y="0"/>
                  </a:lnTo>
                  <a:lnTo>
                    <a:pt x="3733495" y="677418"/>
                  </a:lnTo>
                  <a:lnTo>
                    <a:pt x="0" y="67741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389" r="0" b="-57389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19050"/>
              <a:ext cx="3733495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u="sng">
                  <a:solidFill>
                    <a:srgbClr val="0000FF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22" tooltip="https://phoenix-sar-uav.vercel.app"/>
                </a:rPr>
                <a:t>phoenix-sar-uav.vercel.app</a:t>
              </a:r>
            </a:p>
          </p:txBody>
        </p:sp>
      </p:grpSp>
      <p:sp>
        <p:nvSpPr>
          <p:cNvPr name="Freeform 127" id="127"/>
          <p:cNvSpPr/>
          <p:nvPr/>
        </p:nvSpPr>
        <p:spPr>
          <a:xfrm flipH="false" flipV="false" rot="0">
            <a:off x="14034745" y="4842958"/>
            <a:ext cx="3099387" cy="518779"/>
          </a:xfrm>
          <a:custGeom>
            <a:avLst/>
            <a:gdLst/>
            <a:ahLst/>
            <a:cxnLst/>
            <a:rect r="r" b="b" t="t" l="l"/>
            <a:pathLst>
              <a:path h="518779" w="3099387">
                <a:moveTo>
                  <a:pt x="0" y="0"/>
                </a:moveTo>
                <a:lnTo>
                  <a:pt x="3099387" y="0"/>
                </a:lnTo>
                <a:lnTo>
                  <a:pt x="3099387" y="518779"/>
                </a:lnTo>
                <a:lnTo>
                  <a:pt x="0" y="51877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8" id="128"/>
          <p:cNvGrpSpPr/>
          <p:nvPr/>
        </p:nvGrpSpPr>
        <p:grpSpPr>
          <a:xfrm rot="0">
            <a:off x="14184401" y="4855464"/>
            <a:ext cx="2800121" cy="493776"/>
            <a:chOff x="0" y="0"/>
            <a:chExt cx="3733495" cy="658368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3733546" cy="658368"/>
            </a:xfrm>
            <a:custGeom>
              <a:avLst/>
              <a:gdLst/>
              <a:ahLst/>
              <a:cxnLst/>
              <a:rect r="r" b="b" t="t" l="l"/>
              <a:pathLst>
                <a:path h="658368" w="3733546">
                  <a:moveTo>
                    <a:pt x="0" y="0"/>
                  </a:moveTo>
                  <a:lnTo>
                    <a:pt x="3733546" y="0"/>
                  </a:lnTo>
                  <a:lnTo>
                    <a:pt x="3733546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8" r="1" b="-60420"/>
              </a:stretch>
            </a:blip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14184401" y="4841176"/>
            <a:ext cx="2800121" cy="508064"/>
            <a:chOff x="0" y="0"/>
            <a:chExt cx="3733495" cy="677418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3733495" cy="677418"/>
            </a:xfrm>
            <a:custGeom>
              <a:avLst/>
              <a:gdLst/>
              <a:ahLst/>
              <a:cxnLst/>
              <a:rect r="r" b="b" t="t" l="l"/>
              <a:pathLst>
                <a:path h="677418" w="3733495">
                  <a:moveTo>
                    <a:pt x="0" y="0"/>
                  </a:moveTo>
                  <a:lnTo>
                    <a:pt x="3733495" y="0"/>
                  </a:lnTo>
                  <a:lnTo>
                    <a:pt x="3733495" y="677418"/>
                  </a:lnTo>
                  <a:lnTo>
                    <a:pt x="0" y="67741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389" r="0" b="-57389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47625"/>
              <a:ext cx="3733495" cy="7250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400">
                  <a:solidFill>
                    <a:srgbClr val="1B55E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github.com/jvstin47/Phoenix-SIH26177-SAR-UAV</a:t>
              </a:r>
            </a:p>
          </p:txBody>
        </p:sp>
      </p:grpSp>
      <p:sp>
        <p:nvSpPr>
          <p:cNvPr name="AutoShape 133" id="133"/>
          <p:cNvSpPr/>
          <p:nvPr/>
        </p:nvSpPr>
        <p:spPr>
          <a:xfrm rot="5100">
            <a:off x="10752763" y="5504307"/>
            <a:ext cx="6383236" cy="0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4" id="134"/>
          <p:cNvGrpSpPr/>
          <p:nvPr/>
        </p:nvGrpSpPr>
        <p:grpSpPr>
          <a:xfrm rot="0">
            <a:off x="10767060" y="5613835"/>
            <a:ext cx="6354623" cy="367465"/>
            <a:chOff x="0" y="0"/>
            <a:chExt cx="8472830" cy="489953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8472805" cy="489966"/>
            </a:xfrm>
            <a:custGeom>
              <a:avLst/>
              <a:gdLst/>
              <a:ahLst/>
              <a:cxnLst/>
              <a:rect r="r" b="b" t="t" l="l"/>
              <a:pathLst>
                <a:path h="489966" w="8472805">
                  <a:moveTo>
                    <a:pt x="0" y="0"/>
                  </a:moveTo>
                  <a:lnTo>
                    <a:pt x="8472805" y="0"/>
                  </a:lnTo>
                  <a:lnTo>
                    <a:pt x="8472805" y="489966"/>
                  </a:lnTo>
                  <a:lnTo>
                    <a:pt x="0" y="4899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715" r="0" b="-286713"/>
              </a:stretch>
            </a:blipFill>
          </p:spPr>
        </p:sp>
      </p:grpSp>
      <p:grpSp>
        <p:nvGrpSpPr>
          <p:cNvPr name="Group 136" id="136"/>
          <p:cNvGrpSpPr/>
          <p:nvPr/>
        </p:nvGrpSpPr>
        <p:grpSpPr>
          <a:xfrm rot="0">
            <a:off x="10767060" y="5578116"/>
            <a:ext cx="6354623" cy="403184"/>
            <a:chOff x="0" y="0"/>
            <a:chExt cx="8472830" cy="537578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8472831" cy="537580"/>
            </a:xfrm>
            <a:custGeom>
              <a:avLst/>
              <a:gdLst/>
              <a:ahLst/>
              <a:cxnLst/>
              <a:rect r="r" b="b" t="t" l="l"/>
              <a:pathLst>
                <a:path h="537580" w="8472831">
                  <a:moveTo>
                    <a:pt x="0" y="0"/>
                  </a:moveTo>
                  <a:lnTo>
                    <a:pt x="8472831" y="0"/>
                  </a:lnTo>
                  <a:lnTo>
                    <a:pt x="8472831" y="537580"/>
                  </a:lnTo>
                  <a:lnTo>
                    <a:pt x="0" y="537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7105" r="0" b="-257104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47625"/>
              <a:ext cx="8472830" cy="5852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9"/>
                </a:lnSpc>
              </a:pPr>
              <a:r>
                <a:rPr lang="en-US" sz="1848" b="true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Documented Subsystems:</a:t>
              </a:r>
            </a:p>
          </p:txBody>
        </p:sp>
      </p:grpSp>
      <p:sp>
        <p:nvSpPr>
          <p:cNvPr name="TextBox 139" id="139"/>
          <p:cNvSpPr txBox="true"/>
          <p:nvPr/>
        </p:nvSpPr>
        <p:spPr>
          <a:xfrm rot="0">
            <a:off x="10767060" y="5921683"/>
            <a:ext cx="6354623" cy="1104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8"/>
              </a:lnSpc>
            </a:pPr>
            <a:r>
              <a:rPr lang="en-US" sz="1350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1. docs/research_papers_synthesis_2026.md</a:t>
            </a:r>
          </a:p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2. docs/prototype_bom_and_financial_viability.md</a:t>
            </a:r>
          </a:p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3. docs/ros_lora_mission_critical_uav_swarm_research.md</a:t>
            </a:r>
          </a:p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4. docs/hardware_viva_defense_guide.md</a:t>
            </a:r>
          </a:p>
        </p:txBody>
      </p:sp>
      <p:sp>
        <p:nvSpPr>
          <p:cNvPr name="AutoShape 140" id="140"/>
          <p:cNvSpPr/>
          <p:nvPr/>
        </p:nvSpPr>
        <p:spPr>
          <a:xfrm rot="15360">
            <a:off x="10762278" y="7093468"/>
            <a:ext cx="6383264" cy="0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1" id="141"/>
          <p:cNvGrpSpPr/>
          <p:nvPr/>
        </p:nvGrpSpPr>
        <p:grpSpPr>
          <a:xfrm rot="0">
            <a:off x="10757545" y="7160133"/>
            <a:ext cx="6354623" cy="367465"/>
            <a:chOff x="0" y="0"/>
            <a:chExt cx="8472830" cy="489953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8472805" cy="489966"/>
            </a:xfrm>
            <a:custGeom>
              <a:avLst/>
              <a:gdLst/>
              <a:ahLst/>
              <a:cxnLst/>
              <a:rect r="r" b="b" t="t" l="l"/>
              <a:pathLst>
                <a:path h="489966" w="8472805">
                  <a:moveTo>
                    <a:pt x="0" y="0"/>
                  </a:moveTo>
                  <a:lnTo>
                    <a:pt x="8472805" y="0"/>
                  </a:lnTo>
                  <a:lnTo>
                    <a:pt x="8472805" y="489966"/>
                  </a:lnTo>
                  <a:lnTo>
                    <a:pt x="0" y="4899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715" r="0" b="-286713"/>
              </a:stretch>
            </a:blip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10757545" y="7124414"/>
            <a:ext cx="6354623" cy="403184"/>
            <a:chOff x="0" y="0"/>
            <a:chExt cx="8472830" cy="537578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8472831" cy="537580"/>
            </a:xfrm>
            <a:custGeom>
              <a:avLst/>
              <a:gdLst/>
              <a:ahLst/>
              <a:cxnLst/>
              <a:rect r="r" b="b" t="t" l="l"/>
              <a:pathLst>
                <a:path h="537580" w="8472831">
                  <a:moveTo>
                    <a:pt x="0" y="0"/>
                  </a:moveTo>
                  <a:lnTo>
                    <a:pt x="8472831" y="0"/>
                  </a:lnTo>
                  <a:lnTo>
                    <a:pt x="8472831" y="537580"/>
                  </a:lnTo>
                  <a:lnTo>
                    <a:pt x="0" y="537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7105" r="0" b="-257104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47625"/>
              <a:ext cx="8472830" cy="5852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9"/>
                </a:lnSpc>
              </a:pPr>
              <a:r>
                <a:rPr lang="en-US" sz="1848" b="true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Prototype Architecture Deliverables: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0757545" y="7612761"/>
            <a:ext cx="274320" cy="274320"/>
            <a:chOff x="0" y="0"/>
            <a:chExt cx="365760" cy="36576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148" id="148"/>
          <p:cNvGrpSpPr/>
          <p:nvPr/>
        </p:nvGrpSpPr>
        <p:grpSpPr>
          <a:xfrm rot="0">
            <a:off x="10819267" y="7674483"/>
            <a:ext cx="150876" cy="150876"/>
            <a:chOff x="0" y="0"/>
            <a:chExt cx="201168" cy="201168"/>
          </a:xfrm>
        </p:grpSpPr>
        <p:sp>
          <p:nvSpPr>
            <p:cNvPr name="Freeform 149" id="149" descr="Check mark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0"/>
                  </a:moveTo>
                  <a:lnTo>
                    <a:pt x="201168" y="0"/>
                  </a:lnTo>
                  <a:lnTo>
                    <a:pt x="201168" y="201168"/>
                  </a:lnTo>
                  <a:lnTo>
                    <a:pt x="0" y="201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  <p:grpSp>
        <p:nvGrpSpPr>
          <p:cNvPr name="Group 150" id="150"/>
          <p:cNvGrpSpPr/>
          <p:nvPr/>
        </p:nvGrpSpPr>
        <p:grpSpPr>
          <a:xfrm rot="0">
            <a:off x="11196457" y="7571613"/>
            <a:ext cx="5915711" cy="356616"/>
            <a:chOff x="0" y="0"/>
            <a:chExt cx="7887614" cy="475488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7887589" cy="475488"/>
            </a:xfrm>
            <a:custGeom>
              <a:avLst/>
              <a:gdLst/>
              <a:ahLst/>
              <a:cxnLst/>
              <a:rect r="r" b="b" t="t" l="l"/>
              <a:pathLst>
                <a:path h="475488" w="7887589">
                  <a:moveTo>
                    <a:pt x="0" y="0"/>
                  </a:moveTo>
                  <a:lnTo>
                    <a:pt x="7887589" y="0"/>
                  </a:lnTo>
                  <a:lnTo>
                    <a:pt x="7887589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002" r="0" b="-273002"/>
              </a:stretch>
            </a:blip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11196457" y="7550182"/>
            <a:ext cx="5915711" cy="378047"/>
            <a:chOff x="0" y="0"/>
            <a:chExt cx="7887614" cy="504063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7887615" cy="504063"/>
            </a:xfrm>
            <a:custGeom>
              <a:avLst/>
              <a:gdLst/>
              <a:ahLst/>
              <a:cxnLst/>
              <a:rect r="r" b="b" t="t" l="l"/>
              <a:pathLst>
                <a:path h="504063" w="7887615">
                  <a:moveTo>
                    <a:pt x="0" y="0"/>
                  </a:moveTo>
                  <a:lnTo>
                    <a:pt x="7887615" y="0"/>
                  </a:lnTo>
                  <a:lnTo>
                    <a:pt x="7887615" y="504063"/>
                  </a:lnTo>
                  <a:lnTo>
                    <a:pt x="0" y="5040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4903" r="0" b="-254903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28575"/>
              <a:ext cx="7887614" cy="5326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E26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Live Web GCS Tactical Dashboard (React + Leaflet)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10757545" y="7983093"/>
            <a:ext cx="274320" cy="274320"/>
            <a:chOff x="0" y="0"/>
            <a:chExt cx="365760" cy="36576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157" id="157"/>
          <p:cNvGrpSpPr/>
          <p:nvPr/>
        </p:nvGrpSpPr>
        <p:grpSpPr>
          <a:xfrm rot="0">
            <a:off x="10819267" y="8044815"/>
            <a:ext cx="150876" cy="150876"/>
            <a:chOff x="0" y="0"/>
            <a:chExt cx="201168" cy="201168"/>
          </a:xfrm>
        </p:grpSpPr>
        <p:sp>
          <p:nvSpPr>
            <p:cNvPr name="Freeform 158" id="158" descr="Check mark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0"/>
                  </a:moveTo>
                  <a:lnTo>
                    <a:pt x="201168" y="0"/>
                  </a:lnTo>
                  <a:lnTo>
                    <a:pt x="201168" y="201168"/>
                  </a:lnTo>
                  <a:lnTo>
                    <a:pt x="0" y="201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  <p:grpSp>
        <p:nvGrpSpPr>
          <p:cNvPr name="Group 159" id="159"/>
          <p:cNvGrpSpPr/>
          <p:nvPr/>
        </p:nvGrpSpPr>
        <p:grpSpPr>
          <a:xfrm rot="0">
            <a:off x="11196457" y="7941945"/>
            <a:ext cx="5915711" cy="356616"/>
            <a:chOff x="0" y="0"/>
            <a:chExt cx="7887614" cy="475488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7887589" cy="475488"/>
            </a:xfrm>
            <a:custGeom>
              <a:avLst/>
              <a:gdLst/>
              <a:ahLst/>
              <a:cxnLst/>
              <a:rect r="r" b="b" t="t" l="l"/>
              <a:pathLst>
                <a:path h="475488" w="7887589">
                  <a:moveTo>
                    <a:pt x="0" y="0"/>
                  </a:moveTo>
                  <a:lnTo>
                    <a:pt x="7887589" y="0"/>
                  </a:lnTo>
                  <a:lnTo>
                    <a:pt x="7887589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002" r="0" b="-273002"/>
              </a:stretch>
            </a:blip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11196457" y="7920514"/>
            <a:ext cx="5915711" cy="378047"/>
            <a:chOff x="0" y="0"/>
            <a:chExt cx="7887614" cy="504063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7887615" cy="504063"/>
            </a:xfrm>
            <a:custGeom>
              <a:avLst/>
              <a:gdLst/>
              <a:ahLst/>
              <a:cxnLst/>
              <a:rect r="r" b="b" t="t" l="l"/>
              <a:pathLst>
                <a:path h="504063" w="7887615">
                  <a:moveTo>
                    <a:pt x="0" y="0"/>
                  </a:moveTo>
                  <a:lnTo>
                    <a:pt x="7887615" y="0"/>
                  </a:lnTo>
                  <a:lnTo>
                    <a:pt x="7887615" y="504063"/>
                  </a:lnTo>
                  <a:lnTo>
                    <a:pt x="0" y="5040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4903" r="0" b="-254903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28575"/>
              <a:ext cx="7887614" cy="5326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E26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Multi-Spectral Dual Stream (RGB + LWIR Thermal HUD)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10757545" y="8353425"/>
            <a:ext cx="274320" cy="274320"/>
            <a:chOff x="0" y="0"/>
            <a:chExt cx="365760" cy="365760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0819267" y="8415147"/>
            <a:ext cx="150876" cy="150876"/>
            <a:chOff x="0" y="0"/>
            <a:chExt cx="201168" cy="201168"/>
          </a:xfrm>
        </p:grpSpPr>
        <p:sp>
          <p:nvSpPr>
            <p:cNvPr name="Freeform 167" id="167" descr="Check mark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0"/>
                  </a:moveTo>
                  <a:lnTo>
                    <a:pt x="201168" y="0"/>
                  </a:lnTo>
                  <a:lnTo>
                    <a:pt x="201168" y="201168"/>
                  </a:lnTo>
                  <a:lnTo>
                    <a:pt x="0" y="201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1196457" y="8312277"/>
            <a:ext cx="5915711" cy="356616"/>
            <a:chOff x="0" y="0"/>
            <a:chExt cx="7887614" cy="475488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7887589" cy="475488"/>
            </a:xfrm>
            <a:custGeom>
              <a:avLst/>
              <a:gdLst/>
              <a:ahLst/>
              <a:cxnLst/>
              <a:rect r="r" b="b" t="t" l="l"/>
              <a:pathLst>
                <a:path h="475488" w="7887589">
                  <a:moveTo>
                    <a:pt x="0" y="0"/>
                  </a:moveTo>
                  <a:lnTo>
                    <a:pt x="7887589" y="0"/>
                  </a:lnTo>
                  <a:lnTo>
                    <a:pt x="7887589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002" r="0" b="-273002"/>
              </a:stretch>
            </a:blip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1196457" y="8290846"/>
            <a:ext cx="5915711" cy="378047"/>
            <a:chOff x="0" y="0"/>
            <a:chExt cx="7887614" cy="504063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7887615" cy="504063"/>
            </a:xfrm>
            <a:custGeom>
              <a:avLst/>
              <a:gdLst/>
              <a:ahLst/>
              <a:cxnLst/>
              <a:rect r="r" b="b" t="t" l="l"/>
              <a:pathLst>
                <a:path h="504063" w="7887615">
                  <a:moveTo>
                    <a:pt x="0" y="0"/>
                  </a:moveTo>
                  <a:lnTo>
                    <a:pt x="7887615" y="0"/>
                  </a:lnTo>
                  <a:lnTo>
                    <a:pt x="7887615" y="504063"/>
                  </a:lnTo>
                  <a:lnTo>
                    <a:pt x="0" y="5040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4903" r="0" b="-254903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28575"/>
              <a:ext cx="7887614" cy="5326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E26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LoRa 17-Byte Binary Bit-Packing Serialization Module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10757545" y="8723757"/>
            <a:ext cx="274320" cy="274320"/>
            <a:chOff x="0" y="0"/>
            <a:chExt cx="365760" cy="365760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175" id="175"/>
          <p:cNvGrpSpPr/>
          <p:nvPr/>
        </p:nvGrpSpPr>
        <p:grpSpPr>
          <a:xfrm rot="0">
            <a:off x="10819267" y="8789670"/>
            <a:ext cx="150876" cy="150876"/>
            <a:chOff x="0" y="0"/>
            <a:chExt cx="201168" cy="201168"/>
          </a:xfrm>
        </p:grpSpPr>
        <p:sp>
          <p:nvSpPr>
            <p:cNvPr name="Freeform 176" id="176" descr="Check mark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0"/>
                  </a:moveTo>
                  <a:lnTo>
                    <a:pt x="201168" y="0"/>
                  </a:lnTo>
                  <a:lnTo>
                    <a:pt x="201168" y="201168"/>
                  </a:lnTo>
                  <a:lnTo>
                    <a:pt x="0" y="201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  <p:grpSp>
        <p:nvGrpSpPr>
          <p:cNvPr name="Group 177" id="177"/>
          <p:cNvGrpSpPr/>
          <p:nvPr/>
        </p:nvGrpSpPr>
        <p:grpSpPr>
          <a:xfrm rot="0">
            <a:off x="11196457" y="8682609"/>
            <a:ext cx="5915711" cy="356616"/>
            <a:chOff x="0" y="0"/>
            <a:chExt cx="7887614" cy="475488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7887589" cy="475488"/>
            </a:xfrm>
            <a:custGeom>
              <a:avLst/>
              <a:gdLst/>
              <a:ahLst/>
              <a:cxnLst/>
              <a:rect r="r" b="b" t="t" l="l"/>
              <a:pathLst>
                <a:path h="475488" w="7887589">
                  <a:moveTo>
                    <a:pt x="0" y="0"/>
                  </a:moveTo>
                  <a:lnTo>
                    <a:pt x="7887589" y="0"/>
                  </a:lnTo>
                  <a:lnTo>
                    <a:pt x="7887589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002" r="0" b="-273002"/>
              </a:stretch>
            </a:blip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11196457" y="8661178"/>
            <a:ext cx="5915711" cy="378047"/>
            <a:chOff x="0" y="0"/>
            <a:chExt cx="7887614" cy="504063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7887615" cy="504063"/>
            </a:xfrm>
            <a:custGeom>
              <a:avLst/>
              <a:gdLst/>
              <a:ahLst/>
              <a:cxnLst/>
              <a:rect r="r" b="b" t="t" l="l"/>
              <a:pathLst>
                <a:path h="504063" w="7887615">
                  <a:moveTo>
                    <a:pt x="0" y="0"/>
                  </a:moveTo>
                  <a:lnTo>
                    <a:pt x="7887615" y="0"/>
                  </a:lnTo>
                  <a:lnTo>
                    <a:pt x="7887615" y="504063"/>
                  </a:lnTo>
                  <a:lnTo>
                    <a:pt x="0" y="5040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4903" r="0" b="-254903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28575"/>
              <a:ext cx="7887614" cy="5326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E26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Ray-Casting Geolocation Python Engine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DAHWfX_rHRA</dc:identifier>
  <dcterms:modified xsi:type="dcterms:W3CDTF">2011-08-01T06:04:30Z</dcterms:modified>
  <cp:revision>1</cp:revision>
  <dc:title>Copy of SIH26177_v7.pptx.pptx</dc:title>
</cp:coreProperties>
</file>