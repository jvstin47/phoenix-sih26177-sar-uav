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4.jpeg"/><Relationship Id="rId7" Type="http://schemas.openxmlformats.org/officeDocument/2006/relationships/image" Target="../media/image1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hyperlink" Target="https://phoenix-sar-uav.vercel.app" TargetMode="External"/><Relationship Id="rId10" Type="http://schemas.openxmlformats.org/officeDocument/2006/relationships/hyperlink" Target="https://github.com/jvstin47/Phoenix-SIH26177-SAR-UAV" TargetMode="External"/><Relationship Id="rId11" Type="http://schemas.openxmlformats.org/officeDocument/2006/relationships/image" Target="../media/image6.png"/><Relationship Id="rId12" Type="http://schemas.openxmlformats.org/officeDocument/2006/relationships/hyperlink" Target="https://doi.org/10.1109/ACCESS.2026.3730315" TargetMode="External"/><Relationship Id="rId13" Type="http://schemas.openxmlformats.org/officeDocument/2006/relationships/hyperlink" Target="https://doi.org/10.1109/ACCESS.2026.3731317" TargetMode="External"/><Relationship Id="rId14" Type="http://schemas.openxmlformats.org/officeDocument/2006/relationships/hyperlink" Target="https://doi.org/10.1109/ACCESS.2023.3293737" TargetMode="External"/><Relationship Id="rId15" Type="http://schemas.openxmlformats.org/officeDocument/2006/relationships/hyperlink" Target="https://doi.org/10.1016/j.comcom.2020.03.042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73" cy="3391976"/>
            <a:chOff x="0" y="0"/>
            <a:chExt cx="4228630" cy="4522635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58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58">
                  <a:moveTo>
                    <a:pt x="0" y="0"/>
                  </a:moveTo>
                  <a:lnTo>
                    <a:pt x="14996158" y="0"/>
                  </a:lnTo>
                  <a:lnTo>
                    <a:pt x="14996158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528" r="0" b="-5645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996160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sz="1600" b="1" i="0">
                  <a:solidFill>
                    <a:srgbClr val="B35A00"/>
                  </a:solidFill>
                  <a:latin typeface="Calibri"/>
                </a:rPr>
                <a:t>HARDWARE EDITION  |  POWERED BY ARDUINO UNO Q (QUALCOMM INC.)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17220" y="1684782"/>
            <a:ext cx="11247120" cy="163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7220" y="3322320"/>
            <a:ext cx="10835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sz="2300" b="0" i="0">
                <a:solidFill>
                  <a:srgbClr val="566074"/>
                </a:solidFill>
                <a:latin typeface="Calibri"/>
              </a:rPr>
              <a:t>Arduino UNO Q Dual-Brain Edge-AI Scout for Zero-Infrastructure Disaster Reconnaissance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10076" y="4135088"/>
            <a:ext cx="10781348" cy="5418392"/>
            <a:chOff x="0" y="0"/>
            <a:chExt cx="14375130" cy="72245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375129" cy="7224523"/>
            </a:xfrm>
            <a:custGeom>
              <a:avLst/>
              <a:gdLst/>
              <a:ahLst/>
              <a:cxnLst/>
              <a:rect r="r" b="b" t="t" l="l"/>
              <a:pathLst>
                <a:path h="7224523" w="14375129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4118462" y="0"/>
                  </a:lnTo>
                  <a:cubicBezTo>
                    <a:pt x="14260195" y="0"/>
                    <a:pt x="14375129" y="114935"/>
                    <a:pt x="14375129" y="256667"/>
                  </a:cubicBezTo>
                  <a:lnTo>
                    <a:pt x="14375129" y="6967855"/>
                  </a:lnTo>
                  <a:cubicBezTo>
                    <a:pt x="14375129" y="7109587"/>
                    <a:pt x="14260195" y="7224523"/>
                    <a:pt x="14118462" y="7224523"/>
                  </a:cubicBezTo>
                  <a:lnTo>
                    <a:pt x="256667" y="7224523"/>
                  </a:lnTo>
                  <a:cubicBezTo>
                    <a:pt x="114935" y="7224522"/>
                    <a:pt x="0" y="7109587"/>
                    <a:pt x="0" y="6967855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708" r="0" b="-12270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7132320" cy="87134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035040" cy="8522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6600">
            <a:off x="1019165" y="5371910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814" r="0" b="-73481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325880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28700" y="5763768"/>
            <a:ext cx="9944100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34" id="34"/>
          <p:cNvSpPr/>
          <p:nvPr/>
        </p:nvSpPr>
        <p:spPr>
          <a:xfrm rot="6600">
            <a:off x="1019165" y="651033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6600">
            <a:off x="1019165" y="7470457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60" id="60"/>
          <p:cNvSpPr/>
          <p:nvPr/>
        </p:nvSpPr>
        <p:spPr>
          <a:xfrm rot="6600">
            <a:off x="1019165" y="843057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1" id="61"/>
          <p:cNvGrpSpPr/>
          <p:nvPr/>
        </p:nvGrpSpPr>
        <p:grpSpPr>
          <a:xfrm rot="0">
            <a:off x="1028700" y="8572500"/>
            <a:ext cx="5349240" cy="279820"/>
            <a:chOff x="0" y="0"/>
            <a:chExt cx="7132320" cy="37309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132320" cy="373094"/>
            </a:xfrm>
            <a:custGeom>
              <a:avLst/>
              <a:gdLst/>
              <a:ahLst/>
              <a:cxnLst/>
              <a:rect r="r" b="b" t="t" l="l"/>
              <a:pathLst>
                <a:path h="37309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094"/>
                  </a:lnTo>
                  <a:lnTo>
                    <a:pt x="0" y="3730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8374" r="0" b="-3166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7132320" cy="411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2424639" y="7459447"/>
            <a:ext cx="196139" cy="196139"/>
            <a:chOff x="0" y="0"/>
            <a:chExt cx="261518" cy="261518"/>
          </a:xfrm>
        </p:grpSpPr>
        <p:sp>
          <p:nvSpPr>
            <p:cNvPr name="Freeform 70" id="7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sz="1800" b="1" i="0">
                  <a:solidFill>
                    <a:srgbClr val="1F497D"/>
                  </a:solidFill>
                  <a:latin typeface="Calibri"/>
                </a:rPr>
                <a:t>Arduino UNO Q Dual-Brain SBC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2424639" y="7953223"/>
            <a:ext cx="196139" cy="196139"/>
            <a:chOff x="0" y="0"/>
            <a:chExt cx="261518" cy="261518"/>
          </a:xfrm>
        </p:grpSpPr>
        <p:sp>
          <p:nvSpPr>
            <p:cNvPr name="Freeform 77" id="77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sz="1800" b="1" i="0">
                  <a:solidFill>
                    <a:srgbClr val="1F497D"/>
                  </a:solidFill>
                  <a:latin typeface="Calibri"/>
                </a:rPr>
                <a:t>QRB2210 Linux + STM32U5 RTOS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424639" y="8446999"/>
            <a:ext cx="196139" cy="196139"/>
            <a:chOff x="0" y="0"/>
            <a:chExt cx="261518" cy="261518"/>
          </a:xfrm>
        </p:grpSpPr>
        <p:sp>
          <p:nvSpPr>
            <p:cNvPr name="Freeform 84" id="84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sz="1280" b="1" i="0">
                  <a:solidFill>
                    <a:srgbClr val="FFFFFF"/>
                  </a:solidFill>
                  <a:latin typeface="Calibri"/>
                </a:rPr>
                <a:t>Dual 1080p + Thermal Fusion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424639" y="8940775"/>
            <a:ext cx="196139" cy="196139"/>
            <a:chOff x="0" y="0"/>
            <a:chExt cx="261518" cy="261518"/>
          </a:xfrm>
        </p:grpSpPr>
        <p:sp>
          <p:nvSpPr>
            <p:cNvPr name="Freeform 91" id="9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424639" y="9434551"/>
            <a:ext cx="196139" cy="196139"/>
            <a:chOff x="0" y="0"/>
            <a:chExt cx="261518" cy="261518"/>
          </a:xfrm>
        </p:grpSpPr>
        <p:sp>
          <p:nvSpPr>
            <p:cNvPr name="Freeform 98" id="98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sz="1280" b="1" i="0">
                  <a:solidFill>
                    <a:srgbClr val="FFFFFF"/>
                  </a:solidFill>
                  <a:latin typeface="Calibri"/>
                </a:rPr>
                <a:t>IEEE Anti-Drift VIO Navigation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98" r="0" b="-8249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544800" cy="2305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5816" y="1775936"/>
            <a:ext cx="5465997" cy="4061097"/>
            <a:chOff x="0" y="0"/>
            <a:chExt cx="7287996" cy="541479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87996" cy="5414795"/>
            </a:xfrm>
            <a:custGeom>
              <a:avLst/>
              <a:gdLst/>
              <a:ahLst/>
              <a:cxnLst/>
              <a:rect r="r" b="b" t="t" l="l"/>
              <a:pathLst>
                <a:path h="5414795" w="7287996">
                  <a:moveTo>
                    <a:pt x="0" y="272613"/>
                  </a:moveTo>
                  <a:cubicBezTo>
                    <a:pt x="0" y="122090"/>
                    <a:pt x="76930" y="0"/>
                    <a:pt x="171777" y="0"/>
                  </a:cubicBezTo>
                  <a:lnTo>
                    <a:pt x="7116219" y="0"/>
                  </a:lnTo>
                  <a:cubicBezTo>
                    <a:pt x="7211066" y="0"/>
                    <a:pt x="7287996" y="122090"/>
                    <a:pt x="7287996" y="272613"/>
                  </a:cubicBezTo>
                  <a:lnTo>
                    <a:pt x="7287996" y="5142183"/>
                  </a:lnTo>
                  <a:cubicBezTo>
                    <a:pt x="7287996" y="5292706"/>
                    <a:pt x="7211066" y="5414795"/>
                    <a:pt x="7116219" y="5414795"/>
                  </a:cubicBezTo>
                  <a:lnTo>
                    <a:pt x="171777" y="5414795"/>
                  </a:lnTo>
                  <a:cubicBezTo>
                    <a:pt x="76930" y="5414795"/>
                    <a:pt x="0" y="5292706"/>
                    <a:pt x="0" y="5142183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36638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38">
                  <a:moveTo>
                    <a:pt x="0" y="0"/>
                  </a:moveTo>
                  <a:lnTo>
                    <a:pt x="3836638" y="0"/>
                  </a:lnTo>
                  <a:lnTo>
                    <a:pt x="383663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258" r="0" b="-862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3663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69448" y="1775936"/>
            <a:ext cx="5401361" cy="4061097"/>
            <a:chOff x="0" y="0"/>
            <a:chExt cx="7201814" cy="536577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1815" cy="5365774"/>
            </a:xfrm>
            <a:custGeom>
              <a:avLst/>
              <a:gdLst/>
              <a:ahLst/>
              <a:cxnLst/>
              <a:rect r="r" b="b" t="t" l="l"/>
              <a:pathLst>
                <a:path h="5365774" w="7201815">
                  <a:moveTo>
                    <a:pt x="0" y="270145"/>
                  </a:moveTo>
                  <a:cubicBezTo>
                    <a:pt x="0" y="120984"/>
                    <a:pt x="76021" y="0"/>
                    <a:pt x="169746" y="0"/>
                  </a:cubicBezTo>
                  <a:lnTo>
                    <a:pt x="7032068" y="0"/>
                  </a:lnTo>
                  <a:cubicBezTo>
                    <a:pt x="7125794" y="0"/>
                    <a:pt x="7201815" y="120984"/>
                    <a:pt x="7201815" y="270145"/>
                  </a:cubicBezTo>
                  <a:lnTo>
                    <a:pt x="7201815" y="5095629"/>
                  </a:lnTo>
                  <a:cubicBezTo>
                    <a:pt x="7201815" y="5244789"/>
                    <a:pt x="7125794" y="5365774"/>
                    <a:pt x="7032068" y="5365774"/>
                  </a:cubicBezTo>
                  <a:lnTo>
                    <a:pt x="169746" y="5365774"/>
                  </a:lnTo>
                  <a:cubicBezTo>
                    <a:pt x="76021" y="5365774"/>
                    <a:pt x="0" y="5244789"/>
                    <a:pt x="0" y="5095629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295" y="2002536"/>
            <a:ext cx="2877474" cy="411480"/>
            <a:chOff x="0" y="0"/>
            <a:chExt cx="3836632" cy="54864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836670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70">
                    <a:moveTo>
                      <a:pt x="0" y="274320"/>
                    </a:moveTo>
                    <a:cubicBezTo>
                      <a:pt x="0" y="122809"/>
                      <a:pt x="122809" y="0"/>
                      <a:pt x="274320" y="0"/>
                    </a:cubicBezTo>
                    <a:lnTo>
                      <a:pt x="3562350" y="0"/>
                    </a:lnTo>
                    <a:cubicBezTo>
                      <a:pt x="3713861" y="0"/>
                      <a:pt x="3836670" y="122809"/>
                      <a:pt x="3836670" y="274320"/>
                    </a:cubicBezTo>
                    <a:cubicBezTo>
                      <a:pt x="3836670" y="425831"/>
                      <a:pt x="3713861" y="548640"/>
                      <a:pt x="3562350" y="548640"/>
                    </a:cubicBezTo>
                    <a:lnTo>
                      <a:pt x="274320" y="548640"/>
                    </a:lnTo>
                    <a:cubicBezTo>
                      <a:pt x="122809" y="548640"/>
                      <a:pt x="0" y="425831"/>
                      <a:pt x="0" y="274320"/>
                    </a:cubicBezTo>
                    <a:close/>
                  </a:path>
                </a:pathLst>
              </a:custGeom>
              <a:solidFill>
                <a:srgbClr val="F08418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836638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38">
                    <a:moveTo>
                      <a:pt x="0" y="0"/>
                    </a:moveTo>
                    <a:lnTo>
                      <a:pt x="3836638" y="0"/>
                    </a:lnTo>
                    <a:lnTo>
                      <a:pt x="3836638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6258" r="0" b="-86258"/>
                </a:stretch>
              </a:blip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19050"/>
                <a:ext cx="3836632" cy="56769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PROPOSED SOLUTION</a:t>
                </a:r>
              </a:p>
            </p:txBody>
          </p:sp>
        </p:grpSp>
      </p:grpSp>
      <p:grpSp>
        <p:nvGrpSpPr>
          <p:cNvPr name="Group 32" id="32"/>
          <p:cNvGrpSpPr/>
          <p:nvPr/>
        </p:nvGrpSpPr>
        <p:grpSpPr>
          <a:xfrm rot="0">
            <a:off x="7281283" y="5313140"/>
            <a:ext cx="3689737" cy="384048"/>
            <a:chOff x="0" y="0"/>
            <a:chExt cx="4919650" cy="5120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19599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599">
                    <a:moveTo>
                      <a:pt x="0" y="256032"/>
                    </a:moveTo>
                    <a:cubicBezTo>
                      <a:pt x="0" y="114681"/>
                      <a:pt x="114681" y="0"/>
                      <a:pt x="256032" y="0"/>
                    </a:cubicBezTo>
                    <a:lnTo>
                      <a:pt x="4663567" y="0"/>
                    </a:lnTo>
                    <a:cubicBezTo>
                      <a:pt x="4804918" y="0"/>
                      <a:pt x="4919599" y="114681"/>
                      <a:pt x="4919599" y="256032"/>
                    </a:cubicBezTo>
                    <a:cubicBezTo>
                      <a:pt x="4919599" y="397383"/>
                      <a:pt x="4804918" y="512064"/>
                      <a:pt x="4663567" y="512064"/>
                    </a:cubicBezTo>
                    <a:lnTo>
                      <a:pt x="256032" y="512064"/>
                    </a:lnTo>
                    <a:cubicBezTo>
                      <a:pt x="114681" y="512064"/>
                      <a:pt x="0" y="397383"/>
                      <a:pt x="0" y="256032"/>
                    </a:cubicBezTo>
                    <a:close/>
                  </a:path>
                </a:pathLst>
              </a:custGeom>
              <a:solidFill>
                <a:srgbClr val="FDEEDD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919654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654">
                    <a:moveTo>
                      <a:pt x="0" y="0"/>
                    </a:moveTo>
                    <a:lnTo>
                      <a:pt x="4919654" y="0"/>
                    </a:lnTo>
                    <a:lnTo>
                      <a:pt x="4919654" y="512064"/>
                    </a:lnTo>
                    <a:lnTo>
                      <a:pt x="0" y="5120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7202" r="0" b="-137202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4919650" cy="53111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B35A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INNOVATION / UNIQUENESS</a:t>
                </a:r>
              </a:p>
            </p:txBody>
          </p:sp>
        </p:grpSp>
      </p:grpSp>
      <p:grpSp>
        <p:nvGrpSpPr>
          <p:cNvPr name="Group 38" id="38"/>
          <p:cNvGrpSpPr/>
          <p:nvPr/>
        </p:nvGrpSpPr>
        <p:grpSpPr>
          <a:xfrm rot="0">
            <a:off x="815816" y="6100486"/>
            <a:ext cx="3178016" cy="1523048"/>
            <a:chOff x="0" y="0"/>
            <a:chExt cx="4237355" cy="20307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14984" y="6231073"/>
            <a:ext cx="2285905" cy="411480"/>
            <a:chOff x="0" y="0"/>
            <a:chExt cx="3047873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383185" y="6231073"/>
            <a:ext cx="411480" cy="411480"/>
            <a:chOff x="0" y="0"/>
            <a:chExt cx="54864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3486055" y="6333943"/>
            <a:ext cx="205740" cy="205740"/>
            <a:chOff x="0" y="0"/>
            <a:chExt cx="274320" cy="274320"/>
          </a:xfrm>
        </p:grpSpPr>
        <p:sp>
          <p:nvSpPr>
            <p:cNvPr name="Freeform 46" id="46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185285" y="6100486"/>
            <a:ext cx="3178016" cy="1523048"/>
            <a:chOff x="0" y="0"/>
            <a:chExt cx="4237355" cy="20307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4384453" y="6231073"/>
            <a:ext cx="2285905" cy="411480"/>
            <a:chOff x="0" y="0"/>
            <a:chExt cx="3047873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752663" y="6231073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55533" y="6333943"/>
            <a:ext cx="205740" cy="205740"/>
            <a:chOff x="0" y="0"/>
            <a:chExt cx="274320" cy="274320"/>
          </a:xfrm>
        </p:grpSpPr>
        <p:sp>
          <p:nvSpPr>
            <p:cNvPr name="Freeform 55" id="5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7554763" y="6100486"/>
            <a:ext cx="3178016" cy="1523048"/>
            <a:chOff x="0" y="0"/>
            <a:chExt cx="4237355" cy="2030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7753931" y="6231073"/>
            <a:ext cx="2285905" cy="411480"/>
            <a:chOff x="0" y="0"/>
            <a:chExt cx="3047873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122132" y="6231073"/>
            <a:ext cx="411480" cy="411480"/>
            <a:chOff x="0" y="0"/>
            <a:chExt cx="5486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225002" y="6333943"/>
            <a:ext cx="205740" cy="205740"/>
            <a:chOff x="0" y="0"/>
            <a:chExt cx="274320" cy="274320"/>
          </a:xfrm>
        </p:grpSpPr>
        <p:sp>
          <p:nvSpPr>
            <p:cNvPr name="Freeform 64" id="64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924232" y="6100486"/>
            <a:ext cx="3178016" cy="1523048"/>
            <a:chOff x="0" y="0"/>
            <a:chExt cx="4237355" cy="203073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123400" y="6231073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491610" y="6231073"/>
            <a:ext cx="411480" cy="411480"/>
            <a:chOff x="0" y="0"/>
            <a:chExt cx="54864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3594480" y="6333943"/>
            <a:ext cx="205740" cy="205740"/>
            <a:chOff x="0" y="0"/>
            <a:chExt cx="274320" cy="274320"/>
          </a:xfrm>
        </p:grpSpPr>
        <p:sp>
          <p:nvSpPr>
            <p:cNvPr name="Freeform 73" id="73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293710" y="6100486"/>
            <a:ext cx="3178016" cy="1523048"/>
            <a:chOff x="0" y="0"/>
            <a:chExt cx="4106520" cy="203073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3178016" cy="2030730"/>
            </a:xfrm>
            <a:custGeom>
              <a:avLst/>
              <a:gdLst/>
              <a:ahLst/>
              <a:cxnLst/>
              <a:rect r="r" b="b" t="t" l="l"/>
              <a:pathLst>
                <a:path h="2030730" w="4106519">
                  <a:moveTo>
                    <a:pt x="0" y="258445"/>
                  </a:moveTo>
                  <a:cubicBezTo>
                    <a:pt x="0" y="115697"/>
                    <a:pt x="112125" y="0"/>
                    <a:pt x="250465" y="0"/>
                  </a:cubicBezTo>
                  <a:lnTo>
                    <a:pt x="3856055" y="0"/>
                  </a:lnTo>
                  <a:cubicBezTo>
                    <a:pt x="3994395" y="0"/>
                    <a:pt x="4106519" y="115697"/>
                    <a:pt x="4106519" y="258445"/>
                  </a:cubicBezTo>
                  <a:lnTo>
                    <a:pt x="4106519" y="1772285"/>
                  </a:lnTo>
                  <a:cubicBezTo>
                    <a:pt x="4106519" y="1915033"/>
                    <a:pt x="3994395" y="2030730"/>
                    <a:pt x="3856055" y="2030730"/>
                  </a:cubicBezTo>
                  <a:lnTo>
                    <a:pt x="250465" y="2030730"/>
                  </a:lnTo>
                  <a:cubicBezTo>
                    <a:pt x="112125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4492878" y="6231073"/>
            <a:ext cx="2285905" cy="411480"/>
            <a:chOff x="0" y="0"/>
            <a:chExt cx="3047873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6861079" y="6231073"/>
            <a:ext cx="411480" cy="411480"/>
            <a:chOff x="0" y="0"/>
            <a:chExt cx="54864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6963949" y="6333943"/>
            <a:ext cx="205740" cy="205740"/>
            <a:chOff x="0" y="0"/>
            <a:chExt cx="274320" cy="274320"/>
          </a:xfrm>
        </p:grpSpPr>
        <p:sp>
          <p:nvSpPr>
            <p:cNvPr name="Freeform 82" id="82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sp>
        <p:nvSpPr>
          <p:cNvPr name="Freeform 155" id="155"/>
          <p:cNvSpPr/>
          <p:nvPr/>
        </p:nvSpPr>
        <p:spPr>
          <a:xfrm flipH="false" flipV="false" rot="0">
            <a:off x="6483975" y="2075879"/>
            <a:ext cx="5284353" cy="2960560"/>
          </a:xfrm>
          <a:custGeom>
            <a:avLst/>
            <a:gdLst/>
            <a:ahLst/>
            <a:cxnLst/>
            <a:rect r="r" b="b" t="t" l="l"/>
            <a:pathLst>
              <a:path h="2960560" w="5284353">
                <a:moveTo>
                  <a:pt x="0" y="0"/>
                </a:moveTo>
                <a:lnTo>
                  <a:pt x="5284353" y="0"/>
                </a:lnTo>
                <a:lnTo>
                  <a:pt x="5284353" y="2960560"/>
                </a:lnTo>
                <a:lnTo>
                  <a:pt x="0" y="2960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89" t="0" r="-189" b="0"/>
            </a:stretch>
          </a:blipFill>
        </p:spPr>
        <p:txBody>
          <a:bodyPr/>
          <a:p/>
        </p:txBody>
      </p:sp>
      <p:sp>
        <p:nvSpPr>
          <p:cNvPr name="TextBox 156" id="156"/>
          <p:cNvSpPr txBox="true"/>
          <p:nvPr/>
        </p:nvSpPr>
        <p:spPr>
          <a:xfrm rot="0">
            <a:off x="1074505" y="2600000"/>
            <a:ext cx="5028840" cy="290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7"/>
              </a:lnSpc>
              <a:spcAft>
                <a:spcPts val="400"/>
              </a:spcAft>
            </a:pPr>
            <a:r>
              <a:rPr sz="1400" b="1" i="0">
                <a:solidFill>
                  <a:srgbClr val="B4281E"/>
                </a:solidFill>
                <a:latin typeface="Calibri"/>
              </a:rPr>
              <a:t>CRITICAL DISASTER BARRIERS — FOUR OPERATIONAL FAILURES: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01 — TOTAL COMMS BLACKOUT: </a:t>
            </a:r>
            <a:r>
              <a:rPr sz="1300" b="0" i="0">
                <a:solidFill>
                  <a:srgbClr val="323C50"/>
                </a:solidFill>
                <a:latin typeface="Calibri"/>
              </a:rPr>
              <a:t>Cellular and Wi-Fi networks down; cloud-reliant commercial drones fail immediately.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02 — ZERO OPTICAL VISIBILITY: </a:t>
            </a:r>
            <a:r>
              <a:rPr sz="1300" b="0" i="0">
                <a:solidFill>
                  <a:srgbClr val="323C50"/>
                </a:solidFill>
                <a:latin typeface="Calibri"/>
              </a:rPr>
              <a:t>Darkness, dense smoke, and debris dust blind conventional visible-light RGB cameras.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03 — UNLOCALIZED CASUALTIES: </a:t>
            </a:r>
            <a:r>
              <a:rPr sz="1300" b="0" i="0">
                <a:solidFill>
                  <a:srgbClr val="323C50"/>
                </a:solidFill>
                <a:latin typeface="Calibri"/>
              </a:rPr>
              <a:t>Visual spotting lacks coordinates; rescue teams dig blindly without actionable GPS fixes.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04 — SECONDARY RESCUER HAZARDS: </a:t>
            </a:r>
            <a:r>
              <a:rPr sz="1300" b="0" i="0">
                <a:solidFill>
                  <a:srgbClr val="323C50"/>
                </a:solidFill>
                <a:latin typeface="Calibri"/>
              </a:rPr>
              <a:t>Live electrical lines, shifting rubble piles, and gas voids endanger ground rescue crews.</a:t>
            </a:r>
          </a:p>
        </p:txBody>
      </p:sp>
      <p:sp>
        <p:nvSpPr>
          <p:cNvPr name="TextBox 157" id="157"/>
          <p:cNvSpPr txBox="true"/>
          <p:nvPr/>
        </p:nvSpPr>
        <p:spPr>
          <a:xfrm rot="0">
            <a:off x="12179295" y="2600000"/>
            <a:ext cx="5140386" cy="290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  <a:spcAft>
                <a:spcPts val="400"/>
              </a:spcAft>
            </a:pPr>
            <a:r>
              <a:rPr sz="1400" b="1" i="0">
                <a:solidFill>
                  <a:srgbClr val="38BDF8"/>
                </a:solidFill>
                <a:latin typeface="Calibri"/>
              </a:rPr>
              <a:t>PROJECT PHOENIX: ARDUINO UNO Q DUAL-BRAIN ARCHITECTURE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FBBF24"/>
                </a:solidFill>
                <a:latin typeface="Calibri"/>
              </a:rPr>
              <a:t>ARDUINO UNO Q DUAL-BRAIN: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QRB2210 MPU performs INT8 edge-AI on Linux; STM32U585 MCU runs deterministic 250 Hz flight loop on Zephyr.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FBBF24"/>
                </a:solidFill>
                <a:latin typeface="Calibri"/>
              </a:rPr>
              <a:t>1080P + THERMAL FUSION: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Fuses 1080p optical with 8–14μm LWIR to detect human heat signatures in darkness, smoke &amp; debris.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FBBF24"/>
                </a:solidFill>
                <a:latin typeface="Calibri"/>
              </a:rPr>
              <a:t>CONTINUOUS GEOREFERENCING: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Synchronized GNSS, attitude, camera geometry &amp; ToF altitude georeference victims in real time without hovering.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FBBF24"/>
                </a:solidFill>
                <a:latin typeface="Calibri"/>
              </a:rPr>
              <a:t>OFFLINE RESCUE ROUTING: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Prioritizes triage on-chip; broadcasts 17-byte LoRa packets to chart Dijkstra corridors avoiding hazards [1, 3].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14984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280" b="1" i="0">
                <a:solidFill>
                  <a:srgbClr val="1E2638"/>
                </a:solidFill>
                <a:latin typeface="Calibri"/>
              </a:rPr>
              <a:t>ARDUINO UNO Q SBC (4GB/32GB): </a:t>
            </a:r>
            <a:r>
              <a:rPr sz="1280" b="0" i="0">
                <a:solidFill>
                  <a:srgbClr val="3C465A"/>
                </a:solidFill>
                <a:latin typeface="Calibri"/>
              </a:rPr>
              <a:t>Qualcomm Dragonwing QRB2210 MPU + STM32U585 MCU on a single 42g board.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4384453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280" b="1" i="0">
                <a:solidFill>
                  <a:srgbClr val="1E2638"/>
                </a:solidFill>
                <a:latin typeface="Calibri"/>
              </a:rPr>
              <a:t>SUB-5W HETEROGENEOUS AI: </a:t>
            </a:r>
            <a:r>
              <a:rPr sz="1280" b="0" i="0">
                <a:solidFill>
                  <a:srgbClr val="3C465A"/>
                </a:solidFill>
                <a:latin typeface="Calibri"/>
              </a:rPr>
              <a:t>QRB2210 CPU/GPU/DSP executes INT8 YOLO inference, preserving battery for flight.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7753931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280" b="1" i="0">
                <a:solidFill>
                  <a:srgbClr val="1E2638"/>
                </a:solidFill>
                <a:latin typeface="Calibri"/>
              </a:rPr>
              <a:t>REAL-TIME GEOREFERENCING: </a:t>
            </a:r>
            <a:r>
              <a:rPr sz="1280" b="0" i="0">
                <a:solidFill>
                  <a:srgbClr val="3C465A"/>
                </a:solidFill>
                <a:latin typeface="Calibri"/>
              </a:rPr>
              <a:t>Tait-Bryan ray projection calculates ground WGS-84 coordinates on the fly without hovering.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1123400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280" b="1" i="0">
                <a:solidFill>
                  <a:srgbClr val="1E2638"/>
                </a:solidFill>
                <a:latin typeface="Calibri"/>
              </a:rPr>
              <a:t>17-BYTE LORA TELEMETRY: </a:t>
            </a:r>
            <a:r>
              <a:rPr sz="1280" b="0" i="0">
                <a:solidFill>
                  <a:srgbClr val="3C465A"/>
                </a:solidFill>
                <a:latin typeface="Calibri"/>
              </a:rPr>
              <a:t>Off-grid bit-packed triage stream reaches 3–5+ km in complete cellular blackouts [3].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92878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280" b="1" i="0">
                <a:solidFill>
                  <a:srgbClr val="1E2638"/>
                </a:solidFill>
                <a:latin typeface="Calibri"/>
              </a:rPr>
              <a:t>ANTI-DRIFT VIO NAVIGATION: </a:t>
            </a:r>
            <a:r>
              <a:rPr sz="1280" b="0" i="0">
                <a:solidFill>
                  <a:srgbClr val="3C465A"/>
                </a:solidFill>
                <a:latin typeface="Calibri"/>
              </a:rPr>
              <a:t>Visual-Inertial Odometry overrides compromised magnetometers in metallic rubble environments.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3360" y="1864804"/>
            <a:ext cx="6526380" cy="7393496"/>
            <a:chOff x="0" y="0"/>
            <a:chExt cx="8701839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1839" cy="9857994"/>
            </a:xfrm>
            <a:custGeom>
              <a:avLst/>
              <a:gdLst/>
              <a:ahLst/>
              <a:cxnLst/>
              <a:rect r="r" b="b" t="t" l="l"/>
              <a:pathLst>
                <a:path h="9857994" w="8701839">
                  <a:moveTo>
                    <a:pt x="0" y="256540"/>
                  </a:moveTo>
                  <a:cubicBezTo>
                    <a:pt x="0" y="114808"/>
                    <a:pt x="82640" y="0"/>
                    <a:pt x="184659" y="0"/>
                  </a:cubicBezTo>
                  <a:lnTo>
                    <a:pt x="8517180" y="0"/>
                  </a:lnTo>
                  <a:cubicBezTo>
                    <a:pt x="8619109" y="0"/>
                    <a:pt x="8701839" y="114808"/>
                    <a:pt x="8701839" y="256540"/>
                  </a:cubicBezTo>
                  <a:lnTo>
                    <a:pt x="8701839" y="9601454"/>
                  </a:lnTo>
                  <a:cubicBezTo>
                    <a:pt x="8701839" y="9743060"/>
                    <a:pt x="8619199" y="9857994"/>
                    <a:pt x="8517180" y="9857994"/>
                  </a:cubicBezTo>
                  <a:lnTo>
                    <a:pt x="184659" y="9857994"/>
                  </a:lnTo>
                  <a:cubicBezTo>
                    <a:pt x="82731" y="9857994"/>
                    <a:pt x="0" y="9743186"/>
                    <a:pt x="0" y="9601454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944008" y="3380708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28" id="28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06364" y="2818352"/>
            <a:ext cx="7543800" cy="384048"/>
            <a:chOff x="0" y="0"/>
            <a:chExt cx="10058400" cy="5120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06364" y="317801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OFFLINE SECTOR SETUP: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Operator defines 2 km² search polygon on tactical tablet; autonomous launch in &lt; 3 minutes.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4008" y="4395692"/>
            <a:ext cx="0" cy="576072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38" id="38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06364" y="3874484"/>
            <a:ext cx="7543800" cy="384048"/>
            <a:chOff x="0" y="0"/>
            <a:chExt cx="100584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506364" y="4234148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TERRAIN-FOLLOWING GRID: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Boustrophedon sweep with 60% sidelap; downward ToF altimeter maintains constant GSD over sloped terrain.</a:t>
            </a:r>
          </a:p>
        </p:txBody>
      </p:sp>
      <p:sp>
        <p:nvSpPr>
          <p:cNvPr name="AutoShape 47" id="47"/>
          <p:cNvSpPr/>
          <p:nvPr/>
        </p:nvSpPr>
        <p:spPr>
          <a:xfrm>
            <a:off x="944008" y="5492972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48" id="48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6364" y="4930616"/>
            <a:ext cx="7543800" cy="384048"/>
            <a:chOff x="0" y="0"/>
            <a:chExt cx="10058400" cy="51206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506364" y="5290280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1080P + THERMAL FUSION: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Dual 1080p RGB + LWIR thermal fusion; edge YOLO detects survivor heat anomalies in darkness, smoke &amp; debris.</a:t>
            </a:r>
          </a:p>
        </p:txBody>
      </p:sp>
      <p:sp>
        <p:nvSpPr>
          <p:cNvPr name="AutoShape 57" id="57"/>
          <p:cNvSpPr/>
          <p:nvPr/>
        </p:nvSpPr>
        <p:spPr>
          <a:xfrm>
            <a:off x="944008" y="6549104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58" id="58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506364" y="5986748"/>
            <a:ext cx="7543800" cy="384048"/>
            <a:chOff x="0" y="0"/>
            <a:chExt cx="10058400" cy="5120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506364" y="6346412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INSTANT GEOREFERENCING: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Synchronized GNSS, attitude, camera geometry &amp; ToF altitude georeference victims on the fly without hovering.</a:t>
            </a:r>
          </a:p>
        </p:txBody>
      </p:sp>
      <p:sp>
        <p:nvSpPr>
          <p:cNvPr name="AutoShape 67" id="67"/>
          <p:cNvSpPr/>
          <p:nvPr/>
        </p:nvSpPr>
        <p:spPr>
          <a:xfrm>
            <a:off x="944008" y="7605236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68" id="68"/>
          <p:cNvGrpSpPr/>
          <p:nvPr/>
        </p:nvGrpSpPr>
        <p:grpSpPr>
          <a:xfrm rot="0">
            <a:off x="683404" y="7084028"/>
            <a:ext cx="521208" cy="521208"/>
            <a:chOff x="0" y="0"/>
            <a:chExt cx="694944" cy="6949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87998" y="7132034"/>
            <a:ext cx="521208" cy="521208"/>
            <a:chOff x="0" y="0"/>
            <a:chExt cx="694944" cy="69494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6364" y="7039219"/>
            <a:ext cx="4782072" cy="391371"/>
            <a:chOff x="0" y="0"/>
            <a:chExt cx="6376096" cy="5218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06364" y="7402544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17-BYTE LORA BURST: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Onboard edge triage scores urgency and broadcasts compact binary frame over 868 MHz UART LoRa [3].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506364" y="8095351"/>
            <a:ext cx="4782072" cy="391371"/>
            <a:chOff x="0" y="0"/>
            <a:chExt cx="6376096" cy="52182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506364" y="845867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DYNAMIC SAFE ROUTING: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Tactical GCS runs Dijkstra graph search [1] to generate hazard-free ground ingress corridors for first responders.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065745" y="1947100"/>
            <a:ext cx="4851199" cy="4458272"/>
            <a:chOff x="0" y="0"/>
            <a:chExt cx="6468265" cy="594436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468248" cy="5944362"/>
            </a:xfrm>
            <a:custGeom>
              <a:avLst/>
              <a:gdLst/>
              <a:ahLst/>
              <a:cxnLst/>
              <a:rect r="r" b="b" t="t" l="l"/>
              <a:pathLst>
                <a:path h="5944362" w="6468248">
                  <a:moveTo>
                    <a:pt x="0" y="256794"/>
                  </a:moveTo>
                  <a:cubicBezTo>
                    <a:pt x="0" y="114935"/>
                    <a:pt x="76077" y="0"/>
                    <a:pt x="169976" y="0"/>
                  </a:cubicBezTo>
                  <a:lnTo>
                    <a:pt x="6298272" y="0"/>
                  </a:lnTo>
                  <a:cubicBezTo>
                    <a:pt x="6392171" y="0"/>
                    <a:pt x="6468248" y="114935"/>
                    <a:pt x="6468248" y="256794"/>
                  </a:cubicBezTo>
                  <a:lnTo>
                    <a:pt x="6468248" y="5687568"/>
                  </a:lnTo>
                  <a:cubicBezTo>
                    <a:pt x="6468248" y="5829427"/>
                    <a:pt x="6392171" y="5944362"/>
                    <a:pt x="6298272" y="5944362"/>
                  </a:cubicBezTo>
                  <a:lnTo>
                    <a:pt x="169976" y="5944362"/>
                  </a:lnTo>
                  <a:cubicBezTo>
                    <a:pt x="76077" y="5944362"/>
                    <a:pt x="0" y="5829427"/>
                    <a:pt x="0" y="5687568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19760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04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941572" y="0"/>
                  </a:lnTo>
                  <a:cubicBezTo>
                    <a:pt x="4082923" y="0"/>
                    <a:pt x="4197604" y="114681"/>
                    <a:pt x="4197604" y="256032"/>
                  </a:cubicBezTo>
                  <a:cubicBezTo>
                    <a:pt x="4197604" y="397383"/>
                    <a:pt x="4082923" y="512064"/>
                    <a:pt x="3941572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19764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44">
                  <a:moveTo>
                    <a:pt x="0" y="0"/>
                  </a:moveTo>
                  <a:lnTo>
                    <a:pt x="4197644" y="0"/>
                  </a:lnTo>
                  <a:lnTo>
                    <a:pt x="419764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728" r="0" b="-109728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197642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ARCHITECTURE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7286365" y="2618851"/>
            <a:ext cx="6628943" cy="356616"/>
            <a:chOff x="0" y="0"/>
            <a:chExt cx="8838590" cy="47548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838590" cy="475488"/>
            </a:xfrm>
            <a:custGeom>
              <a:avLst/>
              <a:gdLst/>
              <a:ahLst/>
              <a:cxnLst/>
              <a:rect r="r" b="b" t="t" l="l"/>
              <a:pathLst>
                <a:path h="475488" w="8838590">
                  <a:moveTo>
                    <a:pt x="0" y="0"/>
                  </a:moveTo>
                  <a:lnTo>
                    <a:pt x="8838590" y="0"/>
                  </a:lnTo>
                  <a:lnTo>
                    <a:pt x="883859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96" r="0" b="-31219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838590" cy="513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sz="1750" b="1" i="0">
                  <a:solidFill>
                    <a:srgbClr val="FFFFFF"/>
                  </a:solidFill>
                  <a:latin typeface="Calibri"/>
                </a:rPr>
                <a:t>Dual-Brain Hardware Split (Arduino UNO Q 4GB/32GB):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238074" y="3078051"/>
            <a:ext cx="4485044" cy="1066324"/>
            <a:chOff x="0" y="0"/>
            <a:chExt cx="8967368" cy="213200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967470" cy="2132001"/>
            </a:xfrm>
            <a:custGeom>
              <a:avLst/>
              <a:gdLst/>
              <a:ahLst/>
              <a:cxnLst/>
              <a:rect r="r" b="b" t="t" l="l"/>
              <a:pathLst>
                <a:path h="2132001" w="8967470">
                  <a:moveTo>
                    <a:pt x="0" y="209062"/>
                  </a:moveTo>
                  <a:cubicBezTo>
                    <a:pt x="0" y="93539"/>
                    <a:pt x="82677" y="0"/>
                    <a:pt x="184785" y="0"/>
                  </a:cubicBezTo>
                  <a:lnTo>
                    <a:pt x="8782685" y="0"/>
                  </a:lnTo>
                  <a:cubicBezTo>
                    <a:pt x="8884666" y="0"/>
                    <a:pt x="8967470" y="93539"/>
                    <a:pt x="8967470" y="209062"/>
                  </a:cubicBezTo>
                  <a:lnTo>
                    <a:pt x="8967470" y="1922939"/>
                  </a:lnTo>
                  <a:cubicBezTo>
                    <a:pt x="8967470" y="2038318"/>
                    <a:pt x="8884793" y="2132001"/>
                    <a:pt x="8782685" y="2132001"/>
                  </a:cubicBezTo>
                  <a:lnTo>
                    <a:pt x="184785" y="2132001"/>
                  </a:lnTo>
                  <a:cubicBezTo>
                    <a:pt x="82677" y="2132001"/>
                    <a:pt x="0" y="2038462"/>
                    <a:pt x="0" y="1922939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492105" y="3174682"/>
            <a:ext cx="4202544" cy="342235"/>
            <a:chOff x="0" y="0"/>
            <a:chExt cx="5603392" cy="45631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03392" cy="456313"/>
            </a:xfrm>
            <a:custGeom>
              <a:avLst/>
              <a:gdLst/>
              <a:ahLst/>
              <a:cxnLst/>
              <a:rect r="r" b="b" t="t" l="l"/>
              <a:pathLst>
                <a:path h="456313" w="5603392">
                  <a:moveTo>
                    <a:pt x="0" y="0"/>
                  </a:moveTo>
                  <a:lnTo>
                    <a:pt x="5603392" y="0"/>
                  </a:lnTo>
                  <a:lnTo>
                    <a:pt x="5603392" y="456313"/>
                  </a:lnTo>
                  <a:lnTo>
                    <a:pt x="0" y="4563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896" r="-47945" b="-302082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5603392" cy="494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Real-Time MCU (STM32U585 / Zephyr RTOS):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492105" y="3522964"/>
            <a:ext cx="4202544" cy="640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1837" indent="-100919" lvl="1">
              <a:lnSpc>
                <a:spcPts val="1338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Calibri"/>
              </a:rPr>
              <a:t>• 250 Hz (4ms) deterministic flight stabilization loop; direct 350 Hz PWM motor control</a:t>
            </a:r>
          </a:p>
          <a:p>
            <a:r>
              <a:rPr sz="1100" b="0" i="0">
                <a:solidFill>
                  <a:srgbClr val="CBD5E1"/>
                </a:solidFill>
                <a:latin typeface="Calibri"/>
              </a:rPr>
              <a:t>• I2C: MPU6050 IMU + MS5611 Baro + VL53L1X ToF // UART: u-blox NEO-M8N GNSS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455203" y="4395692"/>
            <a:ext cx="143899" cy="370332"/>
            <a:chOff x="0" y="0"/>
            <a:chExt cx="191866" cy="4937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91866" cy="493776"/>
            </a:xfrm>
            <a:custGeom>
              <a:avLst/>
              <a:gdLst/>
              <a:ahLst/>
              <a:cxnLst/>
              <a:rect r="r" b="b" t="t" l="l"/>
              <a:pathLst>
                <a:path h="493776" w="191866">
                  <a:moveTo>
                    <a:pt x="0" y="137160"/>
                  </a:moveTo>
                  <a:lnTo>
                    <a:pt x="95933" y="0"/>
                  </a:lnTo>
                  <a:lnTo>
                    <a:pt x="191866" y="137160"/>
                  </a:lnTo>
                  <a:lnTo>
                    <a:pt x="143899" y="137160"/>
                  </a:lnTo>
                  <a:lnTo>
                    <a:pt x="143899" y="356616"/>
                  </a:lnTo>
                  <a:lnTo>
                    <a:pt x="191866" y="356616"/>
                  </a:lnTo>
                  <a:lnTo>
                    <a:pt x="95933" y="493776"/>
                  </a:lnTo>
                  <a:lnTo>
                    <a:pt x="0" y="356616"/>
                  </a:lnTo>
                  <a:lnTo>
                    <a:pt x="47966" y="356616"/>
                  </a:lnTo>
                  <a:lnTo>
                    <a:pt x="47966" y="137160"/>
                  </a:lnTo>
                  <a:close/>
                </a:path>
              </a:pathLst>
            </a:custGeom>
            <a:solidFill>
              <a:srgbClr val="FFB35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7707496" y="4375404"/>
            <a:ext cx="3771764" cy="438912"/>
            <a:chOff x="0" y="0"/>
            <a:chExt cx="5029019" cy="58521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029018" cy="585216"/>
            </a:xfrm>
            <a:custGeom>
              <a:avLst/>
              <a:gdLst/>
              <a:ahLst/>
              <a:cxnLst/>
              <a:rect r="r" b="b" t="t" l="l"/>
              <a:pathLst>
                <a:path h="585216" w="5029018">
                  <a:moveTo>
                    <a:pt x="0" y="0"/>
                  </a:moveTo>
                  <a:lnTo>
                    <a:pt x="5029018" y="0"/>
                  </a:lnTo>
                  <a:lnTo>
                    <a:pt x="502901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839" r="-57569" b="-21383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5029019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Asynchronous non-blocking RPC bridge 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7238074" y="4998291"/>
            <a:ext cx="4456576" cy="1174242"/>
            <a:chOff x="0" y="0"/>
            <a:chExt cx="8967368" cy="23627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967343" cy="2362769"/>
            </a:xfrm>
            <a:custGeom>
              <a:avLst/>
              <a:gdLst/>
              <a:ahLst/>
              <a:cxnLst/>
              <a:rect r="r" b="b" t="t" l="l"/>
              <a:pathLst>
                <a:path h="2362769" w="8967343">
                  <a:moveTo>
                    <a:pt x="0" y="281310"/>
                  </a:moveTo>
                  <a:cubicBezTo>
                    <a:pt x="0" y="125991"/>
                    <a:pt x="82931" y="0"/>
                    <a:pt x="185166" y="0"/>
                  </a:cubicBezTo>
                  <a:lnTo>
                    <a:pt x="8782177" y="0"/>
                  </a:lnTo>
                  <a:cubicBezTo>
                    <a:pt x="8884412" y="0"/>
                    <a:pt x="8967343" y="125991"/>
                    <a:pt x="8967343" y="281310"/>
                  </a:cubicBezTo>
                  <a:lnTo>
                    <a:pt x="8967343" y="2081460"/>
                  </a:lnTo>
                  <a:cubicBezTo>
                    <a:pt x="8967343" y="2236778"/>
                    <a:pt x="8884412" y="2362769"/>
                    <a:pt x="8782177" y="2362769"/>
                  </a:cubicBezTo>
                  <a:lnTo>
                    <a:pt x="185166" y="2362769"/>
                  </a:lnTo>
                  <a:cubicBezTo>
                    <a:pt x="82931" y="2362769"/>
                    <a:pt x="0" y="2236778"/>
                    <a:pt x="0" y="2081460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7492105" y="5049240"/>
            <a:ext cx="4077423" cy="599429"/>
            <a:chOff x="0" y="0"/>
            <a:chExt cx="5436564" cy="79923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36564" cy="799238"/>
            </a:xfrm>
            <a:custGeom>
              <a:avLst/>
              <a:gdLst/>
              <a:ahLst/>
              <a:cxnLst/>
              <a:rect r="r" b="b" t="t" l="l"/>
              <a:pathLst>
                <a:path h="799238" w="5436564">
                  <a:moveTo>
                    <a:pt x="0" y="0"/>
                  </a:moveTo>
                  <a:lnTo>
                    <a:pt x="5436564" y="0"/>
                  </a:lnTo>
                  <a:lnTo>
                    <a:pt x="5436564" y="799238"/>
                  </a:lnTo>
                  <a:lnTo>
                    <a:pt x="0" y="7992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646" r="-52485" b="-129563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36564" cy="8373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Computer (Qualcomm Dragonwing QRB2210 / Linux):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7469679" y="5556837"/>
            <a:ext cx="466344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3447" indent="-116723" lvl="1">
              <a:lnSpc>
                <a:spcPts val="1547"/>
              </a:lnSpc>
              <a:spcAft>
                <a:spcPts val="200"/>
              </a:spcAft>
              <a:buFont typeface="Arial"/>
              <a:buChar char="•"/>
            </a:pPr>
            <a:r>
              <a:rPr sz="1120" b="0" i="0">
                <a:solidFill>
                  <a:srgbClr val="FFFFFF"/>
                </a:solidFill>
                <a:latin typeface="Calibri"/>
              </a:rPr>
              <a:t>• Qualcomm Dragonwing QRB2210 MPU (Debian Linux — 4GB RAM, 32GB eMMC)</a:t>
            </a:r>
          </a:p>
          <a:p>
            <a:r>
              <a:rPr sz="1080" b="0" i="0">
                <a:solidFill>
                  <a:srgbClr val="CBD5E1"/>
                </a:solidFill>
                <a:latin typeface="Calibri"/>
              </a:rPr>
              <a:t>• Sub-5W Heterogeneous AI // Georeferencing Engine // E22 UART LoRa [3]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331905" y="6605397"/>
            <a:ext cx="6631879" cy="2652903"/>
            <a:chOff x="0" y="0"/>
            <a:chExt cx="8842505" cy="353720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842482" cy="3537204"/>
            </a:xfrm>
            <a:custGeom>
              <a:avLst/>
              <a:gdLst/>
              <a:ahLst/>
              <a:cxnLst/>
              <a:rect r="r" b="b" t="t" l="l"/>
              <a:pathLst>
                <a:path h="3537204" w="8842482">
                  <a:moveTo>
                    <a:pt x="0" y="245105"/>
                  </a:moveTo>
                  <a:cubicBezTo>
                    <a:pt x="0" y="109729"/>
                    <a:pt x="104232" y="0"/>
                    <a:pt x="232827" y="0"/>
                  </a:cubicBezTo>
                  <a:lnTo>
                    <a:pt x="8609655" y="0"/>
                  </a:lnTo>
                  <a:cubicBezTo>
                    <a:pt x="8738250" y="0"/>
                    <a:pt x="8842482" y="109729"/>
                    <a:pt x="8842482" y="245105"/>
                  </a:cubicBezTo>
                  <a:lnTo>
                    <a:pt x="8842482" y="3292099"/>
                  </a:lnTo>
                  <a:cubicBezTo>
                    <a:pt x="8842482" y="3427475"/>
                    <a:pt x="8738250" y="3537204"/>
                    <a:pt x="8609655" y="3537204"/>
                  </a:cubicBezTo>
                  <a:lnTo>
                    <a:pt x="232827" y="3537204"/>
                  </a:lnTo>
                  <a:cubicBezTo>
                    <a:pt x="104232" y="3537204"/>
                    <a:pt x="0" y="3427475"/>
                    <a:pt x="0" y="3292099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328387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87">
                  <a:moveTo>
                    <a:pt x="0" y="246888"/>
                  </a:moveTo>
                  <a:cubicBezTo>
                    <a:pt x="0" y="110490"/>
                    <a:pt x="99980" y="0"/>
                    <a:pt x="223404" y="0"/>
                  </a:cubicBezTo>
                  <a:lnTo>
                    <a:pt x="2104981" y="0"/>
                  </a:lnTo>
                  <a:cubicBezTo>
                    <a:pt x="2228404" y="0"/>
                    <a:pt x="2328387" y="110490"/>
                    <a:pt x="2328387" y="246888"/>
                  </a:cubicBezTo>
                  <a:cubicBezTo>
                    <a:pt x="2328387" y="383286"/>
                    <a:pt x="2228404" y="493776"/>
                    <a:pt x="2104981" y="493776"/>
                  </a:cubicBezTo>
                  <a:lnTo>
                    <a:pt x="223404" y="493776"/>
                  </a:lnTo>
                  <a:cubicBezTo>
                    <a:pt x="99980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328360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60">
                  <a:moveTo>
                    <a:pt x="0" y="0"/>
                  </a:moveTo>
                  <a:lnTo>
                    <a:pt x="2328360" y="0"/>
                  </a:lnTo>
                  <a:lnTo>
                    <a:pt x="2328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8" r="-10512" b="-515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2328361" cy="5223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0"/>
                </a:lnSpc>
              </a:pPr>
              <a:r>
                <a:rPr lang="en-US" b="true" sz="1375" spc="196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1648652" y="7243477"/>
            <a:ext cx="2234035" cy="290541"/>
            <a:chOff x="0" y="0"/>
            <a:chExt cx="2978714" cy="38738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3882687" y="7243477"/>
            <a:ext cx="3764350" cy="290541"/>
            <a:chOff x="0" y="0"/>
            <a:chExt cx="5019133" cy="38738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11642186" y="7544956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7" id="127"/>
          <p:cNvGrpSpPr/>
          <p:nvPr/>
        </p:nvGrpSpPr>
        <p:grpSpPr>
          <a:xfrm rot="0">
            <a:off x="11648652" y="7565803"/>
            <a:ext cx="2234035" cy="290541"/>
            <a:chOff x="0" y="0"/>
            <a:chExt cx="2978714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882687" y="7565803"/>
            <a:ext cx="3764350" cy="290541"/>
            <a:chOff x="0" y="0"/>
            <a:chExt cx="5019133" cy="38738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sz="1350" b="0" i="0">
                  <a:solidFill>
                    <a:srgbClr val="1E2638"/>
                  </a:solidFill>
                  <a:latin typeface="Calibri"/>
                </a:rPr>
                <a:t>YOLOv8n INT8 (Detection &amp; Avoidance), SNPE SDK, ONNX, OpenCV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>
            <a:off x="11642186" y="7867282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1648652" y="7888129"/>
            <a:ext cx="2234035" cy="290541"/>
            <a:chOff x="0" y="0"/>
            <a:chExt cx="2978714" cy="38738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82687" y="7888129"/>
            <a:ext cx="3764350" cy="290541"/>
            <a:chOff x="0" y="0"/>
            <a:chExt cx="5019133" cy="38738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40" id="140"/>
          <p:cNvSpPr/>
          <p:nvPr/>
        </p:nvSpPr>
        <p:spPr>
          <a:xfrm>
            <a:off x="11642186" y="8189608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1648652" y="8210455"/>
            <a:ext cx="2234035" cy="290541"/>
            <a:chOff x="0" y="0"/>
            <a:chExt cx="2978714" cy="38738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882687" y="8210455"/>
            <a:ext cx="3764350" cy="290541"/>
            <a:chOff x="0" y="0"/>
            <a:chExt cx="5019133" cy="38738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sz="1400" b="0" i="0">
                  <a:solidFill>
                    <a:srgbClr val="1E2638"/>
                  </a:solidFill>
                  <a:latin typeface="Calibri"/>
                </a:rPr>
                <a:t>Ebyte E22-900T22S LoRa (868 MHz UART)</a:t>
              </a:r>
            </a:p>
          </p:txBody>
        </p:sp>
      </p:grpSp>
      <p:sp>
        <p:nvSpPr>
          <p:cNvPr name="AutoShape 147" id="147"/>
          <p:cNvSpPr/>
          <p:nvPr/>
        </p:nvSpPr>
        <p:spPr>
          <a:xfrm>
            <a:off x="11642186" y="8511934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8" id="148"/>
          <p:cNvGrpSpPr/>
          <p:nvPr/>
        </p:nvGrpSpPr>
        <p:grpSpPr>
          <a:xfrm rot="0">
            <a:off x="11648652" y="8532781"/>
            <a:ext cx="2234035" cy="290541"/>
            <a:chOff x="0" y="0"/>
            <a:chExt cx="2978714" cy="38738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3882687" y="8532781"/>
            <a:ext cx="3764350" cy="290541"/>
            <a:chOff x="0" y="0"/>
            <a:chExt cx="5019133" cy="38738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54" id="154"/>
          <p:cNvSpPr/>
          <p:nvPr/>
        </p:nvSpPr>
        <p:spPr>
          <a:xfrm>
            <a:off x="11642186" y="8834260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5" id="155"/>
          <p:cNvGrpSpPr/>
          <p:nvPr/>
        </p:nvGrpSpPr>
        <p:grpSpPr>
          <a:xfrm rot="0">
            <a:off x="11648652" y="8855107"/>
            <a:ext cx="2234035" cy="290541"/>
            <a:chOff x="0" y="0"/>
            <a:chExt cx="2978714" cy="38738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3882687" y="8855107"/>
            <a:ext cx="3764350" cy="290541"/>
            <a:chOff x="0" y="0"/>
            <a:chExt cx="5019133" cy="38738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2126494" y="1947100"/>
            <a:ext cx="5837290" cy="4437412"/>
            <a:chOff x="0" y="0"/>
            <a:chExt cx="11493922" cy="8737490"/>
          </a:xfrm>
        </p:grpSpPr>
        <p:sp>
          <p:nvSpPr>
            <p:cNvPr name="Freeform 162" id="162" descr="phoenix_tactical_drone_render.jpg"/>
            <p:cNvSpPr/>
            <p:nvPr/>
          </p:nvSpPr>
          <p:spPr>
            <a:xfrm flipH="false" flipV="false" rot="0">
              <a:off x="0" y="0"/>
              <a:ext cx="11493973" cy="8737529"/>
            </a:xfrm>
            <a:custGeom>
              <a:avLst/>
              <a:gdLst/>
              <a:ahLst/>
              <a:cxnLst/>
              <a:rect r="r" b="b" t="t" l="l"/>
              <a:pathLst>
                <a:path h="8737529" w="11493973">
                  <a:moveTo>
                    <a:pt x="662999" y="0"/>
                  </a:moveTo>
                  <a:lnTo>
                    <a:pt x="10830975" y="0"/>
                  </a:lnTo>
                  <a:cubicBezTo>
                    <a:pt x="11006813" y="0"/>
                    <a:pt x="11175449" y="69851"/>
                    <a:pt x="11299785" y="194188"/>
                  </a:cubicBezTo>
                  <a:cubicBezTo>
                    <a:pt x="11424121" y="318524"/>
                    <a:pt x="11493973" y="487160"/>
                    <a:pt x="11493973" y="662999"/>
                  </a:cubicBezTo>
                  <a:lnTo>
                    <a:pt x="11493973" y="8074530"/>
                  </a:lnTo>
                  <a:cubicBezTo>
                    <a:pt x="11493973" y="8250368"/>
                    <a:pt x="11424121" y="8419005"/>
                    <a:pt x="11299785" y="8543341"/>
                  </a:cubicBezTo>
                  <a:cubicBezTo>
                    <a:pt x="11175449" y="8667677"/>
                    <a:pt x="11006813" y="8737529"/>
                    <a:pt x="10830975" y="8737529"/>
                  </a:cubicBezTo>
                  <a:lnTo>
                    <a:pt x="662999" y="8737529"/>
                  </a:lnTo>
                  <a:cubicBezTo>
                    <a:pt x="296835" y="8737529"/>
                    <a:pt x="0" y="8440694"/>
                    <a:pt x="0" y="8074530"/>
                  </a:cubicBezTo>
                  <a:lnTo>
                    <a:pt x="0" y="662999"/>
                  </a:lnTo>
                  <a:cubicBezTo>
                    <a:pt x="0" y="487160"/>
                    <a:pt x="69851" y="318524"/>
                    <a:pt x="194188" y="194188"/>
                  </a:cubicBezTo>
                  <a:cubicBezTo>
                    <a:pt x="318524" y="69851"/>
                    <a:pt x="487160" y="0"/>
                    <a:pt x="662999" y="0"/>
                  </a:cubicBezTo>
                  <a:close/>
                </a:path>
              </a:pathLst>
            </a:custGeom>
            <a:blipFill>
              <a:blip r:embed="rId6"/>
              <a:stretch>
                <a:fillRect l="-18100" t="0" r="-18099" b="0"/>
              </a:stretch>
            </a:blipFill>
            <a:ln w="19050" cap="rnd">
              <a:solidFill>
                <a:srgbClr val="1E4A7E"/>
              </a:solidFill>
              <a:prstDash val="solid"/>
              <a:round/>
            </a:ln>
          </p:spPr>
        </p:sp>
      </p:grpSp>
      <p:grpSp>
        <p:nvGrpSpPr>
          <p:cNvPr name="Group 163" id="163"/>
          <p:cNvGrpSpPr/>
          <p:nvPr/>
        </p:nvGrpSpPr>
        <p:grpSpPr>
          <a:xfrm rot="0">
            <a:off x="7065745" y="6567297"/>
            <a:ext cx="4097573" cy="2691003"/>
            <a:chOff x="0" y="0"/>
            <a:chExt cx="10981385" cy="7211815"/>
          </a:xfrm>
        </p:grpSpPr>
        <p:sp>
          <p:nvSpPr>
            <p:cNvPr name="Freeform 164" id="164" descr="gimbal_sensor_macro_render.jpg"/>
            <p:cNvSpPr/>
            <p:nvPr/>
          </p:nvSpPr>
          <p:spPr>
            <a:xfrm flipH="false" flipV="false" rot="0">
              <a:off x="0" y="0"/>
              <a:ext cx="10981436" cy="7211853"/>
            </a:xfrm>
            <a:custGeom>
              <a:avLst/>
              <a:gdLst/>
              <a:ahLst/>
              <a:cxnLst/>
              <a:rect r="r" b="b" t="t" l="l"/>
              <a:pathLst>
                <a:path h="7211853" w="10981436">
                  <a:moveTo>
                    <a:pt x="382901" y="0"/>
                  </a:moveTo>
                  <a:lnTo>
                    <a:pt x="10598534" y="0"/>
                  </a:lnTo>
                  <a:cubicBezTo>
                    <a:pt x="10700086" y="0"/>
                    <a:pt x="10797479" y="40341"/>
                    <a:pt x="10869287" y="112149"/>
                  </a:cubicBezTo>
                  <a:cubicBezTo>
                    <a:pt x="10941095" y="183957"/>
                    <a:pt x="10981436" y="281349"/>
                    <a:pt x="10981436" y="382901"/>
                  </a:cubicBezTo>
                  <a:lnTo>
                    <a:pt x="10981436" y="6828951"/>
                  </a:lnTo>
                  <a:cubicBezTo>
                    <a:pt x="10981436" y="6930503"/>
                    <a:pt x="10941095" y="7027896"/>
                    <a:pt x="10869287" y="7099704"/>
                  </a:cubicBezTo>
                  <a:cubicBezTo>
                    <a:pt x="10797479" y="7171512"/>
                    <a:pt x="10700086" y="7211853"/>
                    <a:pt x="10598534" y="7211853"/>
                  </a:cubicBezTo>
                  <a:lnTo>
                    <a:pt x="382901" y="7211853"/>
                  </a:lnTo>
                  <a:cubicBezTo>
                    <a:pt x="281349" y="7211853"/>
                    <a:pt x="183957" y="7171512"/>
                    <a:pt x="112149" y="7099704"/>
                  </a:cubicBezTo>
                  <a:cubicBezTo>
                    <a:pt x="40341" y="7027896"/>
                    <a:pt x="0" y="6930503"/>
                    <a:pt x="0" y="6828951"/>
                  </a:cubicBezTo>
                  <a:lnTo>
                    <a:pt x="0" y="382901"/>
                  </a:lnTo>
                  <a:cubicBezTo>
                    <a:pt x="0" y="281349"/>
                    <a:pt x="40341" y="183957"/>
                    <a:pt x="112149" y="112149"/>
                  </a:cubicBezTo>
                  <a:cubicBezTo>
                    <a:pt x="183957" y="40341"/>
                    <a:pt x="281349" y="0"/>
                    <a:pt x="382901" y="0"/>
                  </a:cubicBezTo>
                  <a:close/>
                </a:path>
              </a:pathLst>
            </a:custGeom>
            <a:blipFill>
              <a:blip r:embed="rId7"/>
              <a:stretch>
                <a:fillRect l="-8832" t="0" r="-8832" b="0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816" y="1940528"/>
            <a:ext cx="4952047" cy="7393496"/>
            <a:chOff x="0" y="0"/>
            <a:chExt cx="6602730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2730" cy="9857994"/>
            </a:xfrm>
            <a:custGeom>
              <a:avLst/>
              <a:gdLst/>
              <a:ahLst/>
              <a:cxnLst/>
              <a:rect r="r" b="b" t="t" l="l"/>
              <a:pathLst>
                <a:path h="9857994" w="660273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6346063" y="0"/>
                  </a:lnTo>
                  <a:cubicBezTo>
                    <a:pt x="6487795" y="0"/>
                    <a:pt x="6602730" y="114935"/>
                    <a:pt x="6602730" y="256667"/>
                  </a:cubicBezTo>
                  <a:lnTo>
                    <a:pt x="6602730" y="9601327"/>
                  </a:lnTo>
                  <a:cubicBezTo>
                    <a:pt x="6602730" y="9743059"/>
                    <a:pt x="6487795" y="9857994"/>
                    <a:pt x="634606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87701" y="1940528"/>
            <a:ext cx="5569268" cy="7393496"/>
            <a:chOff x="0" y="0"/>
            <a:chExt cx="7425690" cy="98579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25690" cy="9857994"/>
            </a:xfrm>
            <a:custGeom>
              <a:avLst/>
              <a:gdLst/>
              <a:ahLst/>
              <a:cxnLst/>
              <a:rect r="r" b="b" t="t" l="l"/>
              <a:pathLst>
                <a:path h="9857994" w="742569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169023" y="0"/>
                  </a:lnTo>
                  <a:cubicBezTo>
                    <a:pt x="7310755" y="0"/>
                    <a:pt x="7425690" y="114935"/>
                    <a:pt x="7425690" y="256667"/>
                  </a:cubicBezTo>
                  <a:lnTo>
                    <a:pt x="7425690" y="9601327"/>
                  </a:lnTo>
                  <a:cubicBezTo>
                    <a:pt x="7425690" y="9743059"/>
                    <a:pt x="7310755" y="9857994"/>
                    <a:pt x="716902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747468" y="1940528"/>
            <a:ext cx="5720144" cy="7393496"/>
            <a:chOff x="0" y="0"/>
            <a:chExt cx="7626858" cy="98579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6858" cy="9857994"/>
            </a:xfrm>
            <a:custGeom>
              <a:avLst/>
              <a:gdLst/>
              <a:ahLst/>
              <a:cxnLst/>
              <a:rect r="r" b="b" t="t" l="l"/>
              <a:pathLst>
                <a:path h="9857994" w="7626858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370191" y="0"/>
                  </a:lnTo>
                  <a:cubicBezTo>
                    <a:pt x="7511923" y="0"/>
                    <a:pt x="7626858" y="114935"/>
                    <a:pt x="7626858" y="256667"/>
                  </a:cubicBezTo>
                  <a:lnTo>
                    <a:pt x="7626858" y="9601327"/>
                  </a:lnTo>
                  <a:cubicBezTo>
                    <a:pt x="7626858" y="9743059"/>
                    <a:pt x="7511923" y="9857994"/>
                    <a:pt x="7370191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5362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24">
                  <a:moveTo>
                    <a:pt x="0" y="0"/>
                  </a:moveTo>
                  <a:lnTo>
                    <a:pt x="2753624" y="0"/>
                  </a:lnTo>
                  <a:lnTo>
                    <a:pt x="27536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95" r="0" b="-4779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753627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34" id="34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124712" y="3349752"/>
            <a:ext cx="4334256" cy="158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spcAft>
                <a:spcPts val="300"/>
              </a:spcAft>
              <a:buFont typeface="Arial"/>
              <a:buChar char="•"/>
            </a:pPr>
            <a:r>
              <a:rPr sz="1500" b="1" i="0">
                <a:solidFill>
                  <a:srgbClr val="1E2638"/>
                </a:solidFill>
                <a:latin typeface="Calibri"/>
              </a:rPr>
              <a:t>THRUST HEADROOM: </a:t>
            </a:r>
            <a:r>
              <a:rPr sz="1500" b="0" i="0">
                <a:solidFill>
                  <a:srgbClr val="3C465A"/>
                </a:solidFill>
                <a:latin typeface="Calibri"/>
              </a:rPr>
              <a:t>2.23:1 maximum thrust-to-weight ratio provides substantial control authority in wind gusts.</a:t>
            </a:r>
          </a:p>
          <a:p>
            <a:r>
              <a:rPr sz="1500" b="1" i="0">
                <a:solidFill>
                  <a:srgbClr val="1E2638"/>
                </a:solidFill>
                <a:latin typeface="Calibri"/>
              </a:rPr>
              <a:t>SUB-5W COMPUTE: </a:t>
            </a:r>
            <a:r>
              <a:rPr sz="1500" b="0" i="0">
                <a:solidFill>
                  <a:srgbClr val="3C465A"/>
                </a:solidFill>
                <a:latin typeface="Calibri"/>
              </a:rPr>
              <a:t>Arduino UNO Q heterogeneous AI consumes &lt;4% of power, reserving energy for rotor flight.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86136" y="531704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9006" y="5419916"/>
            <a:ext cx="205740" cy="205740"/>
            <a:chOff x="0" y="0"/>
            <a:chExt cx="274320" cy="274320"/>
          </a:xfrm>
        </p:grpSpPr>
        <p:sp>
          <p:nvSpPr>
            <p:cNvPr name="Freeform 42" id="42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34776" y="5317046"/>
            <a:ext cx="4114800" cy="411480"/>
            <a:chOff x="0" y="0"/>
            <a:chExt cx="548640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86136" y="5786438"/>
            <a:ext cx="4334256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spcAft>
                <a:spcPts val="300"/>
              </a:spcAft>
              <a:buFont typeface="Arial"/>
              <a:buChar char="•"/>
            </a:pPr>
            <a:r>
              <a:rPr sz="1500" b="1" i="0">
                <a:solidFill>
                  <a:srgbClr val="1E2638"/>
                </a:solidFill>
                <a:latin typeface="Calibri"/>
              </a:rPr>
              <a:t>RAPID SETUP: </a:t>
            </a:r>
            <a:r>
              <a:rPr sz="1500" b="0" i="0">
                <a:solidFill>
                  <a:srgbClr val="3C465A"/>
                </a:solidFill>
                <a:latin typeface="Calibri"/>
              </a:rPr>
              <a:t>&lt; 3 minutes from rugged backpack unboxing to active search flight.</a:t>
            </a:r>
          </a:p>
          <a:p>
            <a:r>
              <a:rPr sz="1500" b="1" i="0">
                <a:solidFill>
                  <a:srgbClr val="1E2638"/>
                </a:solidFill>
                <a:latin typeface="Calibri"/>
              </a:rPr>
              <a:t>CONTINUOUS SORTIES: </a:t>
            </a:r>
            <a:r>
              <a:rPr sz="1500" b="0" i="0">
                <a:solidFill>
                  <a:srgbClr val="3C465A"/>
                </a:solidFill>
                <a:latin typeface="Calibri"/>
              </a:rPr>
              <a:t>Dual-pack quick-swap batteries support rolling 100% duty-cycle rescue sweeps.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86136" y="7264718"/>
            <a:ext cx="411480" cy="411480"/>
            <a:chOff x="0" y="0"/>
            <a:chExt cx="548640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9006" y="7367588"/>
            <a:ext cx="205740" cy="205740"/>
            <a:chOff x="0" y="0"/>
            <a:chExt cx="274320" cy="274320"/>
          </a:xfrm>
        </p:grpSpPr>
        <p:sp>
          <p:nvSpPr>
            <p:cNvPr name="Freeform 50" id="50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34776" y="7264718"/>
            <a:ext cx="4114800" cy="411480"/>
            <a:chOff x="0" y="0"/>
            <a:chExt cx="54864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86136" y="7734110"/>
            <a:ext cx="4334256" cy="1272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spcAft>
                <a:spcPts val="300"/>
              </a:spcAft>
              <a:buFont typeface="Arial"/>
              <a:buChar char="•"/>
            </a:pPr>
            <a:r>
              <a:rPr sz="1500" b="1" i="0">
                <a:solidFill>
                  <a:srgbClr val="1E2638"/>
                </a:solidFill>
                <a:latin typeface="Calibri"/>
              </a:rPr>
              <a:t>PROTOTYPE BUILD (₹37,400): </a:t>
            </a:r>
            <a:r>
              <a:rPr sz="1500" b="0" i="0">
                <a:solidFill>
                  <a:srgbClr val="3C465A"/>
                </a:solidFill>
                <a:latin typeface="Calibri"/>
              </a:rPr>
              <a:t>Genuine Arduino UNO Q 4GB/32GB build for full hardware evaluation.</a:t>
            </a:r>
          </a:p>
          <a:p>
            <a:r>
              <a:rPr sz="1500" b="1" i="0">
                <a:solidFill>
                  <a:srgbClr val="1E2638"/>
                </a:solidFill>
                <a:latin typeface="Calibri"/>
              </a:rPr>
              <a:t>PRODUCTION BOM (₹1.2 LAKH): </a:t>
            </a:r>
            <a:r>
              <a:rPr sz="1500" b="0" i="0">
                <a:solidFill>
                  <a:srgbClr val="3C465A"/>
                </a:solidFill>
                <a:latin typeface="Calibri"/>
              </a:rPr>
              <a:t>Enterprise-grade SAR UAV at 1/10th the cost of imported commercial drones.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392618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18">
                  <a:moveTo>
                    <a:pt x="0" y="0"/>
                  </a:moveTo>
                  <a:lnTo>
                    <a:pt x="2392618" y="0"/>
                  </a:lnTo>
                  <a:lnTo>
                    <a:pt x="239261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74" r="0" b="-3497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392616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227307" y="2688336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330177" y="2791206"/>
            <a:ext cx="205740" cy="205740"/>
            <a:chOff x="0" y="0"/>
            <a:chExt cx="274320" cy="274320"/>
          </a:xfrm>
        </p:grpSpPr>
        <p:sp>
          <p:nvSpPr>
            <p:cNvPr name="Freeform 63" id="63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775947" y="2688336"/>
            <a:ext cx="4114800" cy="411480"/>
            <a:chOff x="0" y="0"/>
            <a:chExt cx="548640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117617" y="4072953"/>
            <a:ext cx="5309435" cy="1022541"/>
            <a:chOff x="0" y="0"/>
            <a:chExt cx="7079247" cy="1363388"/>
          </a:xfrm>
        </p:grpSpPr>
        <p:grpSp>
          <p:nvGrpSpPr>
            <p:cNvPr name="Group 68" id="68"/>
            <p:cNvGrpSpPr/>
            <p:nvPr/>
          </p:nvGrpSpPr>
          <p:grpSpPr>
            <a:xfrm rot="0">
              <a:off x="4161803" y="515112"/>
              <a:ext cx="2917443" cy="804867"/>
              <a:chOff x="0" y="0"/>
              <a:chExt cx="576285" cy="158986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76285" cy="158986"/>
              </a:xfrm>
              <a:custGeom>
                <a:avLst/>
                <a:gdLst/>
                <a:ahLst/>
                <a:cxnLst/>
                <a:rect r="r" b="b" t="t" l="l"/>
                <a:pathLst>
                  <a:path h="158986" w="576285">
                    <a:moveTo>
                      <a:pt x="60150" y="0"/>
                    </a:moveTo>
                    <a:lnTo>
                      <a:pt x="516135" y="0"/>
                    </a:lnTo>
                    <a:cubicBezTo>
                      <a:pt x="532088" y="0"/>
                      <a:pt x="547387" y="6337"/>
                      <a:pt x="558668" y="17617"/>
                    </a:cubicBezTo>
                    <a:cubicBezTo>
                      <a:pt x="569948" y="28898"/>
                      <a:pt x="576285" y="44197"/>
                      <a:pt x="576285" y="60150"/>
                    </a:cubicBezTo>
                    <a:lnTo>
                      <a:pt x="576285" y="98836"/>
                    </a:lnTo>
                    <a:cubicBezTo>
                      <a:pt x="576285" y="114789"/>
                      <a:pt x="569948" y="130088"/>
                      <a:pt x="558668" y="141369"/>
                    </a:cubicBezTo>
                    <a:cubicBezTo>
                      <a:pt x="547387" y="152649"/>
                      <a:pt x="532088" y="158986"/>
                      <a:pt x="516135" y="158986"/>
                    </a:cubicBezTo>
                    <a:lnTo>
                      <a:pt x="60150" y="158986"/>
                    </a:lnTo>
                    <a:cubicBezTo>
                      <a:pt x="44197" y="158986"/>
                      <a:pt x="28898" y="152649"/>
                      <a:pt x="17617" y="141369"/>
                    </a:cubicBezTo>
                    <a:cubicBezTo>
                      <a:pt x="6337" y="130088"/>
                      <a:pt x="0" y="114789"/>
                      <a:pt x="0" y="98836"/>
                    </a:cubicBezTo>
                    <a:lnTo>
                      <a:pt x="0" y="60150"/>
                    </a:lnTo>
                    <a:cubicBezTo>
                      <a:pt x="0" y="44197"/>
                      <a:pt x="6337" y="28898"/>
                      <a:pt x="17617" y="17617"/>
                    </a:cubicBezTo>
                    <a:cubicBezTo>
                      <a:pt x="28898" y="6337"/>
                      <a:pt x="44197" y="0"/>
                      <a:pt x="60150" y="0"/>
                    </a:cubicBezTo>
                    <a:close/>
                  </a:path>
                </a:pathLst>
              </a:custGeom>
              <a:solidFill>
                <a:srgbClr val="DCFFE0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76285" cy="1970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134887" y="0"/>
              <a:ext cx="6528816" cy="456313"/>
              <a:chOff x="0" y="0"/>
              <a:chExt cx="6528816" cy="456313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6528816" cy="456313"/>
              </a:xfrm>
              <a:custGeom>
                <a:avLst/>
                <a:gdLst/>
                <a:ahLst/>
                <a:cxnLst/>
                <a:rect r="r" b="b" t="t" l="l"/>
                <a:pathLst>
                  <a:path h="456313" w="6528816">
                    <a:moveTo>
                      <a:pt x="0" y="0"/>
                    </a:moveTo>
                    <a:lnTo>
                      <a:pt x="6528816" y="0"/>
                    </a:lnTo>
                    <a:lnTo>
                      <a:pt x="6528816" y="456313"/>
                    </a:lnTo>
                    <a:lnTo>
                      <a:pt x="0" y="45631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30693" r="0" b="-226880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6528816" cy="494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Drone Disruption costs: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0" y="517524"/>
              <a:ext cx="3987978" cy="845864"/>
              <a:chOff x="0" y="0"/>
              <a:chExt cx="787749" cy="167084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787749" cy="167084"/>
              </a:xfrm>
              <a:custGeom>
                <a:avLst/>
                <a:gdLst/>
                <a:ahLst/>
                <a:cxnLst/>
                <a:rect r="r" b="b" t="t" l="l"/>
                <a:pathLst>
                  <a:path h="167084" w="787749">
                    <a:moveTo>
                      <a:pt x="44003" y="0"/>
                    </a:moveTo>
                    <a:lnTo>
                      <a:pt x="743746" y="0"/>
                    </a:lnTo>
                    <a:cubicBezTo>
                      <a:pt x="755416" y="0"/>
                      <a:pt x="766608" y="4636"/>
                      <a:pt x="774861" y="12888"/>
                    </a:cubicBezTo>
                    <a:cubicBezTo>
                      <a:pt x="783113" y="21140"/>
                      <a:pt x="787749" y="32333"/>
                      <a:pt x="787749" y="44003"/>
                    </a:cubicBezTo>
                    <a:lnTo>
                      <a:pt x="787749" y="123081"/>
                    </a:lnTo>
                    <a:cubicBezTo>
                      <a:pt x="787749" y="147383"/>
                      <a:pt x="768048" y="167084"/>
                      <a:pt x="743746" y="167084"/>
                    </a:cubicBezTo>
                    <a:lnTo>
                      <a:pt x="44003" y="167084"/>
                    </a:lnTo>
                    <a:cubicBezTo>
                      <a:pt x="19701" y="167084"/>
                      <a:pt x="0" y="147383"/>
                      <a:pt x="0" y="123081"/>
                    </a:cubicBezTo>
                    <a:lnTo>
                      <a:pt x="0" y="44003"/>
                    </a:lnTo>
                    <a:cubicBezTo>
                      <a:pt x="0" y="19701"/>
                      <a:pt x="19701" y="0"/>
                      <a:pt x="44003" y="0"/>
                    </a:cubicBezTo>
                    <a:close/>
                  </a:path>
                </a:pathLst>
              </a:custGeom>
              <a:solidFill>
                <a:srgbClr val="FFDCDC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38100"/>
                <a:ext cx="787749" cy="2051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3413" y="697613"/>
              <a:ext cx="2455565" cy="523143"/>
              <a:chOff x="0" y="0"/>
              <a:chExt cx="2479353" cy="5282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479353" cy="528211"/>
              </a:xfrm>
              <a:custGeom>
                <a:avLst/>
                <a:gdLst/>
                <a:ahLst/>
                <a:cxnLst/>
                <a:rect r="r" b="b" t="t" l="l"/>
                <a:pathLst>
                  <a:path h="528211" w="2479353">
                    <a:moveTo>
                      <a:pt x="0" y="0"/>
                    </a:moveTo>
                    <a:lnTo>
                      <a:pt x="2479353" y="0"/>
                    </a:lnTo>
                    <a:lnTo>
                      <a:pt x="2479353" y="528211"/>
                    </a:lnTo>
                    <a:lnTo>
                      <a:pt x="0" y="528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8485" r="-10641" b="-73900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47625"/>
                <a:ext cx="2479353" cy="57583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64"/>
                  </a:lnSpc>
                </a:pPr>
                <a:r>
                  <a:rPr lang="en-US" sz="1970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DJI Matrice 30T 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361713" y="652800"/>
              <a:ext cx="1495291" cy="571752"/>
              <a:chOff x="0" y="0"/>
              <a:chExt cx="1770833" cy="67711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1770832" cy="677111"/>
              </a:xfrm>
              <a:custGeom>
                <a:avLst/>
                <a:gdLst/>
                <a:ahLst/>
                <a:cxnLst/>
                <a:rect r="r" b="b" t="t" l="l"/>
                <a:pathLst>
                  <a:path h="677111" w="1770832">
                    <a:moveTo>
                      <a:pt x="0" y="0"/>
                    </a:moveTo>
                    <a:lnTo>
                      <a:pt x="1770832" y="0"/>
                    </a:lnTo>
                    <a:lnTo>
                      <a:pt x="1770832" y="677111"/>
                    </a:lnTo>
                    <a:lnTo>
                      <a:pt x="0" y="6771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166" r="-111710" b="-64603"/>
                </a:stretch>
              </a:blip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1770833" cy="7152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B4231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₹10+ Lakhs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4332535" y="652800"/>
              <a:ext cx="1589199" cy="606691"/>
              <a:chOff x="0" y="0"/>
              <a:chExt cx="2841207" cy="108465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841207" cy="1084656"/>
              </a:xfrm>
              <a:custGeom>
                <a:avLst/>
                <a:gdLst/>
                <a:ahLst/>
                <a:cxnLst/>
                <a:rect r="r" b="b" t="t" l="l"/>
                <a:pathLst>
                  <a:path h="1084656" w="2841207">
                    <a:moveTo>
                      <a:pt x="0" y="0"/>
                    </a:moveTo>
                    <a:lnTo>
                      <a:pt x="2841207" y="0"/>
                    </a:lnTo>
                    <a:lnTo>
                      <a:pt x="2841207" y="1084656"/>
                    </a:lnTo>
                    <a:lnTo>
                      <a:pt x="0" y="1084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872" r="3449" b="15313"/>
                </a:stretch>
              </a:blipFill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47625"/>
                <a:ext cx="2841207" cy="11322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29"/>
                  </a:lnSpc>
                </a:pPr>
                <a:r>
                  <a:rPr lang="en-US" sz="2274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Phoenix 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5223134" y="633999"/>
              <a:ext cx="1766707" cy="644292"/>
              <a:chOff x="0" y="0"/>
              <a:chExt cx="1766707" cy="644292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766706" cy="644292"/>
              </a:xfrm>
              <a:custGeom>
                <a:avLst/>
                <a:gdLst/>
                <a:ahLst/>
                <a:cxnLst/>
                <a:rect r="r" b="b" t="t" l="l"/>
                <a:pathLst>
                  <a:path h="644292" w="1766706">
                    <a:moveTo>
                      <a:pt x="0" y="0"/>
                    </a:moveTo>
                    <a:lnTo>
                      <a:pt x="1766706" y="0"/>
                    </a:lnTo>
                    <a:lnTo>
                      <a:pt x="1766706" y="644292"/>
                    </a:lnTo>
                    <a:lnTo>
                      <a:pt x="0" y="6442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3772" r="-112205" b="-72988"/>
                </a:stretch>
              </a:blipFill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1766707" cy="68239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0A7A33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₹1.2 Lakh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6117617" y="3172150"/>
            <a:ext cx="5309435" cy="828470"/>
            <a:chOff x="0" y="0"/>
            <a:chExt cx="7079247" cy="1104626"/>
          </a:xfrm>
        </p:grpSpPr>
        <p:grpSp>
          <p:nvGrpSpPr>
            <p:cNvPr name="Group 90" id="90"/>
            <p:cNvGrpSpPr/>
            <p:nvPr/>
          </p:nvGrpSpPr>
          <p:grpSpPr>
            <a:xfrm rot="0">
              <a:off x="0" y="148836"/>
              <a:ext cx="7079247" cy="806955"/>
              <a:chOff x="0" y="0"/>
              <a:chExt cx="1072027" cy="122199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1072027" cy="122199"/>
              </a:xfrm>
              <a:custGeom>
                <a:avLst/>
                <a:gdLst/>
                <a:ahLst/>
                <a:cxnLst/>
                <a:rect r="r" b="b" t="t" l="l"/>
                <a:pathLst>
                  <a:path h="122199" w="1072027">
                    <a:moveTo>
                      <a:pt x="24788" y="0"/>
                    </a:moveTo>
                    <a:lnTo>
                      <a:pt x="1047239" y="0"/>
                    </a:lnTo>
                    <a:cubicBezTo>
                      <a:pt x="1060929" y="0"/>
                      <a:pt x="1072027" y="11098"/>
                      <a:pt x="1072027" y="24788"/>
                    </a:cubicBezTo>
                    <a:lnTo>
                      <a:pt x="1072027" y="97411"/>
                    </a:lnTo>
                    <a:cubicBezTo>
                      <a:pt x="1072027" y="111101"/>
                      <a:pt x="1060929" y="122199"/>
                      <a:pt x="1047239" y="122199"/>
                    </a:cubicBezTo>
                    <a:lnTo>
                      <a:pt x="24788" y="122199"/>
                    </a:lnTo>
                    <a:cubicBezTo>
                      <a:pt x="11098" y="122199"/>
                      <a:pt x="0" y="111101"/>
                      <a:pt x="0" y="97411"/>
                    </a:cubicBezTo>
                    <a:lnTo>
                      <a:pt x="0" y="24788"/>
                    </a:lnTo>
                    <a:cubicBezTo>
                      <a:pt x="0" y="11098"/>
                      <a:pt x="11098" y="0"/>
                      <a:pt x="24788" y="0"/>
                    </a:cubicBezTo>
                    <a:close/>
                  </a:path>
                </a:pathLst>
              </a:custGeom>
              <a:solidFill>
                <a:srgbClr val="FC9223"/>
              </a:solidFill>
            </p:spPr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1072027" cy="1602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201618" y="0"/>
              <a:ext cx="6727618" cy="1104626"/>
              <a:chOff x="0" y="0"/>
              <a:chExt cx="5157571" cy="846836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5157571" cy="846836"/>
              </a:xfrm>
              <a:custGeom>
                <a:avLst/>
                <a:gdLst/>
                <a:ahLst/>
                <a:cxnLst/>
                <a:rect r="r" b="b" t="t" l="l"/>
                <a:pathLst>
                  <a:path h="846836" w="5157571">
                    <a:moveTo>
                      <a:pt x="0" y="0"/>
                    </a:moveTo>
                    <a:lnTo>
                      <a:pt x="5157571" y="0"/>
                    </a:lnTo>
                    <a:lnTo>
                      <a:pt x="5157571" y="846836"/>
                    </a:lnTo>
                    <a:lnTo>
                      <a:pt x="0" y="84683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4872" r="-26587" b="-95573"/>
                </a:stretch>
              </a:blipFill>
            </p:spPr>
          </p:sp>
          <p:sp>
            <p:nvSpPr>
              <p:cNvPr name="TextBox 95" id="95"/>
              <p:cNvSpPr txBox="true"/>
              <p:nvPr/>
            </p:nvSpPr>
            <p:spPr>
              <a:xfrm>
                <a:off x="0" y="-57150"/>
                <a:ext cx="5157571" cy="9039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419"/>
                  </a:lnSpc>
                </a:pPr>
                <a:r>
                  <a:rPr lang="en-US" sz="2850" b="true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Prototype cost:</a:t>
                </a:r>
                <a:r>
                  <a:rPr lang="en-US" sz="2850" b="true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</a:t>
                </a:r>
                <a:r>
                  <a:rPr lang="en-US" b="true" sz="28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&lt;40,000₹</a:t>
                </a:r>
              </a:p>
            </p:txBody>
          </p:sp>
        </p:grpSp>
      </p:grpSp>
      <p:sp>
        <p:nvSpPr>
          <p:cNvPr name="TextBox 96" id="96"/>
          <p:cNvSpPr txBox="true"/>
          <p:nvPr/>
        </p:nvSpPr>
        <p:spPr>
          <a:xfrm rot="0">
            <a:off x="6237451" y="5405057"/>
            <a:ext cx="489661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b="1" i="0">
                <a:solidFill>
                  <a:srgbClr val="FFFFFF"/>
                </a:solidFill>
                <a:latin typeface="Calibri"/>
              </a:rPr>
              <a:t>FLEET SCALABILITY: </a:t>
            </a:r>
            <a:r>
              <a:rPr sz="1500" b="0" i="0">
                <a:solidFill>
                  <a:srgbClr val="E4ECF7"/>
                </a:solidFill>
                <a:latin typeface="Calibri"/>
              </a:rPr>
              <a:t>NDRF battalions can deploy a 10-drone swarm for the acquisition cost of 1 imported drone.</a:t>
            </a:r>
          </a:p>
        </p:txBody>
      </p:sp>
      <p:grpSp>
        <p:nvGrpSpPr>
          <p:cNvPr name="Group 97" id="97"/>
          <p:cNvGrpSpPr/>
          <p:nvPr/>
        </p:nvGrpSpPr>
        <p:grpSpPr>
          <a:xfrm rot="0">
            <a:off x="6237451" y="6290882"/>
            <a:ext cx="411480" cy="411480"/>
            <a:chOff x="0" y="0"/>
            <a:chExt cx="54864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6340321" y="6393752"/>
            <a:ext cx="205740" cy="205740"/>
            <a:chOff x="0" y="0"/>
            <a:chExt cx="274320" cy="274320"/>
          </a:xfrm>
        </p:grpSpPr>
        <p:sp>
          <p:nvSpPr>
            <p:cNvPr name="Freeform 100" id="100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6786091" y="6290882"/>
            <a:ext cx="4114800" cy="411480"/>
            <a:chOff x="0" y="0"/>
            <a:chExt cx="5486400" cy="5486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sz="1650" b="1" i="0">
                  <a:solidFill>
                    <a:srgbClr val="FFB35C"/>
                  </a:solidFill>
                  <a:latin typeface="Calibri"/>
                </a:rPr>
                <a:t>AIR-GAPPED TACTICAL RESILIENCE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6237451" y="6756083"/>
            <a:ext cx="4896612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b="1" i="0">
                <a:solidFill>
                  <a:srgbClr val="FFFFFF"/>
                </a:solidFill>
                <a:latin typeface="Calibri"/>
              </a:rPr>
              <a:t>100% OFFLINE DATA PRIVACY: </a:t>
            </a:r>
            <a:r>
              <a:rPr sz="1500" b="0" i="0">
                <a:solidFill>
                  <a:srgbClr val="E4ECF7"/>
                </a:solidFill>
                <a:latin typeface="Calibri"/>
              </a:rPr>
              <a:t>Zero cloud dependencies; all sensor feeds and victim GPS fixes remain strictly local on tactical responder tablets.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6237451" y="7662482"/>
            <a:ext cx="411480" cy="411480"/>
            <a:chOff x="0" y="0"/>
            <a:chExt cx="54864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340321" y="7765352"/>
            <a:ext cx="205740" cy="205740"/>
            <a:chOff x="0" y="0"/>
            <a:chExt cx="274320" cy="274320"/>
          </a:xfrm>
        </p:grpSpPr>
        <p:sp>
          <p:nvSpPr>
            <p:cNvPr name="Freeform 108" id="108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786091" y="7662482"/>
            <a:ext cx="4114800" cy="411480"/>
            <a:chOff x="0" y="0"/>
            <a:chExt cx="548640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6237451" y="8127683"/>
            <a:ext cx="4896612" cy="878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b="1" i="0">
                <a:solidFill>
                  <a:srgbClr val="FFFFFF"/>
                </a:solidFill>
                <a:latin typeface="Calibri"/>
              </a:rPr>
              <a:t>FIELD-READY INTEGRATION: </a:t>
            </a:r>
            <a:r>
              <a:rPr sz="1500" b="0" i="0">
                <a:solidFill>
                  <a:srgbClr val="E4ECF7"/>
                </a:solidFill>
                <a:latin typeface="Calibri"/>
              </a:rPr>
              <a:t>Native protocol compatibility with NDRF, SDRF, and civil disaster response command units.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12687300" y="3414141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868 MHZ LORA BRIDGE: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Sustains NLoS micro-telemetry packet link [2] without cellular towers (DOI: 10.1109/ACCESS.2026.3731317).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35" id="135"/>
          <p:cNvSpPr txBox="true"/>
          <p:nvPr/>
        </p:nvSpPr>
        <p:spPr>
          <a:xfrm rot="0">
            <a:off x="12687300" y="4689729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LWIR THERMAL DETECTION: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8–14μm radiometric array isolates 37°C casualties through smoke, dust, and debris [1] (Siotia, IEEE Access 2026).</a:t>
            </a:r>
          </a:p>
        </p:txBody>
      </p:sp>
      <p:grpSp>
        <p:nvGrpSpPr>
          <p:cNvPr name="Group 136" id="136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2687300" y="5965317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ANTI-DRIFT VIO NAVIGATION: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Visual-Inertial Odometry overrides compromised magnetometers in collapsed steel rubble (IEEE standard).</a:t>
            </a:r>
          </a:p>
        </p:txBody>
      </p:sp>
      <p:grpSp>
        <p:nvGrpSpPr>
          <p:cNvPr name="Group 145" id="145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687300" y="7240905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HARMONIC NOTCH FILTERING: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Silicone damping mounts + software notch filtering eliminate ESC/motor noise on 250Hz EKF loop.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12687300" y="8516493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400" b="1" i="0">
                <a:solidFill>
                  <a:srgbClr val="1E2638"/>
                </a:solidFill>
                <a:latin typeface="Calibri"/>
              </a:rPr>
              <a:t>ANTI-WINDUP PID CLAMPING: </a:t>
            </a:r>
            <a:r>
              <a:rPr sz="1400" b="0" i="0">
                <a:solidFill>
                  <a:srgbClr val="3C465A"/>
                </a:solidFill>
                <a:latin typeface="Calibri"/>
              </a:rPr>
              <a:t>Dynamic integrator clamping prevents control surface saturation during aggressive gusts.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644" y="6269126"/>
            <a:ext cx="3927805" cy="2885174"/>
            <a:chOff x="0" y="0"/>
            <a:chExt cx="5237074" cy="38468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24540" y="6495726"/>
            <a:ext cx="630936" cy="630936"/>
            <a:chOff x="0" y="0"/>
            <a:chExt cx="841248" cy="8412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82274" y="6653460"/>
            <a:ext cx="315468" cy="315468"/>
            <a:chOff x="0" y="0"/>
            <a:chExt cx="420624" cy="420624"/>
          </a:xfrm>
        </p:grpSpPr>
        <p:sp>
          <p:nvSpPr>
            <p:cNvPr name="Freeform 25" id="25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920068" y="6495726"/>
            <a:ext cx="2679078" cy="630936"/>
            <a:chOff x="0" y="0"/>
            <a:chExt cx="3572104" cy="841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4540" y="7269537"/>
            <a:ext cx="3364878" cy="1695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spcAft>
                <a:spcPts val="200"/>
              </a:spcAft>
              <a:buFont typeface="Arial"/>
              <a:buChar char="•"/>
            </a:pPr>
            <a:r>
              <a:rPr sz="1300" b="1" i="0">
                <a:solidFill>
                  <a:srgbClr val="1E2638"/>
                </a:solidFill>
                <a:latin typeface="Calibri"/>
              </a:rPr>
              <a:t>GOLDEN 72H WINDOW: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Rapid discovery within critical survival timeframe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DEBRIS &amp; SMOKE SENSING: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Thermal lock in zero-light and smoky collapse voids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TRIAGE PRIORITIZATION: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Instant medical urgency rating streamed to rescue teams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SURVIVAL MULTIPLIER: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Dramatically cuts time-to-extraction under rubble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58346" y="6269126"/>
            <a:ext cx="3927805" cy="2885174"/>
            <a:chOff x="0" y="0"/>
            <a:chExt cx="5237074" cy="3846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367241" y="6495726"/>
            <a:ext cx="630936" cy="630936"/>
            <a:chOff x="0" y="0"/>
            <a:chExt cx="841248" cy="84124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5524975" y="6653460"/>
            <a:ext cx="315468" cy="315468"/>
            <a:chOff x="0" y="0"/>
            <a:chExt cx="420624" cy="420624"/>
          </a:xfrm>
        </p:grpSpPr>
        <p:sp>
          <p:nvSpPr>
            <p:cNvPr name="Freeform 35" id="35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162769" y="6495726"/>
            <a:ext cx="2679078" cy="630936"/>
            <a:chOff x="0" y="0"/>
            <a:chExt cx="3572104" cy="8412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367241" y="7269537"/>
            <a:ext cx="3364878" cy="1695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spcAft>
                <a:spcPts val="200"/>
              </a:spcAft>
              <a:buFont typeface="Arial"/>
              <a:buChar char="•"/>
            </a:pPr>
            <a:r>
              <a:rPr sz="1300" b="1" i="0">
                <a:solidFill>
                  <a:srgbClr val="1E2638"/>
                </a:solidFill>
                <a:latin typeface="Calibri"/>
              </a:rPr>
              <a:t>ADVANCE HAZARD MAPPING: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Flags live high-voltage cables, gas leaks &amp; floodwaters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SAFE ROUTE NAVIGATION: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Dynamic Dijkstra corridor guides rescuers around hazards [1]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TACTICAL AWARENESS: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Crews proceed straight to verified survivor coordinates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FATIGUE REDUCTION: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Replaces blind shovel digs with targeted extraction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01047" y="6269126"/>
            <a:ext cx="3927805" cy="2885174"/>
            <a:chOff x="0" y="0"/>
            <a:chExt cx="5237074" cy="3846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609943" y="6495726"/>
            <a:ext cx="630936" cy="630936"/>
            <a:chOff x="0" y="0"/>
            <a:chExt cx="841248" cy="8412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767677" y="6653460"/>
            <a:ext cx="315468" cy="315468"/>
            <a:chOff x="0" y="0"/>
            <a:chExt cx="420624" cy="420624"/>
          </a:xfrm>
        </p:grpSpPr>
        <p:sp>
          <p:nvSpPr>
            <p:cNvPr name="Freeform 45" id="45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405471" y="6495726"/>
            <a:ext cx="2679078" cy="630936"/>
            <a:chOff x="0" y="0"/>
            <a:chExt cx="3572104" cy="8412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609943" y="7269537"/>
            <a:ext cx="3364878" cy="1695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spcAft>
                <a:spcPts val="200"/>
              </a:spcAft>
              <a:buFont typeface="Arial"/>
              <a:buChar char="•"/>
            </a:pPr>
            <a:r>
              <a:rPr sz="1300" b="1" i="0">
                <a:solidFill>
                  <a:srgbClr val="1E2638"/>
                </a:solidFill>
                <a:latin typeface="Calibri"/>
              </a:rPr>
              <a:t>UNIFIED COMMON PICTURE: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Real-time casualty mapping with micro-telemetry tracking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ZERO CLOUD DEPENDENCY: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100% operational during complete cellular &amp; power blackouts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DYNAMIC SECTOR LOGS: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Autonomous coverage tracking ensures no sector is missed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17-BYTE LORA STREAM: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Ultra-compact bit-packed alerts arrive in under 3 seconds [3]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543749" y="6269126"/>
            <a:ext cx="3927805" cy="2885174"/>
            <a:chOff x="0" y="0"/>
            <a:chExt cx="5237074" cy="384689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852645" y="6495726"/>
            <a:ext cx="630936" cy="630936"/>
            <a:chOff x="0" y="0"/>
            <a:chExt cx="841248" cy="84124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010379" y="6653460"/>
            <a:ext cx="315468" cy="315468"/>
            <a:chOff x="0" y="0"/>
            <a:chExt cx="420624" cy="420624"/>
          </a:xfrm>
        </p:grpSpPr>
        <p:sp>
          <p:nvSpPr>
            <p:cNvPr name="Freeform 55" id="5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4648173" y="6495726"/>
            <a:ext cx="2679078" cy="630936"/>
            <a:chOff x="0" y="0"/>
            <a:chExt cx="3572104" cy="84124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3852645" y="7269537"/>
            <a:ext cx="3364878" cy="1695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spcAft>
                <a:spcPts val="200"/>
              </a:spcAft>
              <a:buFont typeface="Arial"/>
              <a:buChar char="•"/>
            </a:pPr>
            <a:r>
              <a:rPr sz="1300" b="1" i="0">
                <a:solidFill>
                  <a:srgbClr val="1E2638"/>
                </a:solidFill>
                <a:latin typeface="Calibri"/>
              </a:rPr>
              <a:t>TARGETED RESOURCE DROPS: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Prioritized airlift and medical kits based on triage data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AFFORDABLE PROCUREMENT: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Deploy 10 Phoenix drones for the price of 1 enterprise UAV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AUDITABLE EVENT LOGS: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Tamper-evident onboard flight logs for post-incident review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1E2638"/>
                </a:solidFill>
                <a:latin typeface="Calibri"/>
              </a:rPr>
              <a:t>SCALABLE STOCKPILING: </a:t>
            </a:r>
            <a:r>
              <a:rPr sz="1300" b="0" i="0">
                <a:solidFill>
                  <a:srgbClr val="3C465A"/>
                </a:solidFill>
                <a:latin typeface="Calibri"/>
              </a:rPr>
              <a:t>Standardized COTS electronics enable rapid state-wide rollout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15816" y="1965960"/>
            <a:ext cx="16655910" cy="3937064"/>
            <a:chOff x="0" y="0"/>
            <a:chExt cx="22207880" cy="52494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207855" cy="5249418"/>
            </a:xfrm>
            <a:custGeom>
              <a:avLst/>
              <a:gdLst/>
              <a:ahLst/>
              <a:cxnLst/>
              <a:rect r="r" b="b" t="t" l="l"/>
              <a:pathLst>
                <a:path h="5249418" w="22207855">
                  <a:moveTo>
                    <a:pt x="0" y="256921"/>
                  </a:moveTo>
                  <a:cubicBezTo>
                    <a:pt x="0" y="115062"/>
                    <a:pt x="115062" y="0"/>
                    <a:pt x="256921" y="0"/>
                  </a:cubicBezTo>
                  <a:lnTo>
                    <a:pt x="21950935" y="0"/>
                  </a:lnTo>
                  <a:cubicBezTo>
                    <a:pt x="22092794" y="0"/>
                    <a:pt x="22207855" y="115062"/>
                    <a:pt x="22207855" y="256921"/>
                  </a:cubicBezTo>
                  <a:lnTo>
                    <a:pt x="22207855" y="4992497"/>
                  </a:lnTo>
                  <a:cubicBezTo>
                    <a:pt x="22207855" y="5134356"/>
                    <a:pt x="22092794" y="5249418"/>
                    <a:pt x="21950935" y="5249418"/>
                  </a:cubicBezTo>
                  <a:lnTo>
                    <a:pt x="256921" y="5249418"/>
                  </a:lnTo>
                  <a:cubicBezTo>
                    <a:pt x="115062" y="5249418"/>
                    <a:pt x="0" y="5134356"/>
                    <a:pt x="0" y="4992497"/>
                  </a:cubicBezTo>
                  <a:close/>
                </a:path>
              </a:pathLst>
            </a:custGeom>
            <a:solidFill>
              <a:srgbClr val="FFB35C">
                <a:alpha val="7843"/>
              </a:srgbClr>
            </a:solidFill>
            <a:ln w="14288" cap="sq">
              <a:solidFill>
                <a:srgbClr val="D6E1EE">
                  <a:alpha val="7843"/>
                </a:srgbClr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24712" y="2137696"/>
            <a:ext cx="2606726" cy="384048"/>
            <a:chOff x="0" y="0"/>
            <a:chExt cx="3475634" cy="5120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124712" y="2137696"/>
            <a:ext cx="2606726" cy="384048"/>
            <a:chOff x="0" y="0"/>
            <a:chExt cx="3475634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475634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54" r="0" b="-8225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475634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24712" y="3399568"/>
            <a:ext cx="1645920" cy="740664"/>
            <a:chOff x="0" y="0"/>
            <a:chExt cx="2194560" cy="98755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24712" y="4195096"/>
            <a:ext cx="1645920" cy="740664"/>
            <a:chOff x="0" y="0"/>
            <a:chExt cx="2194560" cy="9875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24712" y="4990624"/>
            <a:ext cx="1645920" cy="795528"/>
            <a:chOff x="0" y="0"/>
            <a:chExt cx="2194560" cy="10607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13" t="0" r="-1201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2194560" cy="10988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3060">
            <a:off x="1117568" y="3353657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rot="3060">
            <a:off x="1117568" y="4149186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3060">
            <a:off x="1117568" y="4944714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2880360" y="2658904"/>
            <a:ext cx="2796140" cy="603504"/>
            <a:chOff x="0" y="0"/>
            <a:chExt cx="3728187" cy="8046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3044952" y="2658904"/>
            <a:ext cx="2247500" cy="603504"/>
            <a:chOff x="0" y="0"/>
            <a:chExt cx="2996667" cy="80467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62656" y="3361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sz="1250" b="1" i="0">
                <a:solidFill>
                  <a:srgbClr val="1F497D"/>
                </a:solidFill>
                <a:latin typeface="Calibri"/>
              </a:rPr>
              <a:t>BACKPACK DEPLOY: </a:t>
            </a:r>
            <a:r>
              <a:rPr sz="1250" b="0" i="0">
                <a:solidFill>
                  <a:srgbClr val="3C465A"/>
                </a:solidFill>
                <a:latin typeface="Calibri"/>
              </a:rPr>
              <a:t>Unbox to autonomous flight in &lt; 3 minutes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962656" y="4156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sz="1250" b="1" i="0">
                <a:solidFill>
                  <a:srgbClr val="1E2638"/>
                </a:solidFill>
                <a:latin typeface="Calibri"/>
              </a:rPr>
              <a:t>ZERO INFRASTRUCTURE: </a:t>
            </a:r>
            <a:r>
              <a:rPr sz="1250" b="0" i="0">
                <a:solidFill>
                  <a:srgbClr val="3C465A"/>
                </a:solidFill>
                <a:latin typeface="Calibri"/>
              </a:rPr>
              <a:t>Search begins immediately upon arrival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2880360" y="4990624"/>
            <a:ext cx="2713844" cy="795528"/>
            <a:chOff x="0" y="0"/>
            <a:chExt cx="3618459" cy="106070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880360" y="5027581"/>
            <a:ext cx="2713844" cy="411480"/>
            <a:chOff x="0" y="0"/>
            <a:chExt cx="3618459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2880360" y="5429536"/>
            <a:ext cx="2713844" cy="329184"/>
            <a:chOff x="0" y="0"/>
            <a:chExt cx="3618459" cy="43891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758796" y="2658904"/>
            <a:ext cx="2796140" cy="603504"/>
            <a:chOff x="0" y="0"/>
            <a:chExt cx="3728187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5923388" y="2658904"/>
            <a:ext cx="2247500" cy="603504"/>
            <a:chOff x="0" y="0"/>
            <a:chExt cx="2996667" cy="80467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841092" y="3361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sz="1250" b="1" i="0">
                <a:solidFill>
                  <a:srgbClr val="1F497D"/>
                </a:solidFill>
                <a:latin typeface="Calibri"/>
              </a:rPr>
              <a:t>BOUSTROPHEDON SWEEP: </a:t>
            </a:r>
            <a:r>
              <a:rPr sz="1250" b="0" i="0">
                <a:solidFill>
                  <a:srgbClr val="3C465A"/>
                </a:solidFill>
                <a:latin typeface="Calibri"/>
              </a:rPr>
              <a:t>Autonomous dual 1080p + thermal grid coverage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41092" y="4156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sz="1250" b="1" i="0">
                <a:solidFill>
                  <a:srgbClr val="1E2638"/>
                </a:solidFill>
                <a:latin typeface="Calibri"/>
              </a:rPr>
              <a:t>ALL-WEATHER SCAN: </a:t>
            </a:r>
            <a:r>
              <a:rPr sz="1250" b="0" i="0">
                <a:solidFill>
                  <a:srgbClr val="3C465A"/>
                </a:solidFill>
                <a:latin typeface="Calibri"/>
              </a:rPr>
              <a:t>Continuous search in smoke, dust &amp; darkness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5758796" y="4990624"/>
            <a:ext cx="2713844" cy="795528"/>
            <a:chOff x="0" y="0"/>
            <a:chExt cx="3618459" cy="106070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758796" y="5027581"/>
            <a:ext cx="2713844" cy="411480"/>
            <a:chOff x="0" y="0"/>
            <a:chExt cx="3618459" cy="5486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5758796" y="5429536"/>
            <a:ext cx="2713844" cy="329184"/>
            <a:chOff x="0" y="0"/>
            <a:chExt cx="3618459" cy="43891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637241" y="2658904"/>
            <a:ext cx="2796140" cy="603504"/>
            <a:chOff x="0" y="0"/>
            <a:chExt cx="3728187" cy="80467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8801833" y="2658904"/>
            <a:ext cx="2247500" cy="603504"/>
            <a:chOff x="0" y="0"/>
            <a:chExt cx="2996667" cy="80467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8719537" y="3361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sz="1250" b="1" i="0">
                <a:solidFill>
                  <a:srgbClr val="1F497D"/>
                </a:solidFill>
                <a:latin typeface="Calibri"/>
              </a:rPr>
              <a:t>INSTANT GEOREFERENCING: </a:t>
            </a:r>
            <a:r>
              <a:rPr sz="1250" b="0" i="0">
                <a:solidFill>
                  <a:srgbClr val="3C465A"/>
                </a:solidFill>
                <a:latin typeface="Calibri"/>
              </a:rPr>
              <a:t>Tait-Bryan projection calculates exact ground GPS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719537" y="4156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sz="1250" b="1" i="0">
                <a:solidFill>
                  <a:srgbClr val="1E2638"/>
                </a:solidFill>
                <a:latin typeface="Calibri"/>
              </a:rPr>
              <a:t>ZERO SEARCH DELAY: </a:t>
            </a:r>
            <a:r>
              <a:rPr sz="1250" b="0" i="0">
                <a:solidFill>
                  <a:srgbClr val="3C465A"/>
                </a:solidFill>
                <a:latin typeface="Calibri"/>
              </a:rPr>
              <a:t>Rescuers proceed straight to survivor coordinates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8637241" y="4990624"/>
            <a:ext cx="2713844" cy="795528"/>
            <a:chOff x="0" y="0"/>
            <a:chExt cx="3618459" cy="106070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8637241" y="5027581"/>
            <a:ext cx="2713844" cy="411480"/>
            <a:chOff x="0" y="0"/>
            <a:chExt cx="3618459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637241" y="5429536"/>
            <a:ext cx="2713844" cy="329184"/>
            <a:chOff x="0" y="0"/>
            <a:chExt cx="3618459" cy="43891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1515677" y="2658904"/>
            <a:ext cx="2796140" cy="603504"/>
            <a:chOff x="0" y="0"/>
            <a:chExt cx="3728187" cy="80467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680269" y="2658904"/>
            <a:ext cx="2247500" cy="603504"/>
            <a:chOff x="0" y="0"/>
            <a:chExt cx="2996667" cy="80467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11597973" y="3361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sz="1250" b="1" i="0">
                <a:solidFill>
                  <a:srgbClr val="1F497D"/>
                </a:solidFill>
                <a:latin typeface="Calibri"/>
              </a:rPr>
              <a:t>TRIAGE &amp; HAZARD ROUTE: </a:t>
            </a:r>
            <a:r>
              <a:rPr sz="1250" b="0" i="0">
                <a:solidFill>
                  <a:srgbClr val="3C465A"/>
                </a:solidFill>
                <a:latin typeface="Calibri"/>
              </a:rPr>
              <a:t>Ranks casualties &amp; computes Dijkstra safe corridors [1]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597973" y="4156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sz="1250" b="1" i="0">
                <a:solidFill>
                  <a:srgbClr val="1E2638"/>
                </a:solidFill>
                <a:latin typeface="Calibri"/>
              </a:rPr>
              <a:t>CREW PROTECTION: </a:t>
            </a:r>
            <a:r>
              <a:rPr sz="1250" b="0" i="0">
                <a:solidFill>
                  <a:srgbClr val="3C465A"/>
                </a:solidFill>
                <a:latin typeface="Calibri"/>
              </a:rPr>
              <a:t>Rescuers avoid live power cables &amp; gas hazards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1515677" y="4990624"/>
            <a:ext cx="2713844" cy="795528"/>
            <a:chOff x="0" y="0"/>
            <a:chExt cx="3618459" cy="106070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515677" y="5027581"/>
            <a:ext cx="2713844" cy="411480"/>
            <a:chOff x="0" y="0"/>
            <a:chExt cx="3618459" cy="5486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515677" y="5429536"/>
            <a:ext cx="2713844" cy="329184"/>
            <a:chOff x="0" y="0"/>
            <a:chExt cx="3618459" cy="43891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394123" y="2658904"/>
            <a:ext cx="2796140" cy="603504"/>
            <a:chOff x="0" y="0"/>
            <a:chExt cx="3728187" cy="8046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4558715" y="2658904"/>
            <a:ext cx="2247500" cy="603504"/>
            <a:chOff x="0" y="0"/>
            <a:chExt cx="2996667" cy="80467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4476419" y="3361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sz="1250" b="1" i="0">
                <a:solidFill>
                  <a:srgbClr val="1F497D"/>
                </a:solidFill>
                <a:latin typeface="Calibri"/>
              </a:rPr>
              <a:t>FLEET ECONOMICS: </a:t>
            </a:r>
            <a:r>
              <a:rPr sz="1250" b="0" i="0">
                <a:solidFill>
                  <a:srgbClr val="3C465A"/>
                </a:solidFill>
                <a:latin typeface="Calibri"/>
              </a:rPr>
              <a:t>Full autonomous capability at 1/10th enterprise cost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14476419" y="4156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sz="1250" b="1" i="0">
                <a:solidFill>
                  <a:srgbClr val="1E2638"/>
                </a:solidFill>
                <a:latin typeface="Calibri"/>
              </a:rPr>
              <a:t>LIVES SAVED: </a:t>
            </a:r>
            <a:r>
              <a:rPr sz="1250" b="0" i="0">
                <a:solidFill>
                  <a:srgbClr val="3C465A"/>
                </a:solidFill>
                <a:latin typeface="Calibri"/>
              </a:rPr>
              <a:t>Accelerates extraction within the Golden 72 hours</a:t>
            </a:r>
          </a:p>
        </p:txBody>
      </p:sp>
      <p:grpSp>
        <p:nvGrpSpPr>
          <p:cNvPr name="Group 146" id="146"/>
          <p:cNvGrpSpPr/>
          <p:nvPr/>
        </p:nvGrpSpPr>
        <p:grpSpPr>
          <a:xfrm rot="0">
            <a:off x="14394123" y="4990624"/>
            <a:ext cx="2713844" cy="795528"/>
            <a:chOff x="0" y="0"/>
            <a:chExt cx="3618459" cy="106070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4394123" y="5027581"/>
            <a:ext cx="2713844" cy="411480"/>
            <a:chOff x="0" y="0"/>
            <a:chExt cx="3618459" cy="54864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4394123" y="5429536"/>
            <a:ext cx="2713844" cy="329184"/>
            <a:chOff x="0" y="0"/>
            <a:chExt cx="3618459" cy="43891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1892808"/>
            <a:ext cx="3418989" cy="411480"/>
            <a:chOff x="0" y="0"/>
            <a:chExt cx="4558652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58648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48">
                  <a:moveTo>
                    <a:pt x="0" y="0"/>
                  </a:moveTo>
                  <a:lnTo>
                    <a:pt x="4558648" y="0"/>
                  </a:lnTo>
                  <a:lnTo>
                    <a:pt x="455864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01" r="0" b="-11190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5586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24160" y="1892808"/>
            <a:ext cx="2606726" cy="411480"/>
            <a:chOff x="0" y="0"/>
            <a:chExt cx="3475634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75634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37" r="0" b="-7343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47563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15816" y="2516600"/>
            <a:ext cx="9272588" cy="1550480"/>
            <a:chOff x="0" y="0"/>
            <a:chExt cx="12363450" cy="20673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24712" y="2660904"/>
            <a:ext cx="822960" cy="411480"/>
            <a:chOff x="0" y="0"/>
            <a:chExt cx="10972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2633472"/>
            <a:ext cx="7749540" cy="431113"/>
            <a:chOff x="0" y="0"/>
            <a:chExt cx="10332720" cy="57481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00" b="1" i="0">
                  <a:solidFill>
                    <a:srgbClr val="1F497D"/>
                  </a:solidFill>
                  <a:latin typeface="Calibri"/>
                </a:rPr>
                <a:t>IIT Jodhpur &amp; Manipal (IEEE Access, Sept 2026) [1]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57400" y="3016377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00" b="0" i="1">
                <a:solidFill>
                  <a:srgbClr val="566074"/>
                </a:solidFill>
                <a:latin typeface="Calibri"/>
              </a:rPr>
              <a:t>• 'SwarmSAR-FW: Drone-Based Swarm Search and Rescue in Fire and Water Disasters'</a:t>
            </a:r>
          </a:p>
          <a:p>
            <a:r>
              <a:rPr sz="1500" b="0" i="0">
                <a:solidFill>
                  <a:srgbClr val="1E2638"/>
                </a:solidFill>
                <a:latin typeface="Calibri"/>
              </a:rPr>
              <a:t>• Sourced &amp; validated Hazard-Aware Safe Access Ingress Routing for ground crews &amp; 98.7% triage.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2"/>
              </a:rPr>
              <a:t>10.1109/ACCESS.2026.3730315 (Direct IEEE Document Link)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5816" y="4217384"/>
            <a:ext cx="9272588" cy="1550480"/>
            <a:chOff x="0" y="0"/>
            <a:chExt cx="12363450" cy="206730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24712" y="4361688"/>
            <a:ext cx="822960" cy="411480"/>
            <a:chOff x="0" y="0"/>
            <a:chExt cx="109728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4334256"/>
            <a:ext cx="7749540" cy="431113"/>
            <a:chOff x="0" y="0"/>
            <a:chExt cx="10332720" cy="57481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UPC Spain &amp; Souli et al. (IEEE Access 2026 / Elsevier 2024) [2, 3]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057400" y="4717161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'Long-Range BLE Detection via Drone LoRa Relays' [2] &amp; 'Mission-Critical ROS-LoRa Architecture' [3]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Sourced 868 MHz LoRa off-grid data bridge &amp; 17-byte binary telemetry in cellular blackout zones.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3"/>
              </a:rPr>
              <a:t>10.1109/ACCESS.2026.3731317 [2]  |  10.1016/j.comcom.2024.04.015 [3]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5816" y="5918168"/>
            <a:ext cx="9272588" cy="1550480"/>
            <a:chOff x="0" y="0"/>
            <a:chExt cx="12363450" cy="20673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712" y="6062472"/>
            <a:ext cx="822960" cy="411480"/>
            <a:chOff x="0" y="0"/>
            <a:chExt cx="10972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057400" y="6035040"/>
            <a:ext cx="7749540" cy="431113"/>
            <a:chOff x="0" y="0"/>
            <a:chExt cx="10332720" cy="57481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TalTech Estonia &amp; SARDO (IEEE Access 2023 / IEEE TMC 2022) [4, 5]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2057400" y="6417945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'Applying RIS-Based Comm for Collaborative Computing' [4] &amp; 'SARDO RF Victim Localization' [5]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Validated decentralized swarm edge-computing without cloud servers (-32% energy); 1/8th weight vs SDR.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4"/>
              </a:rPr>
              <a:t>10.1109/ACCESS.2023.3293737 [4]  |  10.1109/TMC.2022.3168331 [5]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15816" y="7618952"/>
            <a:ext cx="9272588" cy="1550480"/>
            <a:chOff x="0" y="0"/>
            <a:chExt cx="12363450" cy="206730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24712" y="7763256"/>
            <a:ext cx="822960" cy="411480"/>
            <a:chOff x="0" y="0"/>
            <a:chExt cx="109728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057400" y="7735824"/>
            <a:ext cx="7749540" cy="431113"/>
            <a:chOff x="0" y="0"/>
            <a:chExt cx="10332720" cy="574817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BITS Pilani &amp; van Tilburg (Elsevier 2020 / Wilderness Med 2017) [6, 7]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057400" y="8118729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'Drone Surveillance &amp; Human Action Detection' [6] &amp; 'First Report of Using Drones for SAR' [7]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Validates 2000+ aerial human detection dataset for INT8 YOLO and operational field unboxing protocols.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5"/>
              </a:rPr>
              <a:t>10.1016/j.comcom.2020.03.042 [6]  |  10.1016/j.wem.2017.06.004 [7]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17016" y="2516600"/>
            <a:ext cx="7054710" cy="6652832"/>
            <a:chOff x="0" y="0"/>
            <a:chExt cx="9406280" cy="88704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06255" cy="8870442"/>
            </a:xfrm>
            <a:custGeom>
              <a:avLst/>
              <a:gdLst/>
              <a:ahLst/>
              <a:cxnLst/>
              <a:rect r="r" b="b" t="t" l="l"/>
              <a:pathLst>
                <a:path h="8870442" w="9406255">
                  <a:moveTo>
                    <a:pt x="0" y="250346"/>
                  </a:moveTo>
                  <a:cubicBezTo>
                    <a:pt x="0" y="112036"/>
                    <a:pt x="114808" y="0"/>
                    <a:pt x="256540" y="0"/>
                  </a:cubicBezTo>
                  <a:lnTo>
                    <a:pt x="9149715" y="0"/>
                  </a:lnTo>
                  <a:cubicBezTo>
                    <a:pt x="9291447" y="0"/>
                    <a:pt x="9406255" y="112036"/>
                    <a:pt x="9406255" y="250346"/>
                  </a:cubicBezTo>
                  <a:lnTo>
                    <a:pt x="9406255" y="8620096"/>
                  </a:lnTo>
                  <a:cubicBezTo>
                    <a:pt x="9406255" y="8758405"/>
                    <a:pt x="9291447" y="8870442"/>
                    <a:pt x="9149715" y="8870442"/>
                  </a:cubicBezTo>
                  <a:lnTo>
                    <a:pt x="256540" y="8870442"/>
                  </a:lnTo>
                  <a:cubicBezTo>
                    <a:pt x="114808" y="8870442"/>
                    <a:pt x="0" y="8758406"/>
                    <a:pt x="0" y="8620096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472830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13" r="0" b="-2509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847283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9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10260">
            <a:off x="10757525" y="3204781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  <p:txBody>
          <a:bodyPr/>
          <a:p>
            <a:r>
              <a:rPr sz="1300" i="1">
                <a:solidFill>
                  <a:srgbClr val="788296"/>
                </a:solidFill>
                <a:latin typeface="Calibri"/>
              </a:rPr>
              <a:t>Video link: SIH Grand Finale Submission Portal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73" id="73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472830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142" r="0" b="-32614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8472830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759916" y="3778472"/>
            <a:ext cx="6368910" cy="508064"/>
            <a:chOff x="0" y="0"/>
            <a:chExt cx="8491880" cy="67741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91855" cy="677418"/>
            </a:xfrm>
            <a:custGeom>
              <a:avLst/>
              <a:gdLst/>
              <a:ahLst/>
              <a:cxnLst/>
              <a:rect r="r" b="b" t="t" l="l"/>
              <a:pathLst>
                <a:path h="677418" w="8491855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8341360" y="0"/>
                  </a:lnTo>
                  <a:cubicBezTo>
                    <a:pt x="8424545" y="0"/>
                    <a:pt x="8491855" y="67437"/>
                    <a:pt x="8491855" y="150495"/>
                  </a:cubicBezTo>
                  <a:lnTo>
                    <a:pt x="8491855" y="526923"/>
                  </a:lnTo>
                  <a:cubicBezTo>
                    <a:pt x="8491855" y="610108"/>
                    <a:pt x="8424418" y="677418"/>
                    <a:pt x="8341360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80" id="80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85" id="8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59916" y="4848320"/>
            <a:ext cx="3088729" cy="508064"/>
            <a:chOff x="0" y="0"/>
            <a:chExt cx="4118305" cy="677418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9" tooltip="https://phoenix-sar-uav.vercel.app"/>
                </a:rPr>
                <a:t>phoenix-sar-uav.vercel.app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4040098" y="4848320"/>
            <a:ext cx="3088729" cy="508064"/>
            <a:chOff x="0" y="0"/>
            <a:chExt cx="4118305" cy="67741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sz="1400">
                  <a:solidFill>
                    <a:srgbClr val="1B55E2"/>
                  </a:solidFill>
                  <a:latin typeface="Calibri"/>
                </a:rPr>
                <a:t>github.com/jvstin47/Phoenix-SIH26177-SAR-UAV</a:t>
              </a:r>
            </a:p>
          </p:txBody>
        </p:sp>
      </p:grpSp>
      <p:sp>
        <p:nvSpPr>
          <p:cNvPr name="AutoShape 99" id="99"/>
          <p:cNvSpPr/>
          <p:nvPr/>
        </p:nvSpPr>
        <p:spPr>
          <a:xfrm rot="10260">
            <a:off x="10757525" y="5509070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0" id="100"/>
          <p:cNvGrpSpPr/>
          <p:nvPr/>
        </p:nvGrpSpPr>
        <p:grpSpPr>
          <a:xfrm rot="0">
            <a:off x="10767060" y="5613831"/>
            <a:ext cx="6354623" cy="367466"/>
            <a:chOff x="0" y="0"/>
            <a:chExt cx="8472830" cy="48995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0767060" y="5988354"/>
            <a:ext cx="6354623" cy="1038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9"/>
              </a:lnSpc>
              <a:spcAft>
                <a:spcPts val="200"/>
              </a:spcAft>
            </a:pPr>
            <a:r>
              <a:rPr sz="1350" b="0" i="0">
                <a:solidFill>
                  <a:srgbClr val="1E2638"/>
                </a:solidFill>
                <a:latin typeface="Calibri"/>
              </a:rPr>
              <a:t>1. docs/research_papers_synthesis_2026.md</a:t>
            </a:r>
          </a:p>
          <a:p>
            <a:pPr>
              <a:spcAft>
                <a:spcPts val="200"/>
              </a:spcAft>
            </a:pPr>
            <a:r>
              <a:rPr sz="1350" b="0" i="0">
                <a:solidFill>
                  <a:srgbClr val="1E2638"/>
                </a:solidFill>
                <a:latin typeface="Calibri"/>
              </a:rPr>
              <a:t>2. docs/prototype_bom_and_financial_viability.md</a:t>
            </a:r>
          </a:p>
          <a:p>
            <a:pPr>
              <a:spcAft>
                <a:spcPts val="200"/>
              </a:spcAft>
            </a:pPr>
            <a:r>
              <a:rPr sz="1350" b="0" i="0">
                <a:solidFill>
                  <a:srgbClr val="1E2638"/>
                </a:solidFill>
                <a:latin typeface="Calibri"/>
              </a:rPr>
              <a:t>3. docs/ros_lora_mission_critical_uav_swarm_research.md</a:t>
            </a:r>
          </a:p>
          <a:p>
            <a:pPr>
              <a:spcAft>
                <a:spcPts val="200"/>
              </a:spcAft>
            </a:pPr>
            <a:r>
              <a:rPr sz="1350" b="0" i="0">
                <a:solidFill>
                  <a:srgbClr val="1E2638"/>
                </a:solidFill>
                <a:latin typeface="Calibri"/>
              </a:rPr>
              <a:t>4. docs/hardware_viva_defense_guide.md</a:t>
            </a:r>
          </a:p>
        </p:txBody>
      </p:sp>
      <p:sp>
        <p:nvSpPr>
          <p:cNvPr name="AutoShape 104" id="104"/>
          <p:cNvSpPr/>
          <p:nvPr/>
        </p:nvSpPr>
        <p:spPr>
          <a:xfrm>
            <a:off x="10767074" y="7088723"/>
            <a:ext cx="6373673" cy="19022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5" id="105"/>
          <p:cNvGrpSpPr/>
          <p:nvPr/>
        </p:nvGrpSpPr>
        <p:grpSpPr>
          <a:xfrm rot="0">
            <a:off x="10757540" y="7160133"/>
            <a:ext cx="6354623" cy="367466"/>
            <a:chOff x="0" y="0"/>
            <a:chExt cx="8472830" cy="48995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57540" y="7612761"/>
            <a:ext cx="274320" cy="274320"/>
            <a:chOff x="0" y="0"/>
            <a:chExt cx="365760" cy="36576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0819262" y="7674483"/>
            <a:ext cx="150876" cy="150876"/>
            <a:chOff x="0" y="0"/>
            <a:chExt cx="201168" cy="201168"/>
          </a:xfrm>
        </p:grpSpPr>
        <p:sp>
          <p:nvSpPr>
            <p:cNvPr name="Freeform 111" id="111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196452" y="7571613"/>
            <a:ext cx="5915711" cy="356616"/>
            <a:chOff x="0" y="0"/>
            <a:chExt cx="7887614" cy="47548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0757540" y="7983093"/>
            <a:ext cx="274320" cy="274320"/>
            <a:chOff x="0" y="0"/>
            <a:chExt cx="365760" cy="3657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819262" y="8044815"/>
            <a:ext cx="150876" cy="150876"/>
            <a:chOff x="0" y="0"/>
            <a:chExt cx="201168" cy="201168"/>
          </a:xfrm>
        </p:grpSpPr>
        <p:sp>
          <p:nvSpPr>
            <p:cNvPr name="Freeform 118" id="11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196452" y="7941945"/>
            <a:ext cx="5915711" cy="356616"/>
            <a:chOff x="0" y="0"/>
            <a:chExt cx="7887614" cy="47548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757540" y="8353425"/>
            <a:ext cx="274320" cy="274320"/>
            <a:chOff x="0" y="0"/>
            <a:chExt cx="365760" cy="3657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819262" y="8415147"/>
            <a:ext cx="150876" cy="150876"/>
            <a:chOff x="0" y="0"/>
            <a:chExt cx="201168" cy="201168"/>
          </a:xfrm>
        </p:grpSpPr>
        <p:sp>
          <p:nvSpPr>
            <p:cNvPr name="Freeform 125" id="125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196452" y="8312277"/>
            <a:ext cx="5915711" cy="356616"/>
            <a:chOff x="0" y="0"/>
            <a:chExt cx="7887614" cy="47548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0757540" y="8723757"/>
            <a:ext cx="274320" cy="274320"/>
            <a:chOff x="0" y="0"/>
            <a:chExt cx="365760" cy="36576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819262" y="8843153"/>
            <a:ext cx="150876" cy="150876"/>
            <a:chOff x="0" y="0"/>
            <a:chExt cx="201168" cy="201168"/>
          </a:xfrm>
        </p:grpSpPr>
        <p:sp>
          <p:nvSpPr>
            <p:cNvPr name="Freeform 132" id="132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196452" y="8682609"/>
            <a:ext cx="5915711" cy="356616"/>
            <a:chOff x="0" y="0"/>
            <a:chExt cx="7887614" cy="47548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DAHWIHPl_Lg</dc:identifier>
  <dcterms:modified xsi:type="dcterms:W3CDTF">2011-08-01T06:04:30Z</dcterms:modified>
  <cp:revision>1</cp:revision>
  <dc:title>Copy of SIH26177_v6.pptx</dc:title>
</cp:coreProperties>
</file>