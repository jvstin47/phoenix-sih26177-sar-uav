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2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notesMasterIdLst>
    <p:notesMasterId r:id="rId15"/>
  </p:notesMasterIdLst>
  <p:sldIdLst>
    <p:sldId id="256" r:id="rId6"/>
    <p:sldId id="257" r:id="rId7"/>
    <p:sldId id="258" r:id="rId8"/>
    <p:sldId id="259" r:id="rId9"/>
    <p:sldId id="260" r:id="rId10"/>
    <p:sldId id="261" r:id="rId11"/>
  </p:sldIdLst>
  <p:sldSz cx="18288000" cy="10287000"/>
  <p:notesSz cx="6858000" cy="9144000"/>
  <p:embeddedFontLst>
    <p:embeddedFont>
      <p:font typeface="Garamond Bold" charset="1" panose="02020804030307010803"/>
      <p:regular r:id="rId12"/>
    </p:embeddedFont>
    <p:embeddedFont>
      <p:font typeface="Calibri (MS) Bold" charset="1" panose="020F0702030404030204"/>
      <p:regular r:id="rId13"/>
    </p:embeddedFont>
    <p:embeddedFont>
      <p:font typeface="Calibri (MS)" charset="1" panose="020F0502020204030204"/>
      <p:regular r:id="rId14"/>
    </p:embeddedFont>
    <p:embeddedFont>
      <p:font typeface="Times New Roman Bold" charset="1" panose="02020803070505020304"/>
      <p:regular r:id="rId18"/>
    </p:embeddedFont>
    <p:embeddedFont>
      <p:font typeface="Arimo Bold" charset="1" panose="020B0704020202020204"/>
      <p:regular r:id="rId19"/>
    </p:embeddedFont>
    <p:embeddedFont>
      <p:font typeface="Courier New Bold" charset="1" panose="02070609020205020404"/>
      <p:regular r:id="rId24"/>
    </p:embeddedFont>
    <p:embeddedFont>
      <p:font typeface="Calibri (MS) Italics" charset="1" panose="020F05020202040A0204"/>
      <p:regular r:id="rId25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esProps" Target="presProps.xml"/><Relationship Id="rId3" Type="http://schemas.openxmlformats.org/officeDocument/2006/relationships/viewProps" Target="viewProps.xml"/><Relationship Id="rId4" Type="http://schemas.openxmlformats.org/officeDocument/2006/relationships/theme" Target="theme/theme1.xml"/><Relationship Id="rId5" Type="http://schemas.openxmlformats.org/officeDocument/2006/relationships/tableStyles" Target="tableStyles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font" Target="fonts/font12.fntdata"/><Relationship Id="rId13" Type="http://schemas.openxmlformats.org/officeDocument/2006/relationships/font" Target="fonts/font13.fntdata"/><Relationship Id="rId14" Type="http://schemas.openxmlformats.org/officeDocument/2006/relationships/font" Target="fonts/font14.fntdata"/><Relationship Id="rId15" Type="http://schemas.openxmlformats.org/officeDocument/2006/relationships/notesMaster" Target="notesMasters/notesMaster1.xml"/><Relationship Id="rId16" Type="http://schemas.openxmlformats.org/officeDocument/2006/relationships/theme" Target="theme/theme2.xml"/><Relationship Id="rId17" Type="http://schemas.openxmlformats.org/officeDocument/2006/relationships/notesSlide" Target="notesSlides/notesSlide1.xml"/><Relationship Id="rId18" Type="http://schemas.openxmlformats.org/officeDocument/2006/relationships/font" Target="fonts/font18.fntdata"/><Relationship Id="rId19" Type="http://schemas.openxmlformats.org/officeDocument/2006/relationships/font" Target="fonts/font19.fntdata"/><Relationship Id="rId20" Type="http://schemas.openxmlformats.org/officeDocument/2006/relationships/notesSlide" Target="notesSlides/notesSlide2.xml"/><Relationship Id="rId21" Type="http://schemas.openxmlformats.org/officeDocument/2006/relationships/notesSlide" Target="notesSlides/notesSlide3.xml"/><Relationship Id="rId22" Type="http://schemas.openxmlformats.org/officeDocument/2006/relationships/notesSlide" Target="notesSlides/notesSlide4.xml"/><Relationship Id="rId23" Type="http://schemas.openxmlformats.org/officeDocument/2006/relationships/notesSlide" Target="notesSlides/notesSlide5.xml"/><Relationship Id="rId24" Type="http://schemas.openxmlformats.org/officeDocument/2006/relationships/font" Target="fonts/font24.fntdata"/><Relationship Id="rId25" Type="http://schemas.openxmlformats.org/officeDocument/2006/relationships/font" Target="fonts/font25.fnt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268E1E-0E44-426D-905E-8AD9B19D2182}" type="datetimeFigureOut">
              <a:rPr lang="cs-CZ" smtClean="0"/>
              <a:t>1.7.2013</a:t>
            </a:fld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cs-CZ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B2431-D351-4C6E-A3CF-9DFAC0E3E050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7988891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2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3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4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5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6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image" Target="../media/image3.png"/><Relationship Id="rId5" Type="http://schemas.openxmlformats.org/officeDocument/2006/relationships/image" Target="../media/image4.jpeg"/><Relationship Id="rId6" Type="http://schemas.openxmlformats.org/officeDocument/2006/relationships/image" Target="../media/image5.png"/><Relationship Id="rId7" Type="http://schemas.openxmlformats.org/officeDocument/2006/relationships/image" Target="../media/image6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4.jpeg"/><Relationship Id="rId4" Type="http://schemas.openxmlformats.org/officeDocument/2006/relationships/image" Target="../media/image5.png"/><Relationship Id="rId5" Type="http://schemas.openxmlformats.org/officeDocument/2006/relationships/image" Target="../media/image7.png"/><Relationship Id="rId6" Type="http://schemas.openxmlformats.org/officeDocument/2006/relationships/image" Target="../media/image8.png"/><Relationship Id="rId7" Type="http://schemas.openxmlformats.org/officeDocument/2006/relationships/image" Target="../media/image9.png"/><Relationship Id="rId8" Type="http://schemas.openxmlformats.org/officeDocument/2006/relationships/image" Target="../media/image10.png"/><Relationship Id="rId9" Type="http://schemas.openxmlformats.org/officeDocument/2006/relationships/image" Target="../media/image11.png"/><Relationship Id="rId10" Type="http://schemas.openxmlformats.org/officeDocument/2006/relationships/image" Target="../media/image12.png"/><Relationship Id="rId11" Type="http://schemas.openxmlformats.org/officeDocument/2006/relationships/image" Target="../media/image13.jpe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4.jpeg"/><Relationship Id="rId4" Type="http://schemas.openxmlformats.org/officeDocument/2006/relationships/image" Target="../media/image5.png"/><Relationship Id="rId5" Type="http://schemas.openxmlformats.org/officeDocument/2006/relationships/image" Target="../media/image7.png"/><Relationship Id="rId6" Type="http://schemas.openxmlformats.org/officeDocument/2006/relationships/image" Target="../media/image14.jpeg"/><Relationship Id="rId7" Type="http://schemas.openxmlformats.org/officeDocument/2006/relationships/image" Target="../media/image15.jpe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jpeg"/><Relationship Id="rId4" Type="http://schemas.openxmlformats.org/officeDocument/2006/relationships/image" Target="../media/image5.png"/><Relationship Id="rId5" Type="http://schemas.openxmlformats.org/officeDocument/2006/relationships/image" Target="../media/image7.png"/><Relationship Id="rId6" Type="http://schemas.openxmlformats.org/officeDocument/2006/relationships/image" Target="../media/image16.png"/><Relationship Id="rId7" Type="http://schemas.openxmlformats.org/officeDocument/2006/relationships/image" Target="../media/image17.png"/><Relationship Id="rId8" Type="http://schemas.openxmlformats.org/officeDocument/2006/relationships/image" Target="../media/image18.png"/><Relationship Id="rId9" Type="http://schemas.openxmlformats.org/officeDocument/2006/relationships/image" Target="../media/image19.png"/><Relationship Id="rId10" Type="http://schemas.openxmlformats.org/officeDocument/2006/relationships/image" Target="../media/image20.png"/><Relationship Id="rId11" Type="http://schemas.openxmlformats.org/officeDocument/2006/relationships/image" Target="../media/image2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jpeg"/><Relationship Id="rId4" Type="http://schemas.openxmlformats.org/officeDocument/2006/relationships/image" Target="../media/image5.png"/><Relationship Id="rId5" Type="http://schemas.openxmlformats.org/officeDocument/2006/relationships/image" Target="../media/image7.png"/><Relationship Id="rId6" Type="http://schemas.openxmlformats.org/officeDocument/2006/relationships/image" Target="../media/image22.png"/><Relationship Id="rId7" Type="http://schemas.openxmlformats.org/officeDocument/2006/relationships/image" Target="../media/image23.png"/><Relationship Id="rId8" Type="http://schemas.openxmlformats.org/officeDocument/2006/relationships/image" Target="../media/image24.png"/><Relationship Id="rId9" Type="http://schemas.openxmlformats.org/officeDocument/2006/relationships/image" Target="../media/image2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jpeg"/><Relationship Id="rId4" Type="http://schemas.openxmlformats.org/officeDocument/2006/relationships/image" Target="../media/image5.png"/><Relationship Id="rId5" Type="http://schemas.openxmlformats.org/officeDocument/2006/relationships/image" Target="../media/image7.png"/><Relationship Id="rId6" Type="http://schemas.openxmlformats.org/officeDocument/2006/relationships/image" Target="../media/image26.png"/><Relationship Id="rId7" Type="http://schemas.openxmlformats.org/officeDocument/2006/relationships/image" Target="../media/image27.png"/><Relationship Id="rId8" Type="http://schemas.openxmlformats.org/officeDocument/2006/relationships/image" Target="../media/image28.png"/><Relationship Id="rId9" Type="http://schemas.openxmlformats.org/officeDocument/2006/relationships/hyperlink" Target="https://phoenix-sar-uav.vercel.app" TargetMode="External"/><Relationship Id="rId10" Type="http://schemas.openxmlformats.org/officeDocument/2006/relationships/hyperlink" Target="https://github.com/jvstin47/Phoenix-SIH26177-SAR-UAV" TargetMode="External"/><Relationship Id="rId11" Type="http://schemas.openxmlformats.org/officeDocument/2006/relationships/image" Target="../media/image6.png"/><Relationship Id="rId12" Type="http://schemas.openxmlformats.org/officeDocument/2006/relationships/hyperlink" Target="https://doi.org/10.1109/ACCESS.2026.3730315" TargetMode="External"/><Relationship Id="rId13" Type="http://schemas.openxmlformats.org/officeDocument/2006/relationships/hyperlink" Target="https://doi.org/10.1109/ACCESS.2026.3731317" TargetMode="External"/><Relationship Id="rId14" Type="http://schemas.openxmlformats.org/officeDocument/2006/relationships/hyperlink" Target="https://doi.org/10.1109/ACCESS.2023.3293737" TargetMode="External"/><Relationship Id="rId15" Type="http://schemas.openxmlformats.org/officeDocument/2006/relationships/hyperlink" Target="https://doi.org/10.1016/j.comcom.2020.03.042" TargetMode="External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2591288" y="1783080"/>
            <a:ext cx="4592222" cy="5103419"/>
          </a:xfrm>
          <a:custGeom>
            <a:avLst/>
            <a:gdLst/>
            <a:ahLst/>
            <a:cxnLst/>
            <a:rect r="r" b="b" t="t" l="l"/>
            <a:pathLst>
              <a:path h="5103419" w="4592222">
                <a:moveTo>
                  <a:pt x="0" y="0"/>
                </a:moveTo>
                <a:lnTo>
                  <a:pt x="4592222" y="0"/>
                </a:lnTo>
                <a:lnTo>
                  <a:pt x="4592222" y="5103419"/>
                </a:lnTo>
                <a:lnTo>
                  <a:pt x="0" y="5103419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13777417" y="2638796"/>
            <a:ext cx="3171473" cy="3391976"/>
            <a:chOff x="0" y="0"/>
            <a:chExt cx="4228630" cy="4522635"/>
          </a:xfrm>
        </p:grpSpPr>
        <p:sp>
          <p:nvSpPr>
            <p:cNvPr name="Freeform 4" id="4" descr="Smart India Hackathon light-bulb logo"/>
            <p:cNvSpPr/>
            <p:nvPr/>
          </p:nvSpPr>
          <p:spPr>
            <a:xfrm flipH="false" flipV="false" rot="0">
              <a:off x="0" y="0"/>
              <a:ext cx="4228592" cy="4522597"/>
            </a:xfrm>
            <a:custGeom>
              <a:avLst/>
              <a:gdLst/>
              <a:ahLst/>
              <a:cxnLst/>
              <a:rect r="r" b="b" t="t" l="l"/>
              <a:pathLst>
                <a:path h="4522597" w="4228592">
                  <a:moveTo>
                    <a:pt x="0" y="0"/>
                  </a:moveTo>
                  <a:lnTo>
                    <a:pt x="4228592" y="0"/>
                  </a:lnTo>
                  <a:lnTo>
                    <a:pt x="4228592" y="4522597"/>
                  </a:lnTo>
                  <a:lnTo>
                    <a:pt x="0" y="452259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0" t="0" r="-149478" b="-1"/>
              </a:stretch>
            </a:blipFill>
          </p:spPr>
        </p:sp>
      </p:grpSp>
      <p:grpSp>
        <p:nvGrpSpPr>
          <p:cNvPr name="Group 5" id="5"/>
          <p:cNvGrpSpPr/>
          <p:nvPr/>
        </p:nvGrpSpPr>
        <p:grpSpPr>
          <a:xfrm rot="0">
            <a:off x="496929" y="-790137"/>
            <a:ext cx="15544800" cy="3114675"/>
            <a:chOff x="0" y="0"/>
            <a:chExt cx="20726400" cy="415290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20726400" cy="4152900"/>
            </a:xfrm>
            <a:custGeom>
              <a:avLst/>
              <a:gdLst/>
              <a:ahLst/>
              <a:cxnLst/>
              <a:rect r="r" b="b" t="t" l="l"/>
              <a:pathLst>
                <a:path h="4152900" w="20726400">
                  <a:moveTo>
                    <a:pt x="0" y="0"/>
                  </a:moveTo>
                  <a:lnTo>
                    <a:pt x="20726400" y="0"/>
                  </a:lnTo>
                  <a:lnTo>
                    <a:pt x="20726400" y="4152900"/>
                  </a:lnTo>
                  <a:lnTo>
                    <a:pt x="0" y="4152900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0" t="-47246" r="0" b="-47246"/>
              </a:stretch>
            </a:blipFill>
          </p:spPr>
        </p:sp>
        <p:sp>
          <p:nvSpPr>
            <p:cNvPr name="TextBox 7" id="7"/>
            <p:cNvSpPr txBox="true"/>
            <p:nvPr/>
          </p:nvSpPr>
          <p:spPr>
            <a:xfrm>
              <a:off x="0" y="-19050"/>
              <a:ext cx="20726400" cy="417195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7200"/>
                </a:lnSpc>
              </a:pPr>
              <a:r>
                <a:rPr lang="en-US" sz="6000" b="true">
                  <a:solidFill>
                    <a:srgbClr val="1F497D"/>
                  </a:solidFill>
                  <a:latin typeface="Garamond Bold"/>
                  <a:ea typeface="Garamond Bold"/>
                  <a:cs typeface="Garamond Bold"/>
                  <a:sym typeface="Garamond Bold"/>
                </a:rPr>
                <a:t>SMART INDIA HACKATHON 2026</a:t>
              </a: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14670129" y="2248"/>
            <a:ext cx="3374774" cy="1593504"/>
            <a:chOff x="0" y="0"/>
            <a:chExt cx="4499699" cy="2124672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4499737" cy="2124710"/>
            </a:xfrm>
            <a:custGeom>
              <a:avLst/>
              <a:gdLst/>
              <a:ahLst/>
              <a:cxnLst/>
              <a:rect r="r" b="b" t="t" l="l"/>
              <a:pathLst>
                <a:path h="2124710" w="4499737">
                  <a:moveTo>
                    <a:pt x="0" y="0"/>
                  </a:moveTo>
                  <a:lnTo>
                    <a:pt x="4499737" y="0"/>
                  </a:lnTo>
                  <a:lnTo>
                    <a:pt x="4499737" y="2124710"/>
                  </a:lnTo>
                  <a:lnTo>
                    <a:pt x="0" y="212471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l="0" t="0" r="0" b="1"/>
              </a:stretch>
            </a:blipFill>
          </p:spPr>
        </p:sp>
      </p:grpSp>
      <p:grpSp>
        <p:nvGrpSpPr>
          <p:cNvPr name="Group 10" id="10"/>
          <p:cNvGrpSpPr/>
          <p:nvPr/>
        </p:nvGrpSpPr>
        <p:grpSpPr>
          <a:xfrm rot="0">
            <a:off x="617220" y="1303020"/>
            <a:ext cx="11247120" cy="356616"/>
            <a:chOff x="0" y="0"/>
            <a:chExt cx="14996160" cy="475488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14996158" cy="475488"/>
            </a:xfrm>
            <a:custGeom>
              <a:avLst/>
              <a:gdLst/>
              <a:ahLst/>
              <a:cxnLst/>
              <a:rect r="r" b="b" t="t" l="l"/>
              <a:pathLst>
                <a:path h="475488" w="14996158">
                  <a:moveTo>
                    <a:pt x="0" y="0"/>
                  </a:moveTo>
                  <a:lnTo>
                    <a:pt x="14996158" y="0"/>
                  </a:lnTo>
                  <a:lnTo>
                    <a:pt x="14996158" y="475488"/>
                  </a:lnTo>
                  <a:lnTo>
                    <a:pt x="0" y="475488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0" t="-564528" r="0" b="-564528"/>
              </a:stretch>
            </a:blip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28575"/>
              <a:ext cx="14996160" cy="504063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980"/>
                </a:lnSpc>
              </a:pPr>
              <a:r>
                <a:rPr lang="en-US" b="true" sz="1650" spc="150">
                  <a:solidFill>
                    <a:srgbClr val="B35A0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HARDWARE EDITION  |  MINISTRY OF EDUCATION &amp; QUALCOMM INC.</a:t>
              </a:r>
            </a:p>
          </p:txBody>
        </p:sp>
      </p:grpSp>
      <p:sp>
        <p:nvSpPr>
          <p:cNvPr name="TextBox 13" id="13"/>
          <p:cNvSpPr txBox="true"/>
          <p:nvPr/>
        </p:nvSpPr>
        <p:spPr>
          <a:xfrm rot="0">
            <a:off x="617220" y="1684782"/>
            <a:ext cx="11247120" cy="16344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156"/>
              </a:lnSpc>
            </a:pPr>
            <a:r>
              <a:rPr lang="en-US" sz="5700" b="true">
                <a:solidFill>
                  <a:srgbClr val="1F497D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PROJECT PHOENIX X</a:t>
            </a:r>
          </a:p>
          <a:p>
            <a:pPr algn="l">
              <a:lnSpc>
                <a:spcPts val="6156"/>
              </a:lnSpc>
            </a:pPr>
            <a:r>
              <a:rPr lang="en-US" sz="5700" b="true">
                <a:solidFill>
                  <a:srgbClr val="D9700F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SAR UAV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617220" y="3322320"/>
            <a:ext cx="10835640" cy="7924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79"/>
              </a:lnSpc>
            </a:pPr>
            <a:r>
              <a:rPr lang="en-US" sz="2400">
                <a:solidFill>
                  <a:srgbClr val="566074"/>
                </a:solidFill>
                <a:latin typeface="Calibri (MS)"/>
                <a:ea typeface="Calibri (MS)"/>
                <a:cs typeface="Calibri (MS)"/>
                <a:sym typeface="Calibri (MS)"/>
              </a:rPr>
              <a:t>Dual-Brain Edge-AI Scout for Zero-Infrastructure Disaster Reconnaissance</a:t>
            </a:r>
          </a:p>
        </p:txBody>
      </p:sp>
      <p:grpSp>
        <p:nvGrpSpPr>
          <p:cNvPr name="Group 15" id="15"/>
          <p:cNvGrpSpPr/>
          <p:nvPr/>
        </p:nvGrpSpPr>
        <p:grpSpPr>
          <a:xfrm rot="0">
            <a:off x="610076" y="4135088"/>
            <a:ext cx="10781348" cy="5418392"/>
            <a:chOff x="0" y="0"/>
            <a:chExt cx="14375130" cy="7224522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14375129" cy="7224523"/>
            </a:xfrm>
            <a:custGeom>
              <a:avLst/>
              <a:gdLst/>
              <a:ahLst/>
              <a:cxnLst/>
              <a:rect r="r" b="b" t="t" l="l"/>
              <a:pathLst>
                <a:path h="7224523" w="14375129">
                  <a:moveTo>
                    <a:pt x="0" y="256667"/>
                  </a:moveTo>
                  <a:cubicBezTo>
                    <a:pt x="0" y="114935"/>
                    <a:pt x="114935" y="0"/>
                    <a:pt x="256667" y="0"/>
                  </a:cubicBezTo>
                  <a:lnTo>
                    <a:pt x="14118462" y="0"/>
                  </a:lnTo>
                  <a:cubicBezTo>
                    <a:pt x="14260195" y="0"/>
                    <a:pt x="14375129" y="114935"/>
                    <a:pt x="14375129" y="256667"/>
                  </a:cubicBezTo>
                  <a:lnTo>
                    <a:pt x="14375129" y="6967855"/>
                  </a:lnTo>
                  <a:cubicBezTo>
                    <a:pt x="14375129" y="7109587"/>
                    <a:pt x="14260195" y="7224523"/>
                    <a:pt x="14118462" y="7224523"/>
                  </a:cubicBezTo>
                  <a:lnTo>
                    <a:pt x="256667" y="7224523"/>
                  </a:lnTo>
                  <a:cubicBezTo>
                    <a:pt x="114935" y="7224522"/>
                    <a:pt x="0" y="7109587"/>
                    <a:pt x="0" y="6967855"/>
                  </a:cubicBezTo>
                  <a:close/>
                </a:path>
              </a:pathLst>
            </a:custGeom>
            <a:solidFill>
              <a:srgbClr val="F4F8FC"/>
            </a:solidFill>
            <a:ln w="14288" cap="sq">
              <a:solidFill>
                <a:srgbClr val="D6E1EE"/>
              </a:solidFill>
              <a:prstDash val="solid"/>
              <a:miter/>
            </a:ln>
          </p:spPr>
        </p:sp>
      </p:grpSp>
      <p:grpSp>
        <p:nvGrpSpPr>
          <p:cNvPr name="Group 17" id="17"/>
          <p:cNvGrpSpPr/>
          <p:nvPr/>
        </p:nvGrpSpPr>
        <p:grpSpPr>
          <a:xfrm rot="0">
            <a:off x="1028700" y="4389120"/>
            <a:ext cx="5349240" cy="246888"/>
            <a:chOff x="0" y="0"/>
            <a:chExt cx="7132320" cy="329184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7132320" cy="329184"/>
            </a:xfrm>
            <a:custGeom>
              <a:avLst/>
              <a:gdLst/>
              <a:ahLst/>
              <a:cxnLst/>
              <a:rect r="r" b="b" t="t" l="l"/>
              <a:pathLst>
                <a:path h="329184" w="7132320">
                  <a:moveTo>
                    <a:pt x="0" y="0"/>
                  </a:moveTo>
                  <a:lnTo>
                    <a:pt x="7132320" y="0"/>
                  </a:lnTo>
                  <a:lnTo>
                    <a:pt x="7132320" y="329184"/>
                  </a:lnTo>
                  <a:lnTo>
                    <a:pt x="0" y="329184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0" t="-372175" r="0" b="-372175"/>
              </a:stretch>
            </a:blipFill>
          </p:spPr>
        </p:sp>
        <p:sp>
          <p:nvSpPr>
            <p:cNvPr name="TextBox 19" id="19"/>
            <p:cNvSpPr txBox="true"/>
            <p:nvPr/>
          </p:nvSpPr>
          <p:spPr>
            <a:xfrm>
              <a:off x="0" y="-38100"/>
              <a:ext cx="7132320" cy="36728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709"/>
                </a:lnSpc>
              </a:pPr>
              <a:r>
                <a:rPr lang="en-US" b="true" sz="1425" spc="225">
                  <a:solidFill>
                    <a:srgbClr val="0070C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PROBLEM STATEMENT ID</a:t>
              </a:r>
            </a:p>
          </p:txBody>
        </p:sp>
      </p:grpSp>
      <p:grpSp>
        <p:nvGrpSpPr>
          <p:cNvPr name="Group 20" id="20"/>
          <p:cNvGrpSpPr/>
          <p:nvPr/>
        </p:nvGrpSpPr>
        <p:grpSpPr>
          <a:xfrm rot="0">
            <a:off x="1028700" y="4663440"/>
            <a:ext cx="5349240" cy="603504"/>
            <a:chOff x="0" y="0"/>
            <a:chExt cx="7132320" cy="804672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7132320" cy="804672"/>
            </a:xfrm>
            <a:custGeom>
              <a:avLst/>
              <a:gdLst/>
              <a:ahLst/>
              <a:cxnLst/>
              <a:rect r="r" b="b" t="t" l="l"/>
              <a:pathLst>
                <a:path h="804672" w="7132320">
                  <a:moveTo>
                    <a:pt x="0" y="0"/>
                  </a:moveTo>
                  <a:lnTo>
                    <a:pt x="7132320" y="0"/>
                  </a:lnTo>
                  <a:lnTo>
                    <a:pt x="7132320" y="804672"/>
                  </a:lnTo>
                  <a:lnTo>
                    <a:pt x="0" y="804672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0" t="-122708" r="0" b="-122708"/>
              </a:stretch>
            </a:blipFill>
          </p:spPr>
        </p:sp>
        <p:sp>
          <p:nvSpPr>
            <p:cNvPr name="TextBox 22" id="22"/>
            <p:cNvSpPr txBox="true"/>
            <p:nvPr/>
          </p:nvSpPr>
          <p:spPr>
            <a:xfrm>
              <a:off x="0" y="-66675"/>
              <a:ext cx="7132320" cy="871347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4320"/>
                </a:lnSpc>
              </a:pPr>
              <a:r>
                <a:rPr lang="en-US" sz="3600" b="true">
                  <a:solidFill>
                    <a:srgbClr val="D9700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SIH26177</a:t>
              </a:r>
            </a:p>
          </p:txBody>
        </p:sp>
      </p:grpSp>
      <p:grpSp>
        <p:nvGrpSpPr>
          <p:cNvPr name="Group 23" id="23"/>
          <p:cNvGrpSpPr/>
          <p:nvPr/>
        </p:nvGrpSpPr>
        <p:grpSpPr>
          <a:xfrm rot="0">
            <a:off x="6515100" y="4389120"/>
            <a:ext cx="4526280" cy="246888"/>
            <a:chOff x="0" y="0"/>
            <a:chExt cx="6035040" cy="329184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0" y="0"/>
              <a:ext cx="6035040" cy="329184"/>
            </a:xfrm>
            <a:custGeom>
              <a:avLst/>
              <a:gdLst/>
              <a:ahLst/>
              <a:cxnLst/>
              <a:rect r="r" b="b" t="t" l="l"/>
              <a:pathLst>
                <a:path h="329184" w="6035040">
                  <a:moveTo>
                    <a:pt x="0" y="0"/>
                  </a:moveTo>
                  <a:lnTo>
                    <a:pt x="6035040" y="0"/>
                  </a:lnTo>
                  <a:lnTo>
                    <a:pt x="6035040" y="329184"/>
                  </a:lnTo>
                  <a:lnTo>
                    <a:pt x="0" y="329184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0" t="-307225" r="0" b="-307225"/>
              </a:stretch>
            </a:blipFill>
          </p:spPr>
        </p:sp>
        <p:sp>
          <p:nvSpPr>
            <p:cNvPr name="TextBox 25" id="25"/>
            <p:cNvSpPr txBox="true"/>
            <p:nvPr/>
          </p:nvSpPr>
          <p:spPr>
            <a:xfrm>
              <a:off x="0" y="-38100"/>
              <a:ext cx="6035040" cy="36728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709"/>
                </a:lnSpc>
              </a:pPr>
              <a:r>
                <a:rPr lang="en-US" b="true" sz="1425" spc="225">
                  <a:solidFill>
                    <a:srgbClr val="0070C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THEME</a:t>
              </a:r>
            </a:p>
          </p:txBody>
        </p:sp>
      </p:grpSp>
      <p:grpSp>
        <p:nvGrpSpPr>
          <p:cNvPr name="Group 26" id="26"/>
          <p:cNvGrpSpPr/>
          <p:nvPr/>
        </p:nvGrpSpPr>
        <p:grpSpPr>
          <a:xfrm rot="0">
            <a:off x="6515100" y="4663440"/>
            <a:ext cx="4526280" cy="603504"/>
            <a:chOff x="0" y="0"/>
            <a:chExt cx="6035040" cy="804672"/>
          </a:xfrm>
        </p:grpSpPr>
        <p:sp>
          <p:nvSpPr>
            <p:cNvPr name="Freeform 27" id="27"/>
            <p:cNvSpPr/>
            <p:nvPr/>
          </p:nvSpPr>
          <p:spPr>
            <a:xfrm flipH="false" flipV="false" rot="0">
              <a:off x="0" y="0"/>
              <a:ext cx="6035040" cy="804672"/>
            </a:xfrm>
            <a:custGeom>
              <a:avLst/>
              <a:gdLst/>
              <a:ahLst/>
              <a:cxnLst/>
              <a:rect r="r" b="b" t="t" l="l"/>
              <a:pathLst>
                <a:path h="804672" w="6035040">
                  <a:moveTo>
                    <a:pt x="0" y="0"/>
                  </a:moveTo>
                  <a:lnTo>
                    <a:pt x="6035040" y="0"/>
                  </a:lnTo>
                  <a:lnTo>
                    <a:pt x="6035040" y="804672"/>
                  </a:lnTo>
                  <a:lnTo>
                    <a:pt x="0" y="804672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0" t="-96137" r="0" b="-96137"/>
              </a:stretch>
            </a:blipFill>
          </p:spPr>
        </p:sp>
        <p:sp>
          <p:nvSpPr>
            <p:cNvPr name="TextBox 28" id="28"/>
            <p:cNvSpPr txBox="true"/>
            <p:nvPr/>
          </p:nvSpPr>
          <p:spPr>
            <a:xfrm>
              <a:off x="0" y="-47625"/>
              <a:ext cx="6035040" cy="852297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520"/>
                </a:lnSpc>
              </a:pPr>
              <a:r>
                <a:rPr lang="en-US" sz="2100" b="true">
                  <a:solidFill>
                    <a:srgbClr val="1F497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Robotics and Drones</a:t>
              </a:r>
            </a:p>
          </p:txBody>
        </p:sp>
      </p:grpSp>
      <p:sp>
        <p:nvSpPr>
          <p:cNvPr name="AutoShape 29" id="29"/>
          <p:cNvSpPr/>
          <p:nvPr/>
        </p:nvSpPr>
        <p:spPr>
          <a:xfrm rot="6600">
            <a:off x="1019165" y="5371910"/>
            <a:ext cx="9963169" cy="0"/>
          </a:xfrm>
          <a:prstGeom prst="line">
            <a:avLst/>
          </a:prstGeom>
          <a:ln cap="rnd" w="9525">
            <a:solidFill>
              <a:srgbClr val="D6E1EE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30" id="30"/>
          <p:cNvGrpSpPr/>
          <p:nvPr/>
        </p:nvGrpSpPr>
        <p:grpSpPr>
          <a:xfrm rot="0">
            <a:off x="1028700" y="5513832"/>
            <a:ext cx="9944100" cy="246888"/>
            <a:chOff x="0" y="0"/>
            <a:chExt cx="13258800" cy="329184"/>
          </a:xfrm>
        </p:grpSpPr>
        <p:sp>
          <p:nvSpPr>
            <p:cNvPr name="Freeform 31" id="31"/>
            <p:cNvSpPr/>
            <p:nvPr/>
          </p:nvSpPr>
          <p:spPr>
            <a:xfrm flipH="false" flipV="false" rot="0">
              <a:off x="0" y="0"/>
              <a:ext cx="13258800" cy="329184"/>
            </a:xfrm>
            <a:custGeom>
              <a:avLst/>
              <a:gdLst/>
              <a:ahLst/>
              <a:cxnLst/>
              <a:rect r="r" b="b" t="t" l="l"/>
              <a:pathLst>
                <a:path h="329184" w="13258800">
                  <a:moveTo>
                    <a:pt x="0" y="0"/>
                  </a:moveTo>
                  <a:lnTo>
                    <a:pt x="13258800" y="0"/>
                  </a:lnTo>
                  <a:lnTo>
                    <a:pt x="13258800" y="329184"/>
                  </a:lnTo>
                  <a:lnTo>
                    <a:pt x="0" y="329184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0" t="-734814" r="0" b="-734814"/>
              </a:stretch>
            </a:blipFill>
          </p:spPr>
        </p:sp>
        <p:sp>
          <p:nvSpPr>
            <p:cNvPr name="TextBox 32" id="32"/>
            <p:cNvSpPr txBox="true"/>
            <p:nvPr/>
          </p:nvSpPr>
          <p:spPr>
            <a:xfrm>
              <a:off x="0" y="-38100"/>
              <a:ext cx="13258800" cy="36728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709"/>
                </a:lnSpc>
              </a:pPr>
              <a:r>
                <a:rPr lang="en-US" b="true" sz="1425" spc="225">
                  <a:solidFill>
                    <a:srgbClr val="0070C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PROBLEM STATEMENT TITLE</a:t>
              </a:r>
            </a:p>
          </p:txBody>
        </p:sp>
      </p:grpSp>
      <p:sp>
        <p:nvSpPr>
          <p:cNvPr name="TextBox 33" id="33"/>
          <p:cNvSpPr txBox="true"/>
          <p:nvPr/>
        </p:nvSpPr>
        <p:spPr>
          <a:xfrm rot="0">
            <a:off x="1028700" y="5763768"/>
            <a:ext cx="9944100" cy="61417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070"/>
              </a:lnSpc>
            </a:pPr>
            <a:r>
              <a:rPr lang="en-US" sz="1725">
                <a:solidFill>
                  <a:srgbClr val="B42318"/>
                </a:solidFill>
                <a:latin typeface="Calibri (MS)"/>
                <a:ea typeface="Calibri (MS)"/>
                <a:cs typeface="Calibri (MS)"/>
                <a:sym typeface="Calibri (MS)"/>
              </a:rPr>
              <a:t>A deployable AI-powered autonomous drone that aids search-and-rescue operations by detecting people and hazards, thereby improving responder safety and reducing victim discovery time.</a:t>
            </a:r>
          </a:p>
        </p:txBody>
      </p:sp>
      <p:sp>
        <p:nvSpPr>
          <p:cNvPr name="AutoShape 34" id="34"/>
          <p:cNvSpPr/>
          <p:nvPr/>
        </p:nvSpPr>
        <p:spPr>
          <a:xfrm rot="6600">
            <a:off x="1019165" y="6510338"/>
            <a:ext cx="9963169" cy="0"/>
          </a:xfrm>
          <a:prstGeom prst="line">
            <a:avLst/>
          </a:prstGeom>
          <a:ln cap="rnd" w="9525">
            <a:solidFill>
              <a:srgbClr val="D6E1EE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35" id="35"/>
          <p:cNvGrpSpPr/>
          <p:nvPr/>
        </p:nvGrpSpPr>
        <p:grpSpPr>
          <a:xfrm rot="0">
            <a:off x="1028700" y="6652260"/>
            <a:ext cx="5349240" cy="246888"/>
            <a:chOff x="0" y="0"/>
            <a:chExt cx="7132320" cy="329184"/>
          </a:xfrm>
        </p:grpSpPr>
        <p:sp>
          <p:nvSpPr>
            <p:cNvPr name="Freeform 36" id="36"/>
            <p:cNvSpPr/>
            <p:nvPr/>
          </p:nvSpPr>
          <p:spPr>
            <a:xfrm flipH="false" flipV="false" rot="0">
              <a:off x="0" y="0"/>
              <a:ext cx="7132320" cy="329184"/>
            </a:xfrm>
            <a:custGeom>
              <a:avLst/>
              <a:gdLst/>
              <a:ahLst/>
              <a:cxnLst/>
              <a:rect r="r" b="b" t="t" l="l"/>
              <a:pathLst>
                <a:path h="329184" w="7132320">
                  <a:moveTo>
                    <a:pt x="0" y="0"/>
                  </a:moveTo>
                  <a:lnTo>
                    <a:pt x="7132320" y="0"/>
                  </a:lnTo>
                  <a:lnTo>
                    <a:pt x="7132320" y="329184"/>
                  </a:lnTo>
                  <a:lnTo>
                    <a:pt x="0" y="329184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0" t="-372175" r="0" b="-372175"/>
              </a:stretch>
            </a:blipFill>
          </p:spPr>
        </p:sp>
        <p:sp>
          <p:nvSpPr>
            <p:cNvPr name="TextBox 37" id="37"/>
            <p:cNvSpPr txBox="true"/>
            <p:nvPr/>
          </p:nvSpPr>
          <p:spPr>
            <a:xfrm>
              <a:off x="0" y="-38100"/>
              <a:ext cx="7132320" cy="36728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709"/>
                </a:lnSpc>
              </a:pPr>
              <a:r>
                <a:rPr lang="en-US" b="true" sz="1425" spc="225">
                  <a:solidFill>
                    <a:srgbClr val="0070C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SPONSORING ORGANIZATION</a:t>
              </a:r>
            </a:p>
          </p:txBody>
        </p:sp>
      </p:grpSp>
      <p:grpSp>
        <p:nvGrpSpPr>
          <p:cNvPr name="Group 38" id="38"/>
          <p:cNvGrpSpPr/>
          <p:nvPr/>
        </p:nvGrpSpPr>
        <p:grpSpPr>
          <a:xfrm rot="0">
            <a:off x="6515100" y="6652260"/>
            <a:ext cx="4526280" cy="246888"/>
            <a:chOff x="0" y="0"/>
            <a:chExt cx="6035040" cy="329184"/>
          </a:xfrm>
        </p:grpSpPr>
        <p:sp>
          <p:nvSpPr>
            <p:cNvPr name="Freeform 39" id="39"/>
            <p:cNvSpPr/>
            <p:nvPr/>
          </p:nvSpPr>
          <p:spPr>
            <a:xfrm flipH="false" flipV="false" rot="0">
              <a:off x="0" y="0"/>
              <a:ext cx="6035040" cy="329184"/>
            </a:xfrm>
            <a:custGeom>
              <a:avLst/>
              <a:gdLst/>
              <a:ahLst/>
              <a:cxnLst/>
              <a:rect r="r" b="b" t="t" l="l"/>
              <a:pathLst>
                <a:path h="329184" w="6035040">
                  <a:moveTo>
                    <a:pt x="0" y="0"/>
                  </a:moveTo>
                  <a:lnTo>
                    <a:pt x="6035040" y="0"/>
                  </a:lnTo>
                  <a:lnTo>
                    <a:pt x="6035040" y="329184"/>
                  </a:lnTo>
                  <a:lnTo>
                    <a:pt x="0" y="329184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0" t="-307225" r="0" b="-307225"/>
              </a:stretch>
            </a:blipFill>
          </p:spPr>
        </p:sp>
        <p:sp>
          <p:nvSpPr>
            <p:cNvPr name="TextBox 40" id="40"/>
            <p:cNvSpPr txBox="true"/>
            <p:nvPr/>
          </p:nvSpPr>
          <p:spPr>
            <a:xfrm>
              <a:off x="0" y="-38100"/>
              <a:ext cx="6035040" cy="36728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709"/>
                </a:lnSpc>
              </a:pPr>
              <a:r>
                <a:rPr lang="en-US" b="true" sz="1425" spc="225">
                  <a:solidFill>
                    <a:srgbClr val="0070C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CATEGORY</a:t>
              </a:r>
            </a:p>
          </p:txBody>
        </p:sp>
      </p:grpSp>
      <p:grpSp>
        <p:nvGrpSpPr>
          <p:cNvPr name="Group 41" id="41"/>
          <p:cNvGrpSpPr/>
          <p:nvPr/>
        </p:nvGrpSpPr>
        <p:grpSpPr>
          <a:xfrm rot="0">
            <a:off x="1028700" y="6926580"/>
            <a:ext cx="5349240" cy="411480"/>
            <a:chOff x="0" y="0"/>
            <a:chExt cx="7132320" cy="548640"/>
          </a:xfrm>
        </p:grpSpPr>
        <p:sp>
          <p:nvSpPr>
            <p:cNvPr name="Freeform 42" id="42"/>
            <p:cNvSpPr/>
            <p:nvPr/>
          </p:nvSpPr>
          <p:spPr>
            <a:xfrm flipH="false" flipV="false" rot="0">
              <a:off x="0" y="0"/>
              <a:ext cx="7132320" cy="548640"/>
            </a:xfrm>
            <a:custGeom>
              <a:avLst/>
              <a:gdLst/>
              <a:ahLst/>
              <a:cxnLst/>
              <a:rect r="r" b="b" t="t" l="l"/>
              <a:pathLst>
                <a:path h="548640" w="7132320">
                  <a:moveTo>
                    <a:pt x="0" y="0"/>
                  </a:moveTo>
                  <a:lnTo>
                    <a:pt x="7132320" y="0"/>
                  </a:lnTo>
                  <a:lnTo>
                    <a:pt x="713232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0" t="-203305" r="0" b="-203305"/>
              </a:stretch>
            </a:blipFill>
          </p:spPr>
        </p:sp>
        <p:sp>
          <p:nvSpPr>
            <p:cNvPr name="TextBox 43" id="43"/>
            <p:cNvSpPr txBox="true"/>
            <p:nvPr/>
          </p:nvSpPr>
          <p:spPr>
            <a:xfrm>
              <a:off x="0" y="-47625"/>
              <a:ext cx="7132320" cy="59626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520"/>
                </a:lnSpc>
              </a:pPr>
              <a:r>
                <a:rPr lang="en-US" sz="2100" b="true">
                  <a:solidFill>
                    <a:srgbClr val="1F497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Qualcomm Inc.</a:t>
              </a:r>
            </a:p>
          </p:txBody>
        </p:sp>
      </p:grpSp>
      <p:grpSp>
        <p:nvGrpSpPr>
          <p:cNvPr name="Group 44" id="44"/>
          <p:cNvGrpSpPr/>
          <p:nvPr/>
        </p:nvGrpSpPr>
        <p:grpSpPr>
          <a:xfrm rot="0">
            <a:off x="6515100" y="6926580"/>
            <a:ext cx="4526280" cy="411480"/>
            <a:chOff x="0" y="0"/>
            <a:chExt cx="6035040" cy="548640"/>
          </a:xfrm>
        </p:grpSpPr>
        <p:sp>
          <p:nvSpPr>
            <p:cNvPr name="Freeform 45" id="45"/>
            <p:cNvSpPr/>
            <p:nvPr/>
          </p:nvSpPr>
          <p:spPr>
            <a:xfrm flipH="false" flipV="false" rot="0">
              <a:off x="0" y="0"/>
              <a:ext cx="6035040" cy="548640"/>
            </a:xfrm>
            <a:custGeom>
              <a:avLst/>
              <a:gdLst/>
              <a:ahLst/>
              <a:cxnLst/>
              <a:rect r="r" b="b" t="t" l="l"/>
              <a:pathLst>
                <a:path h="548640" w="6035040">
                  <a:moveTo>
                    <a:pt x="0" y="0"/>
                  </a:moveTo>
                  <a:lnTo>
                    <a:pt x="6035040" y="0"/>
                  </a:lnTo>
                  <a:lnTo>
                    <a:pt x="603504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0" t="-164335" r="0" b="-164335"/>
              </a:stretch>
            </a:blipFill>
          </p:spPr>
        </p:sp>
        <p:sp>
          <p:nvSpPr>
            <p:cNvPr name="TextBox 46" id="46"/>
            <p:cNvSpPr txBox="true"/>
            <p:nvPr/>
          </p:nvSpPr>
          <p:spPr>
            <a:xfrm>
              <a:off x="0" y="-47625"/>
              <a:ext cx="6035040" cy="59626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520"/>
                </a:lnSpc>
              </a:pPr>
              <a:r>
                <a:rPr lang="en-US" sz="2100" b="true">
                  <a:solidFill>
                    <a:srgbClr val="1F497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Hardware</a:t>
              </a:r>
            </a:p>
          </p:txBody>
        </p:sp>
      </p:grpSp>
      <p:sp>
        <p:nvSpPr>
          <p:cNvPr name="AutoShape 47" id="47"/>
          <p:cNvSpPr/>
          <p:nvPr/>
        </p:nvSpPr>
        <p:spPr>
          <a:xfrm rot="6600">
            <a:off x="1019165" y="7470457"/>
            <a:ext cx="9963169" cy="0"/>
          </a:xfrm>
          <a:prstGeom prst="line">
            <a:avLst/>
          </a:prstGeom>
          <a:ln cap="rnd" w="9525">
            <a:solidFill>
              <a:srgbClr val="D6E1EE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48" id="48"/>
          <p:cNvGrpSpPr/>
          <p:nvPr/>
        </p:nvGrpSpPr>
        <p:grpSpPr>
          <a:xfrm rot="0">
            <a:off x="1028700" y="7612380"/>
            <a:ext cx="5349240" cy="246888"/>
            <a:chOff x="0" y="0"/>
            <a:chExt cx="7132320" cy="329184"/>
          </a:xfrm>
        </p:grpSpPr>
        <p:sp>
          <p:nvSpPr>
            <p:cNvPr name="Freeform 49" id="49"/>
            <p:cNvSpPr/>
            <p:nvPr/>
          </p:nvSpPr>
          <p:spPr>
            <a:xfrm flipH="false" flipV="false" rot="0">
              <a:off x="0" y="0"/>
              <a:ext cx="7132320" cy="329184"/>
            </a:xfrm>
            <a:custGeom>
              <a:avLst/>
              <a:gdLst/>
              <a:ahLst/>
              <a:cxnLst/>
              <a:rect r="r" b="b" t="t" l="l"/>
              <a:pathLst>
                <a:path h="329184" w="7132320">
                  <a:moveTo>
                    <a:pt x="0" y="0"/>
                  </a:moveTo>
                  <a:lnTo>
                    <a:pt x="7132320" y="0"/>
                  </a:lnTo>
                  <a:lnTo>
                    <a:pt x="7132320" y="329184"/>
                  </a:lnTo>
                  <a:lnTo>
                    <a:pt x="0" y="329184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0" t="-372175" r="0" b="-372175"/>
              </a:stretch>
            </a:blipFill>
          </p:spPr>
        </p:sp>
        <p:sp>
          <p:nvSpPr>
            <p:cNvPr name="TextBox 50" id="50"/>
            <p:cNvSpPr txBox="true"/>
            <p:nvPr/>
          </p:nvSpPr>
          <p:spPr>
            <a:xfrm>
              <a:off x="0" y="-38100"/>
              <a:ext cx="7132320" cy="36728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709"/>
                </a:lnSpc>
              </a:pPr>
              <a:r>
                <a:rPr lang="en-US" b="true" sz="1425" spc="225">
                  <a:solidFill>
                    <a:srgbClr val="0070C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TEAM NAME</a:t>
              </a:r>
            </a:p>
          </p:txBody>
        </p:sp>
      </p:grpSp>
      <p:grpSp>
        <p:nvGrpSpPr>
          <p:cNvPr name="Group 51" id="51"/>
          <p:cNvGrpSpPr/>
          <p:nvPr/>
        </p:nvGrpSpPr>
        <p:grpSpPr>
          <a:xfrm rot="0">
            <a:off x="6515100" y="7612380"/>
            <a:ext cx="4526280" cy="246888"/>
            <a:chOff x="0" y="0"/>
            <a:chExt cx="6035040" cy="329184"/>
          </a:xfrm>
        </p:grpSpPr>
        <p:sp>
          <p:nvSpPr>
            <p:cNvPr name="Freeform 52" id="52"/>
            <p:cNvSpPr/>
            <p:nvPr/>
          </p:nvSpPr>
          <p:spPr>
            <a:xfrm flipH="false" flipV="false" rot="0">
              <a:off x="0" y="0"/>
              <a:ext cx="6035040" cy="329184"/>
            </a:xfrm>
            <a:custGeom>
              <a:avLst/>
              <a:gdLst/>
              <a:ahLst/>
              <a:cxnLst/>
              <a:rect r="r" b="b" t="t" l="l"/>
              <a:pathLst>
                <a:path h="329184" w="6035040">
                  <a:moveTo>
                    <a:pt x="0" y="0"/>
                  </a:moveTo>
                  <a:lnTo>
                    <a:pt x="6035040" y="0"/>
                  </a:lnTo>
                  <a:lnTo>
                    <a:pt x="6035040" y="329184"/>
                  </a:lnTo>
                  <a:lnTo>
                    <a:pt x="0" y="329184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0" t="-307225" r="0" b="-307225"/>
              </a:stretch>
            </a:blipFill>
          </p:spPr>
        </p:sp>
        <p:sp>
          <p:nvSpPr>
            <p:cNvPr name="TextBox 53" id="53"/>
            <p:cNvSpPr txBox="true"/>
            <p:nvPr/>
          </p:nvSpPr>
          <p:spPr>
            <a:xfrm>
              <a:off x="0" y="-38100"/>
              <a:ext cx="6035040" cy="36728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709"/>
                </a:lnSpc>
              </a:pPr>
              <a:r>
                <a:rPr lang="en-US" b="true" sz="1425" spc="225">
                  <a:solidFill>
                    <a:srgbClr val="0070C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TEAM ID</a:t>
              </a:r>
            </a:p>
          </p:txBody>
        </p:sp>
      </p:grpSp>
      <p:grpSp>
        <p:nvGrpSpPr>
          <p:cNvPr name="Group 54" id="54"/>
          <p:cNvGrpSpPr/>
          <p:nvPr/>
        </p:nvGrpSpPr>
        <p:grpSpPr>
          <a:xfrm rot="0">
            <a:off x="1028700" y="7886700"/>
            <a:ext cx="5349240" cy="411480"/>
            <a:chOff x="0" y="0"/>
            <a:chExt cx="7132320" cy="548640"/>
          </a:xfrm>
        </p:grpSpPr>
        <p:sp>
          <p:nvSpPr>
            <p:cNvPr name="Freeform 55" id="55"/>
            <p:cNvSpPr/>
            <p:nvPr/>
          </p:nvSpPr>
          <p:spPr>
            <a:xfrm flipH="false" flipV="false" rot="0">
              <a:off x="0" y="0"/>
              <a:ext cx="7132320" cy="548640"/>
            </a:xfrm>
            <a:custGeom>
              <a:avLst/>
              <a:gdLst/>
              <a:ahLst/>
              <a:cxnLst/>
              <a:rect r="r" b="b" t="t" l="l"/>
              <a:pathLst>
                <a:path h="548640" w="7132320">
                  <a:moveTo>
                    <a:pt x="0" y="0"/>
                  </a:moveTo>
                  <a:lnTo>
                    <a:pt x="7132320" y="0"/>
                  </a:lnTo>
                  <a:lnTo>
                    <a:pt x="713232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0" t="-203305" r="0" b="-203305"/>
              </a:stretch>
            </a:blipFill>
          </p:spPr>
        </p:sp>
        <p:sp>
          <p:nvSpPr>
            <p:cNvPr name="TextBox 56" id="56"/>
            <p:cNvSpPr txBox="true"/>
            <p:nvPr/>
          </p:nvSpPr>
          <p:spPr>
            <a:xfrm>
              <a:off x="0" y="-47625"/>
              <a:ext cx="7132320" cy="59626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520"/>
                </a:lnSpc>
              </a:pPr>
              <a:r>
                <a:rPr lang="en-US" sz="2100" b="true">
                  <a:solidFill>
                    <a:srgbClr val="1F497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Phoenix X</a:t>
              </a:r>
            </a:p>
          </p:txBody>
        </p:sp>
      </p:grpSp>
      <p:grpSp>
        <p:nvGrpSpPr>
          <p:cNvPr name="Group 57" id="57"/>
          <p:cNvGrpSpPr/>
          <p:nvPr/>
        </p:nvGrpSpPr>
        <p:grpSpPr>
          <a:xfrm rot="0">
            <a:off x="6515100" y="7886700"/>
            <a:ext cx="4526280" cy="411480"/>
            <a:chOff x="0" y="0"/>
            <a:chExt cx="6035040" cy="548640"/>
          </a:xfrm>
        </p:grpSpPr>
        <p:sp>
          <p:nvSpPr>
            <p:cNvPr name="Freeform 58" id="58"/>
            <p:cNvSpPr/>
            <p:nvPr/>
          </p:nvSpPr>
          <p:spPr>
            <a:xfrm flipH="false" flipV="false" rot="0">
              <a:off x="0" y="0"/>
              <a:ext cx="6035040" cy="548640"/>
            </a:xfrm>
            <a:custGeom>
              <a:avLst/>
              <a:gdLst/>
              <a:ahLst/>
              <a:cxnLst/>
              <a:rect r="r" b="b" t="t" l="l"/>
              <a:pathLst>
                <a:path h="548640" w="6035040">
                  <a:moveTo>
                    <a:pt x="0" y="0"/>
                  </a:moveTo>
                  <a:lnTo>
                    <a:pt x="6035040" y="0"/>
                  </a:lnTo>
                  <a:lnTo>
                    <a:pt x="603504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0" t="-164335" r="0" b="-164335"/>
              </a:stretch>
            </a:blipFill>
          </p:spPr>
        </p:sp>
        <p:sp>
          <p:nvSpPr>
            <p:cNvPr name="TextBox 59" id="59"/>
            <p:cNvSpPr txBox="true"/>
            <p:nvPr/>
          </p:nvSpPr>
          <p:spPr>
            <a:xfrm>
              <a:off x="0" y="-47625"/>
              <a:ext cx="6035040" cy="59626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520"/>
                </a:lnSpc>
              </a:pPr>
              <a:r>
                <a:rPr lang="en-US" sz="2100" b="true">
                  <a:solidFill>
                    <a:srgbClr val="1F497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141943</a:t>
              </a:r>
            </a:p>
          </p:txBody>
        </p:sp>
      </p:grpSp>
      <p:sp>
        <p:nvSpPr>
          <p:cNvPr name="AutoShape 60" id="60"/>
          <p:cNvSpPr/>
          <p:nvPr/>
        </p:nvSpPr>
        <p:spPr>
          <a:xfrm rot="6600">
            <a:off x="1019165" y="8430578"/>
            <a:ext cx="9963169" cy="0"/>
          </a:xfrm>
          <a:prstGeom prst="line">
            <a:avLst/>
          </a:prstGeom>
          <a:ln cap="rnd" w="9525">
            <a:solidFill>
              <a:srgbClr val="D6E1EE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61" id="61"/>
          <p:cNvGrpSpPr/>
          <p:nvPr/>
        </p:nvGrpSpPr>
        <p:grpSpPr>
          <a:xfrm rot="0">
            <a:off x="1028700" y="8572500"/>
            <a:ext cx="5349240" cy="279820"/>
            <a:chOff x="0" y="0"/>
            <a:chExt cx="7132320" cy="373094"/>
          </a:xfrm>
        </p:grpSpPr>
        <p:sp>
          <p:nvSpPr>
            <p:cNvPr name="Freeform 62" id="62"/>
            <p:cNvSpPr/>
            <p:nvPr/>
          </p:nvSpPr>
          <p:spPr>
            <a:xfrm flipH="false" flipV="false" rot="0">
              <a:off x="0" y="0"/>
              <a:ext cx="7132320" cy="373094"/>
            </a:xfrm>
            <a:custGeom>
              <a:avLst/>
              <a:gdLst/>
              <a:ahLst/>
              <a:cxnLst/>
              <a:rect r="r" b="b" t="t" l="l"/>
              <a:pathLst>
                <a:path h="373094" w="7132320">
                  <a:moveTo>
                    <a:pt x="0" y="0"/>
                  </a:moveTo>
                  <a:lnTo>
                    <a:pt x="7132320" y="0"/>
                  </a:lnTo>
                  <a:lnTo>
                    <a:pt x="7132320" y="373094"/>
                  </a:lnTo>
                  <a:lnTo>
                    <a:pt x="0" y="373094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0" t="-328374" r="0" b="-316605"/>
              </a:stretch>
            </a:blipFill>
          </p:spPr>
        </p:sp>
        <p:sp>
          <p:nvSpPr>
            <p:cNvPr name="TextBox 63" id="63"/>
            <p:cNvSpPr txBox="true"/>
            <p:nvPr/>
          </p:nvSpPr>
          <p:spPr>
            <a:xfrm>
              <a:off x="0" y="-38100"/>
              <a:ext cx="7132320" cy="41119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709"/>
                </a:lnSpc>
              </a:pPr>
              <a:r>
                <a:rPr lang="en-US" b="true" sz="1425" spc="225">
                  <a:solidFill>
                    <a:srgbClr val="0070C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WEB DEMO</a:t>
              </a:r>
            </a:p>
          </p:txBody>
        </p:sp>
      </p:grpSp>
      <p:grpSp>
        <p:nvGrpSpPr>
          <p:cNvPr name="Group 64" id="64"/>
          <p:cNvGrpSpPr/>
          <p:nvPr/>
        </p:nvGrpSpPr>
        <p:grpSpPr>
          <a:xfrm rot="0">
            <a:off x="6515100" y="8572500"/>
            <a:ext cx="4526280" cy="246888"/>
            <a:chOff x="0" y="0"/>
            <a:chExt cx="6035040" cy="329184"/>
          </a:xfrm>
        </p:grpSpPr>
        <p:sp>
          <p:nvSpPr>
            <p:cNvPr name="Freeform 65" id="65"/>
            <p:cNvSpPr/>
            <p:nvPr/>
          </p:nvSpPr>
          <p:spPr>
            <a:xfrm flipH="false" flipV="false" rot="0">
              <a:off x="0" y="0"/>
              <a:ext cx="6035040" cy="329184"/>
            </a:xfrm>
            <a:custGeom>
              <a:avLst/>
              <a:gdLst/>
              <a:ahLst/>
              <a:cxnLst/>
              <a:rect r="r" b="b" t="t" l="l"/>
              <a:pathLst>
                <a:path h="329184" w="6035040">
                  <a:moveTo>
                    <a:pt x="0" y="0"/>
                  </a:moveTo>
                  <a:lnTo>
                    <a:pt x="6035040" y="0"/>
                  </a:lnTo>
                  <a:lnTo>
                    <a:pt x="6035040" y="329184"/>
                  </a:lnTo>
                  <a:lnTo>
                    <a:pt x="0" y="329184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0" t="-307225" r="0" b="-307225"/>
              </a:stretch>
            </a:blipFill>
          </p:spPr>
        </p:sp>
        <p:sp>
          <p:nvSpPr>
            <p:cNvPr name="TextBox 66" id="66"/>
            <p:cNvSpPr txBox="true"/>
            <p:nvPr/>
          </p:nvSpPr>
          <p:spPr>
            <a:xfrm>
              <a:off x="0" y="-38100"/>
              <a:ext cx="6035040" cy="36728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709"/>
                </a:lnSpc>
              </a:pPr>
              <a:r>
                <a:rPr lang="en-US" b="true" sz="1425" spc="225">
                  <a:solidFill>
                    <a:srgbClr val="0070C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VIDEO</a:t>
              </a:r>
            </a:p>
          </p:txBody>
        </p:sp>
      </p:grpSp>
      <p:grpSp>
        <p:nvGrpSpPr>
          <p:cNvPr name="Group 67" id="67"/>
          <p:cNvGrpSpPr/>
          <p:nvPr/>
        </p:nvGrpSpPr>
        <p:grpSpPr>
          <a:xfrm rot="0">
            <a:off x="12344400" y="7379208"/>
            <a:ext cx="356616" cy="356616"/>
            <a:chOff x="0" y="0"/>
            <a:chExt cx="475488" cy="475488"/>
          </a:xfrm>
        </p:grpSpPr>
        <p:sp>
          <p:nvSpPr>
            <p:cNvPr name="Freeform 68" id="68"/>
            <p:cNvSpPr/>
            <p:nvPr/>
          </p:nvSpPr>
          <p:spPr>
            <a:xfrm flipH="false" flipV="false" rot="0">
              <a:off x="0" y="0"/>
              <a:ext cx="475488" cy="475488"/>
            </a:xfrm>
            <a:custGeom>
              <a:avLst/>
              <a:gdLst/>
              <a:ahLst/>
              <a:cxnLst/>
              <a:rect r="r" b="b" t="t" l="l"/>
              <a:pathLst>
                <a:path h="475488" w="475488">
                  <a:moveTo>
                    <a:pt x="0" y="237744"/>
                  </a:moveTo>
                  <a:cubicBezTo>
                    <a:pt x="0" y="106426"/>
                    <a:pt x="106426" y="0"/>
                    <a:pt x="237744" y="0"/>
                  </a:cubicBezTo>
                  <a:cubicBezTo>
                    <a:pt x="369062" y="0"/>
                    <a:pt x="475488" y="106426"/>
                    <a:pt x="475488" y="237744"/>
                  </a:cubicBezTo>
                  <a:cubicBezTo>
                    <a:pt x="475488" y="369062"/>
                    <a:pt x="369062" y="475488"/>
                    <a:pt x="237744" y="475488"/>
                  </a:cubicBezTo>
                  <a:cubicBezTo>
                    <a:pt x="106426" y="475488"/>
                    <a:pt x="0" y="369062"/>
                    <a:pt x="0" y="237744"/>
                  </a:cubicBezTo>
                  <a:close/>
                </a:path>
              </a:pathLst>
            </a:custGeom>
            <a:solidFill>
              <a:srgbClr val="0C903C"/>
            </a:solidFill>
          </p:spPr>
        </p:sp>
      </p:grpSp>
      <p:grpSp>
        <p:nvGrpSpPr>
          <p:cNvPr name="Group 69" id="69"/>
          <p:cNvGrpSpPr/>
          <p:nvPr/>
        </p:nvGrpSpPr>
        <p:grpSpPr>
          <a:xfrm rot="0">
            <a:off x="12424639" y="7459447"/>
            <a:ext cx="196139" cy="196139"/>
            <a:chOff x="0" y="0"/>
            <a:chExt cx="261518" cy="261518"/>
          </a:xfrm>
        </p:grpSpPr>
        <p:sp>
          <p:nvSpPr>
            <p:cNvPr name="Freeform 70" id="70" descr="Check mark"/>
            <p:cNvSpPr/>
            <p:nvPr/>
          </p:nvSpPr>
          <p:spPr>
            <a:xfrm flipH="false" flipV="false" rot="0">
              <a:off x="0" y="0"/>
              <a:ext cx="261493" cy="261493"/>
            </a:xfrm>
            <a:custGeom>
              <a:avLst/>
              <a:gdLst/>
              <a:ahLst/>
              <a:cxnLst/>
              <a:rect r="r" b="b" t="t" l="l"/>
              <a:pathLst>
                <a:path h="261493" w="261493">
                  <a:moveTo>
                    <a:pt x="0" y="0"/>
                  </a:moveTo>
                  <a:lnTo>
                    <a:pt x="261493" y="0"/>
                  </a:lnTo>
                  <a:lnTo>
                    <a:pt x="261493" y="261493"/>
                  </a:lnTo>
                  <a:lnTo>
                    <a:pt x="0" y="2614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 l="0" t="0" r="-9" b="-9"/>
              </a:stretch>
            </a:blipFill>
          </p:spPr>
        </p:sp>
      </p:grpSp>
      <p:grpSp>
        <p:nvGrpSpPr>
          <p:cNvPr name="Group 71" id="71"/>
          <p:cNvGrpSpPr/>
          <p:nvPr/>
        </p:nvGrpSpPr>
        <p:grpSpPr>
          <a:xfrm rot="0">
            <a:off x="12893040" y="7351776"/>
            <a:ext cx="4937760" cy="411480"/>
            <a:chOff x="0" y="0"/>
            <a:chExt cx="6583680" cy="548640"/>
          </a:xfrm>
        </p:grpSpPr>
        <p:sp>
          <p:nvSpPr>
            <p:cNvPr name="Freeform 72" id="72"/>
            <p:cNvSpPr/>
            <p:nvPr/>
          </p:nvSpPr>
          <p:spPr>
            <a:xfrm flipH="false" flipV="false" rot="0">
              <a:off x="0" y="0"/>
              <a:ext cx="6583680" cy="548640"/>
            </a:xfrm>
            <a:custGeom>
              <a:avLst/>
              <a:gdLst/>
              <a:ahLst/>
              <a:cxnLst/>
              <a:rect r="r" b="b" t="t" l="l"/>
              <a:pathLst>
                <a:path h="548640" w="6583680">
                  <a:moveTo>
                    <a:pt x="0" y="0"/>
                  </a:moveTo>
                  <a:lnTo>
                    <a:pt x="6583680" y="0"/>
                  </a:lnTo>
                  <a:lnTo>
                    <a:pt x="658368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0" t="-183820" r="0" b="-183820"/>
              </a:stretch>
            </a:blipFill>
          </p:spPr>
        </p:sp>
        <p:sp>
          <p:nvSpPr>
            <p:cNvPr name="TextBox 73" id="73"/>
            <p:cNvSpPr txBox="true"/>
            <p:nvPr/>
          </p:nvSpPr>
          <p:spPr>
            <a:xfrm>
              <a:off x="0" y="-47625"/>
              <a:ext cx="6583680" cy="59626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340"/>
                </a:lnSpc>
              </a:pPr>
              <a:r>
                <a:rPr lang="en-US" sz="1950" b="true">
                  <a:solidFill>
                    <a:srgbClr val="1F497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Qualcomm Dragonwing QRB2210</a:t>
              </a:r>
            </a:p>
          </p:txBody>
        </p:sp>
      </p:grpSp>
      <p:grpSp>
        <p:nvGrpSpPr>
          <p:cNvPr name="Group 74" id="74"/>
          <p:cNvGrpSpPr/>
          <p:nvPr/>
        </p:nvGrpSpPr>
        <p:grpSpPr>
          <a:xfrm rot="0">
            <a:off x="12344400" y="7872984"/>
            <a:ext cx="356616" cy="356616"/>
            <a:chOff x="0" y="0"/>
            <a:chExt cx="475488" cy="475488"/>
          </a:xfrm>
        </p:grpSpPr>
        <p:sp>
          <p:nvSpPr>
            <p:cNvPr name="Freeform 75" id="75"/>
            <p:cNvSpPr/>
            <p:nvPr/>
          </p:nvSpPr>
          <p:spPr>
            <a:xfrm flipH="false" flipV="false" rot="0">
              <a:off x="0" y="0"/>
              <a:ext cx="475488" cy="475488"/>
            </a:xfrm>
            <a:custGeom>
              <a:avLst/>
              <a:gdLst/>
              <a:ahLst/>
              <a:cxnLst/>
              <a:rect r="r" b="b" t="t" l="l"/>
              <a:pathLst>
                <a:path h="475488" w="475488">
                  <a:moveTo>
                    <a:pt x="0" y="237744"/>
                  </a:moveTo>
                  <a:cubicBezTo>
                    <a:pt x="0" y="106426"/>
                    <a:pt x="106426" y="0"/>
                    <a:pt x="237744" y="0"/>
                  </a:cubicBezTo>
                  <a:cubicBezTo>
                    <a:pt x="369062" y="0"/>
                    <a:pt x="475488" y="106426"/>
                    <a:pt x="475488" y="237744"/>
                  </a:cubicBezTo>
                  <a:cubicBezTo>
                    <a:pt x="475488" y="369062"/>
                    <a:pt x="369062" y="475488"/>
                    <a:pt x="237744" y="475488"/>
                  </a:cubicBezTo>
                  <a:cubicBezTo>
                    <a:pt x="106426" y="475488"/>
                    <a:pt x="0" y="369062"/>
                    <a:pt x="0" y="237744"/>
                  </a:cubicBezTo>
                  <a:close/>
                </a:path>
              </a:pathLst>
            </a:custGeom>
            <a:solidFill>
              <a:srgbClr val="0C903C"/>
            </a:solidFill>
          </p:spPr>
        </p:sp>
      </p:grpSp>
      <p:grpSp>
        <p:nvGrpSpPr>
          <p:cNvPr name="Group 76" id="76"/>
          <p:cNvGrpSpPr/>
          <p:nvPr/>
        </p:nvGrpSpPr>
        <p:grpSpPr>
          <a:xfrm rot="0">
            <a:off x="12424639" y="7953223"/>
            <a:ext cx="196139" cy="196139"/>
            <a:chOff x="0" y="0"/>
            <a:chExt cx="261518" cy="261518"/>
          </a:xfrm>
        </p:grpSpPr>
        <p:sp>
          <p:nvSpPr>
            <p:cNvPr name="Freeform 77" id="77" descr="Check mark"/>
            <p:cNvSpPr/>
            <p:nvPr/>
          </p:nvSpPr>
          <p:spPr>
            <a:xfrm flipH="false" flipV="false" rot="0">
              <a:off x="0" y="0"/>
              <a:ext cx="261493" cy="261493"/>
            </a:xfrm>
            <a:custGeom>
              <a:avLst/>
              <a:gdLst/>
              <a:ahLst/>
              <a:cxnLst/>
              <a:rect r="r" b="b" t="t" l="l"/>
              <a:pathLst>
                <a:path h="261493" w="261493">
                  <a:moveTo>
                    <a:pt x="0" y="0"/>
                  </a:moveTo>
                  <a:lnTo>
                    <a:pt x="261493" y="0"/>
                  </a:lnTo>
                  <a:lnTo>
                    <a:pt x="261493" y="261493"/>
                  </a:lnTo>
                  <a:lnTo>
                    <a:pt x="0" y="2614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 l="0" t="0" r="-9" b="-9"/>
              </a:stretch>
            </a:blipFill>
          </p:spPr>
        </p:sp>
      </p:grpSp>
      <p:grpSp>
        <p:nvGrpSpPr>
          <p:cNvPr name="Group 78" id="78"/>
          <p:cNvGrpSpPr/>
          <p:nvPr/>
        </p:nvGrpSpPr>
        <p:grpSpPr>
          <a:xfrm rot="0">
            <a:off x="12893040" y="7845552"/>
            <a:ext cx="4937760" cy="411480"/>
            <a:chOff x="0" y="0"/>
            <a:chExt cx="6583680" cy="548640"/>
          </a:xfrm>
        </p:grpSpPr>
        <p:sp>
          <p:nvSpPr>
            <p:cNvPr name="Freeform 79" id="79"/>
            <p:cNvSpPr/>
            <p:nvPr/>
          </p:nvSpPr>
          <p:spPr>
            <a:xfrm flipH="false" flipV="false" rot="0">
              <a:off x="0" y="0"/>
              <a:ext cx="6583680" cy="548640"/>
            </a:xfrm>
            <a:custGeom>
              <a:avLst/>
              <a:gdLst/>
              <a:ahLst/>
              <a:cxnLst/>
              <a:rect r="r" b="b" t="t" l="l"/>
              <a:pathLst>
                <a:path h="548640" w="6583680">
                  <a:moveTo>
                    <a:pt x="0" y="0"/>
                  </a:moveTo>
                  <a:lnTo>
                    <a:pt x="6583680" y="0"/>
                  </a:lnTo>
                  <a:lnTo>
                    <a:pt x="658368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0" t="-183820" r="0" b="-183820"/>
              </a:stretch>
            </a:blipFill>
          </p:spPr>
        </p:sp>
        <p:sp>
          <p:nvSpPr>
            <p:cNvPr name="TextBox 80" id="80"/>
            <p:cNvSpPr txBox="true"/>
            <p:nvPr/>
          </p:nvSpPr>
          <p:spPr>
            <a:xfrm>
              <a:off x="0" y="-47625"/>
              <a:ext cx="6583680" cy="59626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340"/>
                </a:lnSpc>
              </a:pPr>
              <a:r>
                <a:rPr lang="en-US" sz="1950" b="true">
                  <a:solidFill>
                    <a:srgbClr val="1F497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STM32U5 Zephyr RTOS Flight</a:t>
              </a:r>
            </a:p>
          </p:txBody>
        </p:sp>
      </p:grpSp>
      <p:grpSp>
        <p:nvGrpSpPr>
          <p:cNvPr name="Group 81" id="81"/>
          <p:cNvGrpSpPr/>
          <p:nvPr/>
        </p:nvGrpSpPr>
        <p:grpSpPr>
          <a:xfrm rot="0">
            <a:off x="12344400" y="8366760"/>
            <a:ext cx="356616" cy="356616"/>
            <a:chOff x="0" y="0"/>
            <a:chExt cx="475488" cy="475488"/>
          </a:xfrm>
        </p:grpSpPr>
        <p:sp>
          <p:nvSpPr>
            <p:cNvPr name="Freeform 82" id="82"/>
            <p:cNvSpPr/>
            <p:nvPr/>
          </p:nvSpPr>
          <p:spPr>
            <a:xfrm flipH="false" flipV="false" rot="0">
              <a:off x="0" y="0"/>
              <a:ext cx="475488" cy="475488"/>
            </a:xfrm>
            <a:custGeom>
              <a:avLst/>
              <a:gdLst/>
              <a:ahLst/>
              <a:cxnLst/>
              <a:rect r="r" b="b" t="t" l="l"/>
              <a:pathLst>
                <a:path h="475488" w="475488">
                  <a:moveTo>
                    <a:pt x="0" y="237744"/>
                  </a:moveTo>
                  <a:cubicBezTo>
                    <a:pt x="0" y="106426"/>
                    <a:pt x="106426" y="0"/>
                    <a:pt x="237744" y="0"/>
                  </a:cubicBezTo>
                  <a:cubicBezTo>
                    <a:pt x="369062" y="0"/>
                    <a:pt x="475488" y="106426"/>
                    <a:pt x="475488" y="237744"/>
                  </a:cubicBezTo>
                  <a:cubicBezTo>
                    <a:pt x="475488" y="369062"/>
                    <a:pt x="369062" y="475488"/>
                    <a:pt x="237744" y="475488"/>
                  </a:cubicBezTo>
                  <a:cubicBezTo>
                    <a:pt x="106426" y="475488"/>
                    <a:pt x="0" y="369062"/>
                    <a:pt x="0" y="237744"/>
                  </a:cubicBezTo>
                  <a:close/>
                </a:path>
              </a:pathLst>
            </a:custGeom>
            <a:solidFill>
              <a:srgbClr val="0C903C"/>
            </a:solidFill>
          </p:spPr>
        </p:sp>
      </p:grpSp>
      <p:grpSp>
        <p:nvGrpSpPr>
          <p:cNvPr name="Group 83" id="83"/>
          <p:cNvGrpSpPr/>
          <p:nvPr/>
        </p:nvGrpSpPr>
        <p:grpSpPr>
          <a:xfrm rot="0">
            <a:off x="12424639" y="8446999"/>
            <a:ext cx="196139" cy="196139"/>
            <a:chOff x="0" y="0"/>
            <a:chExt cx="261518" cy="261518"/>
          </a:xfrm>
        </p:grpSpPr>
        <p:sp>
          <p:nvSpPr>
            <p:cNvPr name="Freeform 84" id="84" descr="Check mark"/>
            <p:cNvSpPr/>
            <p:nvPr/>
          </p:nvSpPr>
          <p:spPr>
            <a:xfrm flipH="false" flipV="false" rot="0">
              <a:off x="0" y="0"/>
              <a:ext cx="261493" cy="261493"/>
            </a:xfrm>
            <a:custGeom>
              <a:avLst/>
              <a:gdLst/>
              <a:ahLst/>
              <a:cxnLst/>
              <a:rect r="r" b="b" t="t" l="l"/>
              <a:pathLst>
                <a:path h="261493" w="261493">
                  <a:moveTo>
                    <a:pt x="0" y="0"/>
                  </a:moveTo>
                  <a:lnTo>
                    <a:pt x="261493" y="0"/>
                  </a:lnTo>
                  <a:lnTo>
                    <a:pt x="261493" y="261493"/>
                  </a:lnTo>
                  <a:lnTo>
                    <a:pt x="0" y="2614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 l="0" t="0" r="-9" b="-9"/>
              </a:stretch>
            </a:blipFill>
          </p:spPr>
        </p:sp>
      </p:grpSp>
      <p:grpSp>
        <p:nvGrpSpPr>
          <p:cNvPr name="Group 85" id="85"/>
          <p:cNvGrpSpPr/>
          <p:nvPr/>
        </p:nvGrpSpPr>
        <p:grpSpPr>
          <a:xfrm rot="0">
            <a:off x="12893040" y="8339328"/>
            <a:ext cx="4937760" cy="411480"/>
            <a:chOff x="0" y="0"/>
            <a:chExt cx="6583680" cy="548640"/>
          </a:xfrm>
        </p:grpSpPr>
        <p:sp>
          <p:nvSpPr>
            <p:cNvPr name="Freeform 86" id="86"/>
            <p:cNvSpPr/>
            <p:nvPr/>
          </p:nvSpPr>
          <p:spPr>
            <a:xfrm flipH="false" flipV="false" rot="0">
              <a:off x="0" y="0"/>
              <a:ext cx="6583680" cy="548640"/>
            </a:xfrm>
            <a:custGeom>
              <a:avLst/>
              <a:gdLst/>
              <a:ahLst/>
              <a:cxnLst/>
              <a:rect r="r" b="b" t="t" l="l"/>
              <a:pathLst>
                <a:path h="548640" w="6583680">
                  <a:moveTo>
                    <a:pt x="0" y="0"/>
                  </a:moveTo>
                  <a:lnTo>
                    <a:pt x="6583680" y="0"/>
                  </a:lnTo>
                  <a:lnTo>
                    <a:pt x="658368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0" t="-183820" r="0" b="-183820"/>
              </a:stretch>
            </a:blipFill>
          </p:spPr>
        </p:sp>
        <p:sp>
          <p:nvSpPr>
            <p:cNvPr name="TextBox 87" id="87"/>
            <p:cNvSpPr txBox="true"/>
            <p:nvPr/>
          </p:nvSpPr>
          <p:spPr>
            <a:xfrm>
              <a:off x="0" y="-47625"/>
              <a:ext cx="6583680" cy="59626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340"/>
                </a:lnSpc>
              </a:pPr>
              <a:r>
                <a:rPr lang="en-US" sz="1950" b="true">
                  <a:solidFill>
                    <a:srgbClr val="1F497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Dual RGB + Thermal Fusion</a:t>
              </a:r>
            </a:p>
          </p:txBody>
        </p:sp>
      </p:grpSp>
      <p:grpSp>
        <p:nvGrpSpPr>
          <p:cNvPr name="Group 88" id="88"/>
          <p:cNvGrpSpPr/>
          <p:nvPr/>
        </p:nvGrpSpPr>
        <p:grpSpPr>
          <a:xfrm rot="0">
            <a:off x="12344400" y="8860536"/>
            <a:ext cx="356616" cy="356616"/>
            <a:chOff x="0" y="0"/>
            <a:chExt cx="475488" cy="475488"/>
          </a:xfrm>
        </p:grpSpPr>
        <p:sp>
          <p:nvSpPr>
            <p:cNvPr name="Freeform 89" id="89"/>
            <p:cNvSpPr/>
            <p:nvPr/>
          </p:nvSpPr>
          <p:spPr>
            <a:xfrm flipH="false" flipV="false" rot="0">
              <a:off x="0" y="0"/>
              <a:ext cx="475488" cy="475488"/>
            </a:xfrm>
            <a:custGeom>
              <a:avLst/>
              <a:gdLst/>
              <a:ahLst/>
              <a:cxnLst/>
              <a:rect r="r" b="b" t="t" l="l"/>
              <a:pathLst>
                <a:path h="475488" w="475488">
                  <a:moveTo>
                    <a:pt x="0" y="237744"/>
                  </a:moveTo>
                  <a:cubicBezTo>
                    <a:pt x="0" y="106426"/>
                    <a:pt x="106426" y="0"/>
                    <a:pt x="237744" y="0"/>
                  </a:cubicBezTo>
                  <a:cubicBezTo>
                    <a:pt x="369062" y="0"/>
                    <a:pt x="475488" y="106426"/>
                    <a:pt x="475488" y="237744"/>
                  </a:cubicBezTo>
                  <a:cubicBezTo>
                    <a:pt x="475488" y="369062"/>
                    <a:pt x="369062" y="475488"/>
                    <a:pt x="237744" y="475488"/>
                  </a:cubicBezTo>
                  <a:cubicBezTo>
                    <a:pt x="106426" y="475488"/>
                    <a:pt x="0" y="369062"/>
                    <a:pt x="0" y="237744"/>
                  </a:cubicBezTo>
                  <a:close/>
                </a:path>
              </a:pathLst>
            </a:custGeom>
            <a:solidFill>
              <a:srgbClr val="0C903C"/>
            </a:solidFill>
          </p:spPr>
        </p:sp>
      </p:grpSp>
      <p:grpSp>
        <p:nvGrpSpPr>
          <p:cNvPr name="Group 90" id="90"/>
          <p:cNvGrpSpPr/>
          <p:nvPr/>
        </p:nvGrpSpPr>
        <p:grpSpPr>
          <a:xfrm rot="0">
            <a:off x="12424639" y="8940775"/>
            <a:ext cx="196139" cy="196139"/>
            <a:chOff x="0" y="0"/>
            <a:chExt cx="261518" cy="261518"/>
          </a:xfrm>
        </p:grpSpPr>
        <p:sp>
          <p:nvSpPr>
            <p:cNvPr name="Freeform 91" id="91" descr="Check mark"/>
            <p:cNvSpPr/>
            <p:nvPr/>
          </p:nvSpPr>
          <p:spPr>
            <a:xfrm flipH="false" flipV="false" rot="0">
              <a:off x="0" y="0"/>
              <a:ext cx="261493" cy="261493"/>
            </a:xfrm>
            <a:custGeom>
              <a:avLst/>
              <a:gdLst/>
              <a:ahLst/>
              <a:cxnLst/>
              <a:rect r="r" b="b" t="t" l="l"/>
              <a:pathLst>
                <a:path h="261493" w="261493">
                  <a:moveTo>
                    <a:pt x="0" y="0"/>
                  </a:moveTo>
                  <a:lnTo>
                    <a:pt x="261493" y="0"/>
                  </a:lnTo>
                  <a:lnTo>
                    <a:pt x="261493" y="261493"/>
                  </a:lnTo>
                  <a:lnTo>
                    <a:pt x="0" y="2614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 l="0" t="0" r="-9" b="-9"/>
              </a:stretch>
            </a:blipFill>
          </p:spPr>
        </p:sp>
      </p:grpSp>
      <p:grpSp>
        <p:nvGrpSpPr>
          <p:cNvPr name="Group 92" id="92"/>
          <p:cNvGrpSpPr/>
          <p:nvPr/>
        </p:nvGrpSpPr>
        <p:grpSpPr>
          <a:xfrm rot="0">
            <a:off x="12893040" y="8833104"/>
            <a:ext cx="4937760" cy="411480"/>
            <a:chOff x="0" y="0"/>
            <a:chExt cx="6583680" cy="548640"/>
          </a:xfrm>
        </p:grpSpPr>
        <p:sp>
          <p:nvSpPr>
            <p:cNvPr name="Freeform 93" id="93"/>
            <p:cNvSpPr/>
            <p:nvPr/>
          </p:nvSpPr>
          <p:spPr>
            <a:xfrm flipH="false" flipV="false" rot="0">
              <a:off x="0" y="0"/>
              <a:ext cx="6583680" cy="548640"/>
            </a:xfrm>
            <a:custGeom>
              <a:avLst/>
              <a:gdLst/>
              <a:ahLst/>
              <a:cxnLst/>
              <a:rect r="r" b="b" t="t" l="l"/>
              <a:pathLst>
                <a:path h="548640" w="6583680">
                  <a:moveTo>
                    <a:pt x="0" y="0"/>
                  </a:moveTo>
                  <a:lnTo>
                    <a:pt x="6583680" y="0"/>
                  </a:lnTo>
                  <a:lnTo>
                    <a:pt x="658368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0" t="-183820" r="0" b="-183820"/>
              </a:stretch>
            </a:blipFill>
          </p:spPr>
        </p:sp>
        <p:sp>
          <p:nvSpPr>
            <p:cNvPr name="TextBox 94" id="94"/>
            <p:cNvSpPr txBox="true"/>
            <p:nvPr/>
          </p:nvSpPr>
          <p:spPr>
            <a:xfrm>
              <a:off x="0" y="-47625"/>
              <a:ext cx="6583680" cy="59626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340"/>
                </a:lnSpc>
              </a:pPr>
              <a:r>
                <a:rPr lang="en-US" sz="1950" b="true">
                  <a:solidFill>
                    <a:srgbClr val="1F497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3-5 km LoRa Telemetry</a:t>
              </a:r>
            </a:p>
          </p:txBody>
        </p:sp>
      </p:grpSp>
      <p:grpSp>
        <p:nvGrpSpPr>
          <p:cNvPr name="Group 95" id="95"/>
          <p:cNvGrpSpPr/>
          <p:nvPr/>
        </p:nvGrpSpPr>
        <p:grpSpPr>
          <a:xfrm rot="0">
            <a:off x="12344400" y="9354312"/>
            <a:ext cx="356616" cy="356616"/>
            <a:chOff x="0" y="0"/>
            <a:chExt cx="475488" cy="475488"/>
          </a:xfrm>
        </p:grpSpPr>
        <p:sp>
          <p:nvSpPr>
            <p:cNvPr name="Freeform 96" id="96"/>
            <p:cNvSpPr/>
            <p:nvPr/>
          </p:nvSpPr>
          <p:spPr>
            <a:xfrm flipH="false" flipV="false" rot="0">
              <a:off x="0" y="0"/>
              <a:ext cx="475488" cy="475488"/>
            </a:xfrm>
            <a:custGeom>
              <a:avLst/>
              <a:gdLst/>
              <a:ahLst/>
              <a:cxnLst/>
              <a:rect r="r" b="b" t="t" l="l"/>
              <a:pathLst>
                <a:path h="475488" w="475488">
                  <a:moveTo>
                    <a:pt x="0" y="237744"/>
                  </a:moveTo>
                  <a:cubicBezTo>
                    <a:pt x="0" y="106426"/>
                    <a:pt x="106426" y="0"/>
                    <a:pt x="237744" y="0"/>
                  </a:cubicBezTo>
                  <a:cubicBezTo>
                    <a:pt x="369062" y="0"/>
                    <a:pt x="475488" y="106426"/>
                    <a:pt x="475488" y="237744"/>
                  </a:cubicBezTo>
                  <a:cubicBezTo>
                    <a:pt x="475488" y="369062"/>
                    <a:pt x="369062" y="475488"/>
                    <a:pt x="237744" y="475488"/>
                  </a:cubicBezTo>
                  <a:cubicBezTo>
                    <a:pt x="106426" y="475488"/>
                    <a:pt x="0" y="369062"/>
                    <a:pt x="0" y="237744"/>
                  </a:cubicBezTo>
                  <a:close/>
                </a:path>
              </a:pathLst>
            </a:custGeom>
            <a:solidFill>
              <a:srgbClr val="0C903C"/>
            </a:solidFill>
          </p:spPr>
        </p:sp>
      </p:grpSp>
      <p:grpSp>
        <p:nvGrpSpPr>
          <p:cNvPr name="Group 97" id="97"/>
          <p:cNvGrpSpPr/>
          <p:nvPr/>
        </p:nvGrpSpPr>
        <p:grpSpPr>
          <a:xfrm rot="0">
            <a:off x="12424639" y="9434551"/>
            <a:ext cx="196139" cy="196139"/>
            <a:chOff x="0" y="0"/>
            <a:chExt cx="261518" cy="261518"/>
          </a:xfrm>
        </p:grpSpPr>
        <p:sp>
          <p:nvSpPr>
            <p:cNvPr name="Freeform 98" id="98" descr="Check mark"/>
            <p:cNvSpPr/>
            <p:nvPr/>
          </p:nvSpPr>
          <p:spPr>
            <a:xfrm flipH="false" flipV="false" rot="0">
              <a:off x="0" y="0"/>
              <a:ext cx="261493" cy="261493"/>
            </a:xfrm>
            <a:custGeom>
              <a:avLst/>
              <a:gdLst/>
              <a:ahLst/>
              <a:cxnLst/>
              <a:rect r="r" b="b" t="t" l="l"/>
              <a:pathLst>
                <a:path h="261493" w="261493">
                  <a:moveTo>
                    <a:pt x="0" y="0"/>
                  </a:moveTo>
                  <a:lnTo>
                    <a:pt x="261493" y="0"/>
                  </a:lnTo>
                  <a:lnTo>
                    <a:pt x="261493" y="261493"/>
                  </a:lnTo>
                  <a:lnTo>
                    <a:pt x="0" y="2614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 l="0" t="0" r="-9" b="-9"/>
              </a:stretch>
            </a:blipFill>
          </p:spPr>
        </p:sp>
      </p:grpSp>
      <p:grpSp>
        <p:nvGrpSpPr>
          <p:cNvPr name="Group 99" id="99"/>
          <p:cNvGrpSpPr/>
          <p:nvPr/>
        </p:nvGrpSpPr>
        <p:grpSpPr>
          <a:xfrm rot="0">
            <a:off x="12893040" y="9326880"/>
            <a:ext cx="4937760" cy="411480"/>
            <a:chOff x="0" y="0"/>
            <a:chExt cx="6583680" cy="548640"/>
          </a:xfrm>
        </p:grpSpPr>
        <p:sp>
          <p:nvSpPr>
            <p:cNvPr name="Freeform 100" id="100"/>
            <p:cNvSpPr/>
            <p:nvPr/>
          </p:nvSpPr>
          <p:spPr>
            <a:xfrm flipH="false" flipV="false" rot="0">
              <a:off x="0" y="0"/>
              <a:ext cx="6583680" cy="548640"/>
            </a:xfrm>
            <a:custGeom>
              <a:avLst/>
              <a:gdLst/>
              <a:ahLst/>
              <a:cxnLst/>
              <a:rect r="r" b="b" t="t" l="l"/>
              <a:pathLst>
                <a:path h="548640" w="6583680">
                  <a:moveTo>
                    <a:pt x="0" y="0"/>
                  </a:moveTo>
                  <a:lnTo>
                    <a:pt x="6583680" y="0"/>
                  </a:lnTo>
                  <a:lnTo>
                    <a:pt x="658368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0" t="-183820" r="0" b="-183820"/>
              </a:stretch>
            </a:blipFill>
          </p:spPr>
        </p:sp>
        <p:sp>
          <p:nvSpPr>
            <p:cNvPr name="TextBox 101" id="101"/>
            <p:cNvSpPr txBox="true"/>
            <p:nvPr/>
          </p:nvSpPr>
          <p:spPr>
            <a:xfrm>
              <a:off x="0" y="-47625"/>
              <a:ext cx="6583680" cy="59626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340"/>
                </a:lnSpc>
              </a:pPr>
              <a:r>
                <a:rPr sz="1280" b="1" i="0">
                  <a:solidFill>
                    <a:srgbClr val="FFFFFF"/>
                  </a:solidFill>
                  <a:latin typeface="Calibri"/>
                </a:rPr>
                <a:t>IEEE Anti-Drift VIO Navigation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9532144"/>
            <a:ext cx="18288000" cy="754856"/>
            <a:chOff x="0" y="0"/>
            <a:chExt cx="24384000" cy="1006475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84000" cy="1006475"/>
            </a:xfrm>
            <a:custGeom>
              <a:avLst/>
              <a:gdLst/>
              <a:ahLst/>
              <a:cxnLst/>
              <a:rect r="r" b="b" t="t" l="l"/>
              <a:pathLst>
                <a:path h="1006475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006475"/>
                  </a:lnTo>
                  <a:lnTo>
                    <a:pt x="0" y="1006475"/>
                  </a:lnTo>
                  <a:close/>
                </a:path>
              </a:pathLst>
            </a:custGeom>
            <a:solidFill>
              <a:srgbClr val="0070C0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2811780" y="0"/>
            <a:ext cx="11658600" cy="1714500"/>
            <a:chOff x="0" y="0"/>
            <a:chExt cx="15544800" cy="228600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5544800" cy="2286000"/>
            </a:xfrm>
            <a:custGeom>
              <a:avLst/>
              <a:gdLst/>
              <a:ahLst/>
              <a:cxnLst/>
              <a:rect r="r" b="b" t="t" l="l"/>
              <a:pathLst>
                <a:path h="2286000" w="15544800">
                  <a:moveTo>
                    <a:pt x="0" y="0"/>
                  </a:moveTo>
                  <a:lnTo>
                    <a:pt x="15544800" y="0"/>
                  </a:lnTo>
                  <a:lnTo>
                    <a:pt x="15544800" y="2286000"/>
                  </a:lnTo>
                  <a:lnTo>
                    <a:pt x="0" y="22860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82498" r="0" b="-82498"/>
              </a:stretch>
            </a:blipFill>
          </p:spPr>
        </p:sp>
        <p:sp>
          <p:nvSpPr>
            <p:cNvPr name="TextBox 6" id="6"/>
            <p:cNvSpPr txBox="true"/>
            <p:nvPr/>
          </p:nvSpPr>
          <p:spPr>
            <a:xfrm>
              <a:off x="0" y="-19050"/>
              <a:ext cx="15544800" cy="230505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5040"/>
                </a:lnSpc>
              </a:pPr>
              <a:r>
                <a:rPr lang="en-US" sz="4200" b="true">
                  <a:solidFill>
                    <a:srgbClr val="000000"/>
                  </a:solidFill>
                  <a:latin typeface="Times New Roman Bold"/>
                  <a:ea typeface="Times New Roman Bold"/>
                  <a:cs typeface="Times New Roman Bold"/>
                  <a:sym typeface="Times New Roman Bold"/>
                </a:rPr>
                <a:t>Disaster Reconnaissance &amp; Emergency Survivor Triage</a:t>
              </a:r>
            </a:p>
          </p:txBody>
        </p:sp>
      </p:grpSp>
      <p:grpSp>
        <p:nvGrpSpPr>
          <p:cNvPr name="Group 7" id="7"/>
          <p:cNvGrpSpPr/>
          <p:nvPr/>
        </p:nvGrpSpPr>
        <p:grpSpPr>
          <a:xfrm rot="0">
            <a:off x="13106400" y="9534525"/>
            <a:ext cx="4267200" cy="547688"/>
            <a:chOff x="0" y="0"/>
            <a:chExt cx="5689600" cy="73025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5689600" cy="730250"/>
            </a:xfrm>
            <a:custGeom>
              <a:avLst/>
              <a:gdLst/>
              <a:ahLst/>
              <a:cxnLst/>
              <a:rect r="r" b="b" t="t" l="l"/>
              <a:pathLst>
                <a:path h="730250" w="5689600">
                  <a:moveTo>
                    <a:pt x="0" y="0"/>
                  </a:moveTo>
                  <a:lnTo>
                    <a:pt x="5689600" y="0"/>
                  </a:lnTo>
                  <a:lnTo>
                    <a:pt x="5689600" y="730250"/>
                  </a:lnTo>
                  <a:lnTo>
                    <a:pt x="0" y="73025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01813" r="0" b="-101813"/>
              </a:stretch>
            </a:blipFill>
          </p:spPr>
        </p:sp>
        <p:sp>
          <p:nvSpPr>
            <p:cNvPr name="TextBox 9" id="9"/>
            <p:cNvSpPr txBox="true"/>
            <p:nvPr/>
          </p:nvSpPr>
          <p:spPr>
            <a:xfrm>
              <a:off x="0" y="-19050"/>
              <a:ext cx="5689600" cy="74930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r">
                <a:lnSpc>
                  <a:spcPts val="2160"/>
                </a:lnSpc>
              </a:pPr>
              <a:r>
                <a:rPr lang="en-US" sz="1800" b="true">
                  <a:solidFill>
                    <a:srgbClr val="FFFFFF"/>
                  </a:solidFill>
                  <a:latin typeface="Arimo Bold"/>
                  <a:ea typeface="Arimo Bold"/>
                  <a:cs typeface="Arimo Bold"/>
                  <a:sym typeface="Arimo Bold"/>
                </a:rPr>
                <a:t>2</a:t>
              </a: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14670129" y="2248"/>
            <a:ext cx="3374774" cy="1593504"/>
            <a:chOff x="0" y="0"/>
            <a:chExt cx="4499699" cy="2124672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4499737" cy="2124710"/>
            </a:xfrm>
            <a:custGeom>
              <a:avLst/>
              <a:gdLst/>
              <a:ahLst/>
              <a:cxnLst/>
              <a:rect r="r" b="b" t="t" l="l"/>
              <a:pathLst>
                <a:path h="2124710" w="4499737">
                  <a:moveTo>
                    <a:pt x="0" y="0"/>
                  </a:moveTo>
                  <a:lnTo>
                    <a:pt x="4499737" y="0"/>
                  </a:lnTo>
                  <a:lnTo>
                    <a:pt x="4499737" y="2124710"/>
                  </a:lnTo>
                  <a:lnTo>
                    <a:pt x="0" y="212471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0" t="0" r="0" b="1"/>
              </a:stretch>
            </a:blipFill>
          </p:spPr>
        </p:sp>
      </p:grpSp>
      <p:grpSp>
        <p:nvGrpSpPr>
          <p:cNvPr name="Group 12" id="12"/>
          <p:cNvGrpSpPr/>
          <p:nvPr/>
        </p:nvGrpSpPr>
        <p:grpSpPr>
          <a:xfrm rot="0">
            <a:off x="603504" y="315468"/>
            <a:ext cx="2263140" cy="740664"/>
            <a:chOff x="0" y="0"/>
            <a:chExt cx="3017520" cy="987552"/>
          </a:xfrm>
        </p:grpSpPr>
        <p:sp>
          <p:nvSpPr>
            <p:cNvPr name="Freeform 13" id="13" descr="Phoenix team logo"/>
            <p:cNvSpPr/>
            <p:nvPr/>
          </p:nvSpPr>
          <p:spPr>
            <a:xfrm flipH="false" flipV="false" rot="0">
              <a:off x="0" y="0"/>
              <a:ext cx="3017520" cy="987552"/>
            </a:xfrm>
            <a:custGeom>
              <a:avLst/>
              <a:gdLst/>
              <a:ahLst/>
              <a:cxnLst/>
              <a:rect r="r" b="b" t="t" l="l"/>
              <a:pathLst>
                <a:path h="987552" w="3017520">
                  <a:moveTo>
                    <a:pt x="0" y="0"/>
                  </a:moveTo>
                  <a:lnTo>
                    <a:pt x="3017520" y="0"/>
                  </a:lnTo>
                  <a:lnTo>
                    <a:pt x="3017520" y="987552"/>
                  </a:lnTo>
                  <a:lnTo>
                    <a:pt x="0" y="98755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-33" t="0" r="-33" b="0"/>
              </a:stretch>
            </a:blipFill>
          </p:spPr>
        </p:sp>
      </p:grpSp>
      <p:grpSp>
        <p:nvGrpSpPr>
          <p:cNvPr name="Group 14" id="14"/>
          <p:cNvGrpSpPr/>
          <p:nvPr/>
        </p:nvGrpSpPr>
        <p:grpSpPr>
          <a:xfrm rot="0">
            <a:off x="548640" y="9532620"/>
            <a:ext cx="6515100" cy="754380"/>
            <a:chOff x="0" y="0"/>
            <a:chExt cx="8686800" cy="100584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8686800" cy="1005840"/>
            </a:xfrm>
            <a:custGeom>
              <a:avLst/>
              <a:gdLst/>
              <a:ahLst/>
              <a:cxnLst/>
              <a:rect r="r" b="b" t="t" l="l"/>
              <a:pathLst>
                <a:path h="1005840" w="8686800">
                  <a:moveTo>
                    <a:pt x="0" y="0"/>
                  </a:moveTo>
                  <a:lnTo>
                    <a:pt x="8686800" y="0"/>
                  </a:lnTo>
                  <a:lnTo>
                    <a:pt x="8686800" y="1005840"/>
                  </a:lnTo>
                  <a:lnTo>
                    <a:pt x="0" y="10058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18279" r="0" b="-118279"/>
              </a:stretch>
            </a:blipFill>
          </p:spPr>
        </p:sp>
        <p:sp>
          <p:nvSpPr>
            <p:cNvPr name="TextBox 16" id="16"/>
            <p:cNvSpPr txBox="true"/>
            <p:nvPr/>
          </p:nvSpPr>
          <p:spPr>
            <a:xfrm>
              <a:off x="0" y="-28575"/>
              <a:ext cx="8686800" cy="103441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PROJECT PHOENIX: Autonomous Multi-Spectral Edge-AI UAV  |  SIH26177 (Qualcomm Inc.)</a:t>
              </a:r>
            </a:p>
          </p:txBody>
        </p:sp>
      </p:grpSp>
      <p:grpSp>
        <p:nvGrpSpPr>
          <p:cNvPr name="Group 17" id="17"/>
          <p:cNvGrpSpPr/>
          <p:nvPr/>
        </p:nvGrpSpPr>
        <p:grpSpPr>
          <a:xfrm rot="0">
            <a:off x="815816" y="1775936"/>
            <a:ext cx="5465997" cy="4061097"/>
            <a:chOff x="0" y="0"/>
            <a:chExt cx="7287996" cy="5414795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7287996" cy="5414795"/>
            </a:xfrm>
            <a:custGeom>
              <a:avLst/>
              <a:gdLst/>
              <a:ahLst/>
              <a:cxnLst/>
              <a:rect r="r" b="b" t="t" l="l"/>
              <a:pathLst>
                <a:path h="5414795" w="7287996">
                  <a:moveTo>
                    <a:pt x="0" y="272613"/>
                  </a:moveTo>
                  <a:cubicBezTo>
                    <a:pt x="0" y="122090"/>
                    <a:pt x="76930" y="0"/>
                    <a:pt x="171777" y="0"/>
                  </a:cubicBezTo>
                  <a:lnTo>
                    <a:pt x="7116219" y="0"/>
                  </a:lnTo>
                  <a:cubicBezTo>
                    <a:pt x="7211066" y="0"/>
                    <a:pt x="7287996" y="122090"/>
                    <a:pt x="7287996" y="272613"/>
                  </a:cubicBezTo>
                  <a:lnTo>
                    <a:pt x="7287996" y="5142183"/>
                  </a:lnTo>
                  <a:cubicBezTo>
                    <a:pt x="7287996" y="5292706"/>
                    <a:pt x="7211066" y="5414795"/>
                    <a:pt x="7116219" y="5414795"/>
                  </a:cubicBezTo>
                  <a:lnTo>
                    <a:pt x="171777" y="5414795"/>
                  </a:lnTo>
                  <a:cubicBezTo>
                    <a:pt x="76930" y="5414795"/>
                    <a:pt x="0" y="5292706"/>
                    <a:pt x="0" y="5142183"/>
                  </a:cubicBezTo>
                  <a:close/>
                </a:path>
              </a:pathLst>
            </a:custGeom>
            <a:solidFill>
              <a:srgbClr val="F4F8FC"/>
            </a:solidFill>
            <a:ln w="14288" cap="sq">
              <a:solidFill>
                <a:srgbClr val="D6E1EE"/>
              </a:solidFill>
              <a:prstDash val="solid"/>
              <a:miter/>
            </a:ln>
          </p:spPr>
        </p:sp>
      </p:grpSp>
      <p:grpSp>
        <p:nvGrpSpPr>
          <p:cNvPr name="Group 19" id="19"/>
          <p:cNvGrpSpPr/>
          <p:nvPr/>
        </p:nvGrpSpPr>
        <p:grpSpPr>
          <a:xfrm rot="0">
            <a:off x="1124712" y="2002536"/>
            <a:ext cx="2877474" cy="411480"/>
            <a:chOff x="0" y="0"/>
            <a:chExt cx="3836632" cy="548640"/>
          </a:xfrm>
        </p:grpSpPr>
        <p:sp>
          <p:nvSpPr>
            <p:cNvPr name="Freeform 20" id="20"/>
            <p:cNvSpPr/>
            <p:nvPr/>
          </p:nvSpPr>
          <p:spPr>
            <a:xfrm flipH="false" flipV="false" rot="0">
              <a:off x="0" y="0"/>
              <a:ext cx="3836670" cy="548640"/>
            </a:xfrm>
            <a:custGeom>
              <a:avLst/>
              <a:gdLst/>
              <a:ahLst/>
              <a:cxnLst/>
              <a:rect r="r" b="b" t="t" l="l"/>
              <a:pathLst>
                <a:path h="548640" w="3836670">
                  <a:moveTo>
                    <a:pt x="0" y="274320"/>
                  </a:moveTo>
                  <a:cubicBezTo>
                    <a:pt x="0" y="122809"/>
                    <a:pt x="122809" y="0"/>
                    <a:pt x="274320" y="0"/>
                  </a:cubicBezTo>
                  <a:lnTo>
                    <a:pt x="3562350" y="0"/>
                  </a:lnTo>
                  <a:cubicBezTo>
                    <a:pt x="3713861" y="0"/>
                    <a:pt x="3836670" y="122809"/>
                    <a:pt x="3836670" y="274320"/>
                  </a:cubicBezTo>
                  <a:cubicBezTo>
                    <a:pt x="3836670" y="425831"/>
                    <a:pt x="3713861" y="548640"/>
                    <a:pt x="3562350" y="548640"/>
                  </a:cubicBezTo>
                  <a:lnTo>
                    <a:pt x="274320" y="548640"/>
                  </a:lnTo>
                  <a:cubicBezTo>
                    <a:pt x="122809" y="548640"/>
                    <a:pt x="0" y="425831"/>
                    <a:pt x="0" y="274320"/>
                  </a:cubicBezTo>
                  <a:close/>
                </a:path>
              </a:pathLst>
            </a:custGeom>
            <a:solidFill>
              <a:srgbClr val="FDE9E7"/>
            </a:solidFill>
          </p:spPr>
        </p:sp>
      </p:grpSp>
      <p:grpSp>
        <p:nvGrpSpPr>
          <p:cNvPr name="Group 21" id="21"/>
          <p:cNvGrpSpPr/>
          <p:nvPr/>
        </p:nvGrpSpPr>
        <p:grpSpPr>
          <a:xfrm rot="0">
            <a:off x="1124712" y="2002536"/>
            <a:ext cx="2877474" cy="411480"/>
            <a:chOff x="0" y="0"/>
            <a:chExt cx="3836632" cy="548640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3836638" cy="548640"/>
            </a:xfrm>
            <a:custGeom>
              <a:avLst/>
              <a:gdLst/>
              <a:ahLst/>
              <a:cxnLst/>
              <a:rect r="r" b="b" t="t" l="l"/>
              <a:pathLst>
                <a:path h="548640" w="3836638">
                  <a:moveTo>
                    <a:pt x="0" y="0"/>
                  </a:moveTo>
                  <a:lnTo>
                    <a:pt x="3836638" y="0"/>
                  </a:lnTo>
                  <a:lnTo>
                    <a:pt x="3836638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86258" r="0" b="-86258"/>
              </a:stretch>
            </a:blipFill>
          </p:spPr>
        </p:sp>
        <p:sp>
          <p:nvSpPr>
            <p:cNvPr name="TextBox 23" id="23"/>
            <p:cNvSpPr txBox="true"/>
            <p:nvPr/>
          </p:nvSpPr>
          <p:spPr>
            <a:xfrm>
              <a:off x="0" y="-19050"/>
              <a:ext cx="3836632" cy="56769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889"/>
                </a:lnSpc>
              </a:pPr>
              <a:r>
                <a:rPr lang="en-US" b="true" sz="1575" spc="224">
                  <a:solidFill>
                    <a:srgbClr val="B42318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PROBLEM STATEMENT</a:t>
              </a:r>
            </a:p>
          </p:txBody>
        </p:sp>
      </p:grpSp>
      <p:grpSp>
        <p:nvGrpSpPr>
          <p:cNvPr name="Group 24" id="24"/>
          <p:cNvGrpSpPr/>
          <p:nvPr/>
        </p:nvGrpSpPr>
        <p:grpSpPr>
          <a:xfrm rot="0">
            <a:off x="11969448" y="1775936"/>
            <a:ext cx="5401361" cy="4061097"/>
            <a:chOff x="0" y="0"/>
            <a:chExt cx="7201814" cy="5365773"/>
          </a:xfrm>
        </p:grpSpPr>
        <p:sp>
          <p:nvSpPr>
            <p:cNvPr name="Freeform 25" id="25"/>
            <p:cNvSpPr/>
            <p:nvPr/>
          </p:nvSpPr>
          <p:spPr>
            <a:xfrm flipH="false" flipV="false" rot="0">
              <a:off x="0" y="0"/>
              <a:ext cx="7201815" cy="5365774"/>
            </a:xfrm>
            <a:custGeom>
              <a:avLst/>
              <a:gdLst/>
              <a:ahLst/>
              <a:cxnLst/>
              <a:rect r="r" b="b" t="t" l="l"/>
              <a:pathLst>
                <a:path h="5365774" w="7201815">
                  <a:moveTo>
                    <a:pt x="0" y="270145"/>
                  </a:moveTo>
                  <a:cubicBezTo>
                    <a:pt x="0" y="120984"/>
                    <a:pt x="76021" y="0"/>
                    <a:pt x="169746" y="0"/>
                  </a:cubicBezTo>
                  <a:lnTo>
                    <a:pt x="7032068" y="0"/>
                  </a:lnTo>
                  <a:cubicBezTo>
                    <a:pt x="7125794" y="0"/>
                    <a:pt x="7201815" y="120984"/>
                    <a:pt x="7201815" y="270145"/>
                  </a:cubicBezTo>
                  <a:lnTo>
                    <a:pt x="7201815" y="5095629"/>
                  </a:lnTo>
                  <a:cubicBezTo>
                    <a:pt x="7201815" y="5244789"/>
                    <a:pt x="7125794" y="5365774"/>
                    <a:pt x="7032068" y="5365774"/>
                  </a:cubicBezTo>
                  <a:lnTo>
                    <a:pt x="169746" y="5365774"/>
                  </a:lnTo>
                  <a:cubicBezTo>
                    <a:pt x="76021" y="5365774"/>
                    <a:pt x="0" y="5244789"/>
                    <a:pt x="0" y="5095629"/>
                  </a:cubicBezTo>
                  <a:close/>
                </a:path>
              </a:pathLst>
            </a:custGeom>
            <a:solidFill>
              <a:srgbClr val="14345C"/>
            </a:solidFill>
            <a:ln w="14288" cap="sq">
              <a:solidFill>
                <a:srgbClr val="14345C"/>
              </a:solidFill>
              <a:prstDash val="solid"/>
              <a:miter/>
            </a:ln>
          </p:spPr>
        </p:sp>
      </p:grpSp>
      <p:grpSp>
        <p:nvGrpSpPr>
          <p:cNvPr name="Group 26" id="26"/>
          <p:cNvGrpSpPr/>
          <p:nvPr/>
        </p:nvGrpSpPr>
        <p:grpSpPr>
          <a:xfrm rot="0">
            <a:off x="12179295" y="2002536"/>
            <a:ext cx="2877474" cy="411480"/>
            <a:chOff x="0" y="0"/>
            <a:chExt cx="3836632" cy="548640"/>
          </a:xfrm>
        </p:grpSpPr>
        <p:grpSp>
          <p:nvGrpSpPr>
            <p:cNvPr name="Group 27" id="27"/>
            <p:cNvGrpSpPr/>
            <p:nvPr/>
          </p:nvGrpSpPr>
          <p:grpSpPr>
            <a:xfrm rot="0">
              <a:off x="0" y="0"/>
              <a:ext cx="3836632" cy="548640"/>
              <a:chOff x="0" y="0"/>
              <a:chExt cx="3836632" cy="548640"/>
            </a:xfrm>
          </p:grpSpPr>
          <p:sp>
            <p:nvSpPr>
              <p:cNvPr name="Freeform 28" id="28"/>
              <p:cNvSpPr/>
              <p:nvPr/>
            </p:nvSpPr>
            <p:spPr>
              <a:xfrm flipH="false" flipV="false" rot="0">
                <a:off x="0" y="0"/>
                <a:ext cx="3836670" cy="548640"/>
              </a:xfrm>
              <a:custGeom>
                <a:avLst/>
                <a:gdLst/>
                <a:ahLst/>
                <a:cxnLst/>
                <a:rect r="r" b="b" t="t" l="l"/>
                <a:pathLst>
                  <a:path h="548640" w="3836670">
                    <a:moveTo>
                      <a:pt x="0" y="274320"/>
                    </a:moveTo>
                    <a:cubicBezTo>
                      <a:pt x="0" y="122809"/>
                      <a:pt x="122809" y="0"/>
                      <a:pt x="274320" y="0"/>
                    </a:cubicBezTo>
                    <a:lnTo>
                      <a:pt x="3562350" y="0"/>
                    </a:lnTo>
                    <a:cubicBezTo>
                      <a:pt x="3713861" y="0"/>
                      <a:pt x="3836670" y="122809"/>
                      <a:pt x="3836670" y="274320"/>
                    </a:cubicBezTo>
                    <a:cubicBezTo>
                      <a:pt x="3836670" y="425831"/>
                      <a:pt x="3713861" y="548640"/>
                      <a:pt x="3562350" y="548640"/>
                    </a:cubicBezTo>
                    <a:lnTo>
                      <a:pt x="274320" y="548640"/>
                    </a:lnTo>
                    <a:cubicBezTo>
                      <a:pt x="122809" y="548640"/>
                      <a:pt x="0" y="425831"/>
                      <a:pt x="0" y="274320"/>
                    </a:cubicBezTo>
                    <a:close/>
                  </a:path>
                </a:pathLst>
              </a:custGeom>
              <a:solidFill>
                <a:srgbClr val="F08418"/>
              </a:solidFill>
            </p:spPr>
          </p:sp>
        </p:grpSp>
        <p:grpSp>
          <p:nvGrpSpPr>
            <p:cNvPr name="Group 29" id="29"/>
            <p:cNvGrpSpPr/>
            <p:nvPr/>
          </p:nvGrpSpPr>
          <p:grpSpPr>
            <a:xfrm rot="0">
              <a:off x="0" y="0"/>
              <a:ext cx="3836632" cy="548640"/>
              <a:chOff x="0" y="0"/>
              <a:chExt cx="3836632" cy="548640"/>
            </a:xfrm>
          </p:grpSpPr>
          <p:sp>
            <p:nvSpPr>
              <p:cNvPr name="Freeform 30" id="30"/>
              <p:cNvSpPr/>
              <p:nvPr/>
            </p:nvSpPr>
            <p:spPr>
              <a:xfrm flipH="false" flipV="false" rot="0">
                <a:off x="0" y="0"/>
                <a:ext cx="3836638" cy="548640"/>
              </a:xfrm>
              <a:custGeom>
                <a:avLst/>
                <a:gdLst/>
                <a:ahLst/>
                <a:cxnLst/>
                <a:rect r="r" b="b" t="t" l="l"/>
                <a:pathLst>
                  <a:path h="548640" w="3836638">
                    <a:moveTo>
                      <a:pt x="0" y="0"/>
                    </a:moveTo>
                    <a:lnTo>
                      <a:pt x="3836638" y="0"/>
                    </a:lnTo>
                    <a:lnTo>
                      <a:pt x="3836638" y="548640"/>
                    </a:lnTo>
                    <a:lnTo>
                      <a:pt x="0" y="548640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l="0" t="-86258" r="0" b="-86258"/>
                </a:stretch>
              </a:blipFill>
            </p:spPr>
          </p:sp>
          <p:sp>
            <p:nvSpPr>
              <p:cNvPr name="TextBox 31" id="31"/>
              <p:cNvSpPr txBox="true"/>
              <p:nvPr/>
            </p:nvSpPr>
            <p:spPr>
              <a:xfrm>
                <a:off x="0" y="-19050"/>
                <a:ext cx="3836632" cy="567690"/>
              </a:xfrm>
              <a:prstGeom prst="rect">
                <a:avLst/>
              </a:prstGeom>
            </p:spPr>
            <p:txBody>
              <a:bodyPr anchor="ctr" rtlCol="false" tIns="0" lIns="0" bIns="0" rIns="0"/>
              <a:lstStyle/>
              <a:p>
                <a:pPr algn="ctr">
                  <a:lnSpc>
                    <a:spcPts val="1889"/>
                  </a:lnSpc>
                </a:pPr>
                <a:r>
                  <a:rPr lang="en-US" b="true" sz="1575" spc="224">
                    <a:solidFill>
                      <a:srgbClr val="14345C"/>
                    </a:solidFill>
                    <a:latin typeface="Calibri (MS) Bold"/>
                    <a:ea typeface="Calibri (MS) Bold"/>
                    <a:cs typeface="Calibri (MS) Bold"/>
                    <a:sym typeface="Calibri (MS) Bold"/>
                  </a:rPr>
                  <a:t>PROPOSED SOLUTION</a:t>
                </a:r>
              </a:p>
            </p:txBody>
          </p:sp>
        </p:grpSp>
      </p:grpSp>
      <p:grpSp>
        <p:nvGrpSpPr>
          <p:cNvPr name="Group 32" id="32"/>
          <p:cNvGrpSpPr/>
          <p:nvPr/>
        </p:nvGrpSpPr>
        <p:grpSpPr>
          <a:xfrm rot="0">
            <a:off x="7281283" y="5313140"/>
            <a:ext cx="3689737" cy="384048"/>
            <a:chOff x="0" y="0"/>
            <a:chExt cx="4919650" cy="512064"/>
          </a:xfrm>
        </p:grpSpPr>
        <p:grpSp>
          <p:nvGrpSpPr>
            <p:cNvPr name="Group 33" id="33"/>
            <p:cNvGrpSpPr/>
            <p:nvPr/>
          </p:nvGrpSpPr>
          <p:grpSpPr>
            <a:xfrm rot="0">
              <a:off x="0" y="0"/>
              <a:ext cx="4919650" cy="512064"/>
              <a:chOff x="0" y="0"/>
              <a:chExt cx="4919650" cy="512064"/>
            </a:xfrm>
          </p:grpSpPr>
          <p:sp>
            <p:nvSpPr>
              <p:cNvPr name="Freeform 34" id="34"/>
              <p:cNvSpPr/>
              <p:nvPr/>
            </p:nvSpPr>
            <p:spPr>
              <a:xfrm flipH="false" flipV="false" rot="0">
                <a:off x="0" y="0"/>
                <a:ext cx="4919599" cy="512064"/>
              </a:xfrm>
              <a:custGeom>
                <a:avLst/>
                <a:gdLst/>
                <a:ahLst/>
                <a:cxnLst/>
                <a:rect r="r" b="b" t="t" l="l"/>
                <a:pathLst>
                  <a:path h="512064" w="4919599">
                    <a:moveTo>
                      <a:pt x="0" y="256032"/>
                    </a:moveTo>
                    <a:cubicBezTo>
                      <a:pt x="0" y="114681"/>
                      <a:pt x="114681" y="0"/>
                      <a:pt x="256032" y="0"/>
                    </a:cubicBezTo>
                    <a:lnTo>
                      <a:pt x="4663567" y="0"/>
                    </a:lnTo>
                    <a:cubicBezTo>
                      <a:pt x="4804918" y="0"/>
                      <a:pt x="4919599" y="114681"/>
                      <a:pt x="4919599" y="256032"/>
                    </a:cubicBezTo>
                    <a:cubicBezTo>
                      <a:pt x="4919599" y="397383"/>
                      <a:pt x="4804918" y="512064"/>
                      <a:pt x="4663567" y="512064"/>
                    </a:cubicBezTo>
                    <a:lnTo>
                      <a:pt x="256032" y="512064"/>
                    </a:lnTo>
                    <a:cubicBezTo>
                      <a:pt x="114681" y="512064"/>
                      <a:pt x="0" y="397383"/>
                      <a:pt x="0" y="256032"/>
                    </a:cubicBezTo>
                    <a:close/>
                  </a:path>
                </a:pathLst>
              </a:custGeom>
              <a:solidFill>
                <a:srgbClr val="FDEEDD"/>
              </a:solidFill>
            </p:spPr>
          </p:sp>
        </p:grpSp>
        <p:grpSp>
          <p:nvGrpSpPr>
            <p:cNvPr name="Group 35" id="35"/>
            <p:cNvGrpSpPr/>
            <p:nvPr/>
          </p:nvGrpSpPr>
          <p:grpSpPr>
            <a:xfrm rot="0">
              <a:off x="0" y="0"/>
              <a:ext cx="4919650" cy="512064"/>
              <a:chOff x="0" y="0"/>
              <a:chExt cx="4919650" cy="512064"/>
            </a:xfrm>
          </p:grpSpPr>
          <p:sp>
            <p:nvSpPr>
              <p:cNvPr name="Freeform 36" id="36"/>
              <p:cNvSpPr/>
              <p:nvPr/>
            </p:nvSpPr>
            <p:spPr>
              <a:xfrm flipH="false" flipV="false" rot="0">
                <a:off x="0" y="0"/>
                <a:ext cx="4919654" cy="512064"/>
              </a:xfrm>
              <a:custGeom>
                <a:avLst/>
                <a:gdLst/>
                <a:ahLst/>
                <a:cxnLst/>
                <a:rect r="r" b="b" t="t" l="l"/>
                <a:pathLst>
                  <a:path h="512064" w="4919654">
                    <a:moveTo>
                      <a:pt x="0" y="0"/>
                    </a:moveTo>
                    <a:lnTo>
                      <a:pt x="4919654" y="0"/>
                    </a:lnTo>
                    <a:lnTo>
                      <a:pt x="4919654" y="512064"/>
                    </a:lnTo>
                    <a:lnTo>
                      <a:pt x="0" y="512064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l="0" t="-137202" r="0" b="-137202"/>
                </a:stretch>
              </a:blipFill>
            </p:spPr>
          </p:sp>
          <p:sp>
            <p:nvSpPr>
              <p:cNvPr name="TextBox 37" id="37"/>
              <p:cNvSpPr txBox="true"/>
              <p:nvPr/>
            </p:nvSpPr>
            <p:spPr>
              <a:xfrm>
                <a:off x="0" y="-19050"/>
                <a:ext cx="4919650" cy="531114"/>
              </a:xfrm>
              <a:prstGeom prst="rect">
                <a:avLst/>
              </a:prstGeom>
            </p:spPr>
            <p:txBody>
              <a:bodyPr anchor="ctr" rtlCol="false" tIns="0" lIns="0" bIns="0" rIns="0"/>
              <a:lstStyle/>
              <a:p>
                <a:pPr algn="ctr">
                  <a:lnSpc>
                    <a:spcPts val="1889"/>
                  </a:lnSpc>
                </a:pPr>
                <a:r>
                  <a:rPr lang="en-US" b="true" sz="1575" spc="224">
                    <a:solidFill>
                      <a:srgbClr val="B35A00"/>
                    </a:solidFill>
                    <a:latin typeface="Calibri (MS) Bold"/>
                    <a:ea typeface="Calibri (MS) Bold"/>
                    <a:cs typeface="Calibri (MS) Bold"/>
                    <a:sym typeface="Calibri (MS) Bold"/>
                  </a:rPr>
                  <a:t>INNOVATION / UNIQUENESS</a:t>
                </a:r>
              </a:p>
            </p:txBody>
          </p:sp>
        </p:grpSp>
      </p:grpSp>
      <p:grpSp>
        <p:nvGrpSpPr>
          <p:cNvPr name="Group 38" id="38"/>
          <p:cNvGrpSpPr/>
          <p:nvPr/>
        </p:nvGrpSpPr>
        <p:grpSpPr>
          <a:xfrm rot="0">
            <a:off x="815816" y="6100486"/>
            <a:ext cx="3178016" cy="1523048"/>
            <a:chOff x="0" y="0"/>
            <a:chExt cx="4237355" cy="2030730"/>
          </a:xfrm>
        </p:grpSpPr>
        <p:sp>
          <p:nvSpPr>
            <p:cNvPr name="Freeform 39" id="39"/>
            <p:cNvSpPr/>
            <p:nvPr/>
          </p:nvSpPr>
          <p:spPr>
            <a:xfrm flipH="false" flipV="false" rot="0">
              <a:off x="0" y="0"/>
              <a:ext cx="4237355" cy="2030730"/>
            </a:xfrm>
            <a:custGeom>
              <a:avLst/>
              <a:gdLst/>
              <a:ahLst/>
              <a:cxnLst/>
              <a:rect r="r" b="b" t="t" l="l"/>
              <a:pathLst>
                <a:path h="2030730" w="4237355">
                  <a:moveTo>
                    <a:pt x="0" y="258445"/>
                  </a:moveTo>
                  <a:cubicBezTo>
                    <a:pt x="0" y="115697"/>
                    <a:pt x="115697" y="0"/>
                    <a:pt x="258445" y="0"/>
                  </a:cubicBezTo>
                  <a:lnTo>
                    <a:pt x="3978910" y="0"/>
                  </a:lnTo>
                  <a:cubicBezTo>
                    <a:pt x="4121658" y="0"/>
                    <a:pt x="4237355" y="115697"/>
                    <a:pt x="4237355" y="258445"/>
                  </a:cubicBezTo>
                  <a:lnTo>
                    <a:pt x="4237355" y="1772285"/>
                  </a:lnTo>
                  <a:cubicBezTo>
                    <a:pt x="4237355" y="1915033"/>
                    <a:pt x="4121658" y="2030730"/>
                    <a:pt x="3978910" y="2030730"/>
                  </a:cubicBezTo>
                  <a:lnTo>
                    <a:pt x="258445" y="2030730"/>
                  </a:lnTo>
                  <a:cubicBezTo>
                    <a:pt x="115697" y="2030730"/>
                    <a:pt x="0" y="1915033"/>
                    <a:pt x="0" y="1772285"/>
                  </a:cubicBezTo>
                  <a:close/>
                </a:path>
              </a:pathLst>
            </a:custGeom>
            <a:solidFill>
              <a:srgbClr val="FFFFFF"/>
            </a:solidFill>
            <a:ln w="14288" cap="sq">
              <a:solidFill>
                <a:srgbClr val="D6E1EE"/>
              </a:solidFill>
              <a:prstDash val="solid"/>
              <a:miter/>
            </a:ln>
          </p:spPr>
        </p:sp>
      </p:grpSp>
      <p:grpSp>
        <p:nvGrpSpPr>
          <p:cNvPr name="Group 40" id="40"/>
          <p:cNvGrpSpPr/>
          <p:nvPr/>
        </p:nvGrpSpPr>
        <p:grpSpPr>
          <a:xfrm rot="0">
            <a:off x="1014984" y="6231073"/>
            <a:ext cx="2285905" cy="411480"/>
            <a:chOff x="0" y="0"/>
            <a:chExt cx="3047873" cy="548640"/>
          </a:xfrm>
        </p:grpSpPr>
        <p:sp>
          <p:nvSpPr>
            <p:cNvPr name="Freeform 41" id="41"/>
            <p:cNvSpPr/>
            <p:nvPr/>
          </p:nvSpPr>
          <p:spPr>
            <a:xfrm flipH="false" flipV="false" rot="0">
              <a:off x="0" y="0"/>
              <a:ext cx="3047878" cy="548640"/>
            </a:xfrm>
            <a:custGeom>
              <a:avLst/>
              <a:gdLst/>
              <a:ahLst/>
              <a:cxnLst/>
              <a:rect r="r" b="b" t="t" l="l"/>
              <a:pathLst>
                <a:path h="548640" w="3047878">
                  <a:moveTo>
                    <a:pt x="0" y="0"/>
                  </a:moveTo>
                  <a:lnTo>
                    <a:pt x="3047878" y="0"/>
                  </a:lnTo>
                  <a:lnTo>
                    <a:pt x="3047878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58245" r="0" b="-58245"/>
              </a:stretch>
            </a:blipFill>
          </p:spPr>
        </p:sp>
        <p:sp>
          <p:nvSpPr>
            <p:cNvPr name="TextBox 42" id="42"/>
            <p:cNvSpPr txBox="true"/>
            <p:nvPr/>
          </p:nvSpPr>
          <p:spPr>
            <a:xfrm>
              <a:off x="0" y="-28575"/>
              <a:ext cx="3047873" cy="57721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980"/>
                </a:lnSpc>
              </a:pPr>
              <a:r>
                <a:rPr lang="en-US" sz="1650" b="true">
                  <a:solidFill>
                    <a:srgbClr val="1F497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Dual-Brain Architecture</a:t>
              </a:r>
            </a:p>
          </p:txBody>
        </p:sp>
      </p:grpSp>
      <p:grpSp>
        <p:nvGrpSpPr>
          <p:cNvPr name="Group 43" id="43"/>
          <p:cNvGrpSpPr/>
          <p:nvPr/>
        </p:nvGrpSpPr>
        <p:grpSpPr>
          <a:xfrm rot="0">
            <a:off x="3383185" y="6231073"/>
            <a:ext cx="411480" cy="411480"/>
            <a:chOff x="0" y="0"/>
            <a:chExt cx="548640" cy="548640"/>
          </a:xfrm>
        </p:grpSpPr>
        <p:sp>
          <p:nvSpPr>
            <p:cNvPr name="Freeform 44" id="44"/>
            <p:cNvSpPr/>
            <p:nvPr/>
          </p:nvSpPr>
          <p:spPr>
            <a:xfrm flipH="false" flipV="false" rot="0">
              <a:off x="0" y="0"/>
              <a:ext cx="548640" cy="548640"/>
            </a:xfrm>
            <a:custGeom>
              <a:avLst/>
              <a:gdLst/>
              <a:ahLst/>
              <a:cxnLst/>
              <a:rect r="r" b="b" t="t" l="l"/>
              <a:pathLst>
                <a:path h="548640" w="548640">
                  <a:moveTo>
                    <a:pt x="0" y="274320"/>
                  </a:moveTo>
                  <a:cubicBezTo>
                    <a:pt x="0" y="122809"/>
                    <a:pt x="122809" y="0"/>
                    <a:pt x="274320" y="0"/>
                  </a:cubicBezTo>
                  <a:cubicBezTo>
                    <a:pt x="425831" y="0"/>
                    <a:pt x="548640" y="122809"/>
                    <a:pt x="548640" y="274320"/>
                  </a:cubicBezTo>
                  <a:cubicBezTo>
                    <a:pt x="548640" y="425831"/>
                    <a:pt x="425831" y="548640"/>
                    <a:pt x="274320" y="548640"/>
                  </a:cubicBezTo>
                  <a:cubicBezTo>
                    <a:pt x="122809" y="548640"/>
                    <a:pt x="0" y="425831"/>
                    <a:pt x="0" y="274320"/>
                  </a:cubicBezTo>
                  <a:close/>
                </a:path>
              </a:pathLst>
            </a:custGeom>
            <a:solidFill>
              <a:srgbClr val="FDEEDD"/>
            </a:solidFill>
          </p:spPr>
        </p:sp>
      </p:grpSp>
      <p:grpSp>
        <p:nvGrpSpPr>
          <p:cNvPr name="Group 45" id="45"/>
          <p:cNvGrpSpPr/>
          <p:nvPr/>
        </p:nvGrpSpPr>
        <p:grpSpPr>
          <a:xfrm rot="0">
            <a:off x="3486055" y="6333943"/>
            <a:ext cx="205740" cy="205740"/>
            <a:chOff x="0" y="0"/>
            <a:chExt cx="274320" cy="274320"/>
          </a:xfrm>
        </p:grpSpPr>
        <p:sp>
          <p:nvSpPr>
            <p:cNvPr name="Freeform 46" id="46" descr="Dual-Brain Architecture icon"/>
            <p:cNvSpPr/>
            <p:nvPr/>
          </p:nvSpPr>
          <p:spPr>
            <a:xfrm flipH="false" flipV="false" rot="0">
              <a:off x="0" y="0"/>
              <a:ext cx="274320" cy="274320"/>
            </a:xfrm>
            <a:custGeom>
              <a:avLst/>
              <a:gdLst/>
              <a:ahLst/>
              <a:cxnLst/>
              <a:rect r="r" b="b" t="t" l="l"/>
              <a:pathLst>
                <a:path h="274320" w="274320">
                  <a:moveTo>
                    <a:pt x="0" y="0"/>
                  </a:moveTo>
                  <a:lnTo>
                    <a:pt x="274320" y="0"/>
                  </a:lnTo>
                  <a:lnTo>
                    <a:pt x="274320" y="274320"/>
                  </a:lnTo>
                  <a:lnTo>
                    <a:pt x="0" y="27432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l="0" t="0" r="0" b="0"/>
              </a:stretch>
            </a:blipFill>
          </p:spPr>
        </p:sp>
      </p:grpSp>
      <p:grpSp>
        <p:nvGrpSpPr>
          <p:cNvPr name="Group 47" id="47"/>
          <p:cNvGrpSpPr/>
          <p:nvPr/>
        </p:nvGrpSpPr>
        <p:grpSpPr>
          <a:xfrm rot="0">
            <a:off x="4185285" y="6100486"/>
            <a:ext cx="3178016" cy="1523048"/>
            <a:chOff x="0" y="0"/>
            <a:chExt cx="4237355" cy="2030730"/>
          </a:xfrm>
        </p:grpSpPr>
        <p:sp>
          <p:nvSpPr>
            <p:cNvPr name="Freeform 48" id="48"/>
            <p:cNvSpPr/>
            <p:nvPr/>
          </p:nvSpPr>
          <p:spPr>
            <a:xfrm flipH="false" flipV="false" rot="0">
              <a:off x="0" y="0"/>
              <a:ext cx="4237355" cy="2030730"/>
            </a:xfrm>
            <a:custGeom>
              <a:avLst/>
              <a:gdLst/>
              <a:ahLst/>
              <a:cxnLst/>
              <a:rect r="r" b="b" t="t" l="l"/>
              <a:pathLst>
                <a:path h="2030730" w="4237355">
                  <a:moveTo>
                    <a:pt x="0" y="258445"/>
                  </a:moveTo>
                  <a:cubicBezTo>
                    <a:pt x="0" y="115697"/>
                    <a:pt x="115697" y="0"/>
                    <a:pt x="258445" y="0"/>
                  </a:cubicBezTo>
                  <a:lnTo>
                    <a:pt x="3978910" y="0"/>
                  </a:lnTo>
                  <a:cubicBezTo>
                    <a:pt x="4121658" y="0"/>
                    <a:pt x="4237355" y="115697"/>
                    <a:pt x="4237355" y="258445"/>
                  </a:cubicBezTo>
                  <a:lnTo>
                    <a:pt x="4237355" y="1772285"/>
                  </a:lnTo>
                  <a:cubicBezTo>
                    <a:pt x="4237355" y="1915033"/>
                    <a:pt x="4121658" y="2030730"/>
                    <a:pt x="3978910" y="2030730"/>
                  </a:cubicBezTo>
                  <a:lnTo>
                    <a:pt x="258445" y="2030730"/>
                  </a:lnTo>
                  <a:cubicBezTo>
                    <a:pt x="115697" y="2030730"/>
                    <a:pt x="0" y="1915033"/>
                    <a:pt x="0" y="1772285"/>
                  </a:cubicBezTo>
                  <a:close/>
                </a:path>
              </a:pathLst>
            </a:custGeom>
            <a:solidFill>
              <a:srgbClr val="FFFFFF"/>
            </a:solidFill>
            <a:ln w="14288" cap="sq">
              <a:solidFill>
                <a:srgbClr val="D6E1EE"/>
              </a:solidFill>
              <a:prstDash val="solid"/>
              <a:miter/>
            </a:ln>
          </p:spPr>
        </p:sp>
      </p:grpSp>
      <p:grpSp>
        <p:nvGrpSpPr>
          <p:cNvPr name="Group 49" id="49"/>
          <p:cNvGrpSpPr/>
          <p:nvPr/>
        </p:nvGrpSpPr>
        <p:grpSpPr>
          <a:xfrm rot="0">
            <a:off x="4384453" y="6231073"/>
            <a:ext cx="2285905" cy="411480"/>
            <a:chOff x="0" y="0"/>
            <a:chExt cx="3047873" cy="548640"/>
          </a:xfrm>
        </p:grpSpPr>
        <p:sp>
          <p:nvSpPr>
            <p:cNvPr name="Freeform 50" id="50"/>
            <p:cNvSpPr/>
            <p:nvPr/>
          </p:nvSpPr>
          <p:spPr>
            <a:xfrm flipH="false" flipV="false" rot="0">
              <a:off x="0" y="0"/>
              <a:ext cx="3047878" cy="548640"/>
            </a:xfrm>
            <a:custGeom>
              <a:avLst/>
              <a:gdLst/>
              <a:ahLst/>
              <a:cxnLst/>
              <a:rect r="r" b="b" t="t" l="l"/>
              <a:pathLst>
                <a:path h="548640" w="3047878">
                  <a:moveTo>
                    <a:pt x="0" y="0"/>
                  </a:moveTo>
                  <a:lnTo>
                    <a:pt x="3047878" y="0"/>
                  </a:lnTo>
                  <a:lnTo>
                    <a:pt x="3047878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58245" r="0" b="-58245"/>
              </a:stretch>
            </a:blipFill>
          </p:spPr>
        </p:sp>
        <p:sp>
          <p:nvSpPr>
            <p:cNvPr name="TextBox 51" id="51"/>
            <p:cNvSpPr txBox="true"/>
            <p:nvPr/>
          </p:nvSpPr>
          <p:spPr>
            <a:xfrm>
              <a:off x="0" y="-28575"/>
              <a:ext cx="3047873" cy="57721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980"/>
                </a:lnSpc>
              </a:pPr>
              <a:r>
                <a:rPr lang="en-US" sz="1650" b="true">
                  <a:solidFill>
                    <a:srgbClr val="1F497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5W Edge YOLO</a:t>
              </a:r>
            </a:p>
          </p:txBody>
        </p:sp>
      </p:grpSp>
      <p:grpSp>
        <p:nvGrpSpPr>
          <p:cNvPr name="Group 52" id="52"/>
          <p:cNvGrpSpPr/>
          <p:nvPr/>
        </p:nvGrpSpPr>
        <p:grpSpPr>
          <a:xfrm rot="0">
            <a:off x="6752663" y="6231073"/>
            <a:ext cx="411480" cy="411480"/>
            <a:chOff x="0" y="0"/>
            <a:chExt cx="548640" cy="548640"/>
          </a:xfrm>
        </p:grpSpPr>
        <p:sp>
          <p:nvSpPr>
            <p:cNvPr name="Freeform 53" id="53"/>
            <p:cNvSpPr/>
            <p:nvPr/>
          </p:nvSpPr>
          <p:spPr>
            <a:xfrm flipH="false" flipV="false" rot="0">
              <a:off x="0" y="0"/>
              <a:ext cx="548640" cy="548640"/>
            </a:xfrm>
            <a:custGeom>
              <a:avLst/>
              <a:gdLst/>
              <a:ahLst/>
              <a:cxnLst/>
              <a:rect r="r" b="b" t="t" l="l"/>
              <a:pathLst>
                <a:path h="548640" w="548640">
                  <a:moveTo>
                    <a:pt x="0" y="274320"/>
                  </a:moveTo>
                  <a:cubicBezTo>
                    <a:pt x="0" y="122809"/>
                    <a:pt x="122809" y="0"/>
                    <a:pt x="274320" y="0"/>
                  </a:cubicBezTo>
                  <a:cubicBezTo>
                    <a:pt x="425831" y="0"/>
                    <a:pt x="548640" y="122809"/>
                    <a:pt x="548640" y="274320"/>
                  </a:cubicBezTo>
                  <a:cubicBezTo>
                    <a:pt x="548640" y="425831"/>
                    <a:pt x="425831" y="548640"/>
                    <a:pt x="274320" y="548640"/>
                  </a:cubicBezTo>
                  <a:cubicBezTo>
                    <a:pt x="122809" y="548640"/>
                    <a:pt x="0" y="425831"/>
                    <a:pt x="0" y="274320"/>
                  </a:cubicBezTo>
                  <a:close/>
                </a:path>
              </a:pathLst>
            </a:custGeom>
            <a:solidFill>
              <a:srgbClr val="FDEEDD"/>
            </a:solidFill>
          </p:spPr>
        </p:sp>
      </p:grpSp>
      <p:grpSp>
        <p:nvGrpSpPr>
          <p:cNvPr name="Group 54" id="54"/>
          <p:cNvGrpSpPr/>
          <p:nvPr/>
        </p:nvGrpSpPr>
        <p:grpSpPr>
          <a:xfrm rot="0">
            <a:off x="6855533" y="6333943"/>
            <a:ext cx="205740" cy="205740"/>
            <a:chOff x="0" y="0"/>
            <a:chExt cx="274320" cy="274320"/>
          </a:xfrm>
        </p:grpSpPr>
        <p:sp>
          <p:nvSpPr>
            <p:cNvPr name="Freeform 55" id="55" descr="5W Edge YOLO icon"/>
            <p:cNvSpPr/>
            <p:nvPr/>
          </p:nvSpPr>
          <p:spPr>
            <a:xfrm flipH="false" flipV="false" rot="0">
              <a:off x="0" y="0"/>
              <a:ext cx="274320" cy="274320"/>
            </a:xfrm>
            <a:custGeom>
              <a:avLst/>
              <a:gdLst/>
              <a:ahLst/>
              <a:cxnLst/>
              <a:rect r="r" b="b" t="t" l="l"/>
              <a:pathLst>
                <a:path h="274320" w="274320">
                  <a:moveTo>
                    <a:pt x="0" y="0"/>
                  </a:moveTo>
                  <a:lnTo>
                    <a:pt x="274320" y="0"/>
                  </a:lnTo>
                  <a:lnTo>
                    <a:pt x="274320" y="274320"/>
                  </a:lnTo>
                  <a:lnTo>
                    <a:pt x="0" y="27432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 l="0" t="0" r="0" b="0"/>
              </a:stretch>
            </a:blipFill>
          </p:spPr>
        </p:sp>
      </p:grpSp>
      <p:grpSp>
        <p:nvGrpSpPr>
          <p:cNvPr name="Group 56" id="56"/>
          <p:cNvGrpSpPr/>
          <p:nvPr/>
        </p:nvGrpSpPr>
        <p:grpSpPr>
          <a:xfrm rot="0">
            <a:off x="7554763" y="6100486"/>
            <a:ext cx="3178016" cy="1523048"/>
            <a:chOff x="0" y="0"/>
            <a:chExt cx="4237355" cy="2030730"/>
          </a:xfrm>
        </p:grpSpPr>
        <p:sp>
          <p:nvSpPr>
            <p:cNvPr name="Freeform 57" id="57"/>
            <p:cNvSpPr/>
            <p:nvPr/>
          </p:nvSpPr>
          <p:spPr>
            <a:xfrm flipH="false" flipV="false" rot="0">
              <a:off x="0" y="0"/>
              <a:ext cx="4237355" cy="2030730"/>
            </a:xfrm>
            <a:custGeom>
              <a:avLst/>
              <a:gdLst/>
              <a:ahLst/>
              <a:cxnLst/>
              <a:rect r="r" b="b" t="t" l="l"/>
              <a:pathLst>
                <a:path h="2030730" w="4237355">
                  <a:moveTo>
                    <a:pt x="0" y="258445"/>
                  </a:moveTo>
                  <a:cubicBezTo>
                    <a:pt x="0" y="115697"/>
                    <a:pt x="115697" y="0"/>
                    <a:pt x="258445" y="0"/>
                  </a:cubicBezTo>
                  <a:lnTo>
                    <a:pt x="3978910" y="0"/>
                  </a:lnTo>
                  <a:cubicBezTo>
                    <a:pt x="4121658" y="0"/>
                    <a:pt x="4237355" y="115697"/>
                    <a:pt x="4237355" y="258445"/>
                  </a:cubicBezTo>
                  <a:lnTo>
                    <a:pt x="4237355" y="1772285"/>
                  </a:lnTo>
                  <a:cubicBezTo>
                    <a:pt x="4237355" y="1915033"/>
                    <a:pt x="4121658" y="2030730"/>
                    <a:pt x="3978910" y="2030730"/>
                  </a:cubicBezTo>
                  <a:lnTo>
                    <a:pt x="258445" y="2030730"/>
                  </a:lnTo>
                  <a:cubicBezTo>
                    <a:pt x="115697" y="2030730"/>
                    <a:pt x="0" y="1915033"/>
                    <a:pt x="0" y="1772285"/>
                  </a:cubicBezTo>
                  <a:close/>
                </a:path>
              </a:pathLst>
            </a:custGeom>
            <a:solidFill>
              <a:srgbClr val="FFFFFF"/>
            </a:solidFill>
            <a:ln w="14288" cap="sq">
              <a:solidFill>
                <a:srgbClr val="D6E1EE"/>
              </a:solidFill>
              <a:prstDash val="solid"/>
              <a:miter/>
            </a:ln>
          </p:spPr>
        </p:sp>
      </p:grpSp>
      <p:grpSp>
        <p:nvGrpSpPr>
          <p:cNvPr name="Group 58" id="58"/>
          <p:cNvGrpSpPr/>
          <p:nvPr/>
        </p:nvGrpSpPr>
        <p:grpSpPr>
          <a:xfrm rot="0">
            <a:off x="7753931" y="6231073"/>
            <a:ext cx="2285905" cy="411480"/>
            <a:chOff x="0" y="0"/>
            <a:chExt cx="3047873" cy="548640"/>
          </a:xfrm>
        </p:grpSpPr>
        <p:sp>
          <p:nvSpPr>
            <p:cNvPr name="Freeform 59" id="59"/>
            <p:cNvSpPr/>
            <p:nvPr/>
          </p:nvSpPr>
          <p:spPr>
            <a:xfrm flipH="false" flipV="false" rot="0">
              <a:off x="0" y="0"/>
              <a:ext cx="3047878" cy="548640"/>
            </a:xfrm>
            <a:custGeom>
              <a:avLst/>
              <a:gdLst/>
              <a:ahLst/>
              <a:cxnLst/>
              <a:rect r="r" b="b" t="t" l="l"/>
              <a:pathLst>
                <a:path h="548640" w="3047878">
                  <a:moveTo>
                    <a:pt x="0" y="0"/>
                  </a:moveTo>
                  <a:lnTo>
                    <a:pt x="3047878" y="0"/>
                  </a:lnTo>
                  <a:lnTo>
                    <a:pt x="3047878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58245" r="0" b="-58245"/>
              </a:stretch>
            </a:blipFill>
          </p:spPr>
        </p:sp>
        <p:sp>
          <p:nvSpPr>
            <p:cNvPr name="TextBox 60" id="60"/>
            <p:cNvSpPr txBox="true"/>
            <p:nvPr/>
          </p:nvSpPr>
          <p:spPr>
            <a:xfrm>
              <a:off x="0" y="-28575"/>
              <a:ext cx="3047873" cy="57721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980"/>
                </a:lnSpc>
              </a:pPr>
              <a:r>
                <a:rPr lang="en-US" sz="1650" b="true">
                  <a:solidFill>
                    <a:srgbClr val="1F497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Ray-Cast Geolocation</a:t>
              </a:r>
            </a:p>
          </p:txBody>
        </p:sp>
      </p:grpSp>
      <p:grpSp>
        <p:nvGrpSpPr>
          <p:cNvPr name="Group 61" id="61"/>
          <p:cNvGrpSpPr/>
          <p:nvPr/>
        </p:nvGrpSpPr>
        <p:grpSpPr>
          <a:xfrm rot="0">
            <a:off x="10122132" y="6231073"/>
            <a:ext cx="411480" cy="411480"/>
            <a:chOff x="0" y="0"/>
            <a:chExt cx="548640" cy="548640"/>
          </a:xfrm>
        </p:grpSpPr>
        <p:sp>
          <p:nvSpPr>
            <p:cNvPr name="Freeform 62" id="62"/>
            <p:cNvSpPr/>
            <p:nvPr/>
          </p:nvSpPr>
          <p:spPr>
            <a:xfrm flipH="false" flipV="false" rot="0">
              <a:off x="0" y="0"/>
              <a:ext cx="548640" cy="548640"/>
            </a:xfrm>
            <a:custGeom>
              <a:avLst/>
              <a:gdLst/>
              <a:ahLst/>
              <a:cxnLst/>
              <a:rect r="r" b="b" t="t" l="l"/>
              <a:pathLst>
                <a:path h="548640" w="548640">
                  <a:moveTo>
                    <a:pt x="0" y="274320"/>
                  </a:moveTo>
                  <a:cubicBezTo>
                    <a:pt x="0" y="122809"/>
                    <a:pt x="122809" y="0"/>
                    <a:pt x="274320" y="0"/>
                  </a:cubicBezTo>
                  <a:cubicBezTo>
                    <a:pt x="425831" y="0"/>
                    <a:pt x="548640" y="122809"/>
                    <a:pt x="548640" y="274320"/>
                  </a:cubicBezTo>
                  <a:cubicBezTo>
                    <a:pt x="548640" y="425831"/>
                    <a:pt x="425831" y="548640"/>
                    <a:pt x="274320" y="548640"/>
                  </a:cubicBezTo>
                  <a:cubicBezTo>
                    <a:pt x="122809" y="548640"/>
                    <a:pt x="0" y="425831"/>
                    <a:pt x="0" y="274320"/>
                  </a:cubicBezTo>
                  <a:close/>
                </a:path>
              </a:pathLst>
            </a:custGeom>
            <a:solidFill>
              <a:srgbClr val="FDEEDD"/>
            </a:solidFill>
          </p:spPr>
        </p:sp>
      </p:grpSp>
      <p:grpSp>
        <p:nvGrpSpPr>
          <p:cNvPr name="Group 63" id="63"/>
          <p:cNvGrpSpPr/>
          <p:nvPr/>
        </p:nvGrpSpPr>
        <p:grpSpPr>
          <a:xfrm rot="0">
            <a:off x="10225002" y="6333943"/>
            <a:ext cx="205740" cy="205740"/>
            <a:chOff x="0" y="0"/>
            <a:chExt cx="274320" cy="274320"/>
          </a:xfrm>
        </p:grpSpPr>
        <p:sp>
          <p:nvSpPr>
            <p:cNvPr name="Freeform 64" id="64" descr="Ray-Cast Geolocation icon"/>
            <p:cNvSpPr/>
            <p:nvPr/>
          </p:nvSpPr>
          <p:spPr>
            <a:xfrm flipH="false" flipV="false" rot="0">
              <a:off x="0" y="0"/>
              <a:ext cx="274320" cy="274320"/>
            </a:xfrm>
            <a:custGeom>
              <a:avLst/>
              <a:gdLst/>
              <a:ahLst/>
              <a:cxnLst/>
              <a:rect r="r" b="b" t="t" l="l"/>
              <a:pathLst>
                <a:path h="274320" w="274320">
                  <a:moveTo>
                    <a:pt x="0" y="0"/>
                  </a:moveTo>
                  <a:lnTo>
                    <a:pt x="274320" y="0"/>
                  </a:lnTo>
                  <a:lnTo>
                    <a:pt x="274320" y="274320"/>
                  </a:lnTo>
                  <a:lnTo>
                    <a:pt x="0" y="27432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>
                <a:fillRect l="0" t="0" r="0" b="0"/>
              </a:stretch>
            </a:blipFill>
          </p:spPr>
        </p:sp>
      </p:grpSp>
      <p:grpSp>
        <p:nvGrpSpPr>
          <p:cNvPr name="Group 65" id="65"/>
          <p:cNvGrpSpPr/>
          <p:nvPr/>
        </p:nvGrpSpPr>
        <p:grpSpPr>
          <a:xfrm rot="0">
            <a:off x="10924232" y="6100486"/>
            <a:ext cx="3178016" cy="1523048"/>
            <a:chOff x="0" y="0"/>
            <a:chExt cx="4237355" cy="2030730"/>
          </a:xfrm>
        </p:grpSpPr>
        <p:sp>
          <p:nvSpPr>
            <p:cNvPr name="Freeform 66" id="66"/>
            <p:cNvSpPr/>
            <p:nvPr/>
          </p:nvSpPr>
          <p:spPr>
            <a:xfrm flipH="false" flipV="false" rot="0">
              <a:off x="0" y="0"/>
              <a:ext cx="4237355" cy="2030730"/>
            </a:xfrm>
            <a:custGeom>
              <a:avLst/>
              <a:gdLst/>
              <a:ahLst/>
              <a:cxnLst/>
              <a:rect r="r" b="b" t="t" l="l"/>
              <a:pathLst>
                <a:path h="2030730" w="4237355">
                  <a:moveTo>
                    <a:pt x="0" y="258445"/>
                  </a:moveTo>
                  <a:cubicBezTo>
                    <a:pt x="0" y="115697"/>
                    <a:pt x="115697" y="0"/>
                    <a:pt x="258445" y="0"/>
                  </a:cubicBezTo>
                  <a:lnTo>
                    <a:pt x="3978910" y="0"/>
                  </a:lnTo>
                  <a:cubicBezTo>
                    <a:pt x="4121658" y="0"/>
                    <a:pt x="4237355" y="115697"/>
                    <a:pt x="4237355" y="258445"/>
                  </a:cubicBezTo>
                  <a:lnTo>
                    <a:pt x="4237355" y="1772285"/>
                  </a:lnTo>
                  <a:cubicBezTo>
                    <a:pt x="4237355" y="1915033"/>
                    <a:pt x="4121658" y="2030730"/>
                    <a:pt x="3978910" y="2030730"/>
                  </a:cubicBezTo>
                  <a:lnTo>
                    <a:pt x="258445" y="2030730"/>
                  </a:lnTo>
                  <a:cubicBezTo>
                    <a:pt x="115697" y="2030730"/>
                    <a:pt x="0" y="1915033"/>
                    <a:pt x="0" y="1772285"/>
                  </a:cubicBezTo>
                  <a:close/>
                </a:path>
              </a:pathLst>
            </a:custGeom>
            <a:solidFill>
              <a:srgbClr val="FFFFFF"/>
            </a:solidFill>
            <a:ln w="14288" cap="sq">
              <a:solidFill>
                <a:srgbClr val="D6E1EE"/>
              </a:solidFill>
              <a:prstDash val="solid"/>
              <a:miter/>
            </a:ln>
          </p:spPr>
        </p:sp>
      </p:grpSp>
      <p:grpSp>
        <p:nvGrpSpPr>
          <p:cNvPr name="Group 67" id="67"/>
          <p:cNvGrpSpPr/>
          <p:nvPr/>
        </p:nvGrpSpPr>
        <p:grpSpPr>
          <a:xfrm rot="0">
            <a:off x="11123400" y="6231073"/>
            <a:ext cx="2285905" cy="411480"/>
            <a:chOff x="0" y="0"/>
            <a:chExt cx="3047873" cy="548640"/>
          </a:xfrm>
        </p:grpSpPr>
        <p:sp>
          <p:nvSpPr>
            <p:cNvPr name="Freeform 68" id="68"/>
            <p:cNvSpPr/>
            <p:nvPr/>
          </p:nvSpPr>
          <p:spPr>
            <a:xfrm flipH="false" flipV="false" rot="0">
              <a:off x="0" y="0"/>
              <a:ext cx="3047878" cy="548640"/>
            </a:xfrm>
            <a:custGeom>
              <a:avLst/>
              <a:gdLst/>
              <a:ahLst/>
              <a:cxnLst/>
              <a:rect r="r" b="b" t="t" l="l"/>
              <a:pathLst>
                <a:path h="548640" w="3047878">
                  <a:moveTo>
                    <a:pt x="0" y="0"/>
                  </a:moveTo>
                  <a:lnTo>
                    <a:pt x="3047878" y="0"/>
                  </a:lnTo>
                  <a:lnTo>
                    <a:pt x="3047878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58245" r="0" b="-58245"/>
              </a:stretch>
            </a:blipFill>
          </p:spPr>
        </p:sp>
        <p:sp>
          <p:nvSpPr>
            <p:cNvPr name="TextBox 69" id="69"/>
            <p:cNvSpPr txBox="true"/>
            <p:nvPr/>
          </p:nvSpPr>
          <p:spPr>
            <a:xfrm>
              <a:off x="0" y="-28575"/>
              <a:ext cx="3047873" cy="57721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980"/>
                </a:lnSpc>
              </a:pPr>
              <a:r>
                <a:rPr lang="en-US" sz="1650" b="true">
                  <a:solidFill>
                    <a:srgbClr val="1F497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ROS-LoRa P2P Bridge</a:t>
              </a:r>
            </a:p>
          </p:txBody>
        </p:sp>
      </p:grpSp>
      <p:grpSp>
        <p:nvGrpSpPr>
          <p:cNvPr name="Group 70" id="70"/>
          <p:cNvGrpSpPr/>
          <p:nvPr/>
        </p:nvGrpSpPr>
        <p:grpSpPr>
          <a:xfrm rot="0">
            <a:off x="13491610" y="6231073"/>
            <a:ext cx="411480" cy="411480"/>
            <a:chOff x="0" y="0"/>
            <a:chExt cx="548640" cy="548640"/>
          </a:xfrm>
        </p:grpSpPr>
        <p:sp>
          <p:nvSpPr>
            <p:cNvPr name="Freeform 71" id="71"/>
            <p:cNvSpPr/>
            <p:nvPr/>
          </p:nvSpPr>
          <p:spPr>
            <a:xfrm flipH="false" flipV="false" rot="0">
              <a:off x="0" y="0"/>
              <a:ext cx="548640" cy="548640"/>
            </a:xfrm>
            <a:custGeom>
              <a:avLst/>
              <a:gdLst/>
              <a:ahLst/>
              <a:cxnLst/>
              <a:rect r="r" b="b" t="t" l="l"/>
              <a:pathLst>
                <a:path h="548640" w="548640">
                  <a:moveTo>
                    <a:pt x="0" y="274320"/>
                  </a:moveTo>
                  <a:cubicBezTo>
                    <a:pt x="0" y="122809"/>
                    <a:pt x="122809" y="0"/>
                    <a:pt x="274320" y="0"/>
                  </a:cubicBezTo>
                  <a:cubicBezTo>
                    <a:pt x="425831" y="0"/>
                    <a:pt x="548640" y="122809"/>
                    <a:pt x="548640" y="274320"/>
                  </a:cubicBezTo>
                  <a:cubicBezTo>
                    <a:pt x="548640" y="425831"/>
                    <a:pt x="425831" y="548640"/>
                    <a:pt x="274320" y="548640"/>
                  </a:cubicBezTo>
                  <a:cubicBezTo>
                    <a:pt x="122809" y="548640"/>
                    <a:pt x="0" y="425831"/>
                    <a:pt x="0" y="274320"/>
                  </a:cubicBezTo>
                  <a:close/>
                </a:path>
              </a:pathLst>
            </a:custGeom>
            <a:solidFill>
              <a:srgbClr val="FDEEDD"/>
            </a:solidFill>
          </p:spPr>
        </p:sp>
      </p:grpSp>
      <p:grpSp>
        <p:nvGrpSpPr>
          <p:cNvPr name="Group 72" id="72"/>
          <p:cNvGrpSpPr/>
          <p:nvPr/>
        </p:nvGrpSpPr>
        <p:grpSpPr>
          <a:xfrm rot="0">
            <a:off x="13594480" y="6333943"/>
            <a:ext cx="205740" cy="205740"/>
            <a:chOff x="0" y="0"/>
            <a:chExt cx="274320" cy="274320"/>
          </a:xfrm>
        </p:grpSpPr>
        <p:sp>
          <p:nvSpPr>
            <p:cNvPr name="Freeform 73" id="73" descr="ROS-LoRa P2P Bridge icon"/>
            <p:cNvSpPr/>
            <p:nvPr/>
          </p:nvSpPr>
          <p:spPr>
            <a:xfrm flipH="false" flipV="false" rot="0">
              <a:off x="0" y="0"/>
              <a:ext cx="274320" cy="274320"/>
            </a:xfrm>
            <a:custGeom>
              <a:avLst/>
              <a:gdLst/>
              <a:ahLst/>
              <a:cxnLst/>
              <a:rect r="r" b="b" t="t" l="l"/>
              <a:pathLst>
                <a:path h="274320" w="274320">
                  <a:moveTo>
                    <a:pt x="0" y="0"/>
                  </a:moveTo>
                  <a:lnTo>
                    <a:pt x="274320" y="0"/>
                  </a:lnTo>
                  <a:lnTo>
                    <a:pt x="274320" y="274320"/>
                  </a:lnTo>
                  <a:lnTo>
                    <a:pt x="0" y="27432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>
                <a:fillRect l="0" t="0" r="0" b="0"/>
              </a:stretch>
            </a:blipFill>
          </p:spPr>
        </p:sp>
      </p:grpSp>
      <p:grpSp>
        <p:nvGrpSpPr>
          <p:cNvPr name="Group 74" id="74"/>
          <p:cNvGrpSpPr/>
          <p:nvPr/>
        </p:nvGrpSpPr>
        <p:grpSpPr>
          <a:xfrm rot="0">
            <a:off x="14293710" y="6100486"/>
            <a:ext cx="3178016" cy="1523048"/>
            <a:chOff x="0" y="0"/>
            <a:chExt cx="4106520" cy="2030730"/>
          </a:xfrm>
        </p:grpSpPr>
        <p:sp>
          <p:nvSpPr>
            <p:cNvPr name="Freeform 75" id="75"/>
            <p:cNvSpPr/>
            <p:nvPr/>
          </p:nvSpPr>
          <p:spPr>
            <a:xfrm flipH="false" flipV="false" rot="0">
              <a:off x="0" y="0"/>
              <a:ext cx="3178016" cy="2030730"/>
            </a:xfrm>
            <a:custGeom>
              <a:avLst/>
              <a:gdLst/>
              <a:ahLst/>
              <a:cxnLst/>
              <a:rect r="r" b="b" t="t" l="l"/>
              <a:pathLst>
                <a:path h="2030730" w="4106519">
                  <a:moveTo>
                    <a:pt x="0" y="258445"/>
                  </a:moveTo>
                  <a:cubicBezTo>
                    <a:pt x="0" y="115697"/>
                    <a:pt x="112125" y="0"/>
                    <a:pt x="250465" y="0"/>
                  </a:cubicBezTo>
                  <a:lnTo>
                    <a:pt x="3856055" y="0"/>
                  </a:lnTo>
                  <a:cubicBezTo>
                    <a:pt x="3994395" y="0"/>
                    <a:pt x="4106519" y="115697"/>
                    <a:pt x="4106519" y="258445"/>
                  </a:cubicBezTo>
                  <a:lnTo>
                    <a:pt x="4106519" y="1772285"/>
                  </a:lnTo>
                  <a:cubicBezTo>
                    <a:pt x="4106519" y="1915033"/>
                    <a:pt x="3994395" y="2030730"/>
                    <a:pt x="3856055" y="2030730"/>
                  </a:cubicBezTo>
                  <a:lnTo>
                    <a:pt x="250465" y="2030730"/>
                  </a:lnTo>
                  <a:cubicBezTo>
                    <a:pt x="112125" y="2030730"/>
                    <a:pt x="0" y="1915033"/>
                    <a:pt x="0" y="1772285"/>
                  </a:cubicBezTo>
                  <a:close/>
                </a:path>
              </a:pathLst>
            </a:custGeom>
            <a:solidFill>
              <a:srgbClr val="FFFFFF"/>
            </a:solidFill>
            <a:ln w="14288" cap="sq">
              <a:solidFill>
                <a:srgbClr val="D6E1EE"/>
              </a:solidFill>
              <a:prstDash val="solid"/>
              <a:miter/>
            </a:ln>
          </p:spPr>
        </p:sp>
      </p:grpSp>
      <p:grpSp>
        <p:nvGrpSpPr>
          <p:cNvPr name="Group 76" id="76"/>
          <p:cNvGrpSpPr/>
          <p:nvPr/>
        </p:nvGrpSpPr>
        <p:grpSpPr>
          <a:xfrm rot="0">
            <a:off x="14492878" y="6231073"/>
            <a:ext cx="2285905" cy="411480"/>
            <a:chOff x="0" y="0"/>
            <a:chExt cx="3047873" cy="548640"/>
          </a:xfrm>
        </p:grpSpPr>
        <p:sp>
          <p:nvSpPr>
            <p:cNvPr name="Freeform 77" id="77"/>
            <p:cNvSpPr/>
            <p:nvPr/>
          </p:nvSpPr>
          <p:spPr>
            <a:xfrm flipH="false" flipV="false" rot="0">
              <a:off x="0" y="0"/>
              <a:ext cx="3047878" cy="548640"/>
            </a:xfrm>
            <a:custGeom>
              <a:avLst/>
              <a:gdLst/>
              <a:ahLst/>
              <a:cxnLst/>
              <a:rect r="r" b="b" t="t" l="l"/>
              <a:pathLst>
                <a:path h="548640" w="3047878">
                  <a:moveTo>
                    <a:pt x="0" y="0"/>
                  </a:moveTo>
                  <a:lnTo>
                    <a:pt x="3047878" y="0"/>
                  </a:lnTo>
                  <a:lnTo>
                    <a:pt x="3047878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58245" r="0" b="-58245"/>
              </a:stretch>
            </a:blipFill>
          </p:spPr>
        </p:sp>
        <p:sp>
          <p:nvSpPr>
            <p:cNvPr name="TextBox 78" id="78"/>
            <p:cNvSpPr txBox="true"/>
            <p:nvPr/>
          </p:nvSpPr>
          <p:spPr>
            <a:xfrm>
              <a:off x="0" y="-28575"/>
              <a:ext cx="3047873" cy="57721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980"/>
                </a:lnSpc>
              </a:pPr>
              <a:r>
                <a:rPr lang="en-US" sz="1650" b="true">
                  <a:solidFill>
                    <a:srgbClr val="1F497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Anti-Compass Drift VIO</a:t>
              </a:r>
            </a:p>
          </p:txBody>
        </p:sp>
      </p:grpSp>
      <p:grpSp>
        <p:nvGrpSpPr>
          <p:cNvPr name="Group 79" id="79"/>
          <p:cNvGrpSpPr/>
          <p:nvPr/>
        </p:nvGrpSpPr>
        <p:grpSpPr>
          <a:xfrm rot="0">
            <a:off x="16861079" y="6231073"/>
            <a:ext cx="411480" cy="411480"/>
            <a:chOff x="0" y="0"/>
            <a:chExt cx="548640" cy="548640"/>
          </a:xfrm>
        </p:grpSpPr>
        <p:sp>
          <p:nvSpPr>
            <p:cNvPr name="Freeform 80" id="80"/>
            <p:cNvSpPr/>
            <p:nvPr/>
          </p:nvSpPr>
          <p:spPr>
            <a:xfrm flipH="false" flipV="false" rot="0">
              <a:off x="0" y="0"/>
              <a:ext cx="548640" cy="548640"/>
            </a:xfrm>
            <a:custGeom>
              <a:avLst/>
              <a:gdLst/>
              <a:ahLst/>
              <a:cxnLst/>
              <a:rect r="r" b="b" t="t" l="l"/>
              <a:pathLst>
                <a:path h="548640" w="548640">
                  <a:moveTo>
                    <a:pt x="0" y="274320"/>
                  </a:moveTo>
                  <a:cubicBezTo>
                    <a:pt x="0" y="122809"/>
                    <a:pt x="122809" y="0"/>
                    <a:pt x="274320" y="0"/>
                  </a:cubicBezTo>
                  <a:cubicBezTo>
                    <a:pt x="425831" y="0"/>
                    <a:pt x="548640" y="122809"/>
                    <a:pt x="548640" y="274320"/>
                  </a:cubicBezTo>
                  <a:cubicBezTo>
                    <a:pt x="548640" y="425831"/>
                    <a:pt x="425831" y="548640"/>
                    <a:pt x="274320" y="548640"/>
                  </a:cubicBezTo>
                  <a:cubicBezTo>
                    <a:pt x="122809" y="548640"/>
                    <a:pt x="0" y="425831"/>
                    <a:pt x="0" y="274320"/>
                  </a:cubicBezTo>
                  <a:close/>
                </a:path>
              </a:pathLst>
            </a:custGeom>
            <a:solidFill>
              <a:srgbClr val="FDEEDD"/>
            </a:solidFill>
          </p:spPr>
        </p:sp>
      </p:grpSp>
      <p:grpSp>
        <p:nvGrpSpPr>
          <p:cNvPr name="Group 81" id="81"/>
          <p:cNvGrpSpPr/>
          <p:nvPr/>
        </p:nvGrpSpPr>
        <p:grpSpPr>
          <a:xfrm rot="0">
            <a:off x="16963949" y="6333943"/>
            <a:ext cx="205740" cy="205740"/>
            <a:chOff x="0" y="0"/>
            <a:chExt cx="274320" cy="274320"/>
          </a:xfrm>
        </p:grpSpPr>
        <p:sp>
          <p:nvSpPr>
            <p:cNvPr name="Freeform 82" id="82" descr="Anti-Compass Drift VIO icon"/>
            <p:cNvSpPr/>
            <p:nvPr/>
          </p:nvSpPr>
          <p:spPr>
            <a:xfrm flipH="false" flipV="false" rot="0">
              <a:off x="0" y="0"/>
              <a:ext cx="274320" cy="274320"/>
            </a:xfrm>
            <a:custGeom>
              <a:avLst/>
              <a:gdLst/>
              <a:ahLst/>
              <a:cxnLst/>
              <a:rect r="r" b="b" t="t" l="l"/>
              <a:pathLst>
                <a:path h="274320" w="274320">
                  <a:moveTo>
                    <a:pt x="0" y="0"/>
                  </a:moveTo>
                  <a:lnTo>
                    <a:pt x="274320" y="0"/>
                  </a:lnTo>
                  <a:lnTo>
                    <a:pt x="274320" y="274320"/>
                  </a:lnTo>
                  <a:lnTo>
                    <a:pt x="0" y="27432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/>
              <a:stretch>
                <a:fillRect l="0" t="0" r="0" b="0"/>
              </a:stretch>
            </a:blipFill>
          </p:spPr>
        </p:sp>
      </p:grpSp>
      <p:grpSp>
        <p:nvGrpSpPr>
          <p:cNvPr name="Group 83" id="83"/>
          <p:cNvGrpSpPr/>
          <p:nvPr/>
        </p:nvGrpSpPr>
        <p:grpSpPr>
          <a:xfrm rot="0">
            <a:off x="1085850" y="7886986"/>
            <a:ext cx="3634740" cy="630936"/>
            <a:chOff x="0" y="0"/>
            <a:chExt cx="4846320" cy="841248"/>
          </a:xfrm>
        </p:grpSpPr>
        <p:sp>
          <p:nvSpPr>
            <p:cNvPr name="Freeform 84" id="84"/>
            <p:cNvSpPr/>
            <p:nvPr/>
          </p:nvSpPr>
          <p:spPr>
            <a:xfrm flipH="false" flipV="false" rot="0">
              <a:off x="0" y="0"/>
              <a:ext cx="4846320" cy="841248"/>
            </a:xfrm>
            <a:custGeom>
              <a:avLst/>
              <a:gdLst/>
              <a:ahLst/>
              <a:cxnLst/>
              <a:rect r="r" b="b" t="t" l="l"/>
              <a:pathLst>
                <a:path h="841248" w="4846320">
                  <a:moveTo>
                    <a:pt x="0" y="0"/>
                  </a:moveTo>
                  <a:lnTo>
                    <a:pt x="4846320" y="0"/>
                  </a:lnTo>
                  <a:lnTo>
                    <a:pt x="4846320" y="841248"/>
                  </a:lnTo>
                  <a:lnTo>
                    <a:pt x="0" y="84124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62250" r="0" b="-62250"/>
              </a:stretch>
            </a:blipFill>
          </p:spPr>
        </p:sp>
        <p:sp>
          <p:nvSpPr>
            <p:cNvPr name="TextBox 85" id="85"/>
            <p:cNvSpPr txBox="true"/>
            <p:nvPr/>
          </p:nvSpPr>
          <p:spPr>
            <a:xfrm>
              <a:off x="0" y="-19050"/>
              <a:ext cx="4846320" cy="860298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889"/>
                </a:lnSpc>
              </a:pPr>
              <a:r>
                <a:rPr lang="en-US" b="true" sz="1575" spc="44">
                  <a:solidFill>
                    <a:srgbClr val="B42318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TRADITIONAL DISASTER SEARCH</a:t>
              </a:r>
            </a:p>
            <a:p>
              <a:pPr algn="l">
                <a:lnSpc>
                  <a:spcPts val="1889"/>
                </a:lnSpc>
              </a:pPr>
              <a:r>
                <a:rPr lang="en-US" sz="1575" spc="44">
                  <a:solidFill>
                    <a:srgbClr val="566074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(Current Approach)</a:t>
              </a:r>
            </a:p>
          </p:txBody>
        </p:sp>
      </p:grpSp>
      <p:grpSp>
        <p:nvGrpSpPr>
          <p:cNvPr name="Group 86" id="86"/>
          <p:cNvGrpSpPr/>
          <p:nvPr/>
        </p:nvGrpSpPr>
        <p:grpSpPr>
          <a:xfrm rot="0">
            <a:off x="4789170" y="7886986"/>
            <a:ext cx="2263140" cy="630936"/>
            <a:chOff x="0" y="0"/>
            <a:chExt cx="3017520" cy="841248"/>
          </a:xfrm>
        </p:grpSpPr>
        <p:sp>
          <p:nvSpPr>
            <p:cNvPr name="Freeform 87" id="87"/>
            <p:cNvSpPr/>
            <p:nvPr/>
          </p:nvSpPr>
          <p:spPr>
            <a:xfrm flipH="false" flipV="false" rot="0">
              <a:off x="0" y="0"/>
              <a:ext cx="3017520" cy="841248"/>
            </a:xfrm>
            <a:custGeom>
              <a:avLst/>
              <a:gdLst/>
              <a:ahLst/>
              <a:cxnLst/>
              <a:rect r="r" b="b" t="t" l="l"/>
              <a:pathLst>
                <a:path h="841248" w="3017520">
                  <a:moveTo>
                    <a:pt x="0" y="182880"/>
                  </a:moveTo>
                  <a:cubicBezTo>
                    <a:pt x="0" y="81915"/>
                    <a:pt x="81915" y="0"/>
                    <a:pt x="182880" y="0"/>
                  </a:cubicBezTo>
                  <a:lnTo>
                    <a:pt x="2834640" y="0"/>
                  </a:lnTo>
                  <a:cubicBezTo>
                    <a:pt x="2935605" y="0"/>
                    <a:pt x="3017520" y="81915"/>
                    <a:pt x="3017520" y="182880"/>
                  </a:cubicBezTo>
                  <a:lnTo>
                    <a:pt x="3017520" y="658368"/>
                  </a:lnTo>
                  <a:cubicBezTo>
                    <a:pt x="3017520" y="759333"/>
                    <a:pt x="2935605" y="841248"/>
                    <a:pt x="2834640" y="841248"/>
                  </a:cubicBezTo>
                  <a:lnTo>
                    <a:pt x="182880" y="841248"/>
                  </a:lnTo>
                  <a:cubicBezTo>
                    <a:pt x="81915" y="841248"/>
                    <a:pt x="0" y="759333"/>
                    <a:pt x="0" y="658368"/>
                  </a:cubicBezTo>
                  <a:close/>
                </a:path>
              </a:pathLst>
            </a:custGeom>
            <a:solidFill>
              <a:srgbClr val="FBE6E3"/>
            </a:solidFill>
          </p:spPr>
        </p:sp>
      </p:grpSp>
      <p:grpSp>
        <p:nvGrpSpPr>
          <p:cNvPr name="Group 88" id="88"/>
          <p:cNvGrpSpPr/>
          <p:nvPr/>
        </p:nvGrpSpPr>
        <p:grpSpPr>
          <a:xfrm rot="0">
            <a:off x="4885182" y="7886986"/>
            <a:ext cx="2071116" cy="630936"/>
            <a:chOff x="0" y="0"/>
            <a:chExt cx="2761488" cy="841248"/>
          </a:xfrm>
        </p:grpSpPr>
        <p:sp>
          <p:nvSpPr>
            <p:cNvPr name="Freeform 89" id="89"/>
            <p:cNvSpPr/>
            <p:nvPr/>
          </p:nvSpPr>
          <p:spPr>
            <a:xfrm flipH="false" flipV="false" rot="0">
              <a:off x="0" y="0"/>
              <a:ext cx="2761486" cy="841248"/>
            </a:xfrm>
            <a:custGeom>
              <a:avLst/>
              <a:gdLst/>
              <a:ahLst/>
              <a:cxnLst/>
              <a:rect r="r" b="b" t="t" l="l"/>
              <a:pathLst>
                <a:path h="841248" w="2761486">
                  <a:moveTo>
                    <a:pt x="0" y="0"/>
                  </a:moveTo>
                  <a:lnTo>
                    <a:pt x="2761486" y="0"/>
                  </a:lnTo>
                  <a:lnTo>
                    <a:pt x="2761486" y="841248"/>
                  </a:lnTo>
                  <a:lnTo>
                    <a:pt x="0" y="84124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3961" r="0" b="-13961"/>
              </a:stretch>
            </a:blipFill>
          </p:spPr>
        </p:sp>
        <p:sp>
          <p:nvSpPr>
            <p:cNvPr name="TextBox 90" id="90"/>
            <p:cNvSpPr txBox="true"/>
            <p:nvPr/>
          </p:nvSpPr>
          <p:spPr>
            <a:xfrm>
              <a:off x="0" y="-19050"/>
              <a:ext cx="2761488" cy="860298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889"/>
                </a:lnSpc>
              </a:pPr>
              <a:r>
                <a:rPr lang="en-US" sz="1575" b="true">
                  <a:solidFill>
                    <a:srgbClr val="4A161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Manual Foot Sweeps</a:t>
              </a:r>
            </a:p>
          </p:txBody>
        </p:sp>
      </p:grpSp>
      <p:grpSp>
        <p:nvGrpSpPr>
          <p:cNvPr name="Group 91" id="91"/>
          <p:cNvGrpSpPr/>
          <p:nvPr/>
        </p:nvGrpSpPr>
        <p:grpSpPr>
          <a:xfrm rot="0">
            <a:off x="7127748" y="8092726"/>
            <a:ext cx="123444" cy="219456"/>
            <a:chOff x="0" y="0"/>
            <a:chExt cx="164592" cy="292608"/>
          </a:xfrm>
        </p:grpSpPr>
        <p:sp>
          <p:nvSpPr>
            <p:cNvPr name="Freeform 92" id="92"/>
            <p:cNvSpPr/>
            <p:nvPr/>
          </p:nvSpPr>
          <p:spPr>
            <a:xfrm flipH="false" flipV="false" rot="0">
              <a:off x="0" y="0"/>
              <a:ext cx="164592" cy="292608"/>
            </a:xfrm>
            <a:custGeom>
              <a:avLst/>
              <a:gdLst/>
              <a:ahLst/>
              <a:cxnLst/>
              <a:rect r="r" b="b" t="t" l="l"/>
              <a:pathLst>
                <a:path h="292608" w="164592">
                  <a:moveTo>
                    <a:pt x="0" y="0"/>
                  </a:moveTo>
                  <a:lnTo>
                    <a:pt x="82296" y="0"/>
                  </a:lnTo>
                  <a:lnTo>
                    <a:pt x="164592" y="146304"/>
                  </a:lnTo>
                  <a:lnTo>
                    <a:pt x="82296" y="292608"/>
                  </a:lnTo>
                  <a:lnTo>
                    <a:pt x="0" y="292608"/>
                  </a:lnTo>
                  <a:lnTo>
                    <a:pt x="82296" y="146304"/>
                  </a:lnTo>
                  <a:close/>
                </a:path>
              </a:pathLst>
            </a:custGeom>
            <a:solidFill>
              <a:srgbClr val="C9A29D"/>
            </a:solidFill>
          </p:spPr>
        </p:sp>
      </p:grpSp>
      <p:grpSp>
        <p:nvGrpSpPr>
          <p:cNvPr name="Group 93" id="93"/>
          <p:cNvGrpSpPr/>
          <p:nvPr/>
        </p:nvGrpSpPr>
        <p:grpSpPr>
          <a:xfrm rot="0">
            <a:off x="7326630" y="7886986"/>
            <a:ext cx="2263140" cy="630936"/>
            <a:chOff x="0" y="0"/>
            <a:chExt cx="3017520" cy="841248"/>
          </a:xfrm>
        </p:grpSpPr>
        <p:sp>
          <p:nvSpPr>
            <p:cNvPr name="Freeform 94" id="94"/>
            <p:cNvSpPr/>
            <p:nvPr/>
          </p:nvSpPr>
          <p:spPr>
            <a:xfrm flipH="false" flipV="false" rot="0">
              <a:off x="0" y="0"/>
              <a:ext cx="3017520" cy="841248"/>
            </a:xfrm>
            <a:custGeom>
              <a:avLst/>
              <a:gdLst/>
              <a:ahLst/>
              <a:cxnLst/>
              <a:rect r="r" b="b" t="t" l="l"/>
              <a:pathLst>
                <a:path h="841248" w="3017520">
                  <a:moveTo>
                    <a:pt x="0" y="182880"/>
                  </a:moveTo>
                  <a:cubicBezTo>
                    <a:pt x="0" y="81915"/>
                    <a:pt x="81915" y="0"/>
                    <a:pt x="182880" y="0"/>
                  </a:cubicBezTo>
                  <a:lnTo>
                    <a:pt x="2834640" y="0"/>
                  </a:lnTo>
                  <a:cubicBezTo>
                    <a:pt x="2935605" y="0"/>
                    <a:pt x="3017520" y="81915"/>
                    <a:pt x="3017520" y="182880"/>
                  </a:cubicBezTo>
                  <a:lnTo>
                    <a:pt x="3017520" y="658368"/>
                  </a:lnTo>
                  <a:cubicBezTo>
                    <a:pt x="3017520" y="759333"/>
                    <a:pt x="2935605" y="841248"/>
                    <a:pt x="2834640" y="841248"/>
                  </a:cubicBezTo>
                  <a:lnTo>
                    <a:pt x="182880" y="841248"/>
                  </a:lnTo>
                  <a:cubicBezTo>
                    <a:pt x="81915" y="841248"/>
                    <a:pt x="0" y="759333"/>
                    <a:pt x="0" y="658368"/>
                  </a:cubicBezTo>
                  <a:close/>
                </a:path>
              </a:pathLst>
            </a:custGeom>
            <a:solidFill>
              <a:srgbClr val="FBE6E3"/>
            </a:solidFill>
          </p:spPr>
        </p:sp>
      </p:grpSp>
      <p:grpSp>
        <p:nvGrpSpPr>
          <p:cNvPr name="Group 95" id="95"/>
          <p:cNvGrpSpPr/>
          <p:nvPr/>
        </p:nvGrpSpPr>
        <p:grpSpPr>
          <a:xfrm rot="0">
            <a:off x="7422642" y="7886986"/>
            <a:ext cx="2071116" cy="630936"/>
            <a:chOff x="0" y="0"/>
            <a:chExt cx="2761488" cy="841248"/>
          </a:xfrm>
        </p:grpSpPr>
        <p:sp>
          <p:nvSpPr>
            <p:cNvPr name="Freeform 96" id="96"/>
            <p:cNvSpPr/>
            <p:nvPr/>
          </p:nvSpPr>
          <p:spPr>
            <a:xfrm flipH="false" flipV="false" rot="0">
              <a:off x="0" y="0"/>
              <a:ext cx="2761486" cy="841248"/>
            </a:xfrm>
            <a:custGeom>
              <a:avLst/>
              <a:gdLst/>
              <a:ahLst/>
              <a:cxnLst/>
              <a:rect r="r" b="b" t="t" l="l"/>
              <a:pathLst>
                <a:path h="841248" w="2761486">
                  <a:moveTo>
                    <a:pt x="0" y="0"/>
                  </a:moveTo>
                  <a:lnTo>
                    <a:pt x="2761486" y="0"/>
                  </a:lnTo>
                  <a:lnTo>
                    <a:pt x="2761486" y="841248"/>
                  </a:lnTo>
                  <a:lnTo>
                    <a:pt x="0" y="84124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3961" r="0" b="-13961"/>
              </a:stretch>
            </a:blipFill>
          </p:spPr>
        </p:sp>
        <p:sp>
          <p:nvSpPr>
            <p:cNvPr name="TextBox 97" id="97"/>
            <p:cNvSpPr txBox="true"/>
            <p:nvPr/>
          </p:nvSpPr>
          <p:spPr>
            <a:xfrm>
              <a:off x="0" y="-19050"/>
              <a:ext cx="2761488" cy="860298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889"/>
                </a:lnSpc>
              </a:pPr>
              <a:r>
                <a:rPr lang="en-US" sz="1575" b="true">
                  <a:solidFill>
                    <a:srgbClr val="4A161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Blind Rubble Digging</a:t>
              </a:r>
            </a:p>
          </p:txBody>
        </p:sp>
      </p:grpSp>
      <p:grpSp>
        <p:nvGrpSpPr>
          <p:cNvPr name="Group 98" id="98"/>
          <p:cNvGrpSpPr/>
          <p:nvPr/>
        </p:nvGrpSpPr>
        <p:grpSpPr>
          <a:xfrm rot="0">
            <a:off x="9665208" y="8092726"/>
            <a:ext cx="123444" cy="219456"/>
            <a:chOff x="0" y="0"/>
            <a:chExt cx="164592" cy="292608"/>
          </a:xfrm>
        </p:grpSpPr>
        <p:sp>
          <p:nvSpPr>
            <p:cNvPr name="Freeform 99" id="99"/>
            <p:cNvSpPr/>
            <p:nvPr/>
          </p:nvSpPr>
          <p:spPr>
            <a:xfrm flipH="false" flipV="false" rot="0">
              <a:off x="0" y="0"/>
              <a:ext cx="164592" cy="292608"/>
            </a:xfrm>
            <a:custGeom>
              <a:avLst/>
              <a:gdLst/>
              <a:ahLst/>
              <a:cxnLst/>
              <a:rect r="r" b="b" t="t" l="l"/>
              <a:pathLst>
                <a:path h="292608" w="164592">
                  <a:moveTo>
                    <a:pt x="0" y="0"/>
                  </a:moveTo>
                  <a:lnTo>
                    <a:pt x="82296" y="0"/>
                  </a:lnTo>
                  <a:lnTo>
                    <a:pt x="164592" y="146304"/>
                  </a:lnTo>
                  <a:lnTo>
                    <a:pt x="82296" y="292608"/>
                  </a:lnTo>
                  <a:lnTo>
                    <a:pt x="0" y="292608"/>
                  </a:lnTo>
                  <a:lnTo>
                    <a:pt x="82296" y="146304"/>
                  </a:lnTo>
                  <a:close/>
                </a:path>
              </a:pathLst>
            </a:custGeom>
            <a:solidFill>
              <a:srgbClr val="C9A29D"/>
            </a:solidFill>
          </p:spPr>
        </p:sp>
      </p:grpSp>
      <p:grpSp>
        <p:nvGrpSpPr>
          <p:cNvPr name="Group 100" id="100"/>
          <p:cNvGrpSpPr/>
          <p:nvPr/>
        </p:nvGrpSpPr>
        <p:grpSpPr>
          <a:xfrm rot="0">
            <a:off x="9864090" y="7886986"/>
            <a:ext cx="2263140" cy="630936"/>
            <a:chOff x="0" y="0"/>
            <a:chExt cx="3017520" cy="841248"/>
          </a:xfrm>
        </p:grpSpPr>
        <p:sp>
          <p:nvSpPr>
            <p:cNvPr name="Freeform 101" id="101"/>
            <p:cNvSpPr/>
            <p:nvPr/>
          </p:nvSpPr>
          <p:spPr>
            <a:xfrm flipH="false" flipV="false" rot="0">
              <a:off x="0" y="0"/>
              <a:ext cx="3017520" cy="841248"/>
            </a:xfrm>
            <a:custGeom>
              <a:avLst/>
              <a:gdLst/>
              <a:ahLst/>
              <a:cxnLst/>
              <a:rect r="r" b="b" t="t" l="l"/>
              <a:pathLst>
                <a:path h="841248" w="3017520">
                  <a:moveTo>
                    <a:pt x="0" y="182880"/>
                  </a:moveTo>
                  <a:cubicBezTo>
                    <a:pt x="0" y="81915"/>
                    <a:pt x="81915" y="0"/>
                    <a:pt x="182880" y="0"/>
                  </a:cubicBezTo>
                  <a:lnTo>
                    <a:pt x="2834640" y="0"/>
                  </a:lnTo>
                  <a:cubicBezTo>
                    <a:pt x="2935605" y="0"/>
                    <a:pt x="3017520" y="81915"/>
                    <a:pt x="3017520" y="182880"/>
                  </a:cubicBezTo>
                  <a:lnTo>
                    <a:pt x="3017520" y="658368"/>
                  </a:lnTo>
                  <a:cubicBezTo>
                    <a:pt x="3017520" y="759333"/>
                    <a:pt x="2935605" y="841248"/>
                    <a:pt x="2834640" y="841248"/>
                  </a:cubicBezTo>
                  <a:lnTo>
                    <a:pt x="182880" y="841248"/>
                  </a:lnTo>
                  <a:cubicBezTo>
                    <a:pt x="81915" y="841248"/>
                    <a:pt x="0" y="759333"/>
                    <a:pt x="0" y="658368"/>
                  </a:cubicBezTo>
                  <a:close/>
                </a:path>
              </a:pathLst>
            </a:custGeom>
            <a:solidFill>
              <a:srgbClr val="FBE6E3"/>
            </a:solidFill>
          </p:spPr>
        </p:sp>
      </p:grpSp>
      <p:grpSp>
        <p:nvGrpSpPr>
          <p:cNvPr name="Group 102" id="102"/>
          <p:cNvGrpSpPr/>
          <p:nvPr/>
        </p:nvGrpSpPr>
        <p:grpSpPr>
          <a:xfrm rot="0">
            <a:off x="9960102" y="7886986"/>
            <a:ext cx="2071116" cy="630936"/>
            <a:chOff x="0" y="0"/>
            <a:chExt cx="2761488" cy="841248"/>
          </a:xfrm>
        </p:grpSpPr>
        <p:sp>
          <p:nvSpPr>
            <p:cNvPr name="Freeform 103" id="103"/>
            <p:cNvSpPr/>
            <p:nvPr/>
          </p:nvSpPr>
          <p:spPr>
            <a:xfrm flipH="false" flipV="false" rot="0">
              <a:off x="0" y="0"/>
              <a:ext cx="2761486" cy="841248"/>
            </a:xfrm>
            <a:custGeom>
              <a:avLst/>
              <a:gdLst/>
              <a:ahLst/>
              <a:cxnLst/>
              <a:rect r="r" b="b" t="t" l="l"/>
              <a:pathLst>
                <a:path h="841248" w="2761486">
                  <a:moveTo>
                    <a:pt x="0" y="0"/>
                  </a:moveTo>
                  <a:lnTo>
                    <a:pt x="2761486" y="0"/>
                  </a:lnTo>
                  <a:lnTo>
                    <a:pt x="2761486" y="841248"/>
                  </a:lnTo>
                  <a:lnTo>
                    <a:pt x="0" y="84124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3961" r="0" b="-13961"/>
              </a:stretch>
            </a:blipFill>
          </p:spPr>
        </p:sp>
        <p:sp>
          <p:nvSpPr>
            <p:cNvPr name="TextBox 104" id="104"/>
            <p:cNvSpPr txBox="true"/>
            <p:nvPr/>
          </p:nvSpPr>
          <p:spPr>
            <a:xfrm>
              <a:off x="0" y="-19050"/>
              <a:ext cx="2761488" cy="860298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889"/>
                </a:lnSpc>
              </a:pPr>
              <a:r>
                <a:rPr lang="en-US" sz="1575" b="true">
                  <a:solidFill>
                    <a:srgbClr val="4A161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Stalled at Sunset (Darkness)</a:t>
              </a:r>
            </a:p>
          </p:txBody>
        </p:sp>
      </p:grpSp>
      <p:grpSp>
        <p:nvGrpSpPr>
          <p:cNvPr name="Group 105" id="105"/>
          <p:cNvGrpSpPr/>
          <p:nvPr/>
        </p:nvGrpSpPr>
        <p:grpSpPr>
          <a:xfrm rot="0">
            <a:off x="12202668" y="8092726"/>
            <a:ext cx="123444" cy="219456"/>
            <a:chOff x="0" y="0"/>
            <a:chExt cx="164592" cy="292608"/>
          </a:xfrm>
        </p:grpSpPr>
        <p:sp>
          <p:nvSpPr>
            <p:cNvPr name="Freeform 106" id="106"/>
            <p:cNvSpPr/>
            <p:nvPr/>
          </p:nvSpPr>
          <p:spPr>
            <a:xfrm flipH="false" flipV="false" rot="0">
              <a:off x="0" y="0"/>
              <a:ext cx="164592" cy="292608"/>
            </a:xfrm>
            <a:custGeom>
              <a:avLst/>
              <a:gdLst/>
              <a:ahLst/>
              <a:cxnLst/>
              <a:rect r="r" b="b" t="t" l="l"/>
              <a:pathLst>
                <a:path h="292608" w="164592">
                  <a:moveTo>
                    <a:pt x="0" y="0"/>
                  </a:moveTo>
                  <a:lnTo>
                    <a:pt x="82296" y="0"/>
                  </a:lnTo>
                  <a:lnTo>
                    <a:pt x="164592" y="146304"/>
                  </a:lnTo>
                  <a:lnTo>
                    <a:pt x="82296" y="292608"/>
                  </a:lnTo>
                  <a:lnTo>
                    <a:pt x="0" y="292608"/>
                  </a:lnTo>
                  <a:lnTo>
                    <a:pt x="82296" y="146304"/>
                  </a:lnTo>
                  <a:close/>
                </a:path>
              </a:pathLst>
            </a:custGeom>
            <a:solidFill>
              <a:srgbClr val="C9A29D"/>
            </a:solidFill>
          </p:spPr>
        </p:sp>
      </p:grpSp>
      <p:grpSp>
        <p:nvGrpSpPr>
          <p:cNvPr name="Group 107" id="107"/>
          <p:cNvGrpSpPr/>
          <p:nvPr/>
        </p:nvGrpSpPr>
        <p:grpSpPr>
          <a:xfrm rot="0">
            <a:off x="12401550" y="7886986"/>
            <a:ext cx="2263140" cy="630936"/>
            <a:chOff x="0" y="0"/>
            <a:chExt cx="3017520" cy="841248"/>
          </a:xfrm>
        </p:grpSpPr>
        <p:sp>
          <p:nvSpPr>
            <p:cNvPr name="Freeform 108" id="108"/>
            <p:cNvSpPr/>
            <p:nvPr/>
          </p:nvSpPr>
          <p:spPr>
            <a:xfrm flipH="false" flipV="false" rot="0">
              <a:off x="0" y="0"/>
              <a:ext cx="3017520" cy="841248"/>
            </a:xfrm>
            <a:custGeom>
              <a:avLst/>
              <a:gdLst/>
              <a:ahLst/>
              <a:cxnLst/>
              <a:rect r="r" b="b" t="t" l="l"/>
              <a:pathLst>
                <a:path h="841248" w="3017520">
                  <a:moveTo>
                    <a:pt x="0" y="182880"/>
                  </a:moveTo>
                  <a:cubicBezTo>
                    <a:pt x="0" y="81915"/>
                    <a:pt x="81915" y="0"/>
                    <a:pt x="182880" y="0"/>
                  </a:cubicBezTo>
                  <a:lnTo>
                    <a:pt x="2834640" y="0"/>
                  </a:lnTo>
                  <a:cubicBezTo>
                    <a:pt x="2935605" y="0"/>
                    <a:pt x="3017520" y="81915"/>
                    <a:pt x="3017520" y="182880"/>
                  </a:cubicBezTo>
                  <a:lnTo>
                    <a:pt x="3017520" y="658368"/>
                  </a:lnTo>
                  <a:cubicBezTo>
                    <a:pt x="3017520" y="759333"/>
                    <a:pt x="2935605" y="841248"/>
                    <a:pt x="2834640" y="841248"/>
                  </a:cubicBezTo>
                  <a:lnTo>
                    <a:pt x="182880" y="841248"/>
                  </a:lnTo>
                  <a:cubicBezTo>
                    <a:pt x="81915" y="841248"/>
                    <a:pt x="0" y="759333"/>
                    <a:pt x="0" y="658368"/>
                  </a:cubicBezTo>
                  <a:close/>
                </a:path>
              </a:pathLst>
            </a:custGeom>
            <a:solidFill>
              <a:srgbClr val="FBE6E3"/>
            </a:solidFill>
          </p:spPr>
        </p:sp>
      </p:grpSp>
      <p:grpSp>
        <p:nvGrpSpPr>
          <p:cNvPr name="Group 109" id="109"/>
          <p:cNvGrpSpPr/>
          <p:nvPr/>
        </p:nvGrpSpPr>
        <p:grpSpPr>
          <a:xfrm rot="0">
            <a:off x="12497562" y="7886986"/>
            <a:ext cx="2071116" cy="630936"/>
            <a:chOff x="0" y="0"/>
            <a:chExt cx="2761488" cy="841248"/>
          </a:xfrm>
        </p:grpSpPr>
        <p:sp>
          <p:nvSpPr>
            <p:cNvPr name="Freeform 110" id="110"/>
            <p:cNvSpPr/>
            <p:nvPr/>
          </p:nvSpPr>
          <p:spPr>
            <a:xfrm flipH="false" flipV="false" rot="0">
              <a:off x="0" y="0"/>
              <a:ext cx="2761486" cy="841248"/>
            </a:xfrm>
            <a:custGeom>
              <a:avLst/>
              <a:gdLst/>
              <a:ahLst/>
              <a:cxnLst/>
              <a:rect r="r" b="b" t="t" l="l"/>
              <a:pathLst>
                <a:path h="841248" w="2761486">
                  <a:moveTo>
                    <a:pt x="0" y="0"/>
                  </a:moveTo>
                  <a:lnTo>
                    <a:pt x="2761486" y="0"/>
                  </a:lnTo>
                  <a:lnTo>
                    <a:pt x="2761486" y="841248"/>
                  </a:lnTo>
                  <a:lnTo>
                    <a:pt x="0" y="84124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3961" r="0" b="-13961"/>
              </a:stretch>
            </a:blipFill>
          </p:spPr>
        </p:sp>
        <p:sp>
          <p:nvSpPr>
            <p:cNvPr name="TextBox 111" id="111"/>
            <p:cNvSpPr txBox="true"/>
            <p:nvPr/>
          </p:nvSpPr>
          <p:spPr>
            <a:xfrm>
              <a:off x="0" y="-19050"/>
              <a:ext cx="2761488" cy="860298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889"/>
                </a:lnSpc>
              </a:pPr>
              <a:r>
                <a:rPr lang="en-US" sz="1575" b="true">
                  <a:solidFill>
                    <a:srgbClr val="4A161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High Responder Casualty Risk</a:t>
              </a:r>
            </a:p>
          </p:txBody>
        </p:sp>
      </p:grpSp>
      <p:grpSp>
        <p:nvGrpSpPr>
          <p:cNvPr name="Group 112" id="112"/>
          <p:cNvGrpSpPr/>
          <p:nvPr/>
        </p:nvGrpSpPr>
        <p:grpSpPr>
          <a:xfrm rot="0">
            <a:off x="14740128" y="8092726"/>
            <a:ext cx="123444" cy="219456"/>
            <a:chOff x="0" y="0"/>
            <a:chExt cx="164592" cy="292608"/>
          </a:xfrm>
        </p:grpSpPr>
        <p:sp>
          <p:nvSpPr>
            <p:cNvPr name="Freeform 113" id="113"/>
            <p:cNvSpPr/>
            <p:nvPr/>
          </p:nvSpPr>
          <p:spPr>
            <a:xfrm flipH="false" flipV="false" rot="0">
              <a:off x="0" y="0"/>
              <a:ext cx="164592" cy="292608"/>
            </a:xfrm>
            <a:custGeom>
              <a:avLst/>
              <a:gdLst/>
              <a:ahLst/>
              <a:cxnLst/>
              <a:rect r="r" b="b" t="t" l="l"/>
              <a:pathLst>
                <a:path h="292608" w="164592">
                  <a:moveTo>
                    <a:pt x="0" y="0"/>
                  </a:moveTo>
                  <a:lnTo>
                    <a:pt x="82296" y="0"/>
                  </a:lnTo>
                  <a:lnTo>
                    <a:pt x="164592" y="146304"/>
                  </a:lnTo>
                  <a:lnTo>
                    <a:pt x="82296" y="292608"/>
                  </a:lnTo>
                  <a:lnTo>
                    <a:pt x="0" y="292608"/>
                  </a:lnTo>
                  <a:lnTo>
                    <a:pt x="82296" y="146304"/>
                  </a:lnTo>
                  <a:close/>
                </a:path>
              </a:pathLst>
            </a:custGeom>
            <a:solidFill>
              <a:srgbClr val="C9A29D"/>
            </a:solidFill>
          </p:spPr>
        </p:sp>
      </p:grpSp>
      <p:grpSp>
        <p:nvGrpSpPr>
          <p:cNvPr name="Group 114" id="114"/>
          <p:cNvGrpSpPr/>
          <p:nvPr/>
        </p:nvGrpSpPr>
        <p:grpSpPr>
          <a:xfrm rot="0">
            <a:off x="14939010" y="7886986"/>
            <a:ext cx="2263140" cy="630936"/>
            <a:chOff x="0" y="0"/>
            <a:chExt cx="3017520" cy="841248"/>
          </a:xfrm>
        </p:grpSpPr>
        <p:sp>
          <p:nvSpPr>
            <p:cNvPr name="Freeform 115" id="115"/>
            <p:cNvSpPr/>
            <p:nvPr/>
          </p:nvSpPr>
          <p:spPr>
            <a:xfrm flipH="false" flipV="false" rot="0">
              <a:off x="0" y="0"/>
              <a:ext cx="3017520" cy="841248"/>
            </a:xfrm>
            <a:custGeom>
              <a:avLst/>
              <a:gdLst/>
              <a:ahLst/>
              <a:cxnLst/>
              <a:rect r="r" b="b" t="t" l="l"/>
              <a:pathLst>
                <a:path h="841248" w="3017520">
                  <a:moveTo>
                    <a:pt x="0" y="182880"/>
                  </a:moveTo>
                  <a:cubicBezTo>
                    <a:pt x="0" y="81915"/>
                    <a:pt x="81915" y="0"/>
                    <a:pt x="182880" y="0"/>
                  </a:cubicBezTo>
                  <a:lnTo>
                    <a:pt x="2834640" y="0"/>
                  </a:lnTo>
                  <a:cubicBezTo>
                    <a:pt x="2935605" y="0"/>
                    <a:pt x="3017520" y="81915"/>
                    <a:pt x="3017520" y="182880"/>
                  </a:cubicBezTo>
                  <a:lnTo>
                    <a:pt x="3017520" y="658368"/>
                  </a:lnTo>
                  <a:cubicBezTo>
                    <a:pt x="3017520" y="759333"/>
                    <a:pt x="2935605" y="841248"/>
                    <a:pt x="2834640" y="841248"/>
                  </a:cubicBezTo>
                  <a:lnTo>
                    <a:pt x="182880" y="841248"/>
                  </a:lnTo>
                  <a:cubicBezTo>
                    <a:pt x="81915" y="841248"/>
                    <a:pt x="0" y="759333"/>
                    <a:pt x="0" y="658368"/>
                  </a:cubicBezTo>
                  <a:close/>
                </a:path>
              </a:pathLst>
            </a:custGeom>
            <a:solidFill>
              <a:srgbClr val="B42318"/>
            </a:solidFill>
          </p:spPr>
        </p:sp>
      </p:grpSp>
      <p:grpSp>
        <p:nvGrpSpPr>
          <p:cNvPr name="Group 116" id="116"/>
          <p:cNvGrpSpPr/>
          <p:nvPr/>
        </p:nvGrpSpPr>
        <p:grpSpPr>
          <a:xfrm rot="0">
            <a:off x="15035022" y="7886986"/>
            <a:ext cx="2071116" cy="630936"/>
            <a:chOff x="0" y="0"/>
            <a:chExt cx="2761488" cy="841248"/>
          </a:xfrm>
        </p:grpSpPr>
        <p:sp>
          <p:nvSpPr>
            <p:cNvPr name="Freeform 117" id="117"/>
            <p:cNvSpPr/>
            <p:nvPr/>
          </p:nvSpPr>
          <p:spPr>
            <a:xfrm flipH="false" flipV="false" rot="0">
              <a:off x="0" y="0"/>
              <a:ext cx="2761486" cy="841248"/>
            </a:xfrm>
            <a:custGeom>
              <a:avLst/>
              <a:gdLst/>
              <a:ahLst/>
              <a:cxnLst/>
              <a:rect r="r" b="b" t="t" l="l"/>
              <a:pathLst>
                <a:path h="841248" w="2761486">
                  <a:moveTo>
                    <a:pt x="0" y="0"/>
                  </a:moveTo>
                  <a:lnTo>
                    <a:pt x="2761486" y="0"/>
                  </a:lnTo>
                  <a:lnTo>
                    <a:pt x="2761486" y="841248"/>
                  </a:lnTo>
                  <a:lnTo>
                    <a:pt x="0" y="84124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3961" r="0" b="-13961"/>
              </a:stretch>
            </a:blipFill>
          </p:spPr>
        </p:sp>
        <p:sp>
          <p:nvSpPr>
            <p:cNvPr name="TextBox 118" id="118"/>
            <p:cNvSpPr txBox="true"/>
            <p:nvPr/>
          </p:nvSpPr>
          <p:spPr>
            <a:xfrm>
              <a:off x="0" y="-19050"/>
              <a:ext cx="2761488" cy="860298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889"/>
                </a:lnSpc>
              </a:pPr>
              <a:r>
                <a:rPr lang="en-US" sz="1575" b="true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Critical Hours Lost</a:t>
              </a:r>
            </a:p>
          </p:txBody>
        </p:sp>
      </p:grpSp>
      <p:grpSp>
        <p:nvGrpSpPr>
          <p:cNvPr name="Group 119" id="119"/>
          <p:cNvGrpSpPr/>
          <p:nvPr/>
        </p:nvGrpSpPr>
        <p:grpSpPr>
          <a:xfrm rot="0">
            <a:off x="1085850" y="8655082"/>
            <a:ext cx="3634740" cy="630936"/>
            <a:chOff x="0" y="0"/>
            <a:chExt cx="4846320" cy="841248"/>
          </a:xfrm>
        </p:grpSpPr>
        <p:sp>
          <p:nvSpPr>
            <p:cNvPr name="Freeform 120" id="120"/>
            <p:cNvSpPr/>
            <p:nvPr/>
          </p:nvSpPr>
          <p:spPr>
            <a:xfrm flipH="false" flipV="false" rot="0">
              <a:off x="0" y="0"/>
              <a:ext cx="4846320" cy="841248"/>
            </a:xfrm>
            <a:custGeom>
              <a:avLst/>
              <a:gdLst/>
              <a:ahLst/>
              <a:cxnLst/>
              <a:rect r="r" b="b" t="t" l="l"/>
              <a:pathLst>
                <a:path h="841248" w="4846320">
                  <a:moveTo>
                    <a:pt x="0" y="0"/>
                  </a:moveTo>
                  <a:lnTo>
                    <a:pt x="4846320" y="0"/>
                  </a:lnTo>
                  <a:lnTo>
                    <a:pt x="4846320" y="841248"/>
                  </a:lnTo>
                  <a:lnTo>
                    <a:pt x="0" y="84124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62250" r="0" b="-62250"/>
              </a:stretch>
            </a:blipFill>
          </p:spPr>
        </p:sp>
        <p:sp>
          <p:nvSpPr>
            <p:cNvPr name="TextBox 121" id="121"/>
            <p:cNvSpPr txBox="true"/>
            <p:nvPr/>
          </p:nvSpPr>
          <p:spPr>
            <a:xfrm>
              <a:off x="0" y="-19050"/>
              <a:ext cx="4846320" cy="860298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889"/>
                </a:lnSpc>
              </a:pPr>
              <a:r>
                <a:rPr lang="en-US" b="true" sz="1575" spc="44">
                  <a:solidFill>
                    <a:srgbClr val="0A7A33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PHOENIX AUTONOMOUS SAR</a:t>
              </a:r>
            </a:p>
            <a:p>
              <a:pPr algn="l">
                <a:lnSpc>
                  <a:spcPts val="1889"/>
                </a:lnSpc>
              </a:pPr>
              <a:r>
                <a:rPr lang="en-US" sz="1575" spc="44">
                  <a:solidFill>
                    <a:srgbClr val="566074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(Our Approach)</a:t>
              </a:r>
            </a:p>
          </p:txBody>
        </p:sp>
      </p:grpSp>
      <p:grpSp>
        <p:nvGrpSpPr>
          <p:cNvPr name="Group 122" id="122"/>
          <p:cNvGrpSpPr/>
          <p:nvPr/>
        </p:nvGrpSpPr>
        <p:grpSpPr>
          <a:xfrm rot="0">
            <a:off x="4789170" y="8655082"/>
            <a:ext cx="2263140" cy="630936"/>
            <a:chOff x="0" y="0"/>
            <a:chExt cx="3017520" cy="841248"/>
          </a:xfrm>
        </p:grpSpPr>
        <p:sp>
          <p:nvSpPr>
            <p:cNvPr name="Freeform 123" id="123"/>
            <p:cNvSpPr/>
            <p:nvPr/>
          </p:nvSpPr>
          <p:spPr>
            <a:xfrm flipH="false" flipV="false" rot="0">
              <a:off x="0" y="0"/>
              <a:ext cx="3017520" cy="841248"/>
            </a:xfrm>
            <a:custGeom>
              <a:avLst/>
              <a:gdLst/>
              <a:ahLst/>
              <a:cxnLst/>
              <a:rect r="r" b="b" t="t" l="l"/>
              <a:pathLst>
                <a:path h="841248" w="3017520">
                  <a:moveTo>
                    <a:pt x="0" y="182880"/>
                  </a:moveTo>
                  <a:cubicBezTo>
                    <a:pt x="0" y="81915"/>
                    <a:pt x="81915" y="0"/>
                    <a:pt x="182880" y="0"/>
                  </a:cubicBezTo>
                  <a:lnTo>
                    <a:pt x="2834640" y="0"/>
                  </a:lnTo>
                  <a:cubicBezTo>
                    <a:pt x="2935605" y="0"/>
                    <a:pt x="3017520" y="81915"/>
                    <a:pt x="3017520" y="182880"/>
                  </a:cubicBezTo>
                  <a:lnTo>
                    <a:pt x="3017520" y="658368"/>
                  </a:lnTo>
                  <a:cubicBezTo>
                    <a:pt x="3017520" y="759333"/>
                    <a:pt x="2935605" y="841248"/>
                    <a:pt x="2834640" y="841248"/>
                  </a:cubicBezTo>
                  <a:lnTo>
                    <a:pt x="182880" y="841248"/>
                  </a:lnTo>
                  <a:cubicBezTo>
                    <a:pt x="81915" y="841248"/>
                    <a:pt x="0" y="759333"/>
                    <a:pt x="0" y="658368"/>
                  </a:cubicBezTo>
                  <a:close/>
                </a:path>
              </a:pathLst>
            </a:custGeom>
            <a:solidFill>
              <a:srgbClr val="E3F4E9"/>
            </a:solidFill>
          </p:spPr>
        </p:sp>
      </p:grpSp>
      <p:grpSp>
        <p:nvGrpSpPr>
          <p:cNvPr name="Group 124" id="124"/>
          <p:cNvGrpSpPr/>
          <p:nvPr/>
        </p:nvGrpSpPr>
        <p:grpSpPr>
          <a:xfrm rot="0">
            <a:off x="4885182" y="8655082"/>
            <a:ext cx="2071116" cy="630936"/>
            <a:chOff x="0" y="0"/>
            <a:chExt cx="2761488" cy="841248"/>
          </a:xfrm>
        </p:grpSpPr>
        <p:sp>
          <p:nvSpPr>
            <p:cNvPr name="Freeform 125" id="125"/>
            <p:cNvSpPr/>
            <p:nvPr/>
          </p:nvSpPr>
          <p:spPr>
            <a:xfrm flipH="false" flipV="false" rot="0">
              <a:off x="0" y="0"/>
              <a:ext cx="2761486" cy="841248"/>
            </a:xfrm>
            <a:custGeom>
              <a:avLst/>
              <a:gdLst/>
              <a:ahLst/>
              <a:cxnLst/>
              <a:rect r="r" b="b" t="t" l="l"/>
              <a:pathLst>
                <a:path h="841248" w="2761486">
                  <a:moveTo>
                    <a:pt x="0" y="0"/>
                  </a:moveTo>
                  <a:lnTo>
                    <a:pt x="2761486" y="0"/>
                  </a:lnTo>
                  <a:lnTo>
                    <a:pt x="2761486" y="841248"/>
                  </a:lnTo>
                  <a:lnTo>
                    <a:pt x="0" y="84124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3961" r="0" b="-13961"/>
              </a:stretch>
            </a:blipFill>
          </p:spPr>
        </p:sp>
        <p:sp>
          <p:nvSpPr>
            <p:cNvPr name="TextBox 126" id="126"/>
            <p:cNvSpPr txBox="true"/>
            <p:nvPr/>
          </p:nvSpPr>
          <p:spPr>
            <a:xfrm>
              <a:off x="0" y="-19050"/>
              <a:ext cx="2761488" cy="860298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889"/>
                </a:lnSpc>
              </a:pPr>
              <a:r>
                <a:rPr lang="en-US" sz="1575" b="true">
                  <a:solidFill>
                    <a:srgbClr val="0B3D1C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Autonomous Aerial Sweep</a:t>
              </a:r>
            </a:p>
          </p:txBody>
        </p:sp>
      </p:grpSp>
      <p:grpSp>
        <p:nvGrpSpPr>
          <p:cNvPr name="Group 127" id="127"/>
          <p:cNvGrpSpPr/>
          <p:nvPr/>
        </p:nvGrpSpPr>
        <p:grpSpPr>
          <a:xfrm rot="0">
            <a:off x="7127748" y="8860822"/>
            <a:ext cx="123444" cy="219456"/>
            <a:chOff x="0" y="0"/>
            <a:chExt cx="164592" cy="292608"/>
          </a:xfrm>
        </p:grpSpPr>
        <p:sp>
          <p:nvSpPr>
            <p:cNvPr name="Freeform 128" id="128"/>
            <p:cNvSpPr/>
            <p:nvPr/>
          </p:nvSpPr>
          <p:spPr>
            <a:xfrm flipH="false" flipV="false" rot="0">
              <a:off x="0" y="0"/>
              <a:ext cx="164592" cy="292608"/>
            </a:xfrm>
            <a:custGeom>
              <a:avLst/>
              <a:gdLst/>
              <a:ahLst/>
              <a:cxnLst/>
              <a:rect r="r" b="b" t="t" l="l"/>
              <a:pathLst>
                <a:path h="292608" w="164592">
                  <a:moveTo>
                    <a:pt x="0" y="0"/>
                  </a:moveTo>
                  <a:lnTo>
                    <a:pt x="82296" y="0"/>
                  </a:lnTo>
                  <a:lnTo>
                    <a:pt x="164592" y="146304"/>
                  </a:lnTo>
                  <a:lnTo>
                    <a:pt x="82296" y="292608"/>
                  </a:lnTo>
                  <a:lnTo>
                    <a:pt x="0" y="292608"/>
                  </a:lnTo>
                  <a:lnTo>
                    <a:pt x="82296" y="146304"/>
                  </a:lnTo>
                  <a:close/>
                </a:path>
              </a:pathLst>
            </a:custGeom>
            <a:solidFill>
              <a:srgbClr val="0C903C"/>
            </a:solidFill>
          </p:spPr>
        </p:sp>
      </p:grpSp>
      <p:grpSp>
        <p:nvGrpSpPr>
          <p:cNvPr name="Group 129" id="129"/>
          <p:cNvGrpSpPr/>
          <p:nvPr/>
        </p:nvGrpSpPr>
        <p:grpSpPr>
          <a:xfrm rot="0">
            <a:off x="7326630" y="8655082"/>
            <a:ext cx="2263140" cy="630936"/>
            <a:chOff x="0" y="0"/>
            <a:chExt cx="3017520" cy="841248"/>
          </a:xfrm>
        </p:grpSpPr>
        <p:sp>
          <p:nvSpPr>
            <p:cNvPr name="Freeform 130" id="130"/>
            <p:cNvSpPr/>
            <p:nvPr/>
          </p:nvSpPr>
          <p:spPr>
            <a:xfrm flipH="false" flipV="false" rot="0">
              <a:off x="0" y="0"/>
              <a:ext cx="3017520" cy="841248"/>
            </a:xfrm>
            <a:custGeom>
              <a:avLst/>
              <a:gdLst/>
              <a:ahLst/>
              <a:cxnLst/>
              <a:rect r="r" b="b" t="t" l="l"/>
              <a:pathLst>
                <a:path h="841248" w="3017520">
                  <a:moveTo>
                    <a:pt x="0" y="182880"/>
                  </a:moveTo>
                  <a:cubicBezTo>
                    <a:pt x="0" y="81915"/>
                    <a:pt x="81915" y="0"/>
                    <a:pt x="182880" y="0"/>
                  </a:cubicBezTo>
                  <a:lnTo>
                    <a:pt x="2834640" y="0"/>
                  </a:lnTo>
                  <a:cubicBezTo>
                    <a:pt x="2935605" y="0"/>
                    <a:pt x="3017520" y="81915"/>
                    <a:pt x="3017520" y="182880"/>
                  </a:cubicBezTo>
                  <a:lnTo>
                    <a:pt x="3017520" y="658368"/>
                  </a:lnTo>
                  <a:cubicBezTo>
                    <a:pt x="3017520" y="759333"/>
                    <a:pt x="2935605" y="841248"/>
                    <a:pt x="2834640" y="841248"/>
                  </a:cubicBezTo>
                  <a:lnTo>
                    <a:pt x="182880" y="841248"/>
                  </a:lnTo>
                  <a:cubicBezTo>
                    <a:pt x="81915" y="841248"/>
                    <a:pt x="0" y="759333"/>
                    <a:pt x="0" y="658368"/>
                  </a:cubicBezTo>
                  <a:close/>
                </a:path>
              </a:pathLst>
            </a:custGeom>
            <a:solidFill>
              <a:srgbClr val="E3F4E9"/>
            </a:solidFill>
          </p:spPr>
        </p:sp>
      </p:grpSp>
      <p:grpSp>
        <p:nvGrpSpPr>
          <p:cNvPr name="Group 131" id="131"/>
          <p:cNvGrpSpPr/>
          <p:nvPr/>
        </p:nvGrpSpPr>
        <p:grpSpPr>
          <a:xfrm rot="0">
            <a:off x="7422642" y="8655082"/>
            <a:ext cx="2071116" cy="630936"/>
            <a:chOff x="0" y="0"/>
            <a:chExt cx="2761488" cy="841248"/>
          </a:xfrm>
        </p:grpSpPr>
        <p:sp>
          <p:nvSpPr>
            <p:cNvPr name="Freeform 132" id="132"/>
            <p:cNvSpPr/>
            <p:nvPr/>
          </p:nvSpPr>
          <p:spPr>
            <a:xfrm flipH="false" flipV="false" rot="0">
              <a:off x="0" y="0"/>
              <a:ext cx="2761486" cy="841248"/>
            </a:xfrm>
            <a:custGeom>
              <a:avLst/>
              <a:gdLst/>
              <a:ahLst/>
              <a:cxnLst/>
              <a:rect r="r" b="b" t="t" l="l"/>
              <a:pathLst>
                <a:path h="841248" w="2761486">
                  <a:moveTo>
                    <a:pt x="0" y="0"/>
                  </a:moveTo>
                  <a:lnTo>
                    <a:pt x="2761486" y="0"/>
                  </a:lnTo>
                  <a:lnTo>
                    <a:pt x="2761486" y="841248"/>
                  </a:lnTo>
                  <a:lnTo>
                    <a:pt x="0" y="84124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3961" r="0" b="-13961"/>
              </a:stretch>
            </a:blipFill>
          </p:spPr>
        </p:sp>
        <p:sp>
          <p:nvSpPr>
            <p:cNvPr name="TextBox 133" id="133"/>
            <p:cNvSpPr txBox="true"/>
            <p:nvPr/>
          </p:nvSpPr>
          <p:spPr>
            <a:xfrm>
              <a:off x="0" y="-19050"/>
              <a:ext cx="2761488" cy="860298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889"/>
                </a:lnSpc>
              </a:pPr>
              <a:r>
                <a:rPr lang="en-US" sz="1575" b="true">
                  <a:solidFill>
                    <a:srgbClr val="0B3D1C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24/7 Thermal Night Vision</a:t>
              </a:r>
            </a:p>
          </p:txBody>
        </p:sp>
      </p:grpSp>
      <p:grpSp>
        <p:nvGrpSpPr>
          <p:cNvPr name="Group 134" id="134"/>
          <p:cNvGrpSpPr/>
          <p:nvPr/>
        </p:nvGrpSpPr>
        <p:grpSpPr>
          <a:xfrm rot="0">
            <a:off x="9665208" y="8860822"/>
            <a:ext cx="123444" cy="219456"/>
            <a:chOff x="0" y="0"/>
            <a:chExt cx="164592" cy="292608"/>
          </a:xfrm>
        </p:grpSpPr>
        <p:sp>
          <p:nvSpPr>
            <p:cNvPr name="Freeform 135" id="135"/>
            <p:cNvSpPr/>
            <p:nvPr/>
          </p:nvSpPr>
          <p:spPr>
            <a:xfrm flipH="false" flipV="false" rot="0">
              <a:off x="0" y="0"/>
              <a:ext cx="164592" cy="292608"/>
            </a:xfrm>
            <a:custGeom>
              <a:avLst/>
              <a:gdLst/>
              <a:ahLst/>
              <a:cxnLst/>
              <a:rect r="r" b="b" t="t" l="l"/>
              <a:pathLst>
                <a:path h="292608" w="164592">
                  <a:moveTo>
                    <a:pt x="0" y="0"/>
                  </a:moveTo>
                  <a:lnTo>
                    <a:pt x="82296" y="0"/>
                  </a:lnTo>
                  <a:lnTo>
                    <a:pt x="164592" y="146304"/>
                  </a:lnTo>
                  <a:lnTo>
                    <a:pt x="82296" y="292608"/>
                  </a:lnTo>
                  <a:lnTo>
                    <a:pt x="0" y="292608"/>
                  </a:lnTo>
                  <a:lnTo>
                    <a:pt x="82296" y="146304"/>
                  </a:lnTo>
                  <a:close/>
                </a:path>
              </a:pathLst>
            </a:custGeom>
            <a:solidFill>
              <a:srgbClr val="0C903C"/>
            </a:solidFill>
          </p:spPr>
        </p:sp>
      </p:grpSp>
      <p:grpSp>
        <p:nvGrpSpPr>
          <p:cNvPr name="Group 136" id="136"/>
          <p:cNvGrpSpPr/>
          <p:nvPr/>
        </p:nvGrpSpPr>
        <p:grpSpPr>
          <a:xfrm rot="0">
            <a:off x="9864090" y="8655082"/>
            <a:ext cx="2263140" cy="630936"/>
            <a:chOff x="0" y="0"/>
            <a:chExt cx="3017520" cy="841248"/>
          </a:xfrm>
        </p:grpSpPr>
        <p:sp>
          <p:nvSpPr>
            <p:cNvPr name="Freeform 137" id="137"/>
            <p:cNvSpPr/>
            <p:nvPr/>
          </p:nvSpPr>
          <p:spPr>
            <a:xfrm flipH="false" flipV="false" rot="0">
              <a:off x="0" y="0"/>
              <a:ext cx="3017520" cy="841248"/>
            </a:xfrm>
            <a:custGeom>
              <a:avLst/>
              <a:gdLst/>
              <a:ahLst/>
              <a:cxnLst/>
              <a:rect r="r" b="b" t="t" l="l"/>
              <a:pathLst>
                <a:path h="841248" w="3017520">
                  <a:moveTo>
                    <a:pt x="0" y="182880"/>
                  </a:moveTo>
                  <a:cubicBezTo>
                    <a:pt x="0" y="81915"/>
                    <a:pt x="81915" y="0"/>
                    <a:pt x="182880" y="0"/>
                  </a:cubicBezTo>
                  <a:lnTo>
                    <a:pt x="2834640" y="0"/>
                  </a:lnTo>
                  <a:cubicBezTo>
                    <a:pt x="2935605" y="0"/>
                    <a:pt x="3017520" y="81915"/>
                    <a:pt x="3017520" y="182880"/>
                  </a:cubicBezTo>
                  <a:lnTo>
                    <a:pt x="3017520" y="658368"/>
                  </a:lnTo>
                  <a:cubicBezTo>
                    <a:pt x="3017520" y="759333"/>
                    <a:pt x="2935605" y="841248"/>
                    <a:pt x="2834640" y="841248"/>
                  </a:cubicBezTo>
                  <a:lnTo>
                    <a:pt x="182880" y="841248"/>
                  </a:lnTo>
                  <a:cubicBezTo>
                    <a:pt x="81915" y="841248"/>
                    <a:pt x="0" y="759333"/>
                    <a:pt x="0" y="658368"/>
                  </a:cubicBezTo>
                  <a:close/>
                </a:path>
              </a:pathLst>
            </a:custGeom>
            <a:solidFill>
              <a:srgbClr val="E3F4E9"/>
            </a:solidFill>
          </p:spPr>
        </p:sp>
      </p:grpSp>
      <p:grpSp>
        <p:nvGrpSpPr>
          <p:cNvPr name="Group 138" id="138"/>
          <p:cNvGrpSpPr/>
          <p:nvPr/>
        </p:nvGrpSpPr>
        <p:grpSpPr>
          <a:xfrm rot="0">
            <a:off x="9960102" y="8655082"/>
            <a:ext cx="2071116" cy="630936"/>
            <a:chOff x="0" y="0"/>
            <a:chExt cx="2761488" cy="841248"/>
          </a:xfrm>
        </p:grpSpPr>
        <p:sp>
          <p:nvSpPr>
            <p:cNvPr name="Freeform 139" id="139"/>
            <p:cNvSpPr/>
            <p:nvPr/>
          </p:nvSpPr>
          <p:spPr>
            <a:xfrm flipH="false" flipV="false" rot="0">
              <a:off x="0" y="0"/>
              <a:ext cx="2761486" cy="841248"/>
            </a:xfrm>
            <a:custGeom>
              <a:avLst/>
              <a:gdLst/>
              <a:ahLst/>
              <a:cxnLst/>
              <a:rect r="r" b="b" t="t" l="l"/>
              <a:pathLst>
                <a:path h="841248" w="2761486">
                  <a:moveTo>
                    <a:pt x="0" y="0"/>
                  </a:moveTo>
                  <a:lnTo>
                    <a:pt x="2761486" y="0"/>
                  </a:lnTo>
                  <a:lnTo>
                    <a:pt x="2761486" y="841248"/>
                  </a:lnTo>
                  <a:lnTo>
                    <a:pt x="0" y="84124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3961" r="0" b="-13961"/>
              </a:stretch>
            </a:blipFill>
          </p:spPr>
        </p:sp>
        <p:sp>
          <p:nvSpPr>
            <p:cNvPr name="TextBox 140" id="140"/>
            <p:cNvSpPr txBox="true"/>
            <p:nvPr/>
          </p:nvSpPr>
          <p:spPr>
            <a:xfrm>
              <a:off x="0" y="-19050"/>
              <a:ext cx="2761488" cy="860298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889"/>
                </a:lnSpc>
              </a:pPr>
              <a:r>
                <a:rPr lang="en-US" sz="1575" b="true">
                  <a:solidFill>
                    <a:srgbClr val="0B3D1C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Instant Survivor GPS Raycasting</a:t>
              </a:r>
            </a:p>
          </p:txBody>
        </p:sp>
      </p:grpSp>
      <p:grpSp>
        <p:nvGrpSpPr>
          <p:cNvPr name="Group 141" id="141"/>
          <p:cNvGrpSpPr/>
          <p:nvPr/>
        </p:nvGrpSpPr>
        <p:grpSpPr>
          <a:xfrm rot="0">
            <a:off x="12202668" y="8860822"/>
            <a:ext cx="123444" cy="219456"/>
            <a:chOff x="0" y="0"/>
            <a:chExt cx="164592" cy="292608"/>
          </a:xfrm>
        </p:grpSpPr>
        <p:sp>
          <p:nvSpPr>
            <p:cNvPr name="Freeform 142" id="142"/>
            <p:cNvSpPr/>
            <p:nvPr/>
          </p:nvSpPr>
          <p:spPr>
            <a:xfrm flipH="false" flipV="false" rot="0">
              <a:off x="0" y="0"/>
              <a:ext cx="164592" cy="292608"/>
            </a:xfrm>
            <a:custGeom>
              <a:avLst/>
              <a:gdLst/>
              <a:ahLst/>
              <a:cxnLst/>
              <a:rect r="r" b="b" t="t" l="l"/>
              <a:pathLst>
                <a:path h="292608" w="164592">
                  <a:moveTo>
                    <a:pt x="0" y="0"/>
                  </a:moveTo>
                  <a:lnTo>
                    <a:pt x="82296" y="0"/>
                  </a:lnTo>
                  <a:lnTo>
                    <a:pt x="164592" y="146304"/>
                  </a:lnTo>
                  <a:lnTo>
                    <a:pt x="82296" y="292608"/>
                  </a:lnTo>
                  <a:lnTo>
                    <a:pt x="0" y="292608"/>
                  </a:lnTo>
                  <a:lnTo>
                    <a:pt x="82296" y="146304"/>
                  </a:lnTo>
                  <a:close/>
                </a:path>
              </a:pathLst>
            </a:custGeom>
            <a:solidFill>
              <a:srgbClr val="0C903C"/>
            </a:solidFill>
          </p:spPr>
        </p:sp>
      </p:grpSp>
      <p:grpSp>
        <p:nvGrpSpPr>
          <p:cNvPr name="Group 143" id="143"/>
          <p:cNvGrpSpPr/>
          <p:nvPr/>
        </p:nvGrpSpPr>
        <p:grpSpPr>
          <a:xfrm rot="0">
            <a:off x="12401550" y="8655082"/>
            <a:ext cx="2263140" cy="630936"/>
            <a:chOff x="0" y="0"/>
            <a:chExt cx="3017520" cy="841248"/>
          </a:xfrm>
        </p:grpSpPr>
        <p:sp>
          <p:nvSpPr>
            <p:cNvPr name="Freeform 144" id="144"/>
            <p:cNvSpPr/>
            <p:nvPr/>
          </p:nvSpPr>
          <p:spPr>
            <a:xfrm flipH="false" flipV="false" rot="0">
              <a:off x="0" y="0"/>
              <a:ext cx="3017520" cy="841248"/>
            </a:xfrm>
            <a:custGeom>
              <a:avLst/>
              <a:gdLst/>
              <a:ahLst/>
              <a:cxnLst/>
              <a:rect r="r" b="b" t="t" l="l"/>
              <a:pathLst>
                <a:path h="841248" w="3017520">
                  <a:moveTo>
                    <a:pt x="0" y="182880"/>
                  </a:moveTo>
                  <a:cubicBezTo>
                    <a:pt x="0" y="81915"/>
                    <a:pt x="81915" y="0"/>
                    <a:pt x="182880" y="0"/>
                  </a:cubicBezTo>
                  <a:lnTo>
                    <a:pt x="2834640" y="0"/>
                  </a:lnTo>
                  <a:cubicBezTo>
                    <a:pt x="2935605" y="0"/>
                    <a:pt x="3017520" y="81915"/>
                    <a:pt x="3017520" y="182880"/>
                  </a:cubicBezTo>
                  <a:lnTo>
                    <a:pt x="3017520" y="658368"/>
                  </a:lnTo>
                  <a:cubicBezTo>
                    <a:pt x="3017520" y="759333"/>
                    <a:pt x="2935605" y="841248"/>
                    <a:pt x="2834640" y="841248"/>
                  </a:cubicBezTo>
                  <a:lnTo>
                    <a:pt x="182880" y="841248"/>
                  </a:lnTo>
                  <a:cubicBezTo>
                    <a:pt x="81915" y="841248"/>
                    <a:pt x="0" y="759333"/>
                    <a:pt x="0" y="658368"/>
                  </a:cubicBezTo>
                  <a:close/>
                </a:path>
              </a:pathLst>
            </a:custGeom>
            <a:solidFill>
              <a:srgbClr val="E3F4E9"/>
            </a:solidFill>
          </p:spPr>
        </p:sp>
      </p:grpSp>
      <p:grpSp>
        <p:nvGrpSpPr>
          <p:cNvPr name="Group 145" id="145"/>
          <p:cNvGrpSpPr/>
          <p:nvPr/>
        </p:nvGrpSpPr>
        <p:grpSpPr>
          <a:xfrm rot="0">
            <a:off x="12497562" y="8655082"/>
            <a:ext cx="2071116" cy="630936"/>
            <a:chOff x="0" y="0"/>
            <a:chExt cx="2761488" cy="841248"/>
          </a:xfrm>
        </p:grpSpPr>
        <p:sp>
          <p:nvSpPr>
            <p:cNvPr name="Freeform 146" id="146"/>
            <p:cNvSpPr/>
            <p:nvPr/>
          </p:nvSpPr>
          <p:spPr>
            <a:xfrm flipH="false" flipV="false" rot="0">
              <a:off x="0" y="0"/>
              <a:ext cx="2761486" cy="841248"/>
            </a:xfrm>
            <a:custGeom>
              <a:avLst/>
              <a:gdLst/>
              <a:ahLst/>
              <a:cxnLst/>
              <a:rect r="r" b="b" t="t" l="l"/>
              <a:pathLst>
                <a:path h="841248" w="2761486">
                  <a:moveTo>
                    <a:pt x="0" y="0"/>
                  </a:moveTo>
                  <a:lnTo>
                    <a:pt x="2761486" y="0"/>
                  </a:lnTo>
                  <a:lnTo>
                    <a:pt x="2761486" y="841248"/>
                  </a:lnTo>
                  <a:lnTo>
                    <a:pt x="0" y="84124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3961" r="0" b="-13961"/>
              </a:stretch>
            </a:blipFill>
          </p:spPr>
        </p:sp>
        <p:sp>
          <p:nvSpPr>
            <p:cNvPr name="TextBox 147" id="147"/>
            <p:cNvSpPr txBox="true"/>
            <p:nvPr/>
          </p:nvSpPr>
          <p:spPr>
            <a:xfrm>
              <a:off x="0" y="-19050"/>
              <a:ext cx="2761488" cy="860298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889"/>
                </a:lnSpc>
              </a:pPr>
              <a:r>
                <a:rPr lang="en-US" sz="1575" b="true">
                  <a:solidFill>
                    <a:srgbClr val="0B3D1C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Zero-Drop LoRa Telemetry</a:t>
              </a:r>
            </a:p>
          </p:txBody>
        </p:sp>
      </p:grpSp>
      <p:grpSp>
        <p:nvGrpSpPr>
          <p:cNvPr name="Group 148" id="148"/>
          <p:cNvGrpSpPr/>
          <p:nvPr/>
        </p:nvGrpSpPr>
        <p:grpSpPr>
          <a:xfrm rot="0">
            <a:off x="14740128" y="8860822"/>
            <a:ext cx="123444" cy="219456"/>
            <a:chOff x="0" y="0"/>
            <a:chExt cx="164592" cy="292608"/>
          </a:xfrm>
        </p:grpSpPr>
        <p:sp>
          <p:nvSpPr>
            <p:cNvPr name="Freeform 149" id="149"/>
            <p:cNvSpPr/>
            <p:nvPr/>
          </p:nvSpPr>
          <p:spPr>
            <a:xfrm flipH="false" flipV="false" rot="0">
              <a:off x="0" y="0"/>
              <a:ext cx="164592" cy="292608"/>
            </a:xfrm>
            <a:custGeom>
              <a:avLst/>
              <a:gdLst/>
              <a:ahLst/>
              <a:cxnLst/>
              <a:rect r="r" b="b" t="t" l="l"/>
              <a:pathLst>
                <a:path h="292608" w="164592">
                  <a:moveTo>
                    <a:pt x="0" y="0"/>
                  </a:moveTo>
                  <a:lnTo>
                    <a:pt x="82296" y="0"/>
                  </a:lnTo>
                  <a:lnTo>
                    <a:pt x="164592" y="146304"/>
                  </a:lnTo>
                  <a:lnTo>
                    <a:pt x="82296" y="292608"/>
                  </a:lnTo>
                  <a:lnTo>
                    <a:pt x="0" y="292608"/>
                  </a:lnTo>
                  <a:lnTo>
                    <a:pt x="82296" y="146304"/>
                  </a:lnTo>
                  <a:close/>
                </a:path>
              </a:pathLst>
            </a:custGeom>
            <a:solidFill>
              <a:srgbClr val="0C903C"/>
            </a:solidFill>
          </p:spPr>
        </p:sp>
      </p:grpSp>
      <p:grpSp>
        <p:nvGrpSpPr>
          <p:cNvPr name="Group 150" id="150"/>
          <p:cNvGrpSpPr/>
          <p:nvPr/>
        </p:nvGrpSpPr>
        <p:grpSpPr>
          <a:xfrm rot="0">
            <a:off x="14939010" y="8655082"/>
            <a:ext cx="2263140" cy="630936"/>
            <a:chOff x="0" y="0"/>
            <a:chExt cx="3017520" cy="841248"/>
          </a:xfrm>
        </p:grpSpPr>
        <p:sp>
          <p:nvSpPr>
            <p:cNvPr name="Freeform 151" id="151"/>
            <p:cNvSpPr/>
            <p:nvPr/>
          </p:nvSpPr>
          <p:spPr>
            <a:xfrm flipH="false" flipV="false" rot="0">
              <a:off x="0" y="0"/>
              <a:ext cx="3017520" cy="841248"/>
            </a:xfrm>
            <a:custGeom>
              <a:avLst/>
              <a:gdLst/>
              <a:ahLst/>
              <a:cxnLst/>
              <a:rect r="r" b="b" t="t" l="l"/>
              <a:pathLst>
                <a:path h="841248" w="3017520">
                  <a:moveTo>
                    <a:pt x="0" y="182880"/>
                  </a:moveTo>
                  <a:cubicBezTo>
                    <a:pt x="0" y="81915"/>
                    <a:pt x="81915" y="0"/>
                    <a:pt x="182880" y="0"/>
                  </a:cubicBezTo>
                  <a:lnTo>
                    <a:pt x="2834640" y="0"/>
                  </a:lnTo>
                  <a:cubicBezTo>
                    <a:pt x="2935605" y="0"/>
                    <a:pt x="3017520" y="81915"/>
                    <a:pt x="3017520" y="182880"/>
                  </a:cubicBezTo>
                  <a:lnTo>
                    <a:pt x="3017520" y="658368"/>
                  </a:lnTo>
                  <a:cubicBezTo>
                    <a:pt x="3017520" y="759333"/>
                    <a:pt x="2935605" y="841248"/>
                    <a:pt x="2834640" y="841248"/>
                  </a:cubicBezTo>
                  <a:lnTo>
                    <a:pt x="182880" y="841248"/>
                  </a:lnTo>
                  <a:cubicBezTo>
                    <a:pt x="81915" y="841248"/>
                    <a:pt x="0" y="759333"/>
                    <a:pt x="0" y="658368"/>
                  </a:cubicBezTo>
                  <a:close/>
                </a:path>
              </a:pathLst>
            </a:custGeom>
            <a:solidFill>
              <a:srgbClr val="0C903C"/>
            </a:solidFill>
          </p:spPr>
        </p:sp>
      </p:grpSp>
      <p:grpSp>
        <p:nvGrpSpPr>
          <p:cNvPr name="Group 152" id="152"/>
          <p:cNvGrpSpPr/>
          <p:nvPr/>
        </p:nvGrpSpPr>
        <p:grpSpPr>
          <a:xfrm rot="0">
            <a:off x="15035022" y="8655082"/>
            <a:ext cx="2071116" cy="630936"/>
            <a:chOff x="0" y="0"/>
            <a:chExt cx="2761488" cy="841248"/>
          </a:xfrm>
        </p:grpSpPr>
        <p:sp>
          <p:nvSpPr>
            <p:cNvPr name="Freeform 153" id="153"/>
            <p:cNvSpPr/>
            <p:nvPr/>
          </p:nvSpPr>
          <p:spPr>
            <a:xfrm flipH="false" flipV="false" rot="0">
              <a:off x="0" y="0"/>
              <a:ext cx="2761486" cy="841248"/>
            </a:xfrm>
            <a:custGeom>
              <a:avLst/>
              <a:gdLst/>
              <a:ahLst/>
              <a:cxnLst/>
              <a:rect r="r" b="b" t="t" l="l"/>
              <a:pathLst>
                <a:path h="841248" w="2761486">
                  <a:moveTo>
                    <a:pt x="0" y="0"/>
                  </a:moveTo>
                  <a:lnTo>
                    <a:pt x="2761486" y="0"/>
                  </a:lnTo>
                  <a:lnTo>
                    <a:pt x="2761486" y="841248"/>
                  </a:lnTo>
                  <a:lnTo>
                    <a:pt x="0" y="84124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3961" r="0" b="-13961"/>
              </a:stretch>
            </a:blipFill>
          </p:spPr>
        </p:sp>
        <p:sp>
          <p:nvSpPr>
            <p:cNvPr name="TextBox 154" id="154"/>
            <p:cNvSpPr txBox="true"/>
            <p:nvPr/>
          </p:nvSpPr>
          <p:spPr>
            <a:xfrm>
              <a:off x="0" y="-19050"/>
              <a:ext cx="2761488" cy="860298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889"/>
                </a:lnSpc>
              </a:pPr>
              <a:r>
                <a:rPr lang="en-US" sz="1575" b="true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Safe Responder Path Routing</a:t>
              </a:r>
            </a:p>
          </p:txBody>
        </p:sp>
      </p:grpSp>
      <p:sp>
        <p:nvSpPr>
          <p:cNvPr name="Freeform 155" id="155"/>
          <p:cNvSpPr/>
          <p:nvPr/>
        </p:nvSpPr>
        <p:spPr>
          <a:xfrm flipH="false" flipV="false" rot="0">
            <a:off x="6483975" y="2075879"/>
            <a:ext cx="5284353" cy="2960560"/>
          </a:xfrm>
          <a:custGeom>
            <a:avLst/>
            <a:gdLst/>
            <a:ahLst/>
            <a:cxnLst/>
            <a:rect r="r" b="b" t="t" l="l"/>
            <a:pathLst>
              <a:path h="2960560" w="5284353">
                <a:moveTo>
                  <a:pt x="0" y="0"/>
                </a:moveTo>
                <a:lnTo>
                  <a:pt x="5284353" y="0"/>
                </a:lnTo>
                <a:lnTo>
                  <a:pt x="5284353" y="2960560"/>
                </a:lnTo>
                <a:lnTo>
                  <a:pt x="0" y="2960560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>
              <a:fillRect l="-189" t="0" r="-189" b="0"/>
            </a:stretch>
          </a:blipFill>
        </p:spPr>
        <p:txBody>
          <a:bodyPr/>
          <a:p/>
        </p:txBody>
      </p:sp>
      <p:sp>
        <p:nvSpPr>
          <p:cNvPr name="TextBox 156" id="156"/>
          <p:cNvSpPr txBox="true"/>
          <p:nvPr/>
        </p:nvSpPr>
        <p:spPr>
          <a:xfrm rot="0">
            <a:off x="1074505" y="2600000"/>
            <a:ext cx="5028840" cy="29000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67"/>
              </a:lnSpc>
            </a:pPr>
            <a:r>
              <a:rPr sz="1450" b="1" i="0">
                <a:solidFill>
                  <a:srgbClr val="B4281E"/>
                </a:solidFill>
                <a:latin typeface="Calibri"/>
              </a:rPr>
              <a:t>CRITICAL DISASTER BARRIERS — FOUR OPERATIONAL FAILURES:</a:t>
            </a:r>
          </a:p>
          <a:p>
            <a:r>
              <a:rPr sz="1350" b="1" i="0">
                <a:solidFill>
                  <a:srgbClr val="1E2638"/>
                </a:solidFill>
                <a:latin typeface="Calibri"/>
              </a:rPr>
              <a:t>01 — CONNECTIVITY: </a:t>
            </a:r>
            <a:r>
              <a:rPr sz="1350" b="0" i="0">
                <a:solidFill>
                  <a:srgbClr val="1E2638"/>
                </a:solidFill>
                <a:latin typeface="Calibri"/>
              </a:rPr>
              <a:t>Cellular and power infrastructure may be unavailable; cloud-dependent drones rendered completely inoperable.</a:t>
            </a:r>
          </a:p>
          <a:p>
            <a:r>
              <a:rPr sz="1350" b="1" i="0">
                <a:solidFill>
                  <a:srgbClr val="1E2638"/>
                </a:solidFill>
                <a:latin typeface="Calibri"/>
              </a:rPr>
              <a:t>02 — VISIBILITY: </a:t>
            </a:r>
            <a:r>
              <a:rPr sz="1350" b="0" i="0">
                <a:solidFill>
                  <a:srgbClr val="1E2638"/>
                </a:solidFill>
                <a:latin typeface="Calibri"/>
              </a:rPr>
              <a:t>Darkness, smoke and dense debris severely constrain conventional RGB electro-optical observation.</a:t>
            </a:r>
          </a:p>
          <a:p>
            <a:r>
              <a:rPr sz="1350" b="1" i="0">
                <a:solidFill>
                  <a:srgbClr val="1E2638"/>
                </a:solidFill>
                <a:latin typeface="Calibri"/>
              </a:rPr>
              <a:t>03 — LOCALIZATION: </a:t>
            </a:r>
            <a:r>
              <a:rPr sz="1350" b="0" i="0">
                <a:solidFill>
                  <a:srgbClr val="1E2638"/>
                </a:solidFill>
                <a:latin typeface="Calibri"/>
              </a:rPr>
              <a:t>Spotting a casualty is not enough; rescue teams require precise, actionable ground GPS coordinates.</a:t>
            </a:r>
          </a:p>
          <a:p>
            <a:r>
              <a:rPr sz="1350" b="1" i="0">
                <a:solidFill>
                  <a:srgbClr val="1E2638"/>
                </a:solidFill>
                <a:latin typeface="Calibri"/>
              </a:rPr>
              <a:t>04 — ACCESS: </a:t>
            </a:r>
            <a:r>
              <a:rPr sz="1350" b="0" i="0">
                <a:solidFill>
                  <a:srgbClr val="1E2638"/>
                </a:solidFill>
                <a:latin typeface="Calibri"/>
              </a:rPr>
              <a:t>Secondary hazards (electrical lines, shifting rubble, gas voids) make direct rescue paths dangerous.</a:t>
            </a:r>
          </a:p>
        </p:txBody>
      </p:sp>
      <p:sp>
        <p:nvSpPr>
          <p:cNvPr name="TextBox 157" id="157"/>
          <p:cNvSpPr txBox="true"/>
          <p:nvPr/>
        </p:nvSpPr>
        <p:spPr>
          <a:xfrm rot="0">
            <a:off x="12179295" y="2600000"/>
            <a:ext cx="5140386" cy="29000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12"/>
              </a:lnSpc>
            </a:pPr>
            <a:r>
              <a:rPr sz="1450" b="1" i="0">
                <a:solidFill>
                  <a:srgbClr val="1F497D"/>
                </a:solidFill>
                <a:latin typeface="Calibri"/>
              </a:rPr>
              <a:t>Project Phoenix: Autonomous, field-deployable multirotor closing the aerial-to-ground rescue loop:</a:t>
            </a:r>
          </a:p>
          <a:p>
            <a:r>
              <a:rPr sz="1350" b="1" i="0">
                <a:solidFill>
                  <a:srgbClr val="1E2638"/>
                </a:solidFill>
                <a:latin typeface="Calibri"/>
              </a:rPr>
              <a:t>DUAL-BRAIN HARDWARE SPLIT: </a:t>
            </a:r>
            <a:r>
              <a:rPr sz="1350" b="0" i="0">
                <a:solidFill>
                  <a:srgbClr val="1E2638"/>
                </a:solidFill>
                <a:latin typeface="Calibri"/>
              </a:rPr>
              <a:t>QRB2210 MPU performs INT8 edge-AI on Linux; STM32U585 MCU runs deterministic 250 Hz flight loop on Zephyr.</a:t>
            </a:r>
          </a:p>
          <a:p>
            <a:r>
              <a:rPr sz="1350" b="1" i="0">
                <a:solidFill>
                  <a:srgbClr val="1E2638"/>
                </a:solidFill>
                <a:latin typeface="Calibri"/>
              </a:rPr>
              <a:t>MULTIMODAL PERCEPTION: </a:t>
            </a:r>
            <a:r>
              <a:rPr sz="1350" b="0" i="0">
                <a:solidFill>
                  <a:srgbClr val="1E2638"/>
                </a:solidFill>
                <a:latin typeface="Calibri"/>
              </a:rPr>
              <a:t>Fuses 4K RGB + LWIR thermal (8–14μm) to detect human heat signatures in darkness, smoke &amp; partially exposed debris.</a:t>
            </a:r>
          </a:p>
          <a:p>
            <a:r>
              <a:rPr sz="1350" b="1" i="0">
                <a:solidFill>
                  <a:srgbClr val="1E2638"/>
                </a:solidFill>
                <a:latin typeface="Calibri"/>
              </a:rPr>
              <a:t>CONTINUOUS GEOREFERENCING: </a:t>
            </a:r>
            <a:r>
              <a:rPr sz="1350" b="0" i="0">
                <a:solidFill>
                  <a:srgbClr val="1E2638"/>
                </a:solidFill>
                <a:latin typeface="Calibri"/>
              </a:rPr>
              <a:t>Synchronized GNSS, attitude, camera geometry &amp; ToF altitude georeference victims in real time without hovering.</a:t>
            </a:r>
          </a:p>
          <a:p>
            <a:r>
              <a:rPr sz="1350" b="1" i="0">
                <a:solidFill>
                  <a:srgbClr val="1E2638"/>
                </a:solidFill>
                <a:latin typeface="Calibri"/>
              </a:rPr>
              <a:t>OFFLINE RESCUE ROUTING: </a:t>
            </a:r>
            <a:r>
              <a:rPr sz="1350" b="0" i="0">
                <a:solidFill>
                  <a:srgbClr val="1E2638"/>
                </a:solidFill>
                <a:latin typeface="Calibri"/>
              </a:rPr>
              <a:t>Prioritizes triage on-chip; broadcasts 17-byte LoRa packets to chart Dijkstra corridors avoiding hazards [1, 3].</a:t>
            </a:r>
          </a:p>
        </p:txBody>
      </p:sp>
      <p:sp>
        <p:nvSpPr>
          <p:cNvPr name="TextBox 158" id="158"/>
          <p:cNvSpPr txBox="true"/>
          <p:nvPr/>
        </p:nvSpPr>
        <p:spPr>
          <a:xfrm rot="0">
            <a:off x="1014984" y="6692083"/>
            <a:ext cx="2779681" cy="89687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89"/>
              </a:lnSpc>
            </a:pPr>
            <a:r>
              <a:rPr sz="1400" b="0" i="0">
                <a:solidFill>
                  <a:srgbClr val="1E2638"/>
                </a:solidFill>
                <a:latin typeface="Calibri"/>
              </a:rPr>
              <a:t>Arduino UNO Q (4GB LPDDR4 / 32GB eMMC): Qualcomm Dragonwing QRB2210 MPU + STM32U585 MCU on a unified 40g board.</a:t>
            </a:r>
          </a:p>
        </p:txBody>
      </p:sp>
      <p:sp>
        <p:nvSpPr>
          <p:cNvPr name="TextBox 159" id="159"/>
          <p:cNvSpPr txBox="true"/>
          <p:nvPr/>
        </p:nvSpPr>
        <p:spPr>
          <a:xfrm rot="0">
            <a:off x="4384453" y="6692083"/>
            <a:ext cx="2779681" cy="89687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89"/>
              </a:lnSpc>
            </a:pPr>
            <a:r>
              <a:rPr sz="1400" b="0" i="0">
                <a:solidFill>
                  <a:srgbClr val="1E2638"/>
                </a:solidFill>
                <a:latin typeface="Calibri"/>
              </a:rPr>
              <a:t>Sub-5W Edge AI: QRB2210 heterogeneous compute executes INT8 YOLO inference, minimizing non-propulsion power draw.</a:t>
            </a:r>
          </a:p>
        </p:txBody>
      </p:sp>
      <p:sp>
        <p:nvSpPr>
          <p:cNvPr name="TextBox 160" id="160"/>
          <p:cNvSpPr txBox="true"/>
          <p:nvPr/>
        </p:nvSpPr>
        <p:spPr>
          <a:xfrm rot="0">
            <a:off x="7753931" y="6692083"/>
            <a:ext cx="2779681" cy="89687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89"/>
              </a:lnSpc>
            </a:pPr>
            <a:r>
              <a:rPr sz="1400" b="0" i="0">
                <a:solidFill>
                  <a:srgbClr val="1E2638"/>
                </a:solidFill>
                <a:latin typeface="Calibri"/>
              </a:rPr>
              <a:t>Dynamic Georeferencing: Synchronized attitude, camera ray &amp; ToF altitude pin ground GPS in real time without hovering.</a:t>
            </a:r>
          </a:p>
        </p:txBody>
      </p:sp>
      <p:sp>
        <p:nvSpPr>
          <p:cNvPr name="TextBox 161" id="161"/>
          <p:cNvSpPr txBox="true"/>
          <p:nvPr/>
        </p:nvSpPr>
        <p:spPr>
          <a:xfrm rot="0">
            <a:off x="11123400" y="6692083"/>
            <a:ext cx="2779681" cy="89687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89"/>
              </a:lnSpc>
            </a:pPr>
            <a:r>
              <a:rPr sz="1400" b="0" i="0">
                <a:solidFill>
                  <a:srgbClr val="1E2638"/>
                </a:solidFill>
                <a:latin typeface="Calibri"/>
              </a:rPr>
              <a:t>Compact LoRa Telemetry: 17-byte bit-packed triage stream over 3–5+ km in blackout zones (Souli et al. [3], 2024).</a:t>
            </a:r>
          </a:p>
        </p:txBody>
      </p:sp>
      <p:sp>
        <p:nvSpPr>
          <p:cNvPr name="TextBox 162" id="162"/>
          <p:cNvSpPr txBox="true"/>
          <p:nvPr/>
        </p:nvSpPr>
        <p:spPr>
          <a:xfrm rot="0">
            <a:off x="14492878" y="6692083"/>
            <a:ext cx="2779681" cy="89687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89"/>
              </a:lnSpc>
            </a:pPr>
            <a:r>
              <a:rPr sz="1400" b="0" i="0">
                <a:solidFill>
                  <a:srgbClr val="1E2638"/>
                </a:solidFill>
                <a:latin typeface="Calibri"/>
              </a:rPr>
              <a:t>Anti-Compass Drift VIO: Visual-Inertial Odometry overrides magnetometer in collapsed steel rubble (IEEE standard navigation).</a:t>
            </a:r>
          </a:p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9532144"/>
            <a:ext cx="18288000" cy="754856"/>
            <a:chOff x="0" y="0"/>
            <a:chExt cx="24384000" cy="1006475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84000" cy="1006475"/>
            </a:xfrm>
            <a:custGeom>
              <a:avLst/>
              <a:gdLst/>
              <a:ahLst/>
              <a:cxnLst/>
              <a:rect r="r" b="b" t="t" l="l"/>
              <a:pathLst>
                <a:path h="1006475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006475"/>
                  </a:lnTo>
                  <a:lnTo>
                    <a:pt x="0" y="1006475"/>
                  </a:lnTo>
                  <a:close/>
                </a:path>
              </a:pathLst>
            </a:custGeom>
            <a:solidFill>
              <a:srgbClr val="0070C0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914400" y="-71438"/>
            <a:ext cx="16459200" cy="1714500"/>
            <a:chOff x="0" y="0"/>
            <a:chExt cx="21945600" cy="228600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1945600" cy="2286000"/>
            </a:xfrm>
            <a:custGeom>
              <a:avLst/>
              <a:gdLst/>
              <a:ahLst/>
              <a:cxnLst/>
              <a:rect r="r" b="b" t="t" l="l"/>
              <a:pathLst>
                <a:path h="2286000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2286000"/>
                  </a:lnTo>
                  <a:lnTo>
                    <a:pt x="0" y="22860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37056" r="0" b="-137056"/>
              </a:stretch>
            </a:blipFill>
          </p:spPr>
        </p:sp>
        <p:sp>
          <p:nvSpPr>
            <p:cNvPr name="TextBox 6" id="6"/>
            <p:cNvSpPr txBox="true"/>
            <p:nvPr/>
          </p:nvSpPr>
          <p:spPr>
            <a:xfrm>
              <a:off x="0" y="-28575"/>
              <a:ext cx="21945600" cy="231457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6480"/>
                </a:lnSpc>
              </a:pPr>
              <a:r>
                <a:rPr lang="en-US" sz="5400" b="true">
                  <a:solidFill>
                    <a:srgbClr val="000000"/>
                  </a:solidFill>
                  <a:latin typeface="Times New Roman Bold"/>
                  <a:ea typeface="Times New Roman Bold"/>
                  <a:cs typeface="Times New Roman Bold"/>
                  <a:sym typeface="Times New Roman Bold"/>
                </a:rPr>
                <a:t>TECHNICAL APPROACH</a:t>
              </a:r>
            </a:p>
          </p:txBody>
        </p:sp>
      </p:grpSp>
      <p:grpSp>
        <p:nvGrpSpPr>
          <p:cNvPr name="Group 7" id="7"/>
          <p:cNvGrpSpPr/>
          <p:nvPr/>
        </p:nvGrpSpPr>
        <p:grpSpPr>
          <a:xfrm rot="0">
            <a:off x="13106400" y="9534525"/>
            <a:ext cx="4267200" cy="547688"/>
            <a:chOff x="0" y="0"/>
            <a:chExt cx="5689600" cy="73025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5689600" cy="730250"/>
            </a:xfrm>
            <a:custGeom>
              <a:avLst/>
              <a:gdLst/>
              <a:ahLst/>
              <a:cxnLst/>
              <a:rect r="r" b="b" t="t" l="l"/>
              <a:pathLst>
                <a:path h="730250" w="5689600">
                  <a:moveTo>
                    <a:pt x="0" y="0"/>
                  </a:moveTo>
                  <a:lnTo>
                    <a:pt x="5689600" y="0"/>
                  </a:lnTo>
                  <a:lnTo>
                    <a:pt x="5689600" y="730250"/>
                  </a:lnTo>
                  <a:lnTo>
                    <a:pt x="0" y="73025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01813" r="0" b="-101813"/>
              </a:stretch>
            </a:blipFill>
          </p:spPr>
        </p:sp>
        <p:sp>
          <p:nvSpPr>
            <p:cNvPr name="TextBox 9" id="9"/>
            <p:cNvSpPr txBox="true"/>
            <p:nvPr/>
          </p:nvSpPr>
          <p:spPr>
            <a:xfrm>
              <a:off x="0" y="-19050"/>
              <a:ext cx="5689600" cy="74930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r">
                <a:lnSpc>
                  <a:spcPts val="2160"/>
                </a:lnSpc>
              </a:pPr>
              <a:r>
                <a:rPr lang="en-US" sz="1800" b="true">
                  <a:solidFill>
                    <a:srgbClr val="FFFFFF"/>
                  </a:solidFill>
                  <a:latin typeface="Arimo Bold"/>
                  <a:ea typeface="Arimo Bold"/>
                  <a:cs typeface="Arimo Bold"/>
                  <a:sym typeface="Arimo Bold"/>
                </a:rPr>
                <a:t>3</a:t>
              </a: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14670129" y="2248"/>
            <a:ext cx="3374774" cy="1593504"/>
            <a:chOff x="0" y="0"/>
            <a:chExt cx="4499699" cy="2124672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4499737" cy="2124710"/>
            </a:xfrm>
            <a:custGeom>
              <a:avLst/>
              <a:gdLst/>
              <a:ahLst/>
              <a:cxnLst/>
              <a:rect r="r" b="b" t="t" l="l"/>
              <a:pathLst>
                <a:path h="2124710" w="4499737">
                  <a:moveTo>
                    <a:pt x="0" y="0"/>
                  </a:moveTo>
                  <a:lnTo>
                    <a:pt x="4499737" y="0"/>
                  </a:lnTo>
                  <a:lnTo>
                    <a:pt x="4499737" y="2124710"/>
                  </a:lnTo>
                  <a:lnTo>
                    <a:pt x="0" y="212471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0" t="0" r="0" b="1"/>
              </a:stretch>
            </a:blipFill>
          </p:spPr>
        </p:sp>
      </p:grpSp>
      <p:grpSp>
        <p:nvGrpSpPr>
          <p:cNvPr name="Group 12" id="12"/>
          <p:cNvGrpSpPr/>
          <p:nvPr/>
        </p:nvGrpSpPr>
        <p:grpSpPr>
          <a:xfrm rot="0">
            <a:off x="603504" y="315468"/>
            <a:ext cx="2263140" cy="740664"/>
            <a:chOff x="0" y="0"/>
            <a:chExt cx="3017520" cy="987552"/>
          </a:xfrm>
        </p:grpSpPr>
        <p:sp>
          <p:nvSpPr>
            <p:cNvPr name="Freeform 13" id="13" descr="Phoenix team logo"/>
            <p:cNvSpPr/>
            <p:nvPr/>
          </p:nvSpPr>
          <p:spPr>
            <a:xfrm flipH="false" flipV="false" rot="0">
              <a:off x="0" y="0"/>
              <a:ext cx="3017520" cy="987552"/>
            </a:xfrm>
            <a:custGeom>
              <a:avLst/>
              <a:gdLst/>
              <a:ahLst/>
              <a:cxnLst/>
              <a:rect r="r" b="b" t="t" l="l"/>
              <a:pathLst>
                <a:path h="987552" w="3017520">
                  <a:moveTo>
                    <a:pt x="0" y="0"/>
                  </a:moveTo>
                  <a:lnTo>
                    <a:pt x="3017520" y="0"/>
                  </a:lnTo>
                  <a:lnTo>
                    <a:pt x="3017520" y="987552"/>
                  </a:lnTo>
                  <a:lnTo>
                    <a:pt x="0" y="98755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-33" t="0" r="-33" b="0"/>
              </a:stretch>
            </a:blipFill>
          </p:spPr>
        </p:sp>
      </p:grpSp>
      <p:grpSp>
        <p:nvGrpSpPr>
          <p:cNvPr name="Group 14" id="14"/>
          <p:cNvGrpSpPr/>
          <p:nvPr/>
        </p:nvGrpSpPr>
        <p:grpSpPr>
          <a:xfrm rot="0">
            <a:off x="548640" y="9532620"/>
            <a:ext cx="6515100" cy="754380"/>
            <a:chOff x="0" y="0"/>
            <a:chExt cx="8686800" cy="100584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8686800" cy="1005840"/>
            </a:xfrm>
            <a:custGeom>
              <a:avLst/>
              <a:gdLst/>
              <a:ahLst/>
              <a:cxnLst/>
              <a:rect r="r" b="b" t="t" l="l"/>
              <a:pathLst>
                <a:path h="1005840" w="8686800">
                  <a:moveTo>
                    <a:pt x="0" y="0"/>
                  </a:moveTo>
                  <a:lnTo>
                    <a:pt x="8686800" y="0"/>
                  </a:lnTo>
                  <a:lnTo>
                    <a:pt x="8686800" y="1005840"/>
                  </a:lnTo>
                  <a:lnTo>
                    <a:pt x="0" y="10058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18279" r="0" b="-118279"/>
              </a:stretch>
            </a:blipFill>
          </p:spPr>
        </p:sp>
        <p:sp>
          <p:nvSpPr>
            <p:cNvPr name="TextBox 16" id="16"/>
            <p:cNvSpPr txBox="true"/>
            <p:nvPr/>
          </p:nvSpPr>
          <p:spPr>
            <a:xfrm>
              <a:off x="0" y="-28575"/>
              <a:ext cx="8686800" cy="103441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PROJECT PHOENIX: Autonomous Multi-Spectral Edge-AI UAV  |  SIH26177 (Qualcomm Inc.)</a:t>
              </a:r>
            </a:p>
          </p:txBody>
        </p:sp>
      </p:grpSp>
      <p:grpSp>
        <p:nvGrpSpPr>
          <p:cNvPr name="Group 17" id="17"/>
          <p:cNvGrpSpPr/>
          <p:nvPr/>
        </p:nvGrpSpPr>
        <p:grpSpPr>
          <a:xfrm rot="0">
            <a:off x="918972" y="1275588"/>
            <a:ext cx="16459200" cy="466344"/>
            <a:chOff x="0" y="0"/>
            <a:chExt cx="21945600" cy="621792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21945600" cy="621792"/>
            </a:xfrm>
            <a:custGeom>
              <a:avLst/>
              <a:gdLst/>
              <a:ahLst/>
              <a:cxnLst/>
              <a:rect r="r" b="b" t="t" l="l"/>
              <a:pathLst>
                <a:path h="621792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621792"/>
                  </a:lnTo>
                  <a:lnTo>
                    <a:pt x="0" y="62179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637707" r="0" b="-637707"/>
              </a:stretch>
            </a:blipFill>
          </p:spPr>
        </p:sp>
        <p:sp>
          <p:nvSpPr>
            <p:cNvPr name="TextBox 19" id="19"/>
            <p:cNvSpPr txBox="true"/>
            <p:nvPr/>
          </p:nvSpPr>
          <p:spPr>
            <a:xfrm>
              <a:off x="0" y="-38100"/>
              <a:ext cx="21945600" cy="65989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879"/>
                </a:lnSpc>
              </a:pPr>
              <a:r>
                <a:rPr lang="en-US" sz="2400" b="true">
                  <a:solidFill>
                    <a:srgbClr val="0070C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Dual-Brain Architecture &amp; Workflow</a:t>
              </a:r>
            </a:p>
          </p:txBody>
        </p:sp>
      </p:grpSp>
      <p:grpSp>
        <p:nvGrpSpPr>
          <p:cNvPr name="Group 20" id="20"/>
          <p:cNvGrpSpPr/>
          <p:nvPr/>
        </p:nvGrpSpPr>
        <p:grpSpPr>
          <a:xfrm rot="0">
            <a:off x="333360" y="1864804"/>
            <a:ext cx="6526380" cy="7393496"/>
            <a:chOff x="0" y="0"/>
            <a:chExt cx="8701839" cy="9857994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8701839" cy="9857994"/>
            </a:xfrm>
            <a:custGeom>
              <a:avLst/>
              <a:gdLst/>
              <a:ahLst/>
              <a:cxnLst/>
              <a:rect r="r" b="b" t="t" l="l"/>
              <a:pathLst>
                <a:path h="9857994" w="8701839">
                  <a:moveTo>
                    <a:pt x="0" y="256540"/>
                  </a:moveTo>
                  <a:cubicBezTo>
                    <a:pt x="0" y="114808"/>
                    <a:pt x="82640" y="0"/>
                    <a:pt x="184659" y="0"/>
                  </a:cubicBezTo>
                  <a:lnTo>
                    <a:pt x="8517180" y="0"/>
                  </a:lnTo>
                  <a:cubicBezTo>
                    <a:pt x="8619109" y="0"/>
                    <a:pt x="8701839" y="114808"/>
                    <a:pt x="8701839" y="256540"/>
                  </a:cubicBezTo>
                  <a:lnTo>
                    <a:pt x="8701839" y="9601454"/>
                  </a:lnTo>
                  <a:cubicBezTo>
                    <a:pt x="8701839" y="9743060"/>
                    <a:pt x="8619199" y="9857994"/>
                    <a:pt x="8517180" y="9857994"/>
                  </a:cubicBezTo>
                  <a:lnTo>
                    <a:pt x="184659" y="9857994"/>
                  </a:lnTo>
                  <a:cubicBezTo>
                    <a:pt x="82731" y="9857994"/>
                    <a:pt x="0" y="9743186"/>
                    <a:pt x="0" y="9601454"/>
                  </a:cubicBezTo>
                  <a:close/>
                </a:path>
              </a:pathLst>
            </a:custGeom>
            <a:solidFill>
              <a:srgbClr val="F4F8FC"/>
            </a:solidFill>
            <a:ln w="14288" cap="sq">
              <a:solidFill>
                <a:srgbClr val="D6E1EE"/>
              </a:solidFill>
              <a:prstDash val="solid"/>
              <a:miter/>
            </a:ln>
          </p:spPr>
        </p:sp>
      </p:grpSp>
      <p:grpSp>
        <p:nvGrpSpPr>
          <p:cNvPr name="Group 22" id="22"/>
          <p:cNvGrpSpPr/>
          <p:nvPr/>
        </p:nvGrpSpPr>
        <p:grpSpPr>
          <a:xfrm rot="0">
            <a:off x="683404" y="2118836"/>
            <a:ext cx="3689737" cy="411480"/>
            <a:chOff x="0" y="0"/>
            <a:chExt cx="4919650" cy="548640"/>
          </a:xfrm>
        </p:grpSpPr>
        <p:sp>
          <p:nvSpPr>
            <p:cNvPr name="Freeform 23" id="23"/>
            <p:cNvSpPr/>
            <p:nvPr/>
          </p:nvSpPr>
          <p:spPr>
            <a:xfrm flipH="false" flipV="false" rot="0">
              <a:off x="0" y="0"/>
              <a:ext cx="4919599" cy="548640"/>
            </a:xfrm>
            <a:custGeom>
              <a:avLst/>
              <a:gdLst/>
              <a:ahLst/>
              <a:cxnLst/>
              <a:rect r="r" b="b" t="t" l="l"/>
              <a:pathLst>
                <a:path h="548640" w="4919599">
                  <a:moveTo>
                    <a:pt x="0" y="274320"/>
                  </a:moveTo>
                  <a:cubicBezTo>
                    <a:pt x="0" y="122809"/>
                    <a:pt x="122809" y="0"/>
                    <a:pt x="274320" y="0"/>
                  </a:cubicBezTo>
                  <a:lnTo>
                    <a:pt x="4645279" y="0"/>
                  </a:lnTo>
                  <a:cubicBezTo>
                    <a:pt x="4796790" y="0"/>
                    <a:pt x="4919599" y="122809"/>
                    <a:pt x="4919599" y="274320"/>
                  </a:cubicBezTo>
                  <a:cubicBezTo>
                    <a:pt x="4919599" y="425831"/>
                    <a:pt x="4796790" y="548640"/>
                    <a:pt x="4645279" y="548640"/>
                  </a:cubicBezTo>
                  <a:lnTo>
                    <a:pt x="274320" y="548640"/>
                  </a:lnTo>
                  <a:cubicBezTo>
                    <a:pt x="122809" y="548640"/>
                    <a:pt x="0" y="425831"/>
                    <a:pt x="0" y="274320"/>
                  </a:cubicBezTo>
                  <a:close/>
                </a:path>
              </a:pathLst>
            </a:custGeom>
            <a:solidFill>
              <a:srgbClr val="E1EEF9"/>
            </a:solidFill>
          </p:spPr>
        </p:sp>
      </p:grpSp>
      <p:grpSp>
        <p:nvGrpSpPr>
          <p:cNvPr name="Group 24" id="24"/>
          <p:cNvGrpSpPr/>
          <p:nvPr/>
        </p:nvGrpSpPr>
        <p:grpSpPr>
          <a:xfrm rot="0">
            <a:off x="683404" y="2118836"/>
            <a:ext cx="3689737" cy="411480"/>
            <a:chOff x="0" y="0"/>
            <a:chExt cx="4919650" cy="548640"/>
          </a:xfrm>
        </p:grpSpPr>
        <p:sp>
          <p:nvSpPr>
            <p:cNvPr name="Freeform 25" id="25"/>
            <p:cNvSpPr/>
            <p:nvPr/>
          </p:nvSpPr>
          <p:spPr>
            <a:xfrm flipH="false" flipV="false" rot="0">
              <a:off x="0" y="0"/>
              <a:ext cx="4919654" cy="548640"/>
            </a:xfrm>
            <a:custGeom>
              <a:avLst/>
              <a:gdLst/>
              <a:ahLst/>
              <a:cxnLst/>
              <a:rect r="r" b="b" t="t" l="l"/>
              <a:pathLst>
                <a:path h="548640" w="4919654">
                  <a:moveTo>
                    <a:pt x="0" y="0"/>
                  </a:moveTo>
                  <a:lnTo>
                    <a:pt x="4919654" y="0"/>
                  </a:lnTo>
                  <a:lnTo>
                    <a:pt x="4919654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24722" r="0" b="-124722"/>
              </a:stretch>
            </a:blipFill>
          </p:spPr>
        </p:sp>
        <p:sp>
          <p:nvSpPr>
            <p:cNvPr name="TextBox 26" id="26"/>
            <p:cNvSpPr txBox="true"/>
            <p:nvPr/>
          </p:nvSpPr>
          <p:spPr>
            <a:xfrm>
              <a:off x="0" y="-19050"/>
              <a:ext cx="4919650" cy="56769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889"/>
                </a:lnSpc>
              </a:pPr>
              <a:r>
                <a:rPr lang="en-US" b="true" sz="1575" spc="224">
                  <a:solidFill>
                    <a:srgbClr val="0070C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IMPLEMENTATION WORKFLOW</a:t>
              </a:r>
            </a:p>
          </p:txBody>
        </p:sp>
      </p:grpSp>
      <p:sp>
        <p:nvSpPr>
          <p:cNvPr name="AutoShape 27" id="27"/>
          <p:cNvSpPr/>
          <p:nvPr/>
        </p:nvSpPr>
        <p:spPr>
          <a:xfrm>
            <a:off x="944008" y="3380708"/>
            <a:ext cx="0" cy="534924"/>
          </a:xfrm>
          <a:prstGeom prst="line">
            <a:avLst/>
          </a:prstGeom>
          <a:ln cap="rnd" w="19050">
            <a:solidFill>
              <a:srgbClr val="F3C9A5"/>
            </a:solidFill>
            <a:prstDash val="solid"/>
            <a:headEnd type="none" len="sm" w="sm"/>
            <a:tailEnd type="none" len="sm" w="sm"/>
          </a:ln>
        </p:spPr>
        <p:txBody>
          <a:bodyPr/>
          <a:p/>
        </p:txBody>
      </p:sp>
      <p:grpSp>
        <p:nvGrpSpPr>
          <p:cNvPr name="Group 28" id="28"/>
          <p:cNvGrpSpPr/>
          <p:nvPr/>
        </p:nvGrpSpPr>
        <p:grpSpPr>
          <a:xfrm rot="0">
            <a:off x="683404" y="2859500"/>
            <a:ext cx="521208" cy="521208"/>
            <a:chOff x="0" y="0"/>
            <a:chExt cx="694944" cy="694944"/>
          </a:xfrm>
        </p:grpSpPr>
        <p:sp>
          <p:nvSpPr>
            <p:cNvPr name="Freeform 29" id="29"/>
            <p:cNvSpPr/>
            <p:nvPr/>
          </p:nvSpPr>
          <p:spPr>
            <a:xfrm flipH="false" flipV="false" rot="0">
              <a:off x="0" y="0"/>
              <a:ext cx="694944" cy="694944"/>
            </a:xfrm>
            <a:custGeom>
              <a:avLst/>
              <a:gdLst/>
              <a:ahLst/>
              <a:cxnLst/>
              <a:rect r="r" b="b" t="t" l="l"/>
              <a:pathLst>
                <a:path h="694944" w="694944">
                  <a:moveTo>
                    <a:pt x="0" y="347472"/>
                  </a:moveTo>
                  <a:cubicBezTo>
                    <a:pt x="0" y="155575"/>
                    <a:pt x="155575" y="0"/>
                    <a:pt x="347472" y="0"/>
                  </a:cubicBezTo>
                  <a:cubicBezTo>
                    <a:pt x="539369" y="0"/>
                    <a:pt x="694944" y="155575"/>
                    <a:pt x="694944" y="347472"/>
                  </a:cubicBezTo>
                  <a:cubicBezTo>
                    <a:pt x="694944" y="539369"/>
                    <a:pt x="539369" y="694944"/>
                    <a:pt x="347472" y="694944"/>
                  </a:cubicBezTo>
                  <a:cubicBezTo>
                    <a:pt x="155575" y="694944"/>
                    <a:pt x="0" y="539369"/>
                    <a:pt x="0" y="347472"/>
                  </a:cubicBezTo>
                  <a:close/>
                </a:path>
              </a:pathLst>
            </a:custGeom>
            <a:solidFill>
              <a:srgbClr val="D9700F"/>
            </a:solidFill>
          </p:spPr>
        </p:sp>
      </p:grpSp>
      <p:grpSp>
        <p:nvGrpSpPr>
          <p:cNvPr name="Group 30" id="30"/>
          <p:cNvGrpSpPr/>
          <p:nvPr/>
        </p:nvGrpSpPr>
        <p:grpSpPr>
          <a:xfrm rot="0">
            <a:off x="683404" y="2859500"/>
            <a:ext cx="521208" cy="521208"/>
            <a:chOff x="0" y="0"/>
            <a:chExt cx="694944" cy="694944"/>
          </a:xfrm>
        </p:grpSpPr>
        <p:sp>
          <p:nvSpPr>
            <p:cNvPr name="Freeform 31" id="31"/>
            <p:cNvSpPr/>
            <p:nvPr/>
          </p:nvSpPr>
          <p:spPr>
            <a:xfrm flipH="false" flipV="false" rot="0">
              <a:off x="0" y="0"/>
              <a:ext cx="694944" cy="694944"/>
            </a:xfrm>
            <a:custGeom>
              <a:avLst/>
              <a:gdLst/>
              <a:ahLst/>
              <a:cxnLst/>
              <a:rect r="r" b="b" t="t" l="l"/>
              <a:pathLst>
                <a:path h="694944" w="694944">
                  <a:moveTo>
                    <a:pt x="0" y="0"/>
                  </a:moveTo>
                  <a:lnTo>
                    <a:pt x="694944" y="0"/>
                  </a:lnTo>
                  <a:lnTo>
                    <a:pt x="694944" y="694944"/>
                  </a:lnTo>
                  <a:lnTo>
                    <a:pt x="0" y="69494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78303" t="0" r="-78303" b="0"/>
              </a:stretch>
            </a:blipFill>
          </p:spPr>
        </p:sp>
        <p:sp>
          <p:nvSpPr>
            <p:cNvPr name="TextBox 32" id="32"/>
            <p:cNvSpPr txBox="true"/>
            <p:nvPr/>
          </p:nvSpPr>
          <p:spPr>
            <a:xfrm>
              <a:off x="0" y="-47625"/>
              <a:ext cx="694944" cy="742569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340"/>
                </a:lnSpc>
              </a:pPr>
              <a:r>
                <a:rPr lang="en-US" sz="1950" b="true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1</a:t>
              </a:r>
            </a:p>
          </p:txBody>
        </p:sp>
      </p:grpSp>
      <p:grpSp>
        <p:nvGrpSpPr>
          <p:cNvPr name="Group 33" id="33"/>
          <p:cNvGrpSpPr/>
          <p:nvPr/>
        </p:nvGrpSpPr>
        <p:grpSpPr>
          <a:xfrm rot="0">
            <a:off x="1506364" y="2818352"/>
            <a:ext cx="7543800" cy="384048"/>
            <a:chOff x="0" y="0"/>
            <a:chExt cx="10058400" cy="512064"/>
          </a:xfrm>
        </p:grpSpPr>
        <p:sp>
          <p:nvSpPr>
            <p:cNvPr name="Freeform 34" id="34"/>
            <p:cNvSpPr/>
            <p:nvPr/>
          </p:nvSpPr>
          <p:spPr>
            <a:xfrm flipH="false" flipV="false" rot="0">
              <a:off x="0" y="0"/>
              <a:ext cx="10058400" cy="512064"/>
            </a:xfrm>
            <a:custGeom>
              <a:avLst/>
              <a:gdLst/>
              <a:ahLst/>
              <a:cxnLst/>
              <a:rect r="r" b="b" t="t" l="l"/>
              <a:pathLst>
                <a:path h="512064" w="10058400">
                  <a:moveTo>
                    <a:pt x="0" y="0"/>
                  </a:moveTo>
                  <a:lnTo>
                    <a:pt x="10058400" y="0"/>
                  </a:lnTo>
                  <a:lnTo>
                    <a:pt x="10058400" y="512064"/>
                  </a:lnTo>
                  <a:lnTo>
                    <a:pt x="0" y="51206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32741" r="0" b="-332741"/>
              </a:stretch>
            </a:blipFill>
          </p:spPr>
        </p:sp>
        <p:sp>
          <p:nvSpPr>
            <p:cNvPr name="TextBox 35" id="35"/>
            <p:cNvSpPr txBox="true"/>
            <p:nvPr/>
          </p:nvSpPr>
          <p:spPr>
            <a:xfrm>
              <a:off x="0" y="-47625"/>
              <a:ext cx="10058400" cy="559689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340"/>
                </a:lnSpc>
              </a:pPr>
              <a:r>
                <a:rPr lang="en-US" sz="1950" b="true">
                  <a:solidFill>
                    <a:srgbClr val="1F497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Sector Partition &amp; Launch</a:t>
              </a:r>
            </a:p>
          </p:txBody>
        </p:sp>
      </p:grpSp>
      <p:sp>
        <p:nvSpPr>
          <p:cNvPr name="TextBox 36" id="36"/>
          <p:cNvSpPr txBox="true"/>
          <p:nvPr/>
        </p:nvSpPr>
        <p:spPr>
          <a:xfrm rot="0">
            <a:off x="1506364" y="3178016"/>
            <a:ext cx="5074920" cy="49537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30"/>
              </a:lnSpc>
            </a:pPr>
            <a:r>
              <a:rPr lang="en-US" sz="1525">
                <a:solidFill>
                  <a:srgbClr val="1E2638"/>
                </a:solidFill>
                <a:latin typeface="Calibri (MS)"/>
                <a:ea typeface="Calibri (MS)"/>
                <a:cs typeface="Calibri (MS)"/>
                <a:sym typeface="Calibri (MS)"/>
              </a:rPr>
              <a:t>Operator selects 2 km² search polygon on offline tablet; UAV launches in &lt; 3 minutes.</a:t>
            </a:r>
          </a:p>
        </p:txBody>
      </p:sp>
      <p:sp>
        <p:nvSpPr>
          <p:cNvPr name="AutoShape 37" id="37"/>
          <p:cNvSpPr/>
          <p:nvPr/>
        </p:nvSpPr>
        <p:spPr>
          <a:xfrm>
            <a:off x="944008" y="4395692"/>
            <a:ext cx="0" cy="576072"/>
          </a:xfrm>
          <a:prstGeom prst="line">
            <a:avLst/>
          </a:prstGeom>
          <a:ln cap="rnd" w="19050">
            <a:solidFill>
              <a:srgbClr val="F3C9A5"/>
            </a:solidFill>
            <a:prstDash val="solid"/>
            <a:headEnd type="none" len="sm" w="sm"/>
            <a:tailEnd type="none" len="sm" w="sm"/>
          </a:ln>
        </p:spPr>
        <p:txBody>
          <a:bodyPr/>
          <a:p/>
        </p:txBody>
      </p:sp>
      <p:grpSp>
        <p:nvGrpSpPr>
          <p:cNvPr name="Group 38" id="38"/>
          <p:cNvGrpSpPr/>
          <p:nvPr/>
        </p:nvGrpSpPr>
        <p:grpSpPr>
          <a:xfrm rot="0">
            <a:off x="683404" y="3915632"/>
            <a:ext cx="521208" cy="521208"/>
            <a:chOff x="0" y="0"/>
            <a:chExt cx="694944" cy="694944"/>
          </a:xfrm>
        </p:grpSpPr>
        <p:sp>
          <p:nvSpPr>
            <p:cNvPr name="Freeform 39" id="39"/>
            <p:cNvSpPr/>
            <p:nvPr/>
          </p:nvSpPr>
          <p:spPr>
            <a:xfrm flipH="false" flipV="false" rot="0">
              <a:off x="0" y="0"/>
              <a:ext cx="694944" cy="694944"/>
            </a:xfrm>
            <a:custGeom>
              <a:avLst/>
              <a:gdLst/>
              <a:ahLst/>
              <a:cxnLst/>
              <a:rect r="r" b="b" t="t" l="l"/>
              <a:pathLst>
                <a:path h="694944" w="694944">
                  <a:moveTo>
                    <a:pt x="0" y="347472"/>
                  </a:moveTo>
                  <a:cubicBezTo>
                    <a:pt x="0" y="155575"/>
                    <a:pt x="155575" y="0"/>
                    <a:pt x="347472" y="0"/>
                  </a:cubicBezTo>
                  <a:cubicBezTo>
                    <a:pt x="539369" y="0"/>
                    <a:pt x="694944" y="155575"/>
                    <a:pt x="694944" y="347472"/>
                  </a:cubicBezTo>
                  <a:cubicBezTo>
                    <a:pt x="694944" y="539369"/>
                    <a:pt x="539369" y="694944"/>
                    <a:pt x="347472" y="694944"/>
                  </a:cubicBezTo>
                  <a:cubicBezTo>
                    <a:pt x="155575" y="694944"/>
                    <a:pt x="0" y="539369"/>
                    <a:pt x="0" y="347472"/>
                  </a:cubicBezTo>
                  <a:close/>
                </a:path>
              </a:pathLst>
            </a:custGeom>
            <a:solidFill>
              <a:srgbClr val="D9700F"/>
            </a:solidFill>
          </p:spPr>
        </p:sp>
      </p:grpSp>
      <p:grpSp>
        <p:nvGrpSpPr>
          <p:cNvPr name="Group 40" id="40"/>
          <p:cNvGrpSpPr/>
          <p:nvPr/>
        </p:nvGrpSpPr>
        <p:grpSpPr>
          <a:xfrm rot="0">
            <a:off x="683404" y="3915632"/>
            <a:ext cx="521208" cy="521208"/>
            <a:chOff x="0" y="0"/>
            <a:chExt cx="694944" cy="694944"/>
          </a:xfrm>
        </p:grpSpPr>
        <p:sp>
          <p:nvSpPr>
            <p:cNvPr name="Freeform 41" id="41"/>
            <p:cNvSpPr/>
            <p:nvPr/>
          </p:nvSpPr>
          <p:spPr>
            <a:xfrm flipH="false" flipV="false" rot="0">
              <a:off x="0" y="0"/>
              <a:ext cx="694944" cy="694944"/>
            </a:xfrm>
            <a:custGeom>
              <a:avLst/>
              <a:gdLst/>
              <a:ahLst/>
              <a:cxnLst/>
              <a:rect r="r" b="b" t="t" l="l"/>
              <a:pathLst>
                <a:path h="694944" w="694944">
                  <a:moveTo>
                    <a:pt x="0" y="0"/>
                  </a:moveTo>
                  <a:lnTo>
                    <a:pt x="694944" y="0"/>
                  </a:lnTo>
                  <a:lnTo>
                    <a:pt x="694944" y="694944"/>
                  </a:lnTo>
                  <a:lnTo>
                    <a:pt x="0" y="69494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78303" t="0" r="-78303" b="0"/>
              </a:stretch>
            </a:blipFill>
          </p:spPr>
        </p:sp>
        <p:sp>
          <p:nvSpPr>
            <p:cNvPr name="TextBox 42" id="42"/>
            <p:cNvSpPr txBox="true"/>
            <p:nvPr/>
          </p:nvSpPr>
          <p:spPr>
            <a:xfrm>
              <a:off x="0" y="-47625"/>
              <a:ext cx="694944" cy="742569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340"/>
                </a:lnSpc>
              </a:pPr>
              <a:r>
                <a:rPr lang="en-US" sz="1950" b="true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2</a:t>
              </a:r>
            </a:p>
          </p:txBody>
        </p:sp>
      </p:grpSp>
      <p:grpSp>
        <p:nvGrpSpPr>
          <p:cNvPr name="Group 43" id="43"/>
          <p:cNvGrpSpPr/>
          <p:nvPr/>
        </p:nvGrpSpPr>
        <p:grpSpPr>
          <a:xfrm rot="0">
            <a:off x="1506364" y="3874484"/>
            <a:ext cx="7543800" cy="384048"/>
            <a:chOff x="0" y="0"/>
            <a:chExt cx="10058400" cy="512064"/>
          </a:xfrm>
        </p:grpSpPr>
        <p:sp>
          <p:nvSpPr>
            <p:cNvPr name="Freeform 44" id="44"/>
            <p:cNvSpPr/>
            <p:nvPr/>
          </p:nvSpPr>
          <p:spPr>
            <a:xfrm flipH="false" flipV="false" rot="0">
              <a:off x="0" y="0"/>
              <a:ext cx="10058400" cy="512064"/>
            </a:xfrm>
            <a:custGeom>
              <a:avLst/>
              <a:gdLst/>
              <a:ahLst/>
              <a:cxnLst/>
              <a:rect r="r" b="b" t="t" l="l"/>
              <a:pathLst>
                <a:path h="512064" w="10058400">
                  <a:moveTo>
                    <a:pt x="0" y="0"/>
                  </a:moveTo>
                  <a:lnTo>
                    <a:pt x="10058400" y="0"/>
                  </a:lnTo>
                  <a:lnTo>
                    <a:pt x="10058400" y="512064"/>
                  </a:lnTo>
                  <a:lnTo>
                    <a:pt x="0" y="51206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32741" r="0" b="-332741"/>
              </a:stretch>
            </a:blipFill>
          </p:spPr>
        </p:sp>
        <p:sp>
          <p:nvSpPr>
            <p:cNvPr name="TextBox 45" id="45"/>
            <p:cNvSpPr txBox="true"/>
            <p:nvPr/>
          </p:nvSpPr>
          <p:spPr>
            <a:xfrm>
              <a:off x="0" y="-47625"/>
              <a:ext cx="10058400" cy="559689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340"/>
                </a:lnSpc>
              </a:pPr>
              <a:r>
                <a:rPr lang="en-US" sz="1950" b="true">
                  <a:solidFill>
                    <a:srgbClr val="1F497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Autonomous Grid Sweep</a:t>
              </a:r>
            </a:p>
          </p:txBody>
        </p:sp>
      </p:grpSp>
      <p:sp>
        <p:nvSpPr>
          <p:cNvPr name="TextBox 46" id="46"/>
          <p:cNvSpPr txBox="true"/>
          <p:nvPr/>
        </p:nvSpPr>
        <p:spPr>
          <a:xfrm rot="0">
            <a:off x="1506364" y="4234148"/>
            <a:ext cx="5074920" cy="49537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30"/>
              </a:lnSpc>
            </a:pPr>
            <a:r>
              <a:rPr sz="1525">
                <a:solidFill>
                  <a:srgbClr val="1E2638"/>
                </a:solidFill>
                <a:latin typeface="Calibri"/>
              </a:rPr>
              <a:t>Boustrophedon decomposition with 60% sidelap &amp; 70% overlap; ToF altimeter maintains constant GSD over sloped terrain.</a:t>
            </a:r>
          </a:p>
        </p:txBody>
      </p:sp>
      <p:sp>
        <p:nvSpPr>
          <p:cNvPr name="AutoShape 47" id="47"/>
          <p:cNvSpPr/>
          <p:nvPr/>
        </p:nvSpPr>
        <p:spPr>
          <a:xfrm>
            <a:off x="944008" y="5492972"/>
            <a:ext cx="0" cy="534924"/>
          </a:xfrm>
          <a:prstGeom prst="line">
            <a:avLst/>
          </a:prstGeom>
          <a:ln cap="rnd" w="19050">
            <a:solidFill>
              <a:srgbClr val="F3C9A5"/>
            </a:solidFill>
            <a:prstDash val="solid"/>
            <a:headEnd type="none" len="sm" w="sm"/>
            <a:tailEnd type="none" len="sm" w="sm"/>
          </a:ln>
        </p:spPr>
        <p:txBody>
          <a:bodyPr/>
          <a:p/>
        </p:txBody>
      </p:sp>
      <p:grpSp>
        <p:nvGrpSpPr>
          <p:cNvPr name="Group 48" id="48"/>
          <p:cNvGrpSpPr/>
          <p:nvPr/>
        </p:nvGrpSpPr>
        <p:grpSpPr>
          <a:xfrm rot="0">
            <a:off x="683404" y="4971764"/>
            <a:ext cx="521208" cy="521208"/>
            <a:chOff x="0" y="0"/>
            <a:chExt cx="694944" cy="694944"/>
          </a:xfrm>
        </p:grpSpPr>
        <p:sp>
          <p:nvSpPr>
            <p:cNvPr name="Freeform 49" id="49"/>
            <p:cNvSpPr/>
            <p:nvPr/>
          </p:nvSpPr>
          <p:spPr>
            <a:xfrm flipH="false" flipV="false" rot="0">
              <a:off x="0" y="0"/>
              <a:ext cx="694944" cy="694944"/>
            </a:xfrm>
            <a:custGeom>
              <a:avLst/>
              <a:gdLst/>
              <a:ahLst/>
              <a:cxnLst/>
              <a:rect r="r" b="b" t="t" l="l"/>
              <a:pathLst>
                <a:path h="694944" w="694944">
                  <a:moveTo>
                    <a:pt x="0" y="347472"/>
                  </a:moveTo>
                  <a:cubicBezTo>
                    <a:pt x="0" y="155575"/>
                    <a:pt x="155575" y="0"/>
                    <a:pt x="347472" y="0"/>
                  </a:cubicBezTo>
                  <a:cubicBezTo>
                    <a:pt x="539369" y="0"/>
                    <a:pt x="694944" y="155575"/>
                    <a:pt x="694944" y="347472"/>
                  </a:cubicBezTo>
                  <a:cubicBezTo>
                    <a:pt x="694944" y="539369"/>
                    <a:pt x="539369" y="694944"/>
                    <a:pt x="347472" y="694944"/>
                  </a:cubicBezTo>
                  <a:cubicBezTo>
                    <a:pt x="155575" y="694944"/>
                    <a:pt x="0" y="539369"/>
                    <a:pt x="0" y="347472"/>
                  </a:cubicBezTo>
                  <a:close/>
                </a:path>
              </a:pathLst>
            </a:custGeom>
            <a:solidFill>
              <a:srgbClr val="D9700F"/>
            </a:solidFill>
          </p:spPr>
        </p:sp>
      </p:grpSp>
      <p:grpSp>
        <p:nvGrpSpPr>
          <p:cNvPr name="Group 50" id="50"/>
          <p:cNvGrpSpPr/>
          <p:nvPr/>
        </p:nvGrpSpPr>
        <p:grpSpPr>
          <a:xfrm rot="0">
            <a:off x="683404" y="4971764"/>
            <a:ext cx="521208" cy="521208"/>
            <a:chOff x="0" y="0"/>
            <a:chExt cx="694944" cy="694944"/>
          </a:xfrm>
        </p:grpSpPr>
        <p:sp>
          <p:nvSpPr>
            <p:cNvPr name="Freeform 51" id="51"/>
            <p:cNvSpPr/>
            <p:nvPr/>
          </p:nvSpPr>
          <p:spPr>
            <a:xfrm flipH="false" flipV="false" rot="0">
              <a:off x="0" y="0"/>
              <a:ext cx="694944" cy="694944"/>
            </a:xfrm>
            <a:custGeom>
              <a:avLst/>
              <a:gdLst/>
              <a:ahLst/>
              <a:cxnLst/>
              <a:rect r="r" b="b" t="t" l="l"/>
              <a:pathLst>
                <a:path h="694944" w="694944">
                  <a:moveTo>
                    <a:pt x="0" y="0"/>
                  </a:moveTo>
                  <a:lnTo>
                    <a:pt x="694944" y="0"/>
                  </a:lnTo>
                  <a:lnTo>
                    <a:pt x="694944" y="694944"/>
                  </a:lnTo>
                  <a:lnTo>
                    <a:pt x="0" y="69494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78303" t="0" r="-78303" b="0"/>
              </a:stretch>
            </a:blipFill>
          </p:spPr>
        </p:sp>
        <p:sp>
          <p:nvSpPr>
            <p:cNvPr name="TextBox 52" id="52"/>
            <p:cNvSpPr txBox="true"/>
            <p:nvPr/>
          </p:nvSpPr>
          <p:spPr>
            <a:xfrm>
              <a:off x="0" y="-47625"/>
              <a:ext cx="694944" cy="742569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340"/>
                </a:lnSpc>
              </a:pPr>
              <a:r>
                <a:rPr lang="en-US" sz="1950" b="true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3</a:t>
              </a:r>
            </a:p>
          </p:txBody>
        </p:sp>
      </p:grpSp>
      <p:grpSp>
        <p:nvGrpSpPr>
          <p:cNvPr name="Group 53" id="53"/>
          <p:cNvGrpSpPr/>
          <p:nvPr/>
        </p:nvGrpSpPr>
        <p:grpSpPr>
          <a:xfrm rot="0">
            <a:off x="1506364" y="4930616"/>
            <a:ext cx="7543800" cy="384048"/>
            <a:chOff x="0" y="0"/>
            <a:chExt cx="10058400" cy="512064"/>
          </a:xfrm>
        </p:grpSpPr>
        <p:sp>
          <p:nvSpPr>
            <p:cNvPr name="Freeform 54" id="54"/>
            <p:cNvSpPr/>
            <p:nvPr/>
          </p:nvSpPr>
          <p:spPr>
            <a:xfrm flipH="false" flipV="false" rot="0">
              <a:off x="0" y="0"/>
              <a:ext cx="10058400" cy="512064"/>
            </a:xfrm>
            <a:custGeom>
              <a:avLst/>
              <a:gdLst/>
              <a:ahLst/>
              <a:cxnLst/>
              <a:rect r="r" b="b" t="t" l="l"/>
              <a:pathLst>
                <a:path h="512064" w="10058400">
                  <a:moveTo>
                    <a:pt x="0" y="0"/>
                  </a:moveTo>
                  <a:lnTo>
                    <a:pt x="10058400" y="0"/>
                  </a:lnTo>
                  <a:lnTo>
                    <a:pt x="10058400" y="512064"/>
                  </a:lnTo>
                  <a:lnTo>
                    <a:pt x="0" y="51206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32741" r="0" b="-332741"/>
              </a:stretch>
            </a:blipFill>
          </p:spPr>
        </p:sp>
        <p:sp>
          <p:nvSpPr>
            <p:cNvPr name="TextBox 55" id="55"/>
            <p:cNvSpPr txBox="true"/>
            <p:nvPr/>
          </p:nvSpPr>
          <p:spPr>
            <a:xfrm>
              <a:off x="0" y="-47625"/>
              <a:ext cx="10058400" cy="559689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340"/>
                </a:lnSpc>
              </a:pPr>
              <a:r>
                <a:rPr lang="en-US" sz="1950" b="true">
                  <a:solidFill>
                    <a:srgbClr val="1F497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Multi-Spectral Perception</a:t>
              </a:r>
            </a:p>
          </p:txBody>
        </p:sp>
      </p:grpSp>
      <p:sp>
        <p:nvSpPr>
          <p:cNvPr name="TextBox 56" id="56"/>
          <p:cNvSpPr txBox="true"/>
          <p:nvPr/>
        </p:nvSpPr>
        <p:spPr>
          <a:xfrm rot="0">
            <a:off x="1506364" y="5290280"/>
            <a:ext cx="5074920" cy="49537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30"/>
              </a:lnSpc>
            </a:pPr>
            <a:r>
              <a:rPr sz="1450" b="0" i="0">
                <a:solidFill>
                  <a:srgbClr val="1E2638"/>
                </a:solidFill>
                <a:latin typeface="Calibri"/>
              </a:rPr>
              <a:t>Dual 4K RGB + LWIR Thermal fusion; edge YOLO detects survivor heat anomalies in darkness, smoke &amp; partially exposed debris.</a:t>
            </a:r>
          </a:p>
        </p:txBody>
      </p:sp>
      <p:sp>
        <p:nvSpPr>
          <p:cNvPr name="AutoShape 57" id="57"/>
          <p:cNvSpPr/>
          <p:nvPr/>
        </p:nvSpPr>
        <p:spPr>
          <a:xfrm>
            <a:off x="944008" y="6549104"/>
            <a:ext cx="0" cy="534924"/>
          </a:xfrm>
          <a:prstGeom prst="line">
            <a:avLst/>
          </a:prstGeom>
          <a:ln cap="rnd" w="19050">
            <a:solidFill>
              <a:srgbClr val="F3C9A5"/>
            </a:solidFill>
            <a:prstDash val="solid"/>
            <a:headEnd type="none" len="sm" w="sm"/>
            <a:tailEnd type="none" len="sm" w="sm"/>
          </a:ln>
        </p:spPr>
        <p:txBody>
          <a:bodyPr/>
          <a:p/>
        </p:txBody>
      </p:sp>
      <p:grpSp>
        <p:nvGrpSpPr>
          <p:cNvPr name="Group 58" id="58"/>
          <p:cNvGrpSpPr/>
          <p:nvPr/>
        </p:nvGrpSpPr>
        <p:grpSpPr>
          <a:xfrm rot="0">
            <a:off x="683404" y="6027896"/>
            <a:ext cx="521208" cy="521208"/>
            <a:chOff x="0" y="0"/>
            <a:chExt cx="694944" cy="694944"/>
          </a:xfrm>
        </p:grpSpPr>
        <p:sp>
          <p:nvSpPr>
            <p:cNvPr name="Freeform 59" id="59"/>
            <p:cNvSpPr/>
            <p:nvPr/>
          </p:nvSpPr>
          <p:spPr>
            <a:xfrm flipH="false" flipV="false" rot="0">
              <a:off x="0" y="0"/>
              <a:ext cx="694944" cy="694944"/>
            </a:xfrm>
            <a:custGeom>
              <a:avLst/>
              <a:gdLst/>
              <a:ahLst/>
              <a:cxnLst/>
              <a:rect r="r" b="b" t="t" l="l"/>
              <a:pathLst>
                <a:path h="694944" w="694944">
                  <a:moveTo>
                    <a:pt x="0" y="347472"/>
                  </a:moveTo>
                  <a:cubicBezTo>
                    <a:pt x="0" y="155575"/>
                    <a:pt x="155575" y="0"/>
                    <a:pt x="347472" y="0"/>
                  </a:cubicBezTo>
                  <a:cubicBezTo>
                    <a:pt x="539369" y="0"/>
                    <a:pt x="694944" y="155575"/>
                    <a:pt x="694944" y="347472"/>
                  </a:cubicBezTo>
                  <a:cubicBezTo>
                    <a:pt x="694944" y="539369"/>
                    <a:pt x="539369" y="694944"/>
                    <a:pt x="347472" y="694944"/>
                  </a:cubicBezTo>
                  <a:cubicBezTo>
                    <a:pt x="155575" y="694944"/>
                    <a:pt x="0" y="539369"/>
                    <a:pt x="0" y="347472"/>
                  </a:cubicBezTo>
                  <a:close/>
                </a:path>
              </a:pathLst>
            </a:custGeom>
            <a:solidFill>
              <a:srgbClr val="D9700F"/>
            </a:solidFill>
          </p:spPr>
        </p:sp>
      </p:grpSp>
      <p:grpSp>
        <p:nvGrpSpPr>
          <p:cNvPr name="Group 60" id="60"/>
          <p:cNvGrpSpPr/>
          <p:nvPr/>
        </p:nvGrpSpPr>
        <p:grpSpPr>
          <a:xfrm rot="0">
            <a:off x="683404" y="6027896"/>
            <a:ext cx="521208" cy="521208"/>
            <a:chOff x="0" y="0"/>
            <a:chExt cx="694944" cy="694944"/>
          </a:xfrm>
        </p:grpSpPr>
        <p:sp>
          <p:nvSpPr>
            <p:cNvPr name="Freeform 61" id="61"/>
            <p:cNvSpPr/>
            <p:nvPr/>
          </p:nvSpPr>
          <p:spPr>
            <a:xfrm flipH="false" flipV="false" rot="0">
              <a:off x="0" y="0"/>
              <a:ext cx="694944" cy="694944"/>
            </a:xfrm>
            <a:custGeom>
              <a:avLst/>
              <a:gdLst/>
              <a:ahLst/>
              <a:cxnLst/>
              <a:rect r="r" b="b" t="t" l="l"/>
              <a:pathLst>
                <a:path h="694944" w="694944">
                  <a:moveTo>
                    <a:pt x="0" y="0"/>
                  </a:moveTo>
                  <a:lnTo>
                    <a:pt x="694944" y="0"/>
                  </a:lnTo>
                  <a:lnTo>
                    <a:pt x="694944" y="694944"/>
                  </a:lnTo>
                  <a:lnTo>
                    <a:pt x="0" y="69494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78303" t="0" r="-78303" b="0"/>
              </a:stretch>
            </a:blipFill>
          </p:spPr>
        </p:sp>
        <p:sp>
          <p:nvSpPr>
            <p:cNvPr name="TextBox 62" id="62"/>
            <p:cNvSpPr txBox="true"/>
            <p:nvPr/>
          </p:nvSpPr>
          <p:spPr>
            <a:xfrm>
              <a:off x="0" y="-47625"/>
              <a:ext cx="694944" cy="742569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340"/>
                </a:lnSpc>
              </a:pPr>
              <a:r>
                <a:rPr lang="en-US" sz="1950" b="true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4</a:t>
              </a:r>
            </a:p>
          </p:txBody>
        </p:sp>
      </p:grpSp>
      <p:grpSp>
        <p:nvGrpSpPr>
          <p:cNvPr name="Group 63" id="63"/>
          <p:cNvGrpSpPr/>
          <p:nvPr/>
        </p:nvGrpSpPr>
        <p:grpSpPr>
          <a:xfrm rot="0">
            <a:off x="1506364" y="5986748"/>
            <a:ext cx="7543800" cy="384048"/>
            <a:chOff x="0" y="0"/>
            <a:chExt cx="10058400" cy="512064"/>
          </a:xfrm>
        </p:grpSpPr>
        <p:sp>
          <p:nvSpPr>
            <p:cNvPr name="Freeform 64" id="64"/>
            <p:cNvSpPr/>
            <p:nvPr/>
          </p:nvSpPr>
          <p:spPr>
            <a:xfrm flipH="false" flipV="false" rot="0">
              <a:off x="0" y="0"/>
              <a:ext cx="10058400" cy="512064"/>
            </a:xfrm>
            <a:custGeom>
              <a:avLst/>
              <a:gdLst/>
              <a:ahLst/>
              <a:cxnLst/>
              <a:rect r="r" b="b" t="t" l="l"/>
              <a:pathLst>
                <a:path h="512064" w="10058400">
                  <a:moveTo>
                    <a:pt x="0" y="0"/>
                  </a:moveTo>
                  <a:lnTo>
                    <a:pt x="10058400" y="0"/>
                  </a:lnTo>
                  <a:lnTo>
                    <a:pt x="10058400" y="512064"/>
                  </a:lnTo>
                  <a:lnTo>
                    <a:pt x="0" y="51206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32741" r="0" b="-332741"/>
              </a:stretch>
            </a:blipFill>
          </p:spPr>
        </p:sp>
        <p:sp>
          <p:nvSpPr>
            <p:cNvPr name="TextBox 65" id="65"/>
            <p:cNvSpPr txBox="true"/>
            <p:nvPr/>
          </p:nvSpPr>
          <p:spPr>
            <a:xfrm>
              <a:off x="0" y="-47625"/>
              <a:ext cx="10058400" cy="559689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340"/>
                </a:lnSpc>
              </a:pPr>
              <a:r>
                <a:rPr lang="en-US" sz="1950" b="true">
                  <a:solidFill>
                    <a:srgbClr val="1F497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Ray-Cast Geolocation</a:t>
              </a:r>
            </a:p>
          </p:txBody>
        </p:sp>
      </p:grpSp>
      <p:sp>
        <p:nvSpPr>
          <p:cNvPr name="TextBox 66" id="66"/>
          <p:cNvSpPr txBox="true"/>
          <p:nvPr/>
        </p:nvSpPr>
        <p:spPr>
          <a:xfrm rot="0">
            <a:off x="1506364" y="6346412"/>
            <a:ext cx="5074920" cy="49537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30"/>
              </a:lnSpc>
            </a:pPr>
            <a:r>
              <a:rPr sz="1450" b="0" i="0">
                <a:solidFill>
                  <a:srgbClr val="1E2638"/>
                </a:solidFill>
                <a:latin typeface="Calibri"/>
              </a:rPr>
              <a:t>Synchronized GNSS, attitude, camera geometry &amp; downward ToF altitude georeference detected victims on the fly without hovering.</a:t>
            </a:r>
          </a:p>
        </p:txBody>
      </p:sp>
      <p:sp>
        <p:nvSpPr>
          <p:cNvPr name="AutoShape 67" id="67"/>
          <p:cNvSpPr/>
          <p:nvPr/>
        </p:nvSpPr>
        <p:spPr>
          <a:xfrm>
            <a:off x="944008" y="7605236"/>
            <a:ext cx="0" cy="534924"/>
          </a:xfrm>
          <a:prstGeom prst="line">
            <a:avLst/>
          </a:prstGeom>
          <a:ln cap="rnd" w="19050">
            <a:solidFill>
              <a:srgbClr val="F3C9A5"/>
            </a:solidFill>
            <a:prstDash val="solid"/>
            <a:headEnd type="none" len="sm" w="sm"/>
            <a:tailEnd type="none" len="sm" w="sm"/>
          </a:ln>
        </p:spPr>
        <p:txBody>
          <a:bodyPr/>
          <a:p/>
        </p:txBody>
      </p:sp>
      <p:grpSp>
        <p:nvGrpSpPr>
          <p:cNvPr name="Group 68" id="68"/>
          <p:cNvGrpSpPr/>
          <p:nvPr/>
        </p:nvGrpSpPr>
        <p:grpSpPr>
          <a:xfrm rot="0">
            <a:off x="683404" y="7084028"/>
            <a:ext cx="521208" cy="521208"/>
            <a:chOff x="0" y="0"/>
            <a:chExt cx="694944" cy="694944"/>
          </a:xfrm>
        </p:grpSpPr>
        <p:sp>
          <p:nvSpPr>
            <p:cNvPr name="Freeform 69" id="69"/>
            <p:cNvSpPr/>
            <p:nvPr/>
          </p:nvSpPr>
          <p:spPr>
            <a:xfrm flipH="false" flipV="false" rot="0">
              <a:off x="0" y="0"/>
              <a:ext cx="694944" cy="694944"/>
            </a:xfrm>
            <a:custGeom>
              <a:avLst/>
              <a:gdLst/>
              <a:ahLst/>
              <a:cxnLst/>
              <a:rect r="r" b="b" t="t" l="l"/>
              <a:pathLst>
                <a:path h="694944" w="694944">
                  <a:moveTo>
                    <a:pt x="0" y="347472"/>
                  </a:moveTo>
                  <a:cubicBezTo>
                    <a:pt x="0" y="155575"/>
                    <a:pt x="155575" y="0"/>
                    <a:pt x="347472" y="0"/>
                  </a:cubicBezTo>
                  <a:cubicBezTo>
                    <a:pt x="539369" y="0"/>
                    <a:pt x="694944" y="155575"/>
                    <a:pt x="694944" y="347472"/>
                  </a:cubicBezTo>
                  <a:cubicBezTo>
                    <a:pt x="694944" y="539369"/>
                    <a:pt x="539369" y="694944"/>
                    <a:pt x="347472" y="694944"/>
                  </a:cubicBezTo>
                  <a:cubicBezTo>
                    <a:pt x="155575" y="694944"/>
                    <a:pt x="0" y="539369"/>
                    <a:pt x="0" y="347472"/>
                  </a:cubicBezTo>
                  <a:close/>
                </a:path>
              </a:pathLst>
            </a:custGeom>
            <a:solidFill>
              <a:srgbClr val="D9700F"/>
            </a:solidFill>
          </p:spPr>
        </p:sp>
      </p:grpSp>
      <p:grpSp>
        <p:nvGrpSpPr>
          <p:cNvPr name="Group 70" id="70"/>
          <p:cNvGrpSpPr/>
          <p:nvPr/>
        </p:nvGrpSpPr>
        <p:grpSpPr>
          <a:xfrm rot="0">
            <a:off x="687998" y="7132034"/>
            <a:ext cx="521208" cy="521208"/>
            <a:chOff x="0" y="0"/>
            <a:chExt cx="694944" cy="694944"/>
          </a:xfrm>
        </p:grpSpPr>
        <p:sp>
          <p:nvSpPr>
            <p:cNvPr name="Freeform 71" id="71"/>
            <p:cNvSpPr/>
            <p:nvPr/>
          </p:nvSpPr>
          <p:spPr>
            <a:xfrm flipH="false" flipV="false" rot="0">
              <a:off x="0" y="0"/>
              <a:ext cx="694944" cy="694944"/>
            </a:xfrm>
            <a:custGeom>
              <a:avLst/>
              <a:gdLst/>
              <a:ahLst/>
              <a:cxnLst/>
              <a:rect r="r" b="b" t="t" l="l"/>
              <a:pathLst>
                <a:path h="694944" w="694944">
                  <a:moveTo>
                    <a:pt x="0" y="0"/>
                  </a:moveTo>
                  <a:lnTo>
                    <a:pt x="694944" y="0"/>
                  </a:lnTo>
                  <a:lnTo>
                    <a:pt x="694944" y="694944"/>
                  </a:lnTo>
                  <a:lnTo>
                    <a:pt x="0" y="69494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78303" t="0" r="-78303" b="0"/>
              </a:stretch>
            </a:blipFill>
          </p:spPr>
        </p:sp>
        <p:sp>
          <p:nvSpPr>
            <p:cNvPr name="TextBox 72" id="72"/>
            <p:cNvSpPr txBox="true"/>
            <p:nvPr/>
          </p:nvSpPr>
          <p:spPr>
            <a:xfrm>
              <a:off x="0" y="-47625"/>
              <a:ext cx="694944" cy="742569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340"/>
                </a:lnSpc>
              </a:pPr>
              <a:r>
                <a:rPr lang="en-US" sz="1950" b="true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5</a:t>
              </a:r>
            </a:p>
          </p:txBody>
        </p:sp>
      </p:grpSp>
      <p:grpSp>
        <p:nvGrpSpPr>
          <p:cNvPr name="Group 73" id="73"/>
          <p:cNvGrpSpPr/>
          <p:nvPr/>
        </p:nvGrpSpPr>
        <p:grpSpPr>
          <a:xfrm rot="0">
            <a:off x="1506364" y="7039219"/>
            <a:ext cx="4782072" cy="391371"/>
            <a:chOff x="0" y="0"/>
            <a:chExt cx="6376096" cy="521829"/>
          </a:xfrm>
        </p:grpSpPr>
        <p:sp>
          <p:nvSpPr>
            <p:cNvPr name="Freeform 74" id="74"/>
            <p:cNvSpPr/>
            <p:nvPr/>
          </p:nvSpPr>
          <p:spPr>
            <a:xfrm flipH="false" flipV="false" rot="0">
              <a:off x="0" y="0"/>
              <a:ext cx="6376096" cy="521829"/>
            </a:xfrm>
            <a:custGeom>
              <a:avLst/>
              <a:gdLst/>
              <a:ahLst/>
              <a:cxnLst/>
              <a:rect r="r" b="b" t="t" l="l"/>
              <a:pathLst>
                <a:path h="521829" w="6376096">
                  <a:moveTo>
                    <a:pt x="0" y="0"/>
                  </a:moveTo>
                  <a:lnTo>
                    <a:pt x="6376096" y="0"/>
                  </a:lnTo>
                  <a:lnTo>
                    <a:pt x="6376096" y="521829"/>
                  </a:lnTo>
                  <a:lnTo>
                    <a:pt x="0" y="521829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26515" r="-57751" b="-324644"/>
              </a:stretch>
            </a:blipFill>
          </p:spPr>
        </p:sp>
        <p:sp>
          <p:nvSpPr>
            <p:cNvPr name="TextBox 75" id="75"/>
            <p:cNvSpPr txBox="true"/>
            <p:nvPr/>
          </p:nvSpPr>
          <p:spPr>
            <a:xfrm>
              <a:off x="0" y="-47625"/>
              <a:ext cx="6376096" cy="56945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340"/>
                </a:lnSpc>
              </a:pPr>
              <a:r>
                <a:rPr lang="en-US" sz="1950" b="true">
                  <a:solidFill>
                    <a:srgbClr val="1F497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Binary LoRa Packet Burst</a:t>
              </a:r>
            </a:p>
          </p:txBody>
        </p:sp>
      </p:grpSp>
      <p:sp>
        <p:nvSpPr>
          <p:cNvPr name="TextBox 76" id="76"/>
          <p:cNvSpPr txBox="true"/>
          <p:nvPr/>
        </p:nvSpPr>
        <p:spPr>
          <a:xfrm rot="0">
            <a:off x="1506364" y="7402544"/>
            <a:ext cx="5074920" cy="49537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30"/>
              </a:lnSpc>
            </a:pPr>
            <a:r>
              <a:rPr sz="1500" b="0" i="0">
                <a:solidFill>
                  <a:srgbClr val="1E2638"/>
                </a:solidFill>
                <a:latin typeface="Calibri"/>
              </a:rPr>
              <a:t>Onboard Triage &amp; LoRa Burst: UAV computes victim priority on-chip &amp; packs coordinates into 17-byte binary frame [3]; broadcasts over 868 MHz.</a:t>
            </a:r>
          </a:p>
        </p:txBody>
      </p:sp>
      <p:grpSp>
        <p:nvGrpSpPr>
          <p:cNvPr name="Group 77" id="77"/>
          <p:cNvGrpSpPr/>
          <p:nvPr/>
        </p:nvGrpSpPr>
        <p:grpSpPr>
          <a:xfrm rot="0">
            <a:off x="683404" y="8140160"/>
            <a:ext cx="521208" cy="521208"/>
            <a:chOff x="0" y="0"/>
            <a:chExt cx="694944" cy="694944"/>
          </a:xfrm>
        </p:grpSpPr>
        <p:sp>
          <p:nvSpPr>
            <p:cNvPr name="Freeform 78" id="78"/>
            <p:cNvSpPr/>
            <p:nvPr/>
          </p:nvSpPr>
          <p:spPr>
            <a:xfrm flipH="false" flipV="false" rot="0">
              <a:off x="0" y="0"/>
              <a:ext cx="694944" cy="694944"/>
            </a:xfrm>
            <a:custGeom>
              <a:avLst/>
              <a:gdLst/>
              <a:ahLst/>
              <a:cxnLst/>
              <a:rect r="r" b="b" t="t" l="l"/>
              <a:pathLst>
                <a:path h="694944" w="694944">
                  <a:moveTo>
                    <a:pt x="0" y="347472"/>
                  </a:moveTo>
                  <a:cubicBezTo>
                    <a:pt x="0" y="155575"/>
                    <a:pt x="155575" y="0"/>
                    <a:pt x="347472" y="0"/>
                  </a:cubicBezTo>
                  <a:cubicBezTo>
                    <a:pt x="539369" y="0"/>
                    <a:pt x="694944" y="155575"/>
                    <a:pt x="694944" y="347472"/>
                  </a:cubicBezTo>
                  <a:cubicBezTo>
                    <a:pt x="694944" y="539369"/>
                    <a:pt x="539369" y="694944"/>
                    <a:pt x="347472" y="694944"/>
                  </a:cubicBezTo>
                  <a:cubicBezTo>
                    <a:pt x="155575" y="694944"/>
                    <a:pt x="0" y="539369"/>
                    <a:pt x="0" y="347472"/>
                  </a:cubicBezTo>
                  <a:close/>
                </a:path>
              </a:pathLst>
            </a:custGeom>
            <a:solidFill>
              <a:srgbClr val="D9700F"/>
            </a:solidFill>
          </p:spPr>
        </p:sp>
      </p:grpSp>
      <p:grpSp>
        <p:nvGrpSpPr>
          <p:cNvPr name="Group 79" id="79"/>
          <p:cNvGrpSpPr/>
          <p:nvPr/>
        </p:nvGrpSpPr>
        <p:grpSpPr>
          <a:xfrm rot="0">
            <a:off x="683404" y="8140160"/>
            <a:ext cx="521208" cy="521208"/>
            <a:chOff x="0" y="0"/>
            <a:chExt cx="694944" cy="694944"/>
          </a:xfrm>
        </p:grpSpPr>
        <p:sp>
          <p:nvSpPr>
            <p:cNvPr name="Freeform 80" id="80"/>
            <p:cNvSpPr/>
            <p:nvPr/>
          </p:nvSpPr>
          <p:spPr>
            <a:xfrm flipH="false" flipV="false" rot="0">
              <a:off x="0" y="0"/>
              <a:ext cx="694944" cy="694944"/>
            </a:xfrm>
            <a:custGeom>
              <a:avLst/>
              <a:gdLst/>
              <a:ahLst/>
              <a:cxnLst/>
              <a:rect r="r" b="b" t="t" l="l"/>
              <a:pathLst>
                <a:path h="694944" w="694944">
                  <a:moveTo>
                    <a:pt x="0" y="0"/>
                  </a:moveTo>
                  <a:lnTo>
                    <a:pt x="694944" y="0"/>
                  </a:lnTo>
                  <a:lnTo>
                    <a:pt x="694944" y="694944"/>
                  </a:lnTo>
                  <a:lnTo>
                    <a:pt x="0" y="69494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78303" t="0" r="-78303" b="0"/>
              </a:stretch>
            </a:blipFill>
          </p:spPr>
        </p:sp>
        <p:sp>
          <p:nvSpPr>
            <p:cNvPr name="TextBox 81" id="81"/>
            <p:cNvSpPr txBox="true"/>
            <p:nvPr/>
          </p:nvSpPr>
          <p:spPr>
            <a:xfrm>
              <a:off x="0" y="-47625"/>
              <a:ext cx="694944" cy="742569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340"/>
                </a:lnSpc>
              </a:pPr>
              <a:r>
                <a:rPr lang="en-US" sz="1950" b="true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6</a:t>
              </a:r>
            </a:p>
          </p:txBody>
        </p:sp>
      </p:grpSp>
      <p:grpSp>
        <p:nvGrpSpPr>
          <p:cNvPr name="Group 82" id="82"/>
          <p:cNvGrpSpPr/>
          <p:nvPr/>
        </p:nvGrpSpPr>
        <p:grpSpPr>
          <a:xfrm rot="0">
            <a:off x="1506364" y="8095351"/>
            <a:ext cx="4782072" cy="391371"/>
            <a:chOff x="0" y="0"/>
            <a:chExt cx="6376096" cy="521829"/>
          </a:xfrm>
        </p:grpSpPr>
        <p:sp>
          <p:nvSpPr>
            <p:cNvPr name="Freeform 83" id="83"/>
            <p:cNvSpPr/>
            <p:nvPr/>
          </p:nvSpPr>
          <p:spPr>
            <a:xfrm flipH="false" flipV="false" rot="0">
              <a:off x="0" y="0"/>
              <a:ext cx="6376096" cy="521829"/>
            </a:xfrm>
            <a:custGeom>
              <a:avLst/>
              <a:gdLst/>
              <a:ahLst/>
              <a:cxnLst/>
              <a:rect r="r" b="b" t="t" l="l"/>
              <a:pathLst>
                <a:path h="521829" w="6376096">
                  <a:moveTo>
                    <a:pt x="0" y="0"/>
                  </a:moveTo>
                  <a:lnTo>
                    <a:pt x="6376096" y="0"/>
                  </a:lnTo>
                  <a:lnTo>
                    <a:pt x="6376096" y="521829"/>
                  </a:lnTo>
                  <a:lnTo>
                    <a:pt x="0" y="521829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26515" r="-57751" b="-324644"/>
              </a:stretch>
            </a:blipFill>
          </p:spPr>
        </p:sp>
        <p:sp>
          <p:nvSpPr>
            <p:cNvPr name="TextBox 84" id="84"/>
            <p:cNvSpPr txBox="true"/>
            <p:nvPr/>
          </p:nvSpPr>
          <p:spPr>
            <a:xfrm>
              <a:off x="0" y="-47625"/>
              <a:ext cx="6376096" cy="56945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340"/>
                </a:lnSpc>
              </a:pPr>
              <a:r>
                <a:rPr lang="en-US" sz="1950" b="true">
                  <a:solidFill>
                    <a:srgbClr val="1F497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GCS Triage &amp; Route Planning</a:t>
              </a:r>
            </a:p>
          </p:txBody>
        </p:sp>
      </p:grpSp>
      <p:sp>
        <p:nvSpPr>
          <p:cNvPr name="TextBox 85" id="85"/>
          <p:cNvSpPr txBox="true"/>
          <p:nvPr/>
        </p:nvSpPr>
        <p:spPr>
          <a:xfrm rot="0">
            <a:off x="1506364" y="8458676"/>
            <a:ext cx="5074920" cy="49537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30"/>
              </a:lnSpc>
            </a:pPr>
            <a:r>
              <a:rPr sz="1450" b="0" i="0">
                <a:solidFill>
                  <a:srgbClr val="1E2638"/>
                </a:solidFill>
                <a:latin typeface="Calibri"/>
              </a:rPr>
              <a:t>Offline GCS converts survivor pins &amp; mapped hazards into an actionable Dijkstra rescue corridor [1], avoiding electrical &amp; debris hazards.</a:t>
            </a:r>
          </a:p>
        </p:txBody>
      </p:sp>
      <p:grpSp>
        <p:nvGrpSpPr>
          <p:cNvPr name="Group 86" id="86"/>
          <p:cNvGrpSpPr/>
          <p:nvPr/>
        </p:nvGrpSpPr>
        <p:grpSpPr>
          <a:xfrm rot="0">
            <a:off x="7065745" y="1947100"/>
            <a:ext cx="4851199" cy="4458272"/>
            <a:chOff x="0" y="0"/>
            <a:chExt cx="6468265" cy="5944362"/>
          </a:xfrm>
        </p:grpSpPr>
        <p:sp>
          <p:nvSpPr>
            <p:cNvPr name="Freeform 87" id="87"/>
            <p:cNvSpPr/>
            <p:nvPr/>
          </p:nvSpPr>
          <p:spPr>
            <a:xfrm flipH="false" flipV="false" rot="0">
              <a:off x="0" y="0"/>
              <a:ext cx="6468248" cy="5944362"/>
            </a:xfrm>
            <a:custGeom>
              <a:avLst/>
              <a:gdLst/>
              <a:ahLst/>
              <a:cxnLst/>
              <a:rect r="r" b="b" t="t" l="l"/>
              <a:pathLst>
                <a:path h="5944362" w="6468248">
                  <a:moveTo>
                    <a:pt x="0" y="256794"/>
                  </a:moveTo>
                  <a:cubicBezTo>
                    <a:pt x="0" y="114935"/>
                    <a:pt x="76077" y="0"/>
                    <a:pt x="169976" y="0"/>
                  </a:cubicBezTo>
                  <a:lnTo>
                    <a:pt x="6298272" y="0"/>
                  </a:lnTo>
                  <a:cubicBezTo>
                    <a:pt x="6392171" y="0"/>
                    <a:pt x="6468248" y="114935"/>
                    <a:pt x="6468248" y="256794"/>
                  </a:cubicBezTo>
                  <a:lnTo>
                    <a:pt x="6468248" y="5687568"/>
                  </a:lnTo>
                  <a:cubicBezTo>
                    <a:pt x="6468248" y="5829427"/>
                    <a:pt x="6392171" y="5944362"/>
                    <a:pt x="6298272" y="5944362"/>
                  </a:cubicBezTo>
                  <a:lnTo>
                    <a:pt x="169976" y="5944362"/>
                  </a:lnTo>
                  <a:cubicBezTo>
                    <a:pt x="76077" y="5944362"/>
                    <a:pt x="0" y="5829427"/>
                    <a:pt x="0" y="5687568"/>
                  </a:cubicBezTo>
                  <a:close/>
                </a:path>
              </a:pathLst>
            </a:custGeom>
            <a:solidFill>
              <a:srgbClr val="14345C"/>
            </a:solidFill>
            <a:ln w="14288" cap="sq">
              <a:solidFill>
                <a:srgbClr val="14345C"/>
              </a:solidFill>
              <a:prstDash val="solid"/>
              <a:miter/>
            </a:ln>
          </p:spPr>
        </p:sp>
      </p:grpSp>
      <p:grpSp>
        <p:nvGrpSpPr>
          <p:cNvPr name="Group 88" id="88"/>
          <p:cNvGrpSpPr/>
          <p:nvPr/>
        </p:nvGrpSpPr>
        <p:grpSpPr>
          <a:xfrm rot="0">
            <a:off x="7286365" y="2125075"/>
            <a:ext cx="3148232" cy="384048"/>
            <a:chOff x="0" y="0"/>
            <a:chExt cx="4197642" cy="512064"/>
          </a:xfrm>
        </p:grpSpPr>
        <p:sp>
          <p:nvSpPr>
            <p:cNvPr name="Freeform 89" id="89"/>
            <p:cNvSpPr/>
            <p:nvPr/>
          </p:nvSpPr>
          <p:spPr>
            <a:xfrm flipH="false" flipV="false" rot="0">
              <a:off x="0" y="0"/>
              <a:ext cx="4197604" cy="512064"/>
            </a:xfrm>
            <a:custGeom>
              <a:avLst/>
              <a:gdLst/>
              <a:ahLst/>
              <a:cxnLst/>
              <a:rect r="r" b="b" t="t" l="l"/>
              <a:pathLst>
                <a:path h="512064" w="4197604">
                  <a:moveTo>
                    <a:pt x="0" y="256032"/>
                  </a:moveTo>
                  <a:cubicBezTo>
                    <a:pt x="0" y="114681"/>
                    <a:pt x="114681" y="0"/>
                    <a:pt x="256032" y="0"/>
                  </a:cubicBezTo>
                  <a:lnTo>
                    <a:pt x="3941572" y="0"/>
                  </a:lnTo>
                  <a:cubicBezTo>
                    <a:pt x="4082923" y="0"/>
                    <a:pt x="4197604" y="114681"/>
                    <a:pt x="4197604" y="256032"/>
                  </a:cubicBezTo>
                  <a:cubicBezTo>
                    <a:pt x="4197604" y="397383"/>
                    <a:pt x="4082923" y="512064"/>
                    <a:pt x="3941572" y="512064"/>
                  </a:cubicBezTo>
                  <a:lnTo>
                    <a:pt x="256032" y="512064"/>
                  </a:lnTo>
                  <a:cubicBezTo>
                    <a:pt x="114681" y="512064"/>
                    <a:pt x="0" y="397383"/>
                    <a:pt x="0" y="256032"/>
                  </a:cubicBezTo>
                  <a:close/>
                </a:path>
              </a:pathLst>
            </a:custGeom>
            <a:solidFill>
              <a:srgbClr val="F08418"/>
            </a:solidFill>
          </p:spPr>
        </p:sp>
      </p:grpSp>
      <p:grpSp>
        <p:nvGrpSpPr>
          <p:cNvPr name="Group 90" id="90"/>
          <p:cNvGrpSpPr/>
          <p:nvPr/>
        </p:nvGrpSpPr>
        <p:grpSpPr>
          <a:xfrm rot="0">
            <a:off x="7286365" y="2125075"/>
            <a:ext cx="3148232" cy="384048"/>
            <a:chOff x="0" y="0"/>
            <a:chExt cx="4197642" cy="512064"/>
          </a:xfrm>
        </p:grpSpPr>
        <p:sp>
          <p:nvSpPr>
            <p:cNvPr name="Freeform 91" id="91"/>
            <p:cNvSpPr/>
            <p:nvPr/>
          </p:nvSpPr>
          <p:spPr>
            <a:xfrm flipH="false" flipV="false" rot="0">
              <a:off x="0" y="0"/>
              <a:ext cx="4197644" cy="512064"/>
            </a:xfrm>
            <a:custGeom>
              <a:avLst/>
              <a:gdLst/>
              <a:ahLst/>
              <a:cxnLst/>
              <a:rect r="r" b="b" t="t" l="l"/>
              <a:pathLst>
                <a:path h="512064" w="4197644">
                  <a:moveTo>
                    <a:pt x="0" y="0"/>
                  </a:moveTo>
                  <a:lnTo>
                    <a:pt x="4197644" y="0"/>
                  </a:lnTo>
                  <a:lnTo>
                    <a:pt x="4197644" y="512064"/>
                  </a:lnTo>
                  <a:lnTo>
                    <a:pt x="0" y="51206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09728" r="0" b="-109728"/>
              </a:stretch>
            </a:blipFill>
          </p:spPr>
        </p:sp>
        <p:sp>
          <p:nvSpPr>
            <p:cNvPr name="TextBox 92" id="92"/>
            <p:cNvSpPr txBox="true"/>
            <p:nvPr/>
          </p:nvSpPr>
          <p:spPr>
            <a:xfrm>
              <a:off x="0" y="-19050"/>
              <a:ext cx="4197642" cy="53111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889"/>
                </a:lnSpc>
              </a:pPr>
              <a:r>
                <a:rPr lang="en-US" b="true" sz="1575" spc="224">
                  <a:solidFill>
                    <a:srgbClr val="14345C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SYSTEM ARCHITECTURE</a:t>
              </a:r>
            </a:p>
          </p:txBody>
        </p:sp>
      </p:grpSp>
      <p:grpSp>
        <p:nvGrpSpPr>
          <p:cNvPr name="Group 93" id="93"/>
          <p:cNvGrpSpPr/>
          <p:nvPr/>
        </p:nvGrpSpPr>
        <p:grpSpPr>
          <a:xfrm rot="0">
            <a:off x="7286365" y="2618851"/>
            <a:ext cx="6628943" cy="356616"/>
            <a:chOff x="0" y="0"/>
            <a:chExt cx="8838590" cy="475488"/>
          </a:xfrm>
        </p:grpSpPr>
        <p:sp>
          <p:nvSpPr>
            <p:cNvPr name="Freeform 94" id="94"/>
            <p:cNvSpPr/>
            <p:nvPr/>
          </p:nvSpPr>
          <p:spPr>
            <a:xfrm flipH="false" flipV="false" rot="0">
              <a:off x="0" y="0"/>
              <a:ext cx="8838590" cy="475488"/>
            </a:xfrm>
            <a:custGeom>
              <a:avLst/>
              <a:gdLst/>
              <a:ahLst/>
              <a:cxnLst/>
              <a:rect r="r" b="b" t="t" l="l"/>
              <a:pathLst>
                <a:path h="475488" w="8838590">
                  <a:moveTo>
                    <a:pt x="0" y="0"/>
                  </a:moveTo>
                  <a:lnTo>
                    <a:pt x="8838590" y="0"/>
                  </a:lnTo>
                  <a:lnTo>
                    <a:pt x="8838590" y="475488"/>
                  </a:lnTo>
                  <a:lnTo>
                    <a:pt x="0" y="47548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12196" r="0" b="-312196"/>
              </a:stretch>
            </a:blipFill>
          </p:spPr>
        </p:sp>
        <p:sp>
          <p:nvSpPr>
            <p:cNvPr name="TextBox 95" id="95"/>
            <p:cNvSpPr txBox="true"/>
            <p:nvPr/>
          </p:nvSpPr>
          <p:spPr>
            <a:xfrm>
              <a:off x="0" y="-38100"/>
              <a:ext cx="8838590" cy="513588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070"/>
                </a:lnSpc>
              </a:pPr>
              <a:r>
                <a:rPr lang="en-US" sz="1725" b="true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Dual-Brain Hardware Split (Arduino UNO Q):</a:t>
              </a:r>
            </a:p>
          </p:txBody>
        </p:sp>
      </p:grpSp>
      <p:grpSp>
        <p:nvGrpSpPr>
          <p:cNvPr name="Group 96" id="96"/>
          <p:cNvGrpSpPr/>
          <p:nvPr/>
        </p:nvGrpSpPr>
        <p:grpSpPr>
          <a:xfrm rot="0">
            <a:off x="7238074" y="3078051"/>
            <a:ext cx="4485044" cy="1066324"/>
            <a:chOff x="0" y="0"/>
            <a:chExt cx="8967368" cy="2132001"/>
          </a:xfrm>
        </p:grpSpPr>
        <p:sp>
          <p:nvSpPr>
            <p:cNvPr name="Freeform 97" id="97"/>
            <p:cNvSpPr/>
            <p:nvPr/>
          </p:nvSpPr>
          <p:spPr>
            <a:xfrm flipH="false" flipV="false" rot="0">
              <a:off x="0" y="0"/>
              <a:ext cx="8967470" cy="2132001"/>
            </a:xfrm>
            <a:custGeom>
              <a:avLst/>
              <a:gdLst/>
              <a:ahLst/>
              <a:cxnLst/>
              <a:rect r="r" b="b" t="t" l="l"/>
              <a:pathLst>
                <a:path h="2132001" w="8967470">
                  <a:moveTo>
                    <a:pt x="0" y="209062"/>
                  </a:moveTo>
                  <a:cubicBezTo>
                    <a:pt x="0" y="93539"/>
                    <a:pt x="82677" y="0"/>
                    <a:pt x="184785" y="0"/>
                  </a:cubicBezTo>
                  <a:lnTo>
                    <a:pt x="8782685" y="0"/>
                  </a:lnTo>
                  <a:cubicBezTo>
                    <a:pt x="8884666" y="0"/>
                    <a:pt x="8967470" y="93539"/>
                    <a:pt x="8967470" y="209062"/>
                  </a:cubicBezTo>
                  <a:lnTo>
                    <a:pt x="8967470" y="1922939"/>
                  </a:lnTo>
                  <a:cubicBezTo>
                    <a:pt x="8967470" y="2038318"/>
                    <a:pt x="8884793" y="2132001"/>
                    <a:pt x="8782685" y="2132001"/>
                  </a:cubicBezTo>
                  <a:lnTo>
                    <a:pt x="184785" y="2132001"/>
                  </a:lnTo>
                  <a:cubicBezTo>
                    <a:pt x="82677" y="2132001"/>
                    <a:pt x="0" y="2038462"/>
                    <a:pt x="0" y="1922939"/>
                  </a:cubicBezTo>
                  <a:close/>
                </a:path>
              </a:pathLst>
            </a:custGeom>
            <a:solidFill>
              <a:srgbClr val="1E4A7E"/>
            </a:solidFill>
            <a:ln w="14288" cap="sq">
              <a:solidFill>
                <a:srgbClr val="1E4A7E"/>
              </a:solidFill>
              <a:prstDash val="solid"/>
              <a:miter/>
            </a:ln>
          </p:spPr>
        </p:sp>
      </p:grpSp>
      <p:grpSp>
        <p:nvGrpSpPr>
          <p:cNvPr name="Group 98" id="98"/>
          <p:cNvGrpSpPr/>
          <p:nvPr/>
        </p:nvGrpSpPr>
        <p:grpSpPr>
          <a:xfrm rot="0">
            <a:off x="7492105" y="3174682"/>
            <a:ext cx="4202544" cy="342235"/>
            <a:chOff x="0" y="0"/>
            <a:chExt cx="5603392" cy="456313"/>
          </a:xfrm>
        </p:grpSpPr>
        <p:sp>
          <p:nvSpPr>
            <p:cNvPr name="Freeform 99" id="99"/>
            <p:cNvSpPr/>
            <p:nvPr/>
          </p:nvSpPr>
          <p:spPr>
            <a:xfrm flipH="false" flipV="false" rot="0">
              <a:off x="0" y="0"/>
              <a:ext cx="5603392" cy="456313"/>
            </a:xfrm>
            <a:custGeom>
              <a:avLst/>
              <a:gdLst/>
              <a:ahLst/>
              <a:cxnLst/>
              <a:rect r="r" b="b" t="t" l="l"/>
              <a:pathLst>
                <a:path h="456313" w="5603392">
                  <a:moveTo>
                    <a:pt x="0" y="0"/>
                  </a:moveTo>
                  <a:lnTo>
                    <a:pt x="5603392" y="0"/>
                  </a:lnTo>
                  <a:lnTo>
                    <a:pt x="5603392" y="456313"/>
                  </a:lnTo>
                  <a:lnTo>
                    <a:pt x="0" y="456313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05896" r="-47945" b="-302082"/>
              </a:stretch>
            </a:blipFill>
          </p:spPr>
        </p:sp>
        <p:sp>
          <p:nvSpPr>
            <p:cNvPr name="TextBox 100" id="100"/>
            <p:cNvSpPr txBox="true"/>
            <p:nvPr/>
          </p:nvSpPr>
          <p:spPr>
            <a:xfrm>
              <a:off x="0" y="-38100"/>
              <a:ext cx="5603392" cy="494413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070"/>
                </a:lnSpc>
              </a:pPr>
              <a:r>
                <a:rPr lang="en-US" sz="1725" b="true">
                  <a:solidFill>
                    <a:srgbClr val="FFB35C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Real-Time MCU (STM32U585 / Zephyr RTOS):</a:t>
              </a:r>
            </a:p>
          </p:txBody>
        </p:sp>
      </p:grpSp>
      <p:sp>
        <p:nvSpPr>
          <p:cNvPr name="TextBox 101" id="101"/>
          <p:cNvSpPr txBox="true"/>
          <p:nvPr/>
        </p:nvSpPr>
        <p:spPr>
          <a:xfrm rot="0">
            <a:off x="7492105" y="3522964"/>
            <a:ext cx="4202544" cy="64046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201837" indent="-100919" lvl="1">
              <a:lnSpc>
                <a:spcPts val="1338"/>
              </a:lnSpc>
              <a:buFont typeface="Arial"/>
              <a:buChar char="•"/>
            </a:pPr>
            <a:r>
              <a:rPr lang="en-US" sz="1115">
                <a:solidFill>
                  <a:srgbClr val="E4ECF7"/>
                </a:solidFill>
                <a:latin typeface="Calibri (MS)"/>
                <a:ea typeface="Calibri (MS)"/>
                <a:cs typeface="Calibri (MS)"/>
                <a:sym typeface="Calibri (MS)"/>
              </a:rPr>
              <a:t>250 Hz (4ms) deterministic flight stabilization loop</a:t>
            </a:r>
          </a:p>
          <a:p>
            <a:pPr algn="l" marL="201837" indent="-100919" lvl="1">
              <a:lnSpc>
                <a:spcPts val="1338"/>
              </a:lnSpc>
              <a:buFont typeface="Arial"/>
              <a:buChar char="•"/>
            </a:pPr>
            <a:r>
              <a:rPr lang="en-US" sz="1115">
                <a:solidFill>
                  <a:srgbClr val="E4ECF7"/>
                </a:solidFill>
                <a:latin typeface="Calibri (MS)"/>
                <a:ea typeface="Calibri (MS)"/>
                <a:cs typeface="Calibri (MS)"/>
                <a:sym typeface="Calibri (MS)"/>
              </a:rPr>
              <a:t>350 Hz PWM direct brushless motor control</a:t>
            </a:r>
          </a:p>
          <a:p>
            <a:pPr algn="l" marL="201837" indent="-100919" lvl="1">
              <a:lnSpc>
                <a:spcPts val="1338"/>
              </a:lnSpc>
              <a:buFont typeface="Arial"/>
              <a:buChar char="•"/>
            </a:pPr>
            <a:r>
              <a:rPr lang="en-US" sz="1115">
                <a:solidFill>
                  <a:srgbClr val="E4ECF7"/>
                </a:solidFill>
                <a:latin typeface="Calibri (MS)"/>
                <a:ea typeface="Calibri (MS)"/>
                <a:cs typeface="Calibri (MS)"/>
                <a:sym typeface="Calibri (MS)"/>
              </a:rPr>
              <a:t>IMU (MPU6050) + Barometer (MS5611) + Downward LiDAR</a:t>
            </a:r>
          </a:p>
        </p:txBody>
      </p:sp>
      <p:grpSp>
        <p:nvGrpSpPr>
          <p:cNvPr name="Group 102" id="102"/>
          <p:cNvGrpSpPr/>
          <p:nvPr/>
        </p:nvGrpSpPr>
        <p:grpSpPr>
          <a:xfrm rot="0">
            <a:off x="7455203" y="4395692"/>
            <a:ext cx="143899" cy="370332"/>
            <a:chOff x="0" y="0"/>
            <a:chExt cx="191866" cy="493776"/>
          </a:xfrm>
        </p:grpSpPr>
        <p:sp>
          <p:nvSpPr>
            <p:cNvPr name="Freeform 103" id="103"/>
            <p:cNvSpPr/>
            <p:nvPr/>
          </p:nvSpPr>
          <p:spPr>
            <a:xfrm flipH="false" flipV="false" rot="0">
              <a:off x="0" y="0"/>
              <a:ext cx="191866" cy="493776"/>
            </a:xfrm>
            <a:custGeom>
              <a:avLst/>
              <a:gdLst/>
              <a:ahLst/>
              <a:cxnLst/>
              <a:rect r="r" b="b" t="t" l="l"/>
              <a:pathLst>
                <a:path h="493776" w="191866">
                  <a:moveTo>
                    <a:pt x="0" y="137160"/>
                  </a:moveTo>
                  <a:lnTo>
                    <a:pt x="95933" y="0"/>
                  </a:lnTo>
                  <a:lnTo>
                    <a:pt x="191866" y="137160"/>
                  </a:lnTo>
                  <a:lnTo>
                    <a:pt x="143899" y="137160"/>
                  </a:lnTo>
                  <a:lnTo>
                    <a:pt x="143899" y="356616"/>
                  </a:lnTo>
                  <a:lnTo>
                    <a:pt x="191866" y="356616"/>
                  </a:lnTo>
                  <a:lnTo>
                    <a:pt x="95933" y="493776"/>
                  </a:lnTo>
                  <a:lnTo>
                    <a:pt x="0" y="356616"/>
                  </a:lnTo>
                  <a:lnTo>
                    <a:pt x="47966" y="356616"/>
                  </a:lnTo>
                  <a:lnTo>
                    <a:pt x="47966" y="137160"/>
                  </a:lnTo>
                  <a:close/>
                </a:path>
              </a:pathLst>
            </a:custGeom>
            <a:solidFill>
              <a:srgbClr val="FFB35C"/>
            </a:solidFill>
          </p:spPr>
        </p:sp>
      </p:grpSp>
      <p:grpSp>
        <p:nvGrpSpPr>
          <p:cNvPr name="Group 104" id="104"/>
          <p:cNvGrpSpPr/>
          <p:nvPr/>
        </p:nvGrpSpPr>
        <p:grpSpPr>
          <a:xfrm rot="0">
            <a:off x="7707496" y="4375404"/>
            <a:ext cx="3771764" cy="438912"/>
            <a:chOff x="0" y="0"/>
            <a:chExt cx="5029019" cy="585216"/>
          </a:xfrm>
        </p:grpSpPr>
        <p:sp>
          <p:nvSpPr>
            <p:cNvPr name="Freeform 105" id="105"/>
            <p:cNvSpPr/>
            <p:nvPr/>
          </p:nvSpPr>
          <p:spPr>
            <a:xfrm flipH="false" flipV="false" rot="0">
              <a:off x="0" y="0"/>
              <a:ext cx="5029018" cy="585216"/>
            </a:xfrm>
            <a:custGeom>
              <a:avLst/>
              <a:gdLst/>
              <a:ahLst/>
              <a:cxnLst/>
              <a:rect r="r" b="b" t="t" l="l"/>
              <a:pathLst>
                <a:path h="585216" w="5029018">
                  <a:moveTo>
                    <a:pt x="0" y="0"/>
                  </a:moveTo>
                  <a:lnTo>
                    <a:pt x="5029018" y="0"/>
                  </a:lnTo>
                  <a:lnTo>
                    <a:pt x="5029018" y="585216"/>
                  </a:lnTo>
                  <a:lnTo>
                    <a:pt x="0" y="58521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13839" r="-57569" b="-213839"/>
              </a:stretch>
            </a:blipFill>
          </p:spPr>
        </p:sp>
        <p:sp>
          <p:nvSpPr>
            <p:cNvPr name="TextBox 106" id="106"/>
            <p:cNvSpPr txBox="true"/>
            <p:nvPr/>
          </p:nvSpPr>
          <p:spPr>
            <a:xfrm>
              <a:off x="0" y="-28575"/>
              <a:ext cx="5029019" cy="61379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980"/>
                </a:lnSpc>
              </a:pPr>
              <a:r>
                <a:rPr lang="en-US" sz="1650" b="true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Asynchronous non-blocking RPC bridge </a:t>
              </a:r>
            </a:p>
          </p:txBody>
        </p:sp>
      </p:grpSp>
      <p:grpSp>
        <p:nvGrpSpPr>
          <p:cNvPr name="Group 107" id="107"/>
          <p:cNvGrpSpPr/>
          <p:nvPr/>
        </p:nvGrpSpPr>
        <p:grpSpPr>
          <a:xfrm rot="0">
            <a:off x="7238074" y="4998291"/>
            <a:ext cx="4456576" cy="1174242"/>
            <a:chOff x="0" y="0"/>
            <a:chExt cx="8967368" cy="2362769"/>
          </a:xfrm>
        </p:grpSpPr>
        <p:sp>
          <p:nvSpPr>
            <p:cNvPr name="Freeform 108" id="108"/>
            <p:cNvSpPr/>
            <p:nvPr/>
          </p:nvSpPr>
          <p:spPr>
            <a:xfrm flipH="false" flipV="false" rot="0">
              <a:off x="0" y="0"/>
              <a:ext cx="8967343" cy="2362769"/>
            </a:xfrm>
            <a:custGeom>
              <a:avLst/>
              <a:gdLst/>
              <a:ahLst/>
              <a:cxnLst/>
              <a:rect r="r" b="b" t="t" l="l"/>
              <a:pathLst>
                <a:path h="2362769" w="8967343">
                  <a:moveTo>
                    <a:pt x="0" y="281310"/>
                  </a:moveTo>
                  <a:cubicBezTo>
                    <a:pt x="0" y="125991"/>
                    <a:pt x="82931" y="0"/>
                    <a:pt x="185166" y="0"/>
                  </a:cubicBezTo>
                  <a:lnTo>
                    <a:pt x="8782177" y="0"/>
                  </a:lnTo>
                  <a:cubicBezTo>
                    <a:pt x="8884412" y="0"/>
                    <a:pt x="8967343" y="125991"/>
                    <a:pt x="8967343" y="281310"/>
                  </a:cubicBezTo>
                  <a:lnTo>
                    <a:pt x="8967343" y="2081460"/>
                  </a:lnTo>
                  <a:cubicBezTo>
                    <a:pt x="8967343" y="2236778"/>
                    <a:pt x="8884412" y="2362769"/>
                    <a:pt x="8782177" y="2362769"/>
                  </a:cubicBezTo>
                  <a:lnTo>
                    <a:pt x="185166" y="2362769"/>
                  </a:lnTo>
                  <a:cubicBezTo>
                    <a:pt x="82931" y="2362769"/>
                    <a:pt x="0" y="2236778"/>
                    <a:pt x="0" y="2081460"/>
                  </a:cubicBezTo>
                  <a:close/>
                </a:path>
              </a:pathLst>
            </a:custGeom>
            <a:solidFill>
              <a:srgbClr val="1E4A7E"/>
            </a:solidFill>
            <a:ln w="14288" cap="sq">
              <a:solidFill>
                <a:srgbClr val="1E4A7E"/>
              </a:solidFill>
              <a:prstDash val="solid"/>
              <a:miter/>
            </a:ln>
          </p:spPr>
        </p:sp>
      </p:grpSp>
      <p:grpSp>
        <p:nvGrpSpPr>
          <p:cNvPr name="Group 109" id="109"/>
          <p:cNvGrpSpPr/>
          <p:nvPr/>
        </p:nvGrpSpPr>
        <p:grpSpPr>
          <a:xfrm rot="0">
            <a:off x="7492105" y="5049240"/>
            <a:ext cx="4077423" cy="599429"/>
            <a:chOff x="0" y="0"/>
            <a:chExt cx="5436564" cy="799238"/>
          </a:xfrm>
        </p:grpSpPr>
        <p:sp>
          <p:nvSpPr>
            <p:cNvPr name="Freeform 110" id="110"/>
            <p:cNvSpPr/>
            <p:nvPr/>
          </p:nvSpPr>
          <p:spPr>
            <a:xfrm flipH="false" flipV="false" rot="0">
              <a:off x="0" y="0"/>
              <a:ext cx="5436564" cy="799238"/>
            </a:xfrm>
            <a:custGeom>
              <a:avLst/>
              <a:gdLst/>
              <a:ahLst/>
              <a:cxnLst/>
              <a:rect r="r" b="b" t="t" l="l"/>
              <a:pathLst>
                <a:path h="799238" w="5436564">
                  <a:moveTo>
                    <a:pt x="0" y="0"/>
                  </a:moveTo>
                  <a:lnTo>
                    <a:pt x="5436564" y="0"/>
                  </a:lnTo>
                  <a:lnTo>
                    <a:pt x="5436564" y="799238"/>
                  </a:lnTo>
                  <a:lnTo>
                    <a:pt x="0" y="79923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74646" r="-52485" b="-129563"/>
              </a:stretch>
            </a:blipFill>
          </p:spPr>
        </p:sp>
        <p:sp>
          <p:nvSpPr>
            <p:cNvPr name="TextBox 111" id="111"/>
            <p:cNvSpPr txBox="true"/>
            <p:nvPr/>
          </p:nvSpPr>
          <p:spPr>
            <a:xfrm>
              <a:off x="0" y="-38100"/>
              <a:ext cx="5436564" cy="837338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070"/>
                </a:lnSpc>
              </a:pPr>
              <a:r>
                <a:rPr lang="en-US" sz="1725" b="true">
                  <a:solidFill>
                    <a:srgbClr val="FFB35C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Mission Computer (Qualcomm Dragonwing QRB2210 / Linux):</a:t>
              </a:r>
            </a:p>
          </p:txBody>
        </p:sp>
      </p:grpSp>
      <p:sp>
        <p:nvSpPr>
          <p:cNvPr name="TextBox 112" id="112"/>
          <p:cNvSpPr txBox="true"/>
          <p:nvPr/>
        </p:nvSpPr>
        <p:spPr>
          <a:xfrm rot="0">
            <a:off x="7469679" y="5556837"/>
            <a:ext cx="4860693" cy="5647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233447" indent="-116723" lvl="1">
              <a:lnSpc>
                <a:spcPts val="1547"/>
              </a:lnSpc>
              <a:buFont typeface="Arial"/>
              <a:buChar char="•"/>
            </a:pPr>
            <a:r>
              <a:rPr sz="1250" b="1" i="0">
                <a:solidFill>
                  <a:srgbClr val="E4ECF7"/>
                </a:solidFill>
                <a:latin typeface="Calibri"/>
              </a:rPr>
              <a:t>Qualcomm Dragonwing QRB2210 (Debian Linux — 4GB RAM, 32GB eMMC)</a:t>
            </a:r>
          </a:p>
          <a:p>
            <a:r>
              <a:rPr sz="1200" b="0" i="0">
                <a:solidFill>
                  <a:srgbClr val="E4ECF7"/>
                </a:solidFill>
                <a:latin typeface="Calibri"/>
              </a:rPr>
              <a:t>Onboard INT8 Edge-AI Inference // Georeferencing Pipeline // SX1262 LoRa Telemetry Driver [3]</a:t>
            </a:r>
          </a:p>
        </p:txBody>
      </p:sp>
      <p:grpSp>
        <p:nvGrpSpPr>
          <p:cNvPr name="Group 113" id="113"/>
          <p:cNvGrpSpPr/>
          <p:nvPr/>
        </p:nvGrpSpPr>
        <p:grpSpPr>
          <a:xfrm rot="0">
            <a:off x="11331905" y="6605397"/>
            <a:ext cx="6631879" cy="2652903"/>
            <a:chOff x="0" y="0"/>
            <a:chExt cx="8842505" cy="3537204"/>
          </a:xfrm>
        </p:grpSpPr>
        <p:sp>
          <p:nvSpPr>
            <p:cNvPr name="Freeform 114" id="114"/>
            <p:cNvSpPr/>
            <p:nvPr/>
          </p:nvSpPr>
          <p:spPr>
            <a:xfrm flipH="false" flipV="false" rot="0">
              <a:off x="0" y="0"/>
              <a:ext cx="8842482" cy="3537204"/>
            </a:xfrm>
            <a:custGeom>
              <a:avLst/>
              <a:gdLst/>
              <a:ahLst/>
              <a:cxnLst/>
              <a:rect r="r" b="b" t="t" l="l"/>
              <a:pathLst>
                <a:path h="3537204" w="8842482">
                  <a:moveTo>
                    <a:pt x="0" y="245105"/>
                  </a:moveTo>
                  <a:cubicBezTo>
                    <a:pt x="0" y="109729"/>
                    <a:pt x="104232" y="0"/>
                    <a:pt x="232827" y="0"/>
                  </a:cubicBezTo>
                  <a:lnTo>
                    <a:pt x="8609655" y="0"/>
                  </a:lnTo>
                  <a:cubicBezTo>
                    <a:pt x="8738250" y="0"/>
                    <a:pt x="8842482" y="109729"/>
                    <a:pt x="8842482" y="245105"/>
                  </a:cubicBezTo>
                  <a:lnTo>
                    <a:pt x="8842482" y="3292099"/>
                  </a:lnTo>
                  <a:cubicBezTo>
                    <a:pt x="8842482" y="3427475"/>
                    <a:pt x="8738250" y="3537204"/>
                    <a:pt x="8609655" y="3537204"/>
                  </a:cubicBezTo>
                  <a:lnTo>
                    <a:pt x="232827" y="3537204"/>
                  </a:lnTo>
                  <a:cubicBezTo>
                    <a:pt x="104232" y="3537204"/>
                    <a:pt x="0" y="3427475"/>
                    <a:pt x="0" y="3292099"/>
                  </a:cubicBezTo>
                  <a:close/>
                </a:path>
              </a:pathLst>
            </a:custGeom>
            <a:solidFill>
              <a:srgbClr val="F4F8FC"/>
            </a:solidFill>
            <a:ln w="14288" cap="sq">
              <a:solidFill>
                <a:srgbClr val="D6E1EE"/>
              </a:solidFill>
              <a:prstDash val="solid"/>
              <a:miter/>
            </a:ln>
          </p:spPr>
        </p:sp>
      </p:grpSp>
      <p:grpSp>
        <p:nvGrpSpPr>
          <p:cNvPr name="Group 115" id="115"/>
          <p:cNvGrpSpPr/>
          <p:nvPr/>
        </p:nvGrpSpPr>
        <p:grpSpPr>
          <a:xfrm rot="0">
            <a:off x="11648652" y="6763417"/>
            <a:ext cx="1746271" cy="370332"/>
            <a:chOff x="0" y="0"/>
            <a:chExt cx="2328361" cy="493776"/>
          </a:xfrm>
        </p:grpSpPr>
        <p:sp>
          <p:nvSpPr>
            <p:cNvPr name="Freeform 116" id="116"/>
            <p:cNvSpPr/>
            <p:nvPr/>
          </p:nvSpPr>
          <p:spPr>
            <a:xfrm flipH="false" flipV="false" rot="0">
              <a:off x="0" y="0"/>
              <a:ext cx="2328387" cy="493776"/>
            </a:xfrm>
            <a:custGeom>
              <a:avLst/>
              <a:gdLst/>
              <a:ahLst/>
              <a:cxnLst/>
              <a:rect r="r" b="b" t="t" l="l"/>
              <a:pathLst>
                <a:path h="493776" w="2328387">
                  <a:moveTo>
                    <a:pt x="0" y="246888"/>
                  </a:moveTo>
                  <a:cubicBezTo>
                    <a:pt x="0" y="110490"/>
                    <a:pt x="99980" y="0"/>
                    <a:pt x="223404" y="0"/>
                  </a:cubicBezTo>
                  <a:lnTo>
                    <a:pt x="2104981" y="0"/>
                  </a:lnTo>
                  <a:cubicBezTo>
                    <a:pt x="2228404" y="0"/>
                    <a:pt x="2328387" y="110490"/>
                    <a:pt x="2328387" y="246888"/>
                  </a:cubicBezTo>
                  <a:cubicBezTo>
                    <a:pt x="2328387" y="383286"/>
                    <a:pt x="2228404" y="493776"/>
                    <a:pt x="2104981" y="493776"/>
                  </a:cubicBezTo>
                  <a:lnTo>
                    <a:pt x="223404" y="493776"/>
                  </a:lnTo>
                  <a:cubicBezTo>
                    <a:pt x="99980" y="493776"/>
                    <a:pt x="0" y="383286"/>
                    <a:pt x="0" y="246888"/>
                  </a:cubicBezTo>
                  <a:close/>
                </a:path>
              </a:pathLst>
            </a:custGeom>
            <a:solidFill>
              <a:srgbClr val="E1EEF9"/>
            </a:solidFill>
          </p:spPr>
        </p:sp>
      </p:grpSp>
      <p:grpSp>
        <p:nvGrpSpPr>
          <p:cNvPr name="Group 117" id="117"/>
          <p:cNvGrpSpPr/>
          <p:nvPr/>
        </p:nvGrpSpPr>
        <p:grpSpPr>
          <a:xfrm rot="0">
            <a:off x="11648652" y="6763417"/>
            <a:ext cx="1746271" cy="370332"/>
            <a:chOff x="0" y="0"/>
            <a:chExt cx="2328361" cy="493776"/>
          </a:xfrm>
        </p:grpSpPr>
        <p:sp>
          <p:nvSpPr>
            <p:cNvPr name="Freeform 118" id="118"/>
            <p:cNvSpPr/>
            <p:nvPr/>
          </p:nvSpPr>
          <p:spPr>
            <a:xfrm flipH="false" flipV="false" rot="0">
              <a:off x="0" y="0"/>
              <a:ext cx="2328360" cy="493776"/>
            </a:xfrm>
            <a:custGeom>
              <a:avLst/>
              <a:gdLst/>
              <a:ahLst/>
              <a:cxnLst/>
              <a:rect r="r" b="b" t="t" l="l"/>
              <a:pathLst>
                <a:path h="493776" w="2328360">
                  <a:moveTo>
                    <a:pt x="0" y="0"/>
                  </a:moveTo>
                  <a:lnTo>
                    <a:pt x="2328360" y="0"/>
                  </a:lnTo>
                  <a:lnTo>
                    <a:pt x="2328360" y="493776"/>
                  </a:lnTo>
                  <a:lnTo>
                    <a:pt x="0" y="49377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51538" r="-10512" b="-51538"/>
              </a:stretch>
            </a:blipFill>
          </p:spPr>
        </p:sp>
        <p:sp>
          <p:nvSpPr>
            <p:cNvPr name="TextBox 119" id="119"/>
            <p:cNvSpPr txBox="true"/>
            <p:nvPr/>
          </p:nvSpPr>
          <p:spPr>
            <a:xfrm>
              <a:off x="0" y="-28575"/>
              <a:ext cx="2328361" cy="52235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650"/>
                </a:lnSpc>
              </a:pPr>
              <a:r>
                <a:rPr lang="en-US" b="true" sz="1375" spc="196">
                  <a:solidFill>
                    <a:srgbClr val="0070C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TECH STACK</a:t>
              </a:r>
            </a:p>
          </p:txBody>
        </p:sp>
      </p:grpSp>
      <p:grpSp>
        <p:nvGrpSpPr>
          <p:cNvPr name="Group 120" id="120"/>
          <p:cNvGrpSpPr/>
          <p:nvPr/>
        </p:nvGrpSpPr>
        <p:grpSpPr>
          <a:xfrm rot="0">
            <a:off x="11648652" y="7243477"/>
            <a:ext cx="2234035" cy="290541"/>
            <a:chOff x="0" y="0"/>
            <a:chExt cx="2978714" cy="387388"/>
          </a:xfrm>
        </p:grpSpPr>
        <p:sp>
          <p:nvSpPr>
            <p:cNvPr name="Freeform 121" id="121"/>
            <p:cNvSpPr/>
            <p:nvPr/>
          </p:nvSpPr>
          <p:spPr>
            <a:xfrm flipH="false" flipV="false" rot="0">
              <a:off x="0" y="0"/>
              <a:ext cx="2978714" cy="387388"/>
            </a:xfrm>
            <a:custGeom>
              <a:avLst/>
              <a:gdLst/>
              <a:ahLst/>
              <a:cxnLst/>
              <a:rect r="r" b="b" t="t" l="l"/>
              <a:pathLst>
                <a:path h="387388" w="2978714">
                  <a:moveTo>
                    <a:pt x="0" y="0"/>
                  </a:moveTo>
                  <a:lnTo>
                    <a:pt x="2978714" y="0"/>
                  </a:lnTo>
                  <a:lnTo>
                    <a:pt x="2978714" y="387388"/>
                  </a:lnTo>
                  <a:lnTo>
                    <a:pt x="0" y="38738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17186" r="-10512" b="-113963"/>
              </a:stretch>
            </a:blipFill>
          </p:spPr>
        </p:sp>
        <p:sp>
          <p:nvSpPr>
            <p:cNvPr name="TextBox 122" id="122"/>
            <p:cNvSpPr txBox="true"/>
            <p:nvPr/>
          </p:nvSpPr>
          <p:spPr>
            <a:xfrm>
              <a:off x="0" y="-28575"/>
              <a:ext cx="2978714" cy="415963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740"/>
                </a:lnSpc>
              </a:pPr>
              <a:r>
                <a:rPr lang="en-US" sz="1450" b="true">
                  <a:solidFill>
                    <a:srgbClr val="1F497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Flight Stack</a:t>
              </a:r>
            </a:p>
          </p:txBody>
        </p:sp>
      </p:grpSp>
      <p:grpSp>
        <p:nvGrpSpPr>
          <p:cNvPr name="Group 123" id="123"/>
          <p:cNvGrpSpPr/>
          <p:nvPr/>
        </p:nvGrpSpPr>
        <p:grpSpPr>
          <a:xfrm rot="0">
            <a:off x="13882687" y="7243477"/>
            <a:ext cx="3764350" cy="290541"/>
            <a:chOff x="0" y="0"/>
            <a:chExt cx="5019133" cy="387388"/>
          </a:xfrm>
        </p:grpSpPr>
        <p:sp>
          <p:nvSpPr>
            <p:cNvPr name="Freeform 124" id="124"/>
            <p:cNvSpPr/>
            <p:nvPr/>
          </p:nvSpPr>
          <p:spPr>
            <a:xfrm flipH="false" flipV="false" rot="0">
              <a:off x="0" y="0"/>
              <a:ext cx="5019132" cy="387388"/>
            </a:xfrm>
            <a:custGeom>
              <a:avLst/>
              <a:gdLst/>
              <a:ahLst/>
              <a:cxnLst/>
              <a:rect r="r" b="b" t="t" l="l"/>
              <a:pathLst>
                <a:path h="387388" w="5019132">
                  <a:moveTo>
                    <a:pt x="0" y="0"/>
                  </a:moveTo>
                  <a:lnTo>
                    <a:pt x="5019132" y="0"/>
                  </a:lnTo>
                  <a:lnTo>
                    <a:pt x="5019132" y="387388"/>
                  </a:lnTo>
                  <a:lnTo>
                    <a:pt x="0" y="38738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30604" r="-10512" b="-227382"/>
              </a:stretch>
            </a:blipFill>
          </p:spPr>
        </p:sp>
        <p:sp>
          <p:nvSpPr>
            <p:cNvPr name="TextBox 125" id="125"/>
            <p:cNvSpPr txBox="true"/>
            <p:nvPr/>
          </p:nvSpPr>
          <p:spPr>
            <a:xfrm>
              <a:off x="0" y="-28575"/>
              <a:ext cx="5019133" cy="415963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740"/>
                </a:lnSpc>
              </a:pPr>
              <a:r>
                <a:rPr lang="en-US" sz="1450">
                  <a:solidFill>
                    <a:srgbClr val="1E2638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Zephyr RTOS, YMFC-32 Core, PX4 Autopilot</a:t>
              </a:r>
            </a:p>
          </p:txBody>
        </p:sp>
      </p:grpSp>
      <p:sp>
        <p:nvSpPr>
          <p:cNvPr name="AutoShape 126" id="126"/>
          <p:cNvSpPr/>
          <p:nvPr/>
        </p:nvSpPr>
        <p:spPr>
          <a:xfrm>
            <a:off x="11642186" y="7544956"/>
            <a:ext cx="6011317" cy="14261"/>
          </a:xfrm>
          <a:prstGeom prst="line">
            <a:avLst/>
          </a:prstGeom>
          <a:ln cap="rnd" w="9525">
            <a:solidFill>
              <a:srgbClr val="D6E1EE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127" id="127"/>
          <p:cNvGrpSpPr/>
          <p:nvPr/>
        </p:nvGrpSpPr>
        <p:grpSpPr>
          <a:xfrm rot="0">
            <a:off x="11648652" y="7565803"/>
            <a:ext cx="2234035" cy="290541"/>
            <a:chOff x="0" y="0"/>
            <a:chExt cx="2978714" cy="387388"/>
          </a:xfrm>
        </p:grpSpPr>
        <p:sp>
          <p:nvSpPr>
            <p:cNvPr name="Freeform 128" id="128"/>
            <p:cNvSpPr/>
            <p:nvPr/>
          </p:nvSpPr>
          <p:spPr>
            <a:xfrm flipH="false" flipV="false" rot="0">
              <a:off x="0" y="0"/>
              <a:ext cx="2978714" cy="387388"/>
            </a:xfrm>
            <a:custGeom>
              <a:avLst/>
              <a:gdLst/>
              <a:ahLst/>
              <a:cxnLst/>
              <a:rect r="r" b="b" t="t" l="l"/>
              <a:pathLst>
                <a:path h="387388" w="2978714">
                  <a:moveTo>
                    <a:pt x="0" y="0"/>
                  </a:moveTo>
                  <a:lnTo>
                    <a:pt x="2978714" y="0"/>
                  </a:lnTo>
                  <a:lnTo>
                    <a:pt x="2978714" y="387388"/>
                  </a:lnTo>
                  <a:lnTo>
                    <a:pt x="0" y="38738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17186" r="-10512" b="-113963"/>
              </a:stretch>
            </a:blipFill>
          </p:spPr>
        </p:sp>
        <p:sp>
          <p:nvSpPr>
            <p:cNvPr name="TextBox 129" id="129"/>
            <p:cNvSpPr txBox="true"/>
            <p:nvPr/>
          </p:nvSpPr>
          <p:spPr>
            <a:xfrm>
              <a:off x="0" y="-28575"/>
              <a:ext cx="2978714" cy="415963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740"/>
                </a:lnSpc>
              </a:pPr>
              <a:r>
                <a:rPr lang="en-US" sz="1450" b="true">
                  <a:solidFill>
                    <a:srgbClr val="1F497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Edge AI &amp; Vision</a:t>
              </a:r>
            </a:p>
          </p:txBody>
        </p:sp>
      </p:grpSp>
      <p:grpSp>
        <p:nvGrpSpPr>
          <p:cNvPr name="Group 130" id="130"/>
          <p:cNvGrpSpPr/>
          <p:nvPr/>
        </p:nvGrpSpPr>
        <p:grpSpPr>
          <a:xfrm rot="0">
            <a:off x="13882687" y="7565803"/>
            <a:ext cx="3764350" cy="290541"/>
            <a:chOff x="0" y="0"/>
            <a:chExt cx="5019133" cy="387388"/>
          </a:xfrm>
        </p:grpSpPr>
        <p:sp>
          <p:nvSpPr>
            <p:cNvPr name="Freeform 131" id="131"/>
            <p:cNvSpPr/>
            <p:nvPr/>
          </p:nvSpPr>
          <p:spPr>
            <a:xfrm flipH="false" flipV="false" rot="0">
              <a:off x="0" y="0"/>
              <a:ext cx="5019132" cy="387388"/>
            </a:xfrm>
            <a:custGeom>
              <a:avLst/>
              <a:gdLst/>
              <a:ahLst/>
              <a:cxnLst/>
              <a:rect r="r" b="b" t="t" l="l"/>
              <a:pathLst>
                <a:path h="387388" w="5019132">
                  <a:moveTo>
                    <a:pt x="0" y="0"/>
                  </a:moveTo>
                  <a:lnTo>
                    <a:pt x="5019132" y="0"/>
                  </a:lnTo>
                  <a:lnTo>
                    <a:pt x="5019132" y="387388"/>
                  </a:lnTo>
                  <a:lnTo>
                    <a:pt x="0" y="38738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30604" r="-10512" b="-227382"/>
              </a:stretch>
            </a:blipFill>
          </p:spPr>
        </p:sp>
        <p:sp>
          <p:nvSpPr>
            <p:cNvPr name="TextBox 132" id="132"/>
            <p:cNvSpPr txBox="true"/>
            <p:nvPr/>
          </p:nvSpPr>
          <p:spPr>
            <a:xfrm>
              <a:off x="0" y="-28575"/>
              <a:ext cx="5019133" cy="415963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740"/>
                </a:lnSpc>
              </a:pPr>
              <a:r>
                <a:rPr sz="1350" b="0" i="0">
                  <a:solidFill>
                    <a:srgbClr val="1E2638"/>
                  </a:solidFill>
                  <a:latin typeface="Calibri"/>
                </a:rPr>
                <a:t>YOLOv8n INT8 (Detection &amp; Avoidance), SNPE SDK, ONNX, OpenCV</a:t>
              </a:r>
            </a:p>
          </p:txBody>
        </p:sp>
      </p:grpSp>
      <p:sp>
        <p:nvSpPr>
          <p:cNvPr name="AutoShape 133" id="133"/>
          <p:cNvSpPr/>
          <p:nvPr/>
        </p:nvSpPr>
        <p:spPr>
          <a:xfrm>
            <a:off x="11642186" y="7867282"/>
            <a:ext cx="6011317" cy="14261"/>
          </a:xfrm>
          <a:prstGeom prst="line">
            <a:avLst/>
          </a:prstGeom>
          <a:ln cap="rnd" w="9525">
            <a:solidFill>
              <a:srgbClr val="D6E1EE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134" id="134"/>
          <p:cNvGrpSpPr/>
          <p:nvPr/>
        </p:nvGrpSpPr>
        <p:grpSpPr>
          <a:xfrm rot="0">
            <a:off x="11648652" y="7888129"/>
            <a:ext cx="2234035" cy="290541"/>
            <a:chOff x="0" y="0"/>
            <a:chExt cx="2978714" cy="387388"/>
          </a:xfrm>
        </p:grpSpPr>
        <p:sp>
          <p:nvSpPr>
            <p:cNvPr name="Freeform 135" id="135"/>
            <p:cNvSpPr/>
            <p:nvPr/>
          </p:nvSpPr>
          <p:spPr>
            <a:xfrm flipH="false" flipV="false" rot="0">
              <a:off x="0" y="0"/>
              <a:ext cx="2978714" cy="387388"/>
            </a:xfrm>
            <a:custGeom>
              <a:avLst/>
              <a:gdLst/>
              <a:ahLst/>
              <a:cxnLst/>
              <a:rect r="r" b="b" t="t" l="l"/>
              <a:pathLst>
                <a:path h="387388" w="2978714">
                  <a:moveTo>
                    <a:pt x="0" y="0"/>
                  </a:moveTo>
                  <a:lnTo>
                    <a:pt x="2978714" y="0"/>
                  </a:lnTo>
                  <a:lnTo>
                    <a:pt x="2978714" y="387388"/>
                  </a:lnTo>
                  <a:lnTo>
                    <a:pt x="0" y="38738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17186" r="-10512" b="-113963"/>
              </a:stretch>
            </a:blipFill>
          </p:spPr>
        </p:sp>
        <p:sp>
          <p:nvSpPr>
            <p:cNvPr name="TextBox 136" id="136"/>
            <p:cNvSpPr txBox="true"/>
            <p:nvPr/>
          </p:nvSpPr>
          <p:spPr>
            <a:xfrm>
              <a:off x="0" y="-28575"/>
              <a:ext cx="2978714" cy="415963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740"/>
                </a:lnSpc>
              </a:pPr>
              <a:r>
                <a:rPr lang="en-US" sz="1450" b="true">
                  <a:solidFill>
                    <a:srgbClr val="1F497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Robotics Middleware</a:t>
              </a:r>
            </a:p>
          </p:txBody>
        </p:sp>
      </p:grpSp>
      <p:grpSp>
        <p:nvGrpSpPr>
          <p:cNvPr name="Group 137" id="137"/>
          <p:cNvGrpSpPr/>
          <p:nvPr/>
        </p:nvGrpSpPr>
        <p:grpSpPr>
          <a:xfrm rot="0">
            <a:off x="13882687" y="7888129"/>
            <a:ext cx="3764350" cy="290541"/>
            <a:chOff x="0" y="0"/>
            <a:chExt cx="5019133" cy="387388"/>
          </a:xfrm>
        </p:grpSpPr>
        <p:sp>
          <p:nvSpPr>
            <p:cNvPr name="Freeform 138" id="138"/>
            <p:cNvSpPr/>
            <p:nvPr/>
          </p:nvSpPr>
          <p:spPr>
            <a:xfrm flipH="false" flipV="false" rot="0">
              <a:off x="0" y="0"/>
              <a:ext cx="5019132" cy="387388"/>
            </a:xfrm>
            <a:custGeom>
              <a:avLst/>
              <a:gdLst/>
              <a:ahLst/>
              <a:cxnLst/>
              <a:rect r="r" b="b" t="t" l="l"/>
              <a:pathLst>
                <a:path h="387388" w="5019132">
                  <a:moveTo>
                    <a:pt x="0" y="0"/>
                  </a:moveTo>
                  <a:lnTo>
                    <a:pt x="5019132" y="0"/>
                  </a:lnTo>
                  <a:lnTo>
                    <a:pt x="5019132" y="387388"/>
                  </a:lnTo>
                  <a:lnTo>
                    <a:pt x="0" y="38738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30604" r="-10512" b="-227382"/>
              </a:stretch>
            </a:blipFill>
          </p:spPr>
        </p:sp>
        <p:sp>
          <p:nvSpPr>
            <p:cNvPr name="TextBox 139" id="139"/>
            <p:cNvSpPr txBox="true"/>
            <p:nvPr/>
          </p:nvSpPr>
          <p:spPr>
            <a:xfrm>
              <a:off x="0" y="-28575"/>
              <a:ext cx="5019133" cy="415963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740"/>
                </a:lnSpc>
              </a:pPr>
              <a:r>
                <a:rPr lang="en-US" sz="1450">
                  <a:solidFill>
                    <a:srgbClr val="1E2638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ROS2 Humble, MAVLink v2, micro-ROS</a:t>
              </a:r>
            </a:p>
          </p:txBody>
        </p:sp>
      </p:grpSp>
      <p:sp>
        <p:nvSpPr>
          <p:cNvPr name="AutoShape 140" id="140"/>
          <p:cNvSpPr/>
          <p:nvPr/>
        </p:nvSpPr>
        <p:spPr>
          <a:xfrm>
            <a:off x="11642186" y="8189608"/>
            <a:ext cx="6011317" cy="14261"/>
          </a:xfrm>
          <a:prstGeom prst="line">
            <a:avLst/>
          </a:prstGeom>
          <a:ln cap="rnd" w="9525">
            <a:solidFill>
              <a:srgbClr val="D6E1EE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141" id="141"/>
          <p:cNvGrpSpPr/>
          <p:nvPr/>
        </p:nvGrpSpPr>
        <p:grpSpPr>
          <a:xfrm rot="0">
            <a:off x="11648652" y="8210455"/>
            <a:ext cx="2234035" cy="290541"/>
            <a:chOff x="0" y="0"/>
            <a:chExt cx="2978714" cy="387388"/>
          </a:xfrm>
        </p:grpSpPr>
        <p:sp>
          <p:nvSpPr>
            <p:cNvPr name="Freeform 142" id="142"/>
            <p:cNvSpPr/>
            <p:nvPr/>
          </p:nvSpPr>
          <p:spPr>
            <a:xfrm flipH="false" flipV="false" rot="0">
              <a:off x="0" y="0"/>
              <a:ext cx="2978714" cy="387388"/>
            </a:xfrm>
            <a:custGeom>
              <a:avLst/>
              <a:gdLst/>
              <a:ahLst/>
              <a:cxnLst/>
              <a:rect r="r" b="b" t="t" l="l"/>
              <a:pathLst>
                <a:path h="387388" w="2978714">
                  <a:moveTo>
                    <a:pt x="0" y="0"/>
                  </a:moveTo>
                  <a:lnTo>
                    <a:pt x="2978714" y="0"/>
                  </a:lnTo>
                  <a:lnTo>
                    <a:pt x="2978714" y="387388"/>
                  </a:lnTo>
                  <a:lnTo>
                    <a:pt x="0" y="38738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17186" r="-10512" b="-113963"/>
              </a:stretch>
            </a:blipFill>
          </p:spPr>
        </p:sp>
        <p:sp>
          <p:nvSpPr>
            <p:cNvPr name="TextBox 143" id="143"/>
            <p:cNvSpPr txBox="true"/>
            <p:nvPr/>
          </p:nvSpPr>
          <p:spPr>
            <a:xfrm>
              <a:off x="0" y="-28575"/>
              <a:ext cx="2978714" cy="415963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740"/>
                </a:lnSpc>
              </a:pPr>
              <a:r>
                <a:rPr lang="en-US" sz="1450" b="true">
                  <a:solidFill>
                    <a:srgbClr val="1F497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Long-Range RF Comms</a:t>
              </a:r>
            </a:p>
          </p:txBody>
        </p:sp>
      </p:grpSp>
      <p:grpSp>
        <p:nvGrpSpPr>
          <p:cNvPr name="Group 144" id="144"/>
          <p:cNvGrpSpPr/>
          <p:nvPr/>
        </p:nvGrpSpPr>
        <p:grpSpPr>
          <a:xfrm rot="0">
            <a:off x="13882687" y="8210455"/>
            <a:ext cx="3764350" cy="290541"/>
            <a:chOff x="0" y="0"/>
            <a:chExt cx="5019133" cy="387388"/>
          </a:xfrm>
        </p:grpSpPr>
        <p:sp>
          <p:nvSpPr>
            <p:cNvPr name="Freeform 145" id="145"/>
            <p:cNvSpPr/>
            <p:nvPr/>
          </p:nvSpPr>
          <p:spPr>
            <a:xfrm flipH="false" flipV="false" rot="0">
              <a:off x="0" y="0"/>
              <a:ext cx="5019132" cy="387388"/>
            </a:xfrm>
            <a:custGeom>
              <a:avLst/>
              <a:gdLst/>
              <a:ahLst/>
              <a:cxnLst/>
              <a:rect r="r" b="b" t="t" l="l"/>
              <a:pathLst>
                <a:path h="387388" w="5019132">
                  <a:moveTo>
                    <a:pt x="0" y="0"/>
                  </a:moveTo>
                  <a:lnTo>
                    <a:pt x="5019132" y="0"/>
                  </a:lnTo>
                  <a:lnTo>
                    <a:pt x="5019132" y="387388"/>
                  </a:lnTo>
                  <a:lnTo>
                    <a:pt x="0" y="38738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30604" r="-10512" b="-227382"/>
              </a:stretch>
            </a:blipFill>
          </p:spPr>
        </p:sp>
        <p:sp>
          <p:nvSpPr>
            <p:cNvPr name="TextBox 146" id="146"/>
            <p:cNvSpPr txBox="true"/>
            <p:nvPr/>
          </p:nvSpPr>
          <p:spPr>
            <a:xfrm>
              <a:off x="0" y="-28575"/>
              <a:ext cx="5019133" cy="415963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740"/>
                </a:lnSpc>
              </a:pPr>
              <a:r>
                <a:rPr lang="en-US" sz="1450">
                  <a:solidFill>
                    <a:srgbClr val="1E2638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Semtech SX1262 LoRa P2P (868 MHz)</a:t>
              </a:r>
            </a:p>
          </p:txBody>
        </p:sp>
      </p:grpSp>
      <p:sp>
        <p:nvSpPr>
          <p:cNvPr name="AutoShape 147" id="147"/>
          <p:cNvSpPr/>
          <p:nvPr/>
        </p:nvSpPr>
        <p:spPr>
          <a:xfrm>
            <a:off x="11642186" y="8511934"/>
            <a:ext cx="6011317" cy="14261"/>
          </a:xfrm>
          <a:prstGeom prst="line">
            <a:avLst/>
          </a:prstGeom>
          <a:ln cap="rnd" w="9525">
            <a:solidFill>
              <a:srgbClr val="D6E1EE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148" id="148"/>
          <p:cNvGrpSpPr/>
          <p:nvPr/>
        </p:nvGrpSpPr>
        <p:grpSpPr>
          <a:xfrm rot="0">
            <a:off x="11648652" y="8532781"/>
            <a:ext cx="2234035" cy="290541"/>
            <a:chOff x="0" y="0"/>
            <a:chExt cx="2978714" cy="387388"/>
          </a:xfrm>
        </p:grpSpPr>
        <p:sp>
          <p:nvSpPr>
            <p:cNvPr name="Freeform 149" id="149"/>
            <p:cNvSpPr/>
            <p:nvPr/>
          </p:nvSpPr>
          <p:spPr>
            <a:xfrm flipH="false" flipV="false" rot="0">
              <a:off x="0" y="0"/>
              <a:ext cx="2978714" cy="387388"/>
            </a:xfrm>
            <a:custGeom>
              <a:avLst/>
              <a:gdLst/>
              <a:ahLst/>
              <a:cxnLst/>
              <a:rect r="r" b="b" t="t" l="l"/>
              <a:pathLst>
                <a:path h="387388" w="2978714">
                  <a:moveTo>
                    <a:pt x="0" y="0"/>
                  </a:moveTo>
                  <a:lnTo>
                    <a:pt x="2978714" y="0"/>
                  </a:lnTo>
                  <a:lnTo>
                    <a:pt x="2978714" y="387388"/>
                  </a:lnTo>
                  <a:lnTo>
                    <a:pt x="0" y="38738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17186" r="-10512" b="-113963"/>
              </a:stretch>
            </a:blipFill>
          </p:spPr>
        </p:sp>
        <p:sp>
          <p:nvSpPr>
            <p:cNvPr name="TextBox 150" id="150"/>
            <p:cNvSpPr txBox="true"/>
            <p:nvPr/>
          </p:nvSpPr>
          <p:spPr>
            <a:xfrm>
              <a:off x="0" y="-28575"/>
              <a:ext cx="2978714" cy="415963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740"/>
                </a:lnSpc>
              </a:pPr>
              <a:r>
                <a:rPr lang="en-US" sz="1450" b="true">
                  <a:solidFill>
                    <a:srgbClr val="1F497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Tactical GCS</a:t>
              </a:r>
            </a:p>
          </p:txBody>
        </p:sp>
      </p:grpSp>
      <p:grpSp>
        <p:nvGrpSpPr>
          <p:cNvPr name="Group 151" id="151"/>
          <p:cNvGrpSpPr/>
          <p:nvPr/>
        </p:nvGrpSpPr>
        <p:grpSpPr>
          <a:xfrm rot="0">
            <a:off x="13882687" y="8532781"/>
            <a:ext cx="3764350" cy="290541"/>
            <a:chOff x="0" y="0"/>
            <a:chExt cx="5019133" cy="387388"/>
          </a:xfrm>
        </p:grpSpPr>
        <p:sp>
          <p:nvSpPr>
            <p:cNvPr name="Freeform 152" id="152"/>
            <p:cNvSpPr/>
            <p:nvPr/>
          </p:nvSpPr>
          <p:spPr>
            <a:xfrm flipH="false" flipV="false" rot="0">
              <a:off x="0" y="0"/>
              <a:ext cx="5019132" cy="387388"/>
            </a:xfrm>
            <a:custGeom>
              <a:avLst/>
              <a:gdLst/>
              <a:ahLst/>
              <a:cxnLst/>
              <a:rect r="r" b="b" t="t" l="l"/>
              <a:pathLst>
                <a:path h="387388" w="5019132">
                  <a:moveTo>
                    <a:pt x="0" y="0"/>
                  </a:moveTo>
                  <a:lnTo>
                    <a:pt x="5019132" y="0"/>
                  </a:lnTo>
                  <a:lnTo>
                    <a:pt x="5019132" y="387388"/>
                  </a:lnTo>
                  <a:lnTo>
                    <a:pt x="0" y="38738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30604" r="-10512" b="-227382"/>
              </a:stretch>
            </a:blipFill>
          </p:spPr>
        </p:sp>
        <p:sp>
          <p:nvSpPr>
            <p:cNvPr name="TextBox 153" id="153"/>
            <p:cNvSpPr txBox="true"/>
            <p:nvPr/>
          </p:nvSpPr>
          <p:spPr>
            <a:xfrm>
              <a:off x="0" y="-28575"/>
              <a:ext cx="5019133" cy="415963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740"/>
                </a:lnSpc>
              </a:pPr>
              <a:r>
                <a:rPr lang="en-US" sz="1450">
                  <a:solidFill>
                    <a:srgbClr val="1E2638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React, Leaflet, Tailwind CSS, WebSockets</a:t>
              </a:r>
            </a:p>
          </p:txBody>
        </p:sp>
      </p:grpSp>
      <p:sp>
        <p:nvSpPr>
          <p:cNvPr name="AutoShape 154" id="154"/>
          <p:cNvSpPr/>
          <p:nvPr/>
        </p:nvSpPr>
        <p:spPr>
          <a:xfrm>
            <a:off x="11642186" y="8834260"/>
            <a:ext cx="6011317" cy="14261"/>
          </a:xfrm>
          <a:prstGeom prst="line">
            <a:avLst/>
          </a:prstGeom>
          <a:ln cap="rnd" w="9525">
            <a:solidFill>
              <a:srgbClr val="D6E1EE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155" id="155"/>
          <p:cNvGrpSpPr/>
          <p:nvPr/>
        </p:nvGrpSpPr>
        <p:grpSpPr>
          <a:xfrm rot="0">
            <a:off x="11648652" y="8855107"/>
            <a:ext cx="2234035" cy="290541"/>
            <a:chOff x="0" y="0"/>
            <a:chExt cx="2978714" cy="387388"/>
          </a:xfrm>
        </p:grpSpPr>
        <p:sp>
          <p:nvSpPr>
            <p:cNvPr name="Freeform 156" id="156"/>
            <p:cNvSpPr/>
            <p:nvPr/>
          </p:nvSpPr>
          <p:spPr>
            <a:xfrm flipH="false" flipV="false" rot="0">
              <a:off x="0" y="0"/>
              <a:ext cx="2978714" cy="387388"/>
            </a:xfrm>
            <a:custGeom>
              <a:avLst/>
              <a:gdLst/>
              <a:ahLst/>
              <a:cxnLst/>
              <a:rect r="r" b="b" t="t" l="l"/>
              <a:pathLst>
                <a:path h="387388" w="2978714">
                  <a:moveTo>
                    <a:pt x="0" y="0"/>
                  </a:moveTo>
                  <a:lnTo>
                    <a:pt x="2978714" y="0"/>
                  </a:lnTo>
                  <a:lnTo>
                    <a:pt x="2978714" y="387388"/>
                  </a:lnTo>
                  <a:lnTo>
                    <a:pt x="0" y="38738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17186" r="-10512" b="-113963"/>
              </a:stretch>
            </a:blipFill>
          </p:spPr>
        </p:sp>
        <p:sp>
          <p:nvSpPr>
            <p:cNvPr name="TextBox 157" id="157"/>
            <p:cNvSpPr txBox="true"/>
            <p:nvPr/>
          </p:nvSpPr>
          <p:spPr>
            <a:xfrm>
              <a:off x="0" y="-28575"/>
              <a:ext cx="2978714" cy="415963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740"/>
                </a:lnSpc>
              </a:pPr>
              <a:r>
                <a:rPr lang="en-US" sz="1450" b="true">
                  <a:solidFill>
                    <a:srgbClr val="1F497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Security</a:t>
              </a:r>
            </a:p>
          </p:txBody>
        </p:sp>
      </p:grpSp>
      <p:grpSp>
        <p:nvGrpSpPr>
          <p:cNvPr name="Group 158" id="158"/>
          <p:cNvGrpSpPr/>
          <p:nvPr/>
        </p:nvGrpSpPr>
        <p:grpSpPr>
          <a:xfrm rot="0">
            <a:off x="13882687" y="8855107"/>
            <a:ext cx="3764350" cy="290541"/>
            <a:chOff x="0" y="0"/>
            <a:chExt cx="5019133" cy="387388"/>
          </a:xfrm>
        </p:grpSpPr>
        <p:sp>
          <p:nvSpPr>
            <p:cNvPr name="Freeform 159" id="159"/>
            <p:cNvSpPr/>
            <p:nvPr/>
          </p:nvSpPr>
          <p:spPr>
            <a:xfrm flipH="false" flipV="false" rot="0">
              <a:off x="0" y="0"/>
              <a:ext cx="5019132" cy="387388"/>
            </a:xfrm>
            <a:custGeom>
              <a:avLst/>
              <a:gdLst/>
              <a:ahLst/>
              <a:cxnLst/>
              <a:rect r="r" b="b" t="t" l="l"/>
              <a:pathLst>
                <a:path h="387388" w="5019132">
                  <a:moveTo>
                    <a:pt x="0" y="0"/>
                  </a:moveTo>
                  <a:lnTo>
                    <a:pt x="5019132" y="0"/>
                  </a:lnTo>
                  <a:lnTo>
                    <a:pt x="5019132" y="387388"/>
                  </a:lnTo>
                  <a:lnTo>
                    <a:pt x="0" y="38738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30604" r="-10512" b="-227382"/>
              </a:stretch>
            </a:blipFill>
          </p:spPr>
        </p:sp>
        <p:sp>
          <p:nvSpPr>
            <p:cNvPr name="TextBox 160" id="160"/>
            <p:cNvSpPr txBox="true"/>
            <p:nvPr/>
          </p:nvSpPr>
          <p:spPr>
            <a:xfrm>
              <a:off x="0" y="-28575"/>
              <a:ext cx="5019133" cy="415963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740"/>
                </a:lnSpc>
              </a:pPr>
              <a:r>
                <a:rPr lang="en-US" sz="1450">
                  <a:solidFill>
                    <a:srgbClr val="1E2638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HMAC-SHA256 Telemetry Packet Signatures</a:t>
              </a:r>
            </a:p>
          </p:txBody>
        </p:sp>
      </p:grpSp>
      <p:grpSp>
        <p:nvGrpSpPr>
          <p:cNvPr name="Group 161" id="161"/>
          <p:cNvGrpSpPr/>
          <p:nvPr/>
        </p:nvGrpSpPr>
        <p:grpSpPr>
          <a:xfrm rot="0">
            <a:off x="12126494" y="1947100"/>
            <a:ext cx="5837290" cy="4437412"/>
            <a:chOff x="0" y="0"/>
            <a:chExt cx="11493922" cy="8737490"/>
          </a:xfrm>
        </p:grpSpPr>
        <p:sp>
          <p:nvSpPr>
            <p:cNvPr name="Freeform 162" id="162" descr="phoenix_tactical_drone_render.jpg"/>
            <p:cNvSpPr/>
            <p:nvPr/>
          </p:nvSpPr>
          <p:spPr>
            <a:xfrm flipH="false" flipV="false" rot="0">
              <a:off x="0" y="0"/>
              <a:ext cx="11493973" cy="8737529"/>
            </a:xfrm>
            <a:custGeom>
              <a:avLst/>
              <a:gdLst/>
              <a:ahLst/>
              <a:cxnLst/>
              <a:rect r="r" b="b" t="t" l="l"/>
              <a:pathLst>
                <a:path h="8737529" w="11493973">
                  <a:moveTo>
                    <a:pt x="662999" y="0"/>
                  </a:moveTo>
                  <a:lnTo>
                    <a:pt x="10830975" y="0"/>
                  </a:lnTo>
                  <a:cubicBezTo>
                    <a:pt x="11006813" y="0"/>
                    <a:pt x="11175449" y="69851"/>
                    <a:pt x="11299785" y="194188"/>
                  </a:cubicBezTo>
                  <a:cubicBezTo>
                    <a:pt x="11424121" y="318524"/>
                    <a:pt x="11493973" y="487160"/>
                    <a:pt x="11493973" y="662999"/>
                  </a:cubicBezTo>
                  <a:lnTo>
                    <a:pt x="11493973" y="8074530"/>
                  </a:lnTo>
                  <a:cubicBezTo>
                    <a:pt x="11493973" y="8250368"/>
                    <a:pt x="11424121" y="8419005"/>
                    <a:pt x="11299785" y="8543341"/>
                  </a:cubicBezTo>
                  <a:cubicBezTo>
                    <a:pt x="11175449" y="8667677"/>
                    <a:pt x="11006813" y="8737529"/>
                    <a:pt x="10830975" y="8737529"/>
                  </a:cubicBezTo>
                  <a:lnTo>
                    <a:pt x="662999" y="8737529"/>
                  </a:lnTo>
                  <a:cubicBezTo>
                    <a:pt x="296835" y="8737529"/>
                    <a:pt x="0" y="8440694"/>
                    <a:pt x="0" y="8074530"/>
                  </a:cubicBezTo>
                  <a:lnTo>
                    <a:pt x="0" y="662999"/>
                  </a:lnTo>
                  <a:cubicBezTo>
                    <a:pt x="0" y="487160"/>
                    <a:pt x="69851" y="318524"/>
                    <a:pt x="194188" y="194188"/>
                  </a:cubicBezTo>
                  <a:cubicBezTo>
                    <a:pt x="318524" y="69851"/>
                    <a:pt x="487160" y="0"/>
                    <a:pt x="662999" y="0"/>
                  </a:cubicBezTo>
                  <a:close/>
                </a:path>
              </a:pathLst>
            </a:custGeom>
            <a:blipFill>
              <a:blip r:embed="rId6"/>
              <a:stretch>
                <a:fillRect l="-18100" t="0" r="-18099" b="0"/>
              </a:stretch>
            </a:blipFill>
            <a:ln w="19050" cap="rnd">
              <a:solidFill>
                <a:srgbClr val="1E4A7E"/>
              </a:solidFill>
              <a:prstDash val="solid"/>
              <a:round/>
            </a:ln>
          </p:spPr>
        </p:sp>
      </p:grpSp>
      <p:grpSp>
        <p:nvGrpSpPr>
          <p:cNvPr name="Group 163" id="163"/>
          <p:cNvGrpSpPr/>
          <p:nvPr/>
        </p:nvGrpSpPr>
        <p:grpSpPr>
          <a:xfrm rot="0">
            <a:off x="7065745" y="6567297"/>
            <a:ext cx="4097573" cy="2691003"/>
            <a:chOff x="0" y="0"/>
            <a:chExt cx="10981385" cy="7211815"/>
          </a:xfrm>
        </p:grpSpPr>
        <p:sp>
          <p:nvSpPr>
            <p:cNvPr name="Freeform 164" id="164" descr="gimbal_sensor_macro_render.jpg"/>
            <p:cNvSpPr/>
            <p:nvPr/>
          </p:nvSpPr>
          <p:spPr>
            <a:xfrm flipH="false" flipV="false" rot="0">
              <a:off x="0" y="0"/>
              <a:ext cx="10981436" cy="7211853"/>
            </a:xfrm>
            <a:custGeom>
              <a:avLst/>
              <a:gdLst/>
              <a:ahLst/>
              <a:cxnLst/>
              <a:rect r="r" b="b" t="t" l="l"/>
              <a:pathLst>
                <a:path h="7211853" w="10981436">
                  <a:moveTo>
                    <a:pt x="382901" y="0"/>
                  </a:moveTo>
                  <a:lnTo>
                    <a:pt x="10598534" y="0"/>
                  </a:lnTo>
                  <a:cubicBezTo>
                    <a:pt x="10700086" y="0"/>
                    <a:pt x="10797479" y="40341"/>
                    <a:pt x="10869287" y="112149"/>
                  </a:cubicBezTo>
                  <a:cubicBezTo>
                    <a:pt x="10941095" y="183957"/>
                    <a:pt x="10981436" y="281349"/>
                    <a:pt x="10981436" y="382901"/>
                  </a:cubicBezTo>
                  <a:lnTo>
                    <a:pt x="10981436" y="6828951"/>
                  </a:lnTo>
                  <a:cubicBezTo>
                    <a:pt x="10981436" y="6930503"/>
                    <a:pt x="10941095" y="7027896"/>
                    <a:pt x="10869287" y="7099704"/>
                  </a:cubicBezTo>
                  <a:cubicBezTo>
                    <a:pt x="10797479" y="7171512"/>
                    <a:pt x="10700086" y="7211853"/>
                    <a:pt x="10598534" y="7211853"/>
                  </a:cubicBezTo>
                  <a:lnTo>
                    <a:pt x="382901" y="7211853"/>
                  </a:lnTo>
                  <a:cubicBezTo>
                    <a:pt x="281349" y="7211853"/>
                    <a:pt x="183957" y="7171512"/>
                    <a:pt x="112149" y="7099704"/>
                  </a:cubicBezTo>
                  <a:cubicBezTo>
                    <a:pt x="40341" y="7027896"/>
                    <a:pt x="0" y="6930503"/>
                    <a:pt x="0" y="6828951"/>
                  </a:cubicBezTo>
                  <a:lnTo>
                    <a:pt x="0" y="382901"/>
                  </a:lnTo>
                  <a:cubicBezTo>
                    <a:pt x="0" y="281349"/>
                    <a:pt x="40341" y="183957"/>
                    <a:pt x="112149" y="112149"/>
                  </a:cubicBezTo>
                  <a:cubicBezTo>
                    <a:pt x="183957" y="40341"/>
                    <a:pt x="281349" y="0"/>
                    <a:pt x="382901" y="0"/>
                  </a:cubicBezTo>
                  <a:close/>
                </a:path>
              </a:pathLst>
            </a:custGeom>
            <a:blipFill>
              <a:blip r:embed="rId7"/>
              <a:stretch>
                <a:fillRect l="-8832" t="0" r="-8832" b="0"/>
              </a:stretch>
            </a:blipFill>
            <a:ln w="19050" cap="sq">
              <a:solidFill>
                <a:srgbClr val="1E4A7E"/>
              </a:solidFill>
              <a:prstDash val="solid"/>
              <a:miter/>
            </a:ln>
          </p:spPr>
        </p:sp>
      </p:grp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9532144"/>
            <a:ext cx="18288000" cy="754856"/>
            <a:chOff x="0" y="0"/>
            <a:chExt cx="24384000" cy="1006475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84000" cy="1006475"/>
            </a:xfrm>
            <a:custGeom>
              <a:avLst/>
              <a:gdLst/>
              <a:ahLst/>
              <a:cxnLst/>
              <a:rect r="r" b="b" t="t" l="l"/>
              <a:pathLst>
                <a:path h="1006475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006475"/>
                  </a:lnTo>
                  <a:lnTo>
                    <a:pt x="0" y="1006475"/>
                  </a:lnTo>
                  <a:close/>
                </a:path>
              </a:pathLst>
            </a:custGeom>
            <a:solidFill>
              <a:srgbClr val="0070C0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914400" y="-71438"/>
            <a:ext cx="16459200" cy="1714500"/>
            <a:chOff x="0" y="0"/>
            <a:chExt cx="21945600" cy="228600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1945600" cy="2286000"/>
            </a:xfrm>
            <a:custGeom>
              <a:avLst/>
              <a:gdLst/>
              <a:ahLst/>
              <a:cxnLst/>
              <a:rect r="r" b="b" t="t" l="l"/>
              <a:pathLst>
                <a:path h="2286000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2286000"/>
                  </a:lnTo>
                  <a:lnTo>
                    <a:pt x="0" y="22860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37056" r="0" b="-137056"/>
              </a:stretch>
            </a:blipFill>
          </p:spPr>
        </p:sp>
        <p:sp>
          <p:nvSpPr>
            <p:cNvPr name="TextBox 6" id="6"/>
            <p:cNvSpPr txBox="true"/>
            <p:nvPr/>
          </p:nvSpPr>
          <p:spPr>
            <a:xfrm>
              <a:off x="0" y="-28575"/>
              <a:ext cx="21945600" cy="231457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6480"/>
                </a:lnSpc>
              </a:pPr>
              <a:r>
                <a:rPr lang="en-US" sz="5400" b="true">
                  <a:solidFill>
                    <a:srgbClr val="000000"/>
                  </a:solidFill>
                  <a:latin typeface="Times New Roman Bold"/>
                  <a:ea typeface="Times New Roman Bold"/>
                  <a:cs typeface="Times New Roman Bold"/>
                  <a:sym typeface="Times New Roman Bold"/>
                </a:rPr>
                <a:t>FEASIBILITY AND VIABILITY</a:t>
              </a:r>
            </a:p>
          </p:txBody>
        </p:sp>
      </p:grpSp>
      <p:grpSp>
        <p:nvGrpSpPr>
          <p:cNvPr name="Group 7" id="7"/>
          <p:cNvGrpSpPr/>
          <p:nvPr/>
        </p:nvGrpSpPr>
        <p:grpSpPr>
          <a:xfrm rot="0">
            <a:off x="13106400" y="9534525"/>
            <a:ext cx="4267200" cy="547688"/>
            <a:chOff x="0" y="0"/>
            <a:chExt cx="5689600" cy="73025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5689600" cy="730250"/>
            </a:xfrm>
            <a:custGeom>
              <a:avLst/>
              <a:gdLst/>
              <a:ahLst/>
              <a:cxnLst/>
              <a:rect r="r" b="b" t="t" l="l"/>
              <a:pathLst>
                <a:path h="730250" w="5689600">
                  <a:moveTo>
                    <a:pt x="0" y="0"/>
                  </a:moveTo>
                  <a:lnTo>
                    <a:pt x="5689600" y="0"/>
                  </a:lnTo>
                  <a:lnTo>
                    <a:pt x="5689600" y="730250"/>
                  </a:lnTo>
                  <a:lnTo>
                    <a:pt x="0" y="73025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01813" r="0" b="-101813"/>
              </a:stretch>
            </a:blipFill>
          </p:spPr>
        </p:sp>
        <p:sp>
          <p:nvSpPr>
            <p:cNvPr name="TextBox 9" id="9"/>
            <p:cNvSpPr txBox="true"/>
            <p:nvPr/>
          </p:nvSpPr>
          <p:spPr>
            <a:xfrm>
              <a:off x="0" y="-19050"/>
              <a:ext cx="5689600" cy="74930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r">
                <a:lnSpc>
                  <a:spcPts val="2160"/>
                </a:lnSpc>
              </a:pPr>
              <a:r>
                <a:rPr lang="en-US" b="true" sz="1800">
                  <a:solidFill>
                    <a:srgbClr val="FFFFFF"/>
                  </a:solidFill>
                  <a:latin typeface="Arimo Bold"/>
                  <a:ea typeface="Arimo Bold"/>
                  <a:cs typeface="Arimo Bold"/>
                  <a:sym typeface="Arimo Bold"/>
                </a:rPr>
                <a:t>4</a:t>
              </a: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14670129" y="2248"/>
            <a:ext cx="3374774" cy="1593504"/>
            <a:chOff x="0" y="0"/>
            <a:chExt cx="4499699" cy="2124672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4499737" cy="2124710"/>
            </a:xfrm>
            <a:custGeom>
              <a:avLst/>
              <a:gdLst/>
              <a:ahLst/>
              <a:cxnLst/>
              <a:rect r="r" b="b" t="t" l="l"/>
              <a:pathLst>
                <a:path h="2124710" w="4499737">
                  <a:moveTo>
                    <a:pt x="0" y="0"/>
                  </a:moveTo>
                  <a:lnTo>
                    <a:pt x="4499737" y="0"/>
                  </a:lnTo>
                  <a:lnTo>
                    <a:pt x="4499737" y="2124710"/>
                  </a:lnTo>
                  <a:lnTo>
                    <a:pt x="0" y="212471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0" t="0" r="0" b="1"/>
              </a:stretch>
            </a:blipFill>
          </p:spPr>
        </p:sp>
      </p:grpSp>
      <p:grpSp>
        <p:nvGrpSpPr>
          <p:cNvPr name="Group 12" id="12"/>
          <p:cNvGrpSpPr/>
          <p:nvPr/>
        </p:nvGrpSpPr>
        <p:grpSpPr>
          <a:xfrm rot="0">
            <a:off x="603504" y="315468"/>
            <a:ext cx="2263140" cy="740664"/>
            <a:chOff x="0" y="0"/>
            <a:chExt cx="3017520" cy="987552"/>
          </a:xfrm>
        </p:grpSpPr>
        <p:sp>
          <p:nvSpPr>
            <p:cNvPr name="Freeform 13" id="13" descr="Phoenix team logo"/>
            <p:cNvSpPr/>
            <p:nvPr/>
          </p:nvSpPr>
          <p:spPr>
            <a:xfrm flipH="false" flipV="false" rot="0">
              <a:off x="0" y="0"/>
              <a:ext cx="3017520" cy="987552"/>
            </a:xfrm>
            <a:custGeom>
              <a:avLst/>
              <a:gdLst/>
              <a:ahLst/>
              <a:cxnLst/>
              <a:rect r="r" b="b" t="t" l="l"/>
              <a:pathLst>
                <a:path h="987552" w="3017520">
                  <a:moveTo>
                    <a:pt x="0" y="0"/>
                  </a:moveTo>
                  <a:lnTo>
                    <a:pt x="3017520" y="0"/>
                  </a:lnTo>
                  <a:lnTo>
                    <a:pt x="3017520" y="987552"/>
                  </a:lnTo>
                  <a:lnTo>
                    <a:pt x="0" y="98755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-33" t="0" r="-33" b="0"/>
              </a:stretch>
            </a:blipFill>
          </p:spPr>
        </p:sp>
      </p:grpSp>
      <p:grpSp>
        <p:nvGrpSpPr>
          <p:cNvPr name="Group 14" id="14"/>
          <p:cNvGrpSpPr/>
          <p:nvPr/>
        </p:nvGrpSpPr>
        <p:grpSpPr>
          <a:xfrm rot="0">
            <a:off x="548640" y="9532620"/>
            <a:ext cx="6515100" cy="754380"/>
            <a:chOff x="0" y="0"/>
            <a:chExt cx="8686800" cy="100584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8686800" cy="1005840"/>
            </a:xfrm>
            <a:custGeom>
              <a:avLst/>
              <a:gdLst/>
              <a:ahLst/>
              <a:cxnLst/>
              <a:rect r="r" b="b" t="t" l="l"/>
              <a:pathLst>
                <a:path h="1005840" w="8686800">
                  <a:moveTo>
                    <a:pt x="0" y="0"/>
                  </a:moveTo>
                  <a:lnTo>
                    <a:pt x="8686800" y="0"/>
                  </a:lnTo>
                  <a:lnTo>
                    <a:pt x="8686800" y="1005840"/>
                  </a:lnTo>
                  <a:lnTo>
                    <a:pt x="0" y="10058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18279" r="0" b="-118279"/>
              </a:stretch>
            </a:blipFill>
          </p:spPr>
        </p:sp>
        <p:sp>
          <p:nvSpPr>
            <p:cNvPr name="TextBox 16" id="16"/>
            <p:cNvSpPr txBox="true"/>
            <p:nvPr/>
          </p:nvSpPr>
          <p:spPr>
            <a:xfrm>
              <a:off x="0" y="-28575"/>
              <a:ext cx="8686800" cy="103441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PROJECT PHOENIX: Autonomous Multi-Spectral Edge-AI UAV  |  SIH26177 (Qualcomm Inc.)</a:t>
              </a:r>
            </a:p>
          </p:txBody>
        </p:sp>
      </p:grpSp>
      <p:grpSp>
        <p:nvGrpSpPr>
          <p:cNvPr name="Group 17" id="17"/>
          <p:cNvGrpSpPr/>
          <p:nvPr/>
        </p:nvGrpSpPr>
        <p:grpSpPr>
          <a:xfrm rot="0">
            <a:off x="918972" y="1275588"/>
            <a:ext cx="16459200" cy="466344"/>
            <a:chOff x="0" y="0"/>
            <a:chExt cx="21945600" cy="621792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21945600" cy="621792"/>
            </a:xfrm>
            <a:custGeom>
              <a:avLst/>
              <a:gdLst/>
              <a:ahLst/>
              <a:cxnLst/>
              <a:rect r="r" b="b" t="t" l="l"/>
              <a:pathLst>
                <a:path h="621792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621792"/>
                  </a:lnTo>
                  <a:lnTo>
                    <a:pt x="0" y="62179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637707" r="0" b="-637707"/>
              </a:stretch>
            </a:blipFill>
          </p:spPr>
        </p:sp>
        <p:sp>
          <p:nvSpPr>
            <p:cNvPr name="TextBox 19" id="19"/>
            <p:cNvSpPr txBox="true"/>
            <p:nvPr/>
          </p:nvSpPr>
          <p:spPr>
            <a:xfrm>
              <a:off x="0" y="-38100"/>
              <a:ext cx="21945600" cy="65989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879"/>
                </a:lnSpc>
              </a:pPr>
              <a:r>
                <a:rPr lang="en-US" sz="2400" b="true">
                  <a:solidFill>
                    <a:srgbClr val="0070C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Feasibility, Challenges-to-Strategies &amp; Market Viability</a:t>
              </a:r>
            </a:p>
          </p:txBody>
        </p:sp>
      </p:grpSp>
      <p:grpSp>
        <p:nvGrpSpPr>
          <p:cNvPr name="Group 20" id="20"/>
          <p:cNvGrpSpPr/>
          <p:nvPr/>
        </p:nvGrpSpPr>
        <p:grpSpPr>
          <a:xfrm rot="0">
            <a:off x="815816" y="1940528"/>
            <a:ext cx="4952047" cy="7393496"/>
            <a:chOff x="0" y="0"/>
            <a:chExt cx="6602730" cy="9857994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6602730" cy="9857994"/>
            </a:xfrm>
            <a:custGeom>
              <a:avLst/>
              <a:gdLst/>
              <a:ahLst/>
              <a:cxnLst/>
              <a:rect r="r" b="b" t="t" l="l"/>
              <a:pathLst>
                <a:path h="9857994" w="6602730">
                  <a:moveTo>
                    <a:pt x="0" y="256667"/>
                  </a:moveTo>
                  <a:cubicBezTo>
                    <a:pt x="0" y="114935"/>
                    <a:pt x="114935" y="0"/>
                    <a:pt x="256667" y="0"/>
                  </a:cubicBezTo>
                  <a:lnTo>
                    <a:pt x="6346063" y="0"/>
                  </a:lnTo>
                  <a:cubicBezTo>
                    <a:pt x="6487795" y="0"/>
                    <a:pt x="6602730" y="114935"/>
                    <a:pt x="6602730" y="256667"/>
                  </a:cubicBezTo>
                  <a:lnTo>
                    <a:pt x="6602730" y="9601327"/>
                  </a:lnTo>
                  <a:cubicBezTo>
                    <a:pt x="6602730" y="9743059"/>
                    <a:pt x="6487795" y="9857994"/>
                    <a:pt x="6346063" y="9857994"/>
                  </a:cubicBezTo>
                  <a:lnTo>
                    <a:pt x="256667" y="9857994"/>
                  </a:lnTo>
                  <a:cubicBezTo>
                    <a:pt x="114935" y="9857994"/>
                    <a:pt x="0" y="9743059"/>
                    <a:pt x="0" y="9601327"/>
                  </a:cubicBezTo>
                  <a:close/>
                </a:path>
              </a:pathLst>
            </a:custGeom>
            <a:solidFill>
              <a:srgbClr val="F4F8FC"/>
            </a:solidFill>
            <a:ln w="14288" cap="sq">
              <a:solidFill>
                <a:srgbClr val="D6E1EE"/>
              </a:solidFill>
              <a:prstDash val="solid"/>
              <a:miter/>
            </a:ln>
          </p:spPr>
        </p:sp>
      </p:grpSp>
      <p:grpSp>
        <p:nvGrpSpPr>
          <p:cNvPr name="Group 22" id="22"/>
          <p:cNvGrpSpPr/>
          <p:nvPr/>
        </p:nvGrpSpPr>
        <p:grpSpPr>
          <a:xfrm rot="0">
            <a:off x="5987701" y="1940528"/>
            <a:ext cx="5569268" cy="7393496"/>
            <a:chOff x="0" y="0"/>
            <a:chExt cx="7425690" cy="9857994"/>
          </a:xfrm>
        </p:grpSpPr>
        <p:sp>
          <p:nvSpPr>
            <p:cNvPr name="Freeform 23" id="23"/>
            <p:cNvSpPr/>
            <p:nvPr/>
          </p:nvSpPr>
          <p:spPr>
            <a:xfrm flipH="false" flipV="false" rot="0">
              <a:off x="0" y="0"/>
              <a:ext cx="7425690" cy="9857994"/>
            </a:xfrm>
            <a:custGeom>
              <a:avLst/>
              <a:gdLst/>
              <a:ahLst/>
              <a:cxnLst/>
              <a:rect r="r" b="b" t="t" l="l"/>
              <a:pathLst>
                <a:path h="9857994" w="7425690">
                  <a:moveTo>
                    <a:pt x="0" y="256667"/>
                  </a:moveTo>
                  <a:cubicBezTo>
                    <a:pt x="0" y="114935"/>
                    <a:pt x="114935" y="0"/>
                    <a:pt x="256667" y="0"/>
                  </a:cubicBezTo>
                  <a:lnTo>
                    <a:pt x="7169023" y="0"/>
                  </a:lnTo>
                  <a:cubicBezTo>
                    <a:pt x="7310755" y="0"/>
                    <a:pt x="7425690" y="114935"/>
                    <a:pt x="7425690" y="256667"/>
                  </a:cubicBezTo>
                  <a:lnTo>
                    <a:pt x="7425690" y="9601327"/>
                  </a:lnTo>
                  <a:cubicBezTo>
                    <a:pt x="7425690" y="9743059"/>
                    <a:pt x="7310755" y="9857994"/>
                    <a:pt x="7169023" y="9857994"/>
                  </a:cubicBezTo>
                  <a:lnTo>
                    <a:pt x="256667" y="9857994"/>
                  </a:lnTo>
                  <a:cubicBezTo>
                    <a:pt x="114935" y="9857994"/>
                    <a:pt x="0" y="9743059"/>
                    <a:pt x="0" y="9601327"/>
                  </a:cubicBezTo>
                  <a:close/>
                </a:path>
              </a:pathLst>
            </a:custGeom>
            <a:solidFill>
              <a:srgbClr val="14345C"/>
            </a:solidFill>
            <a:ln w="14288" cap="sq">
              <a:solidFill>
                <a:srgbClr val="14345C"/>
              </a:solidFill>
              <a:prstDash val="solid"/>
              <a:miter/>
            </a:ln>
          </p:spPr>
        </p:sp>
      </p:grpSp>
      <p:grpSp>
        <p:nvGrpSpPr>
          <p:cNvPr name="Group 24" id="24"/>
          <p:cNvGrpSpPr/>
          <p:nvPr/>
        </p:nvGrpSpPr>
        <p:grpSpPr>
          <a:xfrm rot="0">
            <a:off x="11747468" y="1940528"/>
            <a:ext cx="5720144" cy="7393496"/>
            <a:chOff x="0" y="0"/>
            <a:chExt cx="7626858" cy="9857994"/>
          </a:xfrm>
        </p:grpSpPr>
        <p:sp>
          <p:nvSpPr>
            <p:cNvPr name="Freeform 25" id="25"/>
            <p:cNvSpPr/>
            <p:nvPr/>
          </p:nvSpPr>
          <p:spPr>
            <a:xfrm flipH="false" flipV="false" rot="0">
              <a:off x="0" y="0"/>
              <a:ext cx="7626858" cy="9857994"/>
            </a:xfrm>
            <a:custGeom>
              <a:avLst/>
              <a:gdLst/>
              <a:ahLst/>
              <a:cxnLst/>
              <a:rect r="r" b="b" t="t" l="l"/>
              <a:pathLst>
                <a:path h="9857994" w="7626858">
                  <a:moveTo>
                    <a:pt x="0" y="256667"/>
                  </a:moveTo>
                  <a:cubicBezTo>
                    <a:pt x="0" y="114935"/>
                    <a:pt x="114935" y="0"/>
                    <a:pt x="256667" y="0"/>
                  </a:cubicBezTo>
                  <a:lnTo>
                    <a:pt x="7370191" y="0"/>
                  </a:lnTo>
                  <a:cubicBezTo>
                    <a:pt x="7511923" y="0"/>
                    <a:pt x="7626858" y="114935"/>
                    <a:pt x="7626858" y="256667"/>
                  </a:cubicBezTo>
                  <a:lnTo>
                    <a:pt x="7626858" y="9601327"/>
                  </a:lnTo>
                  <a:cubicBezTo>
                    <a:pt x="7626858" y="9743059"/>
                    <a:pt x="7511923" y="9857994"/>
                    <a:pt x="7370191" y="9857994"/>
                  </a:cubicBezTo>
                  <a:lnTo>
                    <a:pt x="256667" y="9857994"/>
                  </a:lnTo>
                  <a:cubicBezTo>
                    <a:pt x="114935" y="9857994"/>
                    <a:pt x="0" y="9743059"/>
                    <a:pt x="0" y="9601327"/>
                  </a:cubicBezTo>
                  <a:close/>
                </a:path>
              </a:pathLst>
            </a:custGeom>
            <a:solidFill>
              <a:srgbClr val="F4F8FC"/>
            </a:solidFill>
            <a:ln w="14288" cap="sq">
              <a:solidFill>
                <a:srgbClr val="D6E1EE"/>
              </a:solidFill>
              <a:prstDash val="solid"/>
              <a:miter/>
            </a:ln>
          </p:spPr>
        </p:sp>
      </p:grpSp>
      <p:grpSp>
        <p:nvGrpSpPr>
          <p:cNvPr name="Group 26" id="26"/>
          <p:cNvGrpSpPr/>
          <p:nvPr/>
        </p:nvGrpSpPr>
        <p:grpSpPr>
          <a:xfrm rot="0">
            <a:off x="1124712" y="2194560"/>
            <a:ext cx="2065220" cy="411480"/>
            <a:chOff x="0" y="0"/>
            <a:chExt cx="2753627" cy="548640"/>
          </a:xfrm>
        </p:grpSpPr>
        <p:sp>
          <p:nvSpPr>
            <p:cNvPr name="Freeform 27" id="27"/>
            <p:cNvSpPr/>
            <p:nvPr/>
          </p:nvSpPr>
          <p:spPr>
            <a:xfrm flipH="false" flipV="false" rot="0">
              <a:off x="0" y="0"/>
              <a:ext cx="2753614" cy="548640"/>
            </a:xfrm>
            <a:custGeom>
              <a:avLst/>
              <a:gdLst/>
              <a:ahLst/>
              <a:cxnLst/>
              <a:rect r="r" b="b" t="t" l="l"/>
              <a:pathLst>
                <a:path h="548640" w="2753614">
                  <a:moveTo>
                    <a:pt x="0" y="274320"/>
                  </a:moveTo>
                  <a:cubicBezTo>
                    <a:pt x="0" y="122809"/>
                    <a:pt x="122809" y="0"/>
                    <a:pt x="274320" y="0"/>
                  </a:cubicBezTo>
                  <a:lnTo>
                    <a:pt x="2479294" y="0"/>
                  </a:lnTo>
                  <a:cubicBezTo>
                    <a:pt x="2630805" y="0"/>
                    <a:pt x="2753614" y="122809"/>
                    <a:pt x="2753614" y="274320"/>
                  </a:cubicBezTo>
                  <a:cubicBezTo>
                    <a:pt x="2753614" y="425831"/>
                    <a:pt x="2630805" y="548640"/>
                    <a:pt x="2479294" y="548640"/>
                  </a:cubicBezTo>
                  <a:lnTo>
                    <a:pt x="274320" y="548640"/>
                  </a:lnTo>
                  <a:cubicBezTo>
                    <a:pt x="122809" y="548640"/>
                    <a:pt x="0" y="425831"/>
                    <a:pt x="0" y="274320"/>
                  </a:cubicBezTo>
                  <a:close/>
                </a:path>
              </a:pathLst>
            </a:custGeom>
            <a:solidFill>
              <a:srgbClr val="E1EEF9"/>
            </a:solidFill>
          </p:spPr>
        </p:sp>
      </p:grpSp>
      <p:grpSp>
        <p:nvGrpSpPr>
          <p:cNvPr name="Group 28" id="28"/>
          <p:cNvGrpSpPr/>
          <p:nvPr/>
        </p:nvGrpSpPr>
        <p:grpSpPr>
          <a:xfrm rot="0">
            <a:off x="1124712" y="2194560"/>
            <a:ext cx="2065220" cy="411480"/>
            <a:chOff x="0" y="0"/>
            <a:chExt cx="2753627" cy="548640"/>
          </a:xfrm>
        </p:grpSpPr>
        <p:sp>
          <p:nvSpPr>
            <p:cNvPr name="Freeform 29" id="29"/>
            <p:cNvSpPr/>
            <p:nvPr/>
          </p:nvSpPr>
          <p:spPr>
            <a:xfrm flipH="false" flipV="false" rot="0">
              <a:off x="0" y="0"/>
              <a:ext cx="2753624" cy="548640"/>
            </a:xfrm>
            <a:custGeom>
              <a:avLst/>
              <a:gdLst/>
              <a:ahLst/>
              <a:cxnLst/>
              <a:rect r="r" b="b" t="t" l="l"/>
              <a:pathLst>
                <a:path h="548640" w="2753624">
                  <a:moveTo>
                    <a:pt x="0" y="0"/>
                  </a:moveTo>
                  <a:lnTo>
                    <a:pt x="2753624" y="0"/>
                  </a:lnTo>
                  <a:lnTo>
                    <a:pt x="2753624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47795" r="0" b="-47795"/>
              </a:stretch>
            </a:blipFill>
          </p:spPr>
        </p:sp>
        <p:sp>
          <p:nvSpPr>
            <p:cNvPr name="TextBox 30" id="30"/>
            <p:cNvSpPr txBox="true"/>
            <p:nvPr/>
          </p:nvSpPr>
          <p:spPr>
            <a:xfrm>
              <a:off x="0" y="-19050"/>
              <a:ext cx="2753627" cy="56769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889"/>
                </a:lnSpc>
              </a:pPr>
              <a:r>
                <a:rPr lang="en-US" b="true" sz="1575" spc="224">
                  <a:solidFill>
                    <a:srgbClr val="0070C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FEASIBILITY</a:t>
              </a:r>
            </a:p>
          </p:txBody>
        </p:sp>
      </p:grpSp>
      <p:grpSp>
        <p:nvGrpSpPr>
          <p:cNvPr name="Group 31" id="31"/>
          <p:cNvGrpSpPr/>
          <p:nvPr/>
        </p:nvGrpSpPr>
        <p:grpSpPr>
          <a:xfrm rot="0">
            <a:off x="1124712" y="2880360"/>
            <a:ext cx="411480" cy="411480"/>
            <a:chOff x="0" y="0"/>
            <a:chExt cx="548640" cy="548640"/>
          </a:xfrm>
        </p:grpSpPr>
        <p:sp>
          <p:nvSpPr>
            <p:cNvPr name="Freeform 32" id="32"/>
            <p:cNvSpPr/>
            <p:nvPr/>
          </p:nvSpPr>
          <p:spPr>
            <a:xfrm flipH="false" flipV="false" rot="0">
              <a:off x="0" y="0"/>
              <a:ext cx="548640" cy="548640"/>
            </a:xfrm>
            <a:custGeom>
              <a:avLst/>
              <a:gdLst/>
              <a:ahLst/>
              <a:cxnLst/>
              <a:rect r="r" b="b" t="t" l="l"/>
              <a:pathLst>
                <a:path h="548640" w="548640">
                  <a:moveTo>
                    <a:pt x="0" y="274320"/>
                  </a:moveTo>
                  <a:cubicBezTo>
                    <a:pt x="0" y="122809"/>
                    <a:pt x="122809" y="0"/>
                    <a:pt x="274320" y="0"/>
                  </a:cubicBezTo>
                  <a:cubicBezTo>
                    <a:pt x="425831" y="0"/>
                    <a:pt x="548640" y="122809"/>
                    <a:pt x="548640" y="274320"/>
                  </a:cubicBezTo>
                  <a:cubicBezTo>
                    <a:pt x="548640" y="425831"/>
                    <a:pt x="425831" y="548640"/>
                    <a:pt x="274320" y="548640"/>
                  </a:cubicBezTo>
                  <a:cubicBezTo>
                    <a:pt x="122809" y="548640"/>
                    <a:pt x="0" y="425831"/>
                    <a:pt x="0" y="274320"/>
                  </a:cubicBezTo>
                  <a:close/>
                </a:path>
              </a:pathLst>
            </a:custGeom>
            <a:solidFill>
              <a:srgbClr val="FDEEDD"/>
            </a:solidFill>
          </p:spPr>
        </p:sp>
      </p:grpSp>
      <p:grpSp>
        <p:nvGrpSpPr>
          <p:cNvPr name="Group 33" id="33"/>
          <p:cNvGrpSpPr/>
          <p:nvPr/>
        </p:nvGrpSpPr>
        <p:grpSpPr>
          <a:xfrm rot="0">
            <a:off x="1227582" y="2983230"/>
            <a:ext cx="205740" cy="205740"/>
            <a:chOff x="0" y="0"/>
            <a:chExt cx="274320" cy="274320"/>
          </a:xfrm>
        </p:grpSpPr>
        <p:sp>
          <p:nvSpPr>
            <p:cNvPr name="Freeform 34" id="34" descr="Technical Feasibility icon"/>
            <p:cNvSpPr/>
            <p:nvPr/>
          </p:nvSpPr>
          <p:spPr>
            <a:xfrm flipH="false" flipV="false" rot="0">
              <a:off x="0" y="0"/>
              <a:ext cx="274320" cy="274320"/>
            </a:xfrm>
            <a:custGeom>
              <a:avLst/>
              <a:gdLst/>
              <a:ahLst/>
              <a:cxnLst/>
              <a:rect r="r" b="b" t="t" l="l"/>
              <a:pathLst>
                <a:path h="274320" w="274320">
                  <a:moveTo>
                    <a:pt x="0" y="0"/>
                  </a:moveTo>
                  <a:lnTo>
                    <a:pt x="274320" y="0"/>
                  </a:lnTo>
                  <a:lnTo>
                    <a:pt x="274320" y="274320"/>
                  </a:lnTo>
                  <a:lnTo>
                    <a:pt x="0" y="27432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l="0" t="0" r="0" b="0"/>
              </a:stretch>
            </a:blipFill>
          </p:spPr>
        </p:sp>
      </p:grpSp>
      <p:grpSp>
        <p:nvGrpSpPr>
          <p:cNvPr name="Group 35" id="35"/>
          <p:cNvGrpSpPr/>
          <p:nvPr/>
        </p:nvGrpSpPr>
        <p:grpSpPr>
          <a:xfrm rot="0">
            <a:off x="1673352" y="2880360"/>
            <a:ext cx="4114800" cy="411480"/>
            <a:chOff x="0" y="0"/>
            <a:chExt cx="5486400" cy="548640"/>
          </a:xfrm>
        </p:grpSpPr>
        <p:sp>
          <p:nvSpPr>
            <p:cNvPr name="Freeform 36" id="36"/>
            <p:cNvSpPr/>
            <p:nvPr/>
          </p:nvSpPr>
          <p:spPr>
            <a:xfrm flipH="false" flipV="false" rot="0">
              <a:off x="0" y="0"/>
              <a:ext cx="5486400" cy="548640"/>
            </a:xfrm>
            <a:custGeom>
              <a:avLst/>
              <a:gdLst/>
              <a:ahLst/>
              <a:cxnLst/>
              <a:rect r="r" b="b" t="t" l="l"/>
              <a:pathLst>
                <a:path h="548640" w="5486400">
                  <a:moveTo>
                    <a:pt x="0" y="0"/>
                  </a:moveTo>
                  <a:lnTo>
                    <a:pt x="5486400" y="0"/>
                  </a:lnTo>
                  <a:lnTo>
                    <a:pt x="548640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44850" r="0" b="-144850"/>
              </a:stretch>
            </a:blipFill>
          </p:spPr>
        </p:sp>
        <p:sp>
          <p:nvSpPr>
            <p:cNvPr name="TextBox 37" id="37"/>
            <p:cNvSpPr txBox="true"/>
            <p:nvPr/>
          </p:nvSpPr>
          <p:spPr>
            <a:xfrm>
              <a:off x="0" y="-28575"/>
              <a:ext cx="5486400" cy="57721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980"/>
                </a:lnSpc>
              </a:pPr>
              <a:r>
                <a:rPr lang="en-US" b="true" sz="1650" spc="120">
                  <a:solidFill>
                    <a:srgbClr val="B35A0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TECHNICAL FEASIBILITY</a:t>
              </a:r>
            </a:p>
          </p:txBody>
        </p:sp>
      </p:grpSp>
      <p:sp>
        <p:nvSpPr>
          <p:cNvPr name="TextBox 38" id="38"/>
          <p:cNvSpPr txBox="true"/>
          <p:nvPr/>
        </p:nvSpPr>
        <p:spPr>
          <a:xfrm rot="0">
            <a:off x="1124712" y="3349752"/>
            <a:ext cx="4334256" cy="158126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312182" indent="-156091" lvl="1">
              <a:lnSpc>
                <a:spcPts val="2070"/>
              </a:lnSpc>
              <a:buFont typeface="Arial"/>
              <a:buChar char="•"/>
            </a:pPr>
            <a:r>
              <a:rPr sz="1600" b="0" i="0">
                <a:solidFill>
                  <a:srgbClr val="1E2638"/>
                </a:solidFill>
                <a:latin typeface="Calibri"/>
              </a:rPr>
              <a:t>Propulsion Sizing: 38% battery mass fraction, β ≥ 2.0 thrust-to-weight ratio.</a:t>
            </a:r>
          </a:p>
          <a:p>
            <a:r>
              <a:rPr sz="1600" b="0" i="0">
                <a:solidFill>
                  <a:srgbClr val="1E2638"/>
                </a:solidFill>
                <a:latin typeface="Calibri"/>
              </a:rPr>
              <a:t>Aircraft Mass: 1.58 kg measured mass budget (Compliant with DGCA Micro-UAV &lt; 2.0 kg).</a:t>
            </a:r>
          </a:p>
          <a:p>
            <a:r>
              <a:rPr sz="1600" b="0" i="0">
                <a:solidFill>
                  <a:srgbClr val="1E2638"/>
                </a:solidFill>
                <a:latin typeface="Calibri"/>
              </a:rPr>
              <a:t>Electronics Budget: Sub-5 W onboard compute &amp; sensing stack, minimizing non-propulsion energy draw.</a:t>
            </a:r>
          </a:p>
        </p:txBody>
      </p:sp>
      <p:grpSp>
        <p:nvGrpSpPr>
          <p:cNvPr name="Group 39" id="39"/>
          <p:cNvGrpSpPr/>
          <p:nvPr/>
        </p:nvGrpSpPr>
        <p:grpSpPr>
          <a:xfrm rot="0">
            <a:off x="1086136" y="5317046"/>
            <a:ext cx="411480" cy="411480"/>
            <a:chOff x="0" y="0"/>
            <a:chExt cx="548640" cy="548640"/>
          </a:xfrm>
        </p:grpSpPr>
        <p:sp>
          <p:nvSpPr>
            <p:cNvPr name="Freeform 40" id="40"/>
            <p:cNvSpPr/>
            <p:nvPr/>
          </p:nvSpPr>
          <p:spPr>
            <a:xfrm flipH="false" flipV="false" rot="0">
              <a:off x="0" y="0"/>
              <a:ext cx="548640" cy="548640"/>
            </a:xfrm>
            <a:custGeom>
              <a:avLst/>
              <a:gdLst/>
              <a:ahLst/>
              <a:cxnLst/>
              <a:rect r="r" b="b" t="t" l="l"/>
              <a:pathLst>
                <a:path h="548640" w="548640">
                  <a:moveTo>
                    <a:pt x="0" y="274320"/>
                  </a:moveTo>
                  <a:cubicBezTo>
                    <a:pt x="0" y="122809"/>
                    <a:pt x="122809" y="0"/>
                    <a:pt x="274320" y="0"/>
                  </a:cubicBezTo>
                  <a:cubicBezTo>
                    <a:pt x="425831" y="0"/>
                    <a:pt x="548640" y="122809"/>
                    <a:pt x="548640" y="274320"/>
                  </a:cubicBezTo>
                  <a:cubicBezTo>
                    <a:pt x="548640" y="425831"/>
                    <a:pt x="425831" y="548640"/>
                    <a:pt x="274320" y="548640"/>
                  </a:cubicBezTo>
                  <a:cubicBezTo>
                    <a:pt x="122809" y="548640"/>
                    <a:pt x="0" y="425831"/>
                    <a:pt x="0" y="274320"/>
                  </a:cubicBezTo>
                  <a:close/>
                </a:path>
              </a:pathLst>
            </a:custGeom>
            <a:solidFill>
              <a:srgbClr val="FDEEDD"/>
            </a:solidFill>
          </p:spPr>
        </p:sp>
      </p:grpSp>
      <p:grpSp>
        <p:nvGrpSpPr>
          <p:cNvPr name="Group 41" id="41"/>
          <p:cNvGrpSpPr/>
          <p:nvPr/>
        </p:nvGrpSpPr>
        <p:grpSpPr>
          <a:xfrm rot="0">
            <a:off x="1189006" y="5419916"/>
            <a:ext cx="205740" cy="205740"/>
            <a:chOff x="0" y="0"/>
            <a:chExt cx="274320" cy="274320"/>
          </a:xfrm>
        </p:grpSpPr>
        <p:sp>
          <p:nvSpPr>
            <p:cNvPr name="Freeform 42" id="42" descr="Operational Feasibility icon"/>
            <p:cNvSpPr/>
            <p:nvPr/>
          </p:nvSpPr>
          <p:spPr>
            <a:xfrm flipH="false" flipV="false" rot="0">
              <a:off x="0" y="0"/>
              <a:ext cx="274320" cy="274320"/>
            </a:xfrm>
            <a:custGeom>
              <a:avLst/>
              <a:gdLst/>
              <a:ahLst/>
              <a:cxnLst/>
              <a:rect r="r" b="b" t="t" l="l"/>
              <a:pathLst>
                <a:path h="274320" w="274320">
                  <a:moveTo>
                    <a:pt x="0" y="0"/>
                  </a:moveTo>
                  <a:lnTo>
                    <a:pt x="274320" y="0"/>
                  </a:lnTo>
                  <a:lnTo>
                    <a:pt x="274320" y="274320"/>
                  </a:lnTo>
                  <a:lnTo>
                    <a:pt x="0" y="27432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 l="0" t="0" r="0" b="0"/>
              </a:stretch>
            </a:blipFill>
          </p:spPr>
        </p:sp>
      </p:grpSp>
      <p:grpSp>
        <p:nvGrpSpPr>
          <p:cNvPr name="Group 43" id="43"/>
          <p:cNvGrpSpPr/>
          <p:nvPr/>
        </p:nvGrpSpPr>
        <p:grpSpPr>
          <a:xfrm rot="0">
            <a:off x="1634776" y="5317046"/>
            <a:ext cx="4114800" cy="411480"/>
            <a:chOff x="0" y="0"/>
            <a:chExt cx="5486400" cy="548640"/>
          </a:xfrm>
        </p:grpSpPr>
        <p:sp>
          <p:nvSpPr>
            <p:cNvPr name="Freeform 44" id="44"/>
            <p:cNvSpPr/>
            <p:nvPr/>
          </p:nvSpPr>
          <p:spPr>
            <a:xfrm flipH="false" flipV="false" rot="0">
              <a:off x="0" y="0"/>
              <a:ext cx="5486400" cy="548640"/>
            </a:xfrm>
            <a:custGeom>
              <a:avLst/>
              <a:gdLst/>
              <a:ahLst/>
              <a:cxnLst/>
              <a:rect r="r" b="b" t="t" l="l"/>
              <a:pathLst>
                <a:path h="548640" w="5486400">
                  <a:moveTo>
                    <a:pt x="0" y="0"/>
                  </a:moveTo>
                  <a:lnTo>
                    <a:pt x="5486400" y="0"/>
                  </a:lnTo>
                  <a:lnTo>
                    <a:pt x="548640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44850" r="0" b="-144850"/>
              </a:stretch>
            </a:blipFill>
          </p:spPr>
        </p:sp>
        <p:sp>
          <p:nvSpPr>
            <p:cNvPr name="TextBox 45" id="45"/>
            <p:cNvSpPr txBox="true"/>
            <p:nvPr/>
          </p:nvSpPr>
          <p:spPr>
            <a:xfrm>
              <a:off x="0" y="-28575"/>
              <a:ext cx="5486400" cy="57721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980"/>
                </a:lnSpc>
              </a:pPr>
              <a:r>
                <a:rPr lang="en-US" b="true" sz="1650" spc="120">
                  <a:solidFill>
                    <a:srgbClr val="B35A0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OPERATIONAL FEASIBILITY</a:t>
              </a:r>
            </a:p>
          </p:txBody>
        </p:sp>
      </p:grpSp>
      <p:sp>
        <p:nvSpPr>
          <p:cNvPr name="TextBox 46" id="46"/>
          <p:cNvSpPr txBox="true"/>
          <p:nvPr/>
        </p:nvSpPr>
        <p:spPr>
          <a:xfrm rot="0">
            <a:off x="1086136" y="5786438"/>
            <a:ext cx="4334256" cy="14097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312182" indent="-156091" lvl="1">
              <a:lnSpc>
                <a:spcPts val="2070"/>
              </a:lnSpc>
              <a:buFont typeface="Arial"/>
              <a:buChar char="•"/>
            </a:pPr>
            <a:r>
              <a:rPr sz="1550">
                <a:solidFill>
                  <a:srgbClr val="1E2638"/>
                </a:solidFill>
                <a:latin typeface="Calibri"/>
              </a:rPr>
              <a:t>Setup Time: &lt; 3 minutes from rugged backpack unboxing to flight.</a:t>
            </a:r>
          </a:p>
          <a:p>
            <a:r>
              <a:rPr sz="1550">
                <a:solidFill>
                  <a:srgbClr val="1E2638"/>
                </a:solidFill>
                <a:latin typeface="Calibri"/>
              </a:rPr>
              <a:t>Quick-Swap Battery: Dual 4S LiPo tray for continuous sortie coverage.</a:t>
            </a:r>
          </a:p>
          <a:p>
            <a:r>
              <a:rPr sz="1550">
                <a:solidFill>
                  <a:srgbClr val="1E2638"/>
                </a:solidFill>
                <a:latin typeface="Calibri"/>
              </a:rPr>
              <a:t>Zero Ground Compute Burden: 100% onboard processing enables deployment via low-power tablets or handheld LoRa pagers.</a:t>
            </a:r>
          </a:p>
        </p:txBody>
      </p:sp>
      <p:grpSp>
        <p:nvGrpSpPr>
          <p:cNvPr name="Group 47" id="47"/>
          <p:cNvGrpSpPr/>
          <p:nvPr/>
        </p:nvGrpSpPr>
        <p:grpSpPr>
          <a:xfrm rot="0">
            <a:off x="1086136" y="7264718"/>
            <a:ext cx="411480" cy="411480"/>
            <a:chOff x="0" y="0"/>
            <a:chExt cx="548640" cy="548640"/>
          </a:xfrm>
        </p:grpSpPr>
        <p:sp>
          <p:nvSpPr>
            <p:cNvPr name="Freeform 48" id="48"/>
            <p:cNvSpPr/>
            <p:nvPr/>
          </p:nvSpPr>
          <p:spPr>
            <a:xfrm flipH="false" flipV="false" rot="0">
              <a:off x="0" y="0"/>
              <a:ext cx="548640" cy="548640"/>
            </a:xfrm>
            <a:custGeom>
              <a:avLst/>
              <a:gdLst/>
              <a:ahLst/>
              <a:cxnLst/>
              <a:rect r="r" b="b" t="t" l="l"/>
              <a:pathLst>
                <a:path h="548640" w="548640">
                  <a:moveTo>
                    <a:pt x="0" y="274320"/>
                  </a:moveTo>
                  <a:cubicBezTo>
                    <a:pt x="0" y="122809"/>
                    <a:pt x="122809" y="0"/>
                    <a:pt x="274320" y="0"/>
                  </a:cubicBezTo>
                  <a:cubicBezTo>
                    <a:pt x="425831" y="0"/>
                    <a:pt x="548640" y="122809"/>
                    <a:pt x="548640" y="274320"/>
                  </a:cubicBezTo>
                  <a:cubicBezTo>
                    <a:pt x="548640" y="425831"/>
                    <a:pt x="425831" y="548640"/>
                    <a:pt x="274320" y="548640"/>
                  </a:cubicBezTo>
                  <a:cubicBezTo>
                    <a:pt x="122809" y="548640"/>
                    <a:pt x="0" y="425831"/>
                    <a:pt x="0" y="274320"/>
                  </a:cubicBezTo>
                  <a:close/>
                </a:path>
              </a:pathLst>
            </a:custGeom>
            <a:solidFill>
              <a:srgbClr val="FDEEDD"/>
            </a:solidFill>
          </p:spPr>
        </p:sp>
      </p:grpSp>
      <p:grpSp>
        <p:nvGrpSpPr>
          <p:cNvPr name="Group 49" id="49"/>
          <p:cNvGrpSpPr/>
          <p:nvPr/>
        </p:nvGrpSpPr>
        <p:grpSpPr>
          <a:xfrm rot="0">
            <a:off x="1189006" y="7367588"/>
            <a:ext cx="205740" cy="205740"/>
            <a:chOff x="0" y="0"/>
            <a:chExt cx="274320" cy="274320"/>
          </a:xfrm>
        </p:grpSpPr>
        <p:sp>
          <p:nvSpPr>
            <p:cNvPr name="Freeform 50" id="50" descr="Financial Feasibility icon"/>
            <p:cNvSpPr/>
            <p:nvPr/>
          </p:nvSpPr>
          <p:spPr>
            <a:xfrm flipH="false" flipV="false" rot="0">
              <a:off x="0" y="0"/>
              <a:ext cx="274320" cy="274320"/>
            </a:xfrm>
            <a:custGeom>
              <a:avLst/>
              <a:gdLst/>
              <a:ahLst/>
              <a:cxnLst/>
              <a:rect r="r" b="b" t="t" l="l"/>
              <a:pathLst>
                <a:path h="274320" w="274320">
                  <a:moveTo>
                    <a:pt x="0" y="0"/>
                  </a:moveTo>
                  <a:lnTo>
                    <a:pt x="274320" y="0"/>
                  </a:lnTo>
                  <a:lnTo>
                    <a:pt x="274320" y="274320"/>
                  </a:lnTo>
                  <a:lnTo>
                    <a:pt x="0" y="27432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>
                <a:fillRect l="0" t="0" r="0" b="0"/>
              </a:stretch>
            </a:blipFill>
          </p:spPr>
        </p:sp>
      </p:grpSp>
      <p:grpSp>
        <p:nvGrpSpPr>
          <p:cNvPr name="Group 51" id="51"/>
          <p:cNvGrpSpPr/>
          <p:nvPr/>
        </p:nvGrpSpPr>
        <p:grpSpPr>
          <a:xfrm rot="0">
            <a:off x="1634776" y="7264718"/>
            <a:ext cx="4114800" cy="411480"/>
            <a:chOff x="0" y="0"/>
            <a:chExt cx="5486400" cy="548640"/>
          </a:xfrm>
        </p:grpSpPr>
        <p:sp>
          <p:nvSpPr>
            <p:cNvPr name="Freeform 52" id="52"/>
            <p:cNvSpPr/>
            <p:nvPr/>
          </p:nvSpPr>
          <p:spPr>
            <a:xfrm flipH="false" flipV="false" rot="0">
              <a:off x="0" y="0"/>
              <a:ext cx="5486400" cy="548640"/>
            </a:xfrm>
            <a:custGeom>
              <a:avLst/>
              <a:gdLst/>
              <a:ahLst/>
              <a:cxnLst/>
              <a:rect r="r" b="b" t="t" l="l"/>
              <a:pathLst>
                <a:path h="548640" w="5486400">
                  <a:moveTo>
                    <a:pt x="0" y="0"/>
                  </a:moveTo>
                  <a:lnTo>
                    <a:pt x="5486400" y="0"/>
                  </a:lnTo>
                  <a:lnTo>
                    <a:pt x="548640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44850" r="0" b="-144850"/>
              </a:stretch>
            </a:blipFill>
          </p:spPr>
        </p:sp>
        <p:sp>
          <p:nvSpPr>
            <p:cNvPr name="TextBox 53" id="53"/>
            <p:cNvSpPr txBox="true"/>
            <p:nvPr/>
          </p:nvSpPr>
          <p:spPr>
            <a:xfrm>
              <a:off x="0" y="-28575"/>
              <a:ext cx="5486400" cy="57721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980"/>
                </a:lnSpc>
              </a:pPr>
              <a:r>
                <a:rPr lang="en-US" b="true" sz="1650" spc="120">
                  <a:solidFill>
                    <a:srgbClr val="B35A0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FINANCIAL FEASIBILITY</a:t>
              </a:r>
            </a:p>
          </p:txBody>
        </p:sp>
      </p:grpSp>
      <p:sp>
        <p:nvSpPr>
          <p:cNvPr name="TextBox 54" id="54"/>
          <p:cNvSpPr txBox="true"/>
          <p:nvPr/>
        </p:nvSpPr>
        <p:spPr>
          <a:xfrm rot="0">
            <a:off x="1086136" y="7734110"/>
            <a:ext cx="4334256" cy="12725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312182" indent="-156091" lvl="1">
              <a:lnSpc>
                <a:spcPts val="2070"/>
              </a:lnSpc>
              <a:buFont typeface="Arial"/>
              <a:buChar char="•"/>
            </a:pPr>
            <a:r>
              <a:rPr sz="1600" b="0" i="0">
                <a:solidFill>
                  <a:srgbClr val="1E2638"/>
                </a:solidFill>
                <a:latin typeface="Calibri"/>
              </a:rPr>
              <a:t>Prototype Build: ₹37,400 (Calibrated Prototype — Arduino UNO Q 4GB/32GB).</a:t>
            </a:r>
          </a:p>
          <a:p>
            <a:r>
              <a:rPr sz="1600" b="0" i="0">
                <a:solidFill>
                  <a:srgbClr val="1E2638"/>
                </a:solidFill>
                <a:latin typeface="Calibri"/>
              </a:rPr>
              <a:t>Production BOM: ₹85,000 – ₹1,20,000 per unit (10x cheaper than commercial enterprise drones).</a:t>
            </a:r>
          </a:p>
        </p:txBody>
      </p:sp>
      <p:grpSp>
        <p:nvGrpSpPr>
          <p:cNvPr name="Group 55" id="55"/>
          <p:cNvGrpSpPr/>
          <p:nvPr/>
        </p:nvGrpSpPr>
        <p:grpSpPr>
          <a:xfrm rot="0">
            <a:off x="6227307" y="2194560"/>
            <a:ext cx="1794462" cy="411480"/>
            <a:chOff x="0" y="0"/>
            <a:chExt cx="2392616" cy="548640"/>
          </a:xfrm>
        </p:grpSpPr>
        <p:sp>
          <p:nvSpPr>
            <p:cNvPr name="Freeform 56" id="56"/>
            <p:cNvSpPr/>
            <p:nvPr/>
          </p:nvSpPr>
          <p:spPr>
            <a:xfrm flipH="false" flipV="false" rot="0">
              <a:off x="0" y="0"/>
              <a:ext cx="2392680" cy="548640"/>
            </a:xfrm>
            <a:custGeom>
              <a:avLst/>
              <a:gdLst/>
              <a:ahLst/>
              <a:cxnLst/>
              <a:rect r="r" b="b" t="t" l="l"/>
              <a:pathLst>
                <a:path h="548640" w="2392680">
                  <a:moveTo>
                    <a:pt x="0" y="274320"/>
                  </a:moveTo>
                  <a:cubicBezTo>
                    <a:pt x="0" y="122809"/>
                    <a:pt x="122809" y="0"/>
                    <a:pt x="274320" y="0"/>
                  </a:cubicBezTo>
                  <a:lnTo>
                    <a:pt x="2118360" y="0"/>
                  </a:lnTo>
                  <a:cubicBezTo>
                    <a:pt x="2269871" y="0"/>
                    <a:pt x="2392680" y="122809"/>
                    <a:pt x="2392680" y="274320"/>
                  </a:cubicBezTo>
                  <a:cubicBezTo>
                    <a:pt x="2392680" y="425831"/>
                    <a:pt x="2269871" y="548640"/>
                    <a:pt x="2118360" y="548640"/>
                  </a:cubicBezTo>
                  <a:lnTo>
                    <a:pt x="274320" y="548640"/>
                  </a:lnTo>
                  <a:cubicBezTo>
                    <a:pt x="122809" y="548640"/>
                    <a:pt x="0" y="425831"/>
                    <a:pt x="0" y="274320"/>
                  </a:cubicBezTo>
                  <a:close/>
                </a:path>
              </a:pathLst>
            </a:custGeom>
            <a:solidFill>
              <a:srgbClr val="F08418"/>
            </a:solidFill>
          </p:spPr>
        </p:sp>
      </p:grpSp>
      <p:grpSp>
        <p:nvGrpSpPr>
          <p:cNvPr name="Group 57" id="57"/>
          <p:cNvGrpSpPr/>
          <p:nvPr/>
        </p:nvGrpSpPr>
        <p:grpSpPr>
          <a:xfrm rot="0">
            <a:off x="6227307" y="2194560"/>
            <a:ext cx="1794462" cy="411480"/>
            <a:chOff x="0" y="0"/>
            <a:chExt cx="2392616" cy="548640"/>
          </a:xfrm>
        </p:grpSpPr>
        <p:sp>
          <p:nvSpPr>
            <p:cNvPr name="Freeform 58" id="58"/>
            <p:cNvSpPr/>
            <p:nvPr/>
          </p:nvSpPr>
          <p:spPr>
            <a:xfrm flipH="false" flipV="false" rot="0">
              <a:off x="0" y="0"/>
              <a:ext cx="2392618" cy="548640"/>
            </a:xfrm>
            <a:custGeom>
              <a:avLst/>
              <a:gdLst/>
              <a:ahLst/>
              <a:cxnLst/>
              <a:rect r="r" b="b" t="t" l="l"/>
              <a:pathLst>
                <a:path h="548640" w="2392618">
                  <a:moveTo>
                    <a:pt x="0" y="0"/>
                  </a:moveTo>
                  <a:lnTo>
                    <a:pt x="2392618" y="0"/>
                  </a:lnTo>
                  <a:lnTo>
                    <a:pt x="2392618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4974" r="0" b="-34974"/>
              </a:stretch>
            </a:blipFill>
          </p:spPr>
        </p:sp>
        <p:sp>
          <p:nvSpPr>
            <p:cNvPr name="TextBox 59" id="59"/>
            <p:cNvSpPr txBox="true"/>
            <p:nvPr/>
          </p:nvSpPr>
          <p:spPr>
            <a:xfrm>
              <a:off x="0" y="-19050"/>
              <a:ext cx="2392616" cy="56769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889"/>
                </a:lnSpc>
              </a:pPr>
              <a:r>
                <a:rPr lang="en-US" b="true" sz="1575" spc="224">
                  <a:solidFill>
                    <a:srgbClr val="14345C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VIABILITY</a:t>
              </a:r>
            </a:p>
          </p:txBody>
        </p:sp>
      </p:grpSp>
      <p:grpSp>
        <p:nvGrpSpPr>
          <p:cNvPr name="Group 60" id="60"/>
          <p:cNvGrpSpPr/>
          <p:nvPr/>
        </p:nvGrpSpPr>
        <p:grpSpPr>
          <a:xfrm rot="0">
            <a:off x="6227307" y="2688336"/>
            <a:ext cx="411480" cy="411480"/>
            <a:chOff x="0" y="0"/>
            <a:chExt cx="548640" cy="548640"/>
          </a:xfrm>
        </p:grpSpPr>
        <p:sp>
          <p:nvSpPr>
            <p:cNvPr name="Freeform 61" id="61"/>
            <p:cNvSpPr/>
            <p:nvPr/>
          </p:nvSpPr>
          <p:spPr>
            <a:xfrm flipH="false" flipV="false" rot="0">
              <a:off x="0" y="0"/>
              <a:ext cx="548640" cy="548640"/>
            </a:xfrm>
            <a:custGeom>
              <a:avLst/>
              <a:gdLst/>
              <a:ahLst/>
              <a:cxnLst/>
              <a:rect r="r" b="b" t="t" l="l"/>
              <a:pathLst>
                <a:path h="548640" w="548640">
                  <a:moveTo>
                    <a:pt x="0" y="274320"/>
                  </a:moveTo>
                  <a:cubicBezTo>
                    <a:pt x="0" y="122809"/>
                    <a:pt x="122809" y="0"/>
                    <a:pt x="274320" y="0"/>
                  </a:cubicBezTo>
                  <a:cubicBezTo>
                    <a:pt x="425831" y="0"/>
                    <a:pt x="548640" y="122809"/>
                    <a:pt x="548640" y="274320"/>
                  </a:cubicBezTo>
                  <a:cubicBezTo>
                    <a:pt x="548640" y="425831"/>
                    <a:pt x="425831" y="548640"/>
                    <a:pt x="274320" y="548640"/>
                  </a:cubicBezTo>
                  <a:cubicBezTo>
                    <a:pt x="122809" y="548640"/>
                    <a:pt x="0" y="425831"/>
                    <a:pt x="0" y="274320"/>
                  </a:cubicBezTo>
                  <a:close/>
                </a:path>
              </a:pathLst>
            </a:custGeom>
            <a:solidFill>
              <a:srgbClr val="FDEEDD"/>
            </a:solidFill>
          </p:spPr>
        </p:sp>
      </p:grpSp>
      <p:grpSp>
        <p:nvGrpSpPr>
          <p:cNvPr name="Group 62" id="62"/>
          <p:cNvGrpSpPr/>
          <p:nvPr/>
        </p:nvGrpSpPr>
        <p:grpSpPr>
          <a:xfrm rot="0">
            <a:off x="6330177" y="2791206"/>
            <a:ext cx="205740" cy="205740"/>
            <a:chOff x="0" y="0"/>
            <a:chExt cx="274320" cy="274320"/>
          </a:xfrm>
        </p:grpSpPr>
        <p:sp>
          <p:nvSpPr>
            <p:cNvPr name="Freeform 63" id="63" descr="Economic Viability icon"/>
            <p:cNvSpPr/>
            <p:nvPr/>
          </p:nvSpPr>
          <p:spPr>
            <a:xfrm flipH="false" flipV="false" rot="0">
              <a:off x="0" y="0"/>
              <a:ext cx="274320" cy="274320"/>
            </a:xfrm>
            <a:custGeom>
              <a:avLst/>
              <a:gdLst/>
              <a:ahLst/>
              <a:cxnLst/>
              <a:rect r="r" b="b" t="t" l="l"/>
              <a:pathLst>
                <a:path h="274320" w="274320">
                  <a:moveTo>
                    <a:pt x="0" y="0"/>
                  </a:moveTo>
                  <a:lnTo>
                    <a:pt x="274320" y="0"/>
                  </a:lnTo>
                  <a:lnTo>
                    <a:pt x="274320" y="274320"/>
                  </a:lnTo>
                  <a:lnTo>
                    <a:pt x="0" y="27432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>
                <a:fillRect l="0" t="0" r="0" b="0"/>
              </a:stretch>
            </a:blipFill>
          </p:spPr>
        </p:sp>
      </p:grpSp>
      <p:grpSp>
        <p:nvGrpSpPr>
          <p:cNvPr name="Group 64" id="64"/>
          <p:cNvGrpSpPr/>
          <p:nvPr/>
        </p:nvGrpSpPr>
        <p:grpSpPr>
          <a:xfrm rot="0">
            <a:off x="6775947" y="2688336"/>
            <a:ext cx="4114800" cy="411480"/>
            <a:chOff x="0" y="0"/>
            <a:chExt cx="5486400" cy="548640"/>
          </a:xfrm>
        </p:grpSpPr>
        <p:sp>
          <p:nvSpPr>
            <p:cNvPr name="Freeform 65" id="65"/>
            <p:cNvSpPr/>
            <p:nvPr/>
          </p:nvSpPr>
          <p:spPr>
            <a:xfrm flipH="false" flipV="false" rot="0">
              <a:off x="0" y="0"/>
              <a:ext cx="5486400" cy="548640"/>
            </a:xfrm>
            <a:custGeom>
              <a:avLst/>
              <a:gdLst/>
              <a:ahLst/>
              <a:cxnLst/>
              <a:rect r="r" b="b" t="t" l="l"/>
              <a:pathLst>
                <a:path h="548640" w="5486400">
                  <a:moveTo>
                    <a:pt x="0" y="0"/>
                  </a:moveTo>
                  <a:lnTo>
                    <a:pt x="5486400" y="0"/>
                  </a:lnTo>
                  <a:lnTo>
                    <a:pt x="548640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44850" r="0" b="-144850"/>
              </a:stretch>
            </a:blipFill>
          </p:spPr>
        </p:sp>
        <p:sp>
          <p:nvSpPr>
            <p:cNvPr name="TextBox 66" id="66"/>
            <p:cNvSpPr txBox="true"/>
            <p:nvPr/>
          </p:nvSpPr>
          <p:spPr>
            <a:xfrm>
              <a:off x="0" y="-28575"/>
              <a:ext cx="5486400" cy="57721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980"/>
                </a:lnSpc>
              </a:pPr>
              <a:r>
                <a:rPr lang="en-US" b="true" sz="1650" spc="120">
                  <a:solidFill>
                    <a:srgbClr val="FFB35C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ECONOMIC VIABILITY</a:t>
              </a:r>
            </a:p>
          </p:txBody>
        </p:sp>
      </p:grpSp>
      <p:grpSp>
        <p:nvGrpSpPr>
          <p:cNvPr name="Group 67" id="67"/>
          <p:cNvGrpSpPr/>
          <p:nvPr/>
        </p:nvGrpSpPr>
        <p:grpSpPr>
          <a:xfrm rot="0">
            <a:off x="6117617" y="4072953"/>
            <a:ext cx="5309435" cy="1022541"/>
            <a:chOff x="0" y="0"/>
            <a:chExt cx="7079247" cy="1363388"/>
          </a:xfrm>
        </p:grpSpPr>
        <p:grpSp>
          <p:nvGrpSpPr>
            <p:cNvPr name="Group 68" id="68"/>
            <p:cNvGrpSpPr/>
            <p:nvPr/>
          </p:nvGrpSpPr>
          <p:grpSpPr>
            <a:xfrm rot="0">
              <a:off x="4161803" y="515112"/>
              <a:ext cx="2917443" cy="804867"/>
              <a:chOff x="0" y="0"/>
              <a:chExt cx="576285" cy="158986"/>
            </a:xfrm>
          </p:grpSpPr>
          <p:sp>
            <p:nvSpPr>
              <p:cNvPr name="Freeform 69" id="69"/>
              <p:cNvSpPr/>
              <p:nvPr/>
            </p:nvSpPr>
            <p:spPr>
              <a:xfrm flipH="false" flipV="false" rot="0">
                <a:off x="0" y="0"/>
                <a:ext cx="576285" cy="158986"/>
              </a:xfrm>
              <a:custGeom>
                <a:avLst/>
                <a:gdLst/>
                <a:ahLst/>
                <a:cxnLst/>
                <a:rect r="r" b="b" t="t" l="l"/>
                <a:pathLst>
                  <a:path h="158986" w="576285">
                    <a:moveTo>
                      <a:pt x="60150" y="0"/>
                    </a:moveTo>
                    <a:lnTo>
                      <a:pt x="516135" y="0"/>
                    </a:lnTo>
                    <a:cubicBezTo>
                      <a:pt x="532088" y="0"/>
                      <a:pt x="547387" y="6337"/>
                      <a:pt x="558668" y="17617"/>
                    </a:cubicBezTo>
                    <a:cubicBezTo>
                      <a:pt x="569948" y="28898"/>
                      <a:pt x="576285" y="44197"/>
                      <a:pt x="576285" y="60150"/>
                    </a:cubicBezTo>
                    <a:lnTo>
                      <a:pt x="576285" y="98836"/>
                    </a:lnTo>
                    <a:cubicBezTo>
                      <a:pt x="576285" y="114789"/>
                      <a:pt x="569948" y="130088"/>
                      <a:pt x="558668" y="141369"/>
                    </a:cubicBezTo>
                    <a:cubicBezTo>
                      <a:pt x="547387" y="152649"/>
                      <a:pt x="532088" y="158986"/>
                      <a:pt x="516135" y="158986"/>
                    </a:cubicBezTo>
                    <a:lnTo>
                      <a:pt x="60150" y="158986"/>
                    </a:lnTo>
                    <a:cubicBezTo>
                      <a:pt x="44197" y="158986"/>
                      <a:pt x="28898" y="152649"/>
                      <a:pt x="17617" y="141369"/>
                    </a:cubicBezTo>
                    <a:cubicBezTo>
                      <a:pt x="6337" y="130088"/>
                      <a:pt x="0" y="114789"/>
                      <a:pt x="0" y="98836"/>
                    </a:cubicBezTo>
                    <a:lnTo>
                      <a:pt x="0" y="60150"/>
                    </a:lnTo>
                    <a:cubicBezTo>
                      <a:pt x="0" y="44197"/>
                      <a:pt x="6337" y="28898"/>
                      <a:pt x="17617" y="17617"/>
                    </a:cubicBezTo>
                    <a:cubicBezTo>
                      <a:pt x="28898" y="6337"/>
                      <a:pt x="44197" y="0"/>
                      <a:pt x="60150" y="0"/>
                    </a:cubicBezTo>
                    <a:close/>
                  </a:path>
                </a:pathLst>
              </a:custGeom>
              <a:solidFill>
                <a:srgbClr val="DCFFE0"/>
              </a:solidFill>
            </p:spPr>
          </p:sp>
          <p:sp>
            <p:nvSpPr>
              <p:cNvPr name="TextBox 70" id="70"/>
              <p:cNvSpPr txBox="true"/>
              <p:nvPr/>
            </p:nvSpPr>
            <p:spPr>
              <a:xfrm>
                <a:off x="0" y="-38100"/>
                <a:ext cx="576285" cy="197086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070"/>
                  </a:lnSpc>
                </a:pPr>
              </a:p>
            </p:txBody>
          </p:sp>
        </p:grpSp>
        <p:grpSp>
          <p:nvGrpSpPr>
            <p:cNvPr name="Group 71" id="71"/>
            <p:cNvGrpSpPr/>
            <p:nvPr/>
          </p:nvGrpSpPr>
          <p:grpSpPr>
            <a:xfrm rot="0">
              <a:off x="134887" y="0"/>
              <a:ext cx="6528816" cy="456313"/>
              <a:chOff x="0" y="0"/>
              <a:chExt cx="6528816" cy="456313"/>
            </a:xfrm>
          </p:grpSpPr>
          <p:sp>
            <p:nvSpPr>
              <p:cNvPr name="Freeform 72" id="72"/>
              <p:cNvSpPr/>
              <p:nvPr/>
            </p:nvSpPr>
            <p:spPr>
              <a:xfrm flipH="false" flipV="false" rot="0">
                <a:off x="0" y="0"/>
                <a:ext cx="6528816" cy="456313"/>
              </a:xfrm>
              <a:custGeom>
                <a:avLst/>
                <a:gdLst/>
                <a:ahLst/>
                <a:cxnLst/>
                <a:rect r="r" b="b" t="t" l="l"/>
                <a:pathLst>
                  <a:path h="456313" w="6528816">
                    <a:moveTo>
                      <a:pt x="0" y="0"/>
                    </a:moveTo>
                    <a:lnTo>
                      <a:pt x="6528816" y="0"/>
                    </a:lnTo>
                    <a:lnTo>
                      <a:pt x="6528816" y="456313"/>
                    </a:lnTo>
                    <a:lnTo>
                      <a:pt x="0" y="456313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l="0" t="-230693" r="0" b="-226880"/>
                </a:stretch>
              </a:blipFill>
            </p:spPr>
          </p:sp>
          <p:sp>
            <p:nvSpPr>
              <p:cNvPr name="TextBox 73" id="73"/>
              <p:cNvSpPr txBox="true"/>
              <p:nvPr/>
            </p:nvSpPr>
            <p:spPr>
              <a:xfrm>
                <a:off x="0" y="-38100"/>
                <a:ext cx="6528816" cy="494413"/>
              </a:xfrm>
              <a:prstGeom prst="rect">
                <a:avLst/>
              </a:prstGeom>
            </p:spPr>
            <p:txBody>
              <a:bodyPr anchor="ctr" rtlCol="false" tIns="0" lIns="0" bIns="0" rIns="0"/>
              <a:lstStyle/>
              <a:p>
                <a:pPr algn="l">
                  <a:lnSpc>
                    <a:spcPts val="2070"/>
                  </a:lnSpc>
                </a:pPr>
                <a:r>
                  <a:rPr lang="en-US" sz="1725" b="true">
                    <a:solidFill>
                      <a:srgbClr val="FFFFFF"/>
                    </a:solidFill>
                    <a:latin typeface="Calibri (MS) Bold"/>
                    <a:ea typeface="Calibri (MS) Bold"/>
                    <a:cs typeface="Calibri (MS) Bold"/>
                    <a:sym typeface="Calibri (MS) Bold"/>
                  </a:rPr>
                  <a:t>Enterprise Drone Disruption costs:</a:t>
                </a:r>
              </a:p>
            </p:txBody>
          </p:sp>
        </p:grpSp>
        <p:grpSp>
          <p:nvGrpSpPr>
            <p:cNvPr name="Group 74" id="74"/>
            <p:cNvGrpSpPr/>
            <p:nvPr/>
          </p:nvGrpSpPr>
          <p:grpSpPr>
            <a:xfrm rot="0">
              <a:off x="0" y="517524"/>
              <a:ext cx="3987978" cy="845864"/>
              <a:chOff x="0" y="0"/>
              <a:chExt cx="787749" cy="167084"/>
            </a:xfrm>
          </p:grpSpPr>
          <p:sp>
            <p:nvSpPr>
              <p:cNvPr name="Freeform 75" id="75"/>
              <p:cNvSpPr/>
              <p:nvPr/>
            </p:nvSpPr>
            <p:spPr>
              <a:xfrm flipH="false" flipV="false" rot="0">
                <a:off x="0" y="0"/>
                <a:ext cx="787749" cy="167084"/>
              </a:xfrm>
              <a:custGeom>
                <a:avLst/>
                <a:gdLst/>
                <a:ahLst/>
                <a:cxnLst/>
                <a:rect r="r" b="b" t="t" l="l"/>
                <a:pathLst>
                  <a:path h="167084" w="787749">
                    <a:moveTo>
                      <a:pt x="44003" y="0"/>
                    </a:moveTo>
                    <a:lnTo>
                      <a:pt x="743746" y="0"/>
                    </a:lnTo>
                    <a:cubicBezTo>
                      <a:pt x="755416" y="0"/>
                      <a:pt x="766608" y="4636"/>
                      <a:pt x="774861" y="12888"/>
                    </a:cubicBezTo>
                    <a:cubicBezTo>
                      <a:pt x="783113" y="21140"/>
                      <a:pt x="787749" y="32333"/>
                      <a:pt x="787749" y="44003"/>
                    </a:cubicBezTo>
                    <a:lnTo>
                      <a:pt x="787749" y="123081"/>
                    </a:lnTo>
                    <a:cubicBezTo>
                      <a:pt x="787749" y="147383"/>
                      <a:pt x="768048" y="167084"/>
                      <a:pt x="743746" y="167084"/>
                    </a:cubicBezTo>
                    <a:lnTo>
                      <a:pt x="44003" y="167084"/>
                    </a:lnTo>
                    <a:cubicBezTo>
                      <a:pt x="19701" y="167084"/>
                      <a:pt x="0" y="147383"/>
                      <a:pt x="0" y="123081"/>
                    </a:cubicBezTo>
                    <a:lnTo>
                      <a:pt x="0" y="44003"/>
                    </a:lnTo>
                    <a:cubicBezTo>
                      <a:pt x="0" y="19701"/>
                      <a:pt x="19701" y="0"/>
                      <a:pt x="44003" y="0"/>
                    </a:cubicBezTo>
                    <a:close/>
                  </a:path>
                </a:pathLst>
              </a:custGeom>
              <a:solidFill>
                <a:srgbClr val="FFDCDC"/>
              </a:solidFill>
            </p:spPr>
          </p:sp>
          <p:sp>
            <p:nvSpPr>
              <p:cNvPr name="TextBox 76" id="76"/>
              <p:cNvSpPr txBox="true"/>
              <p:nvPr/>
            </p:nvSpPr>
            <p:spPr>
              <a:xfrm>
                <a:off x="0" y="-38100"/>
                <a:ext cx="787749" cy="205184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070"/>
                  </a:lnSpc>
                </a:pPr>
              </a:p>
            </p:txBody>
          </p:sp>
        </p:grpSp>
        <p:grpSp>
          <p:nvGrpSpPr>
            <p:cNvPr name="Group 77" id="77"/>
            <p:cNvGrpSpPr/>
            <p:nvPr/>
          </p:nvGrpSpPr>
          <p:grpSpPr>
            <a:xfrm rot="0">
              <a:off x="103413" y="697613"/>
              <a:ext cx="2455565" cy="523143"/>
              <a:chOff x="0" y="0"/>
              <a:chExt cx="2479353" cy="528211"/>
            </a:xfrm>
          </p:grpSpPr>
          <p:sp>
            <p:nvSpPr>
              <p:cNvPr name="Freeform 78" id="78"/>
              <p:cNvSpPr/>
              <p:nvPr/>
            </p:nvSpPr>
            <p:spPr>
              <a:xfrm flipH="false" flipV="false" rot="0">
                <a:off x="0" y="0"/>
                <a:ext cx="2479353" cy="528211"/>
              </a:xfrm>
              <a:custGeom>
                <a:avLst/>
                <a:gdLst/>
                <a:ahLst/>
                <a:cxnLst/>
                <a:rect r="r" b="b" t="t" l="l"/>
                <a:pathLst>
                  <a:path h="528211" w="2479353">
                    <a:moveTo>
                      <a:pt x="0" y="0"/>
                    </a:moveTo>
                    <a:lnTo>
                      <a:pt x="2479353" y="0"/>
                    </a:lnTo>
                    <a:lnTo>
                      <a:pt x="2479353" y="528211"/>
                    </a:lnTo>
                    <a:lnTo>
                      <a:pt x="0" y="528211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l="0" t="-28485" r="-10641" b="-73900"/>
                </a:stretch>
              </a:blipFill>
            </p:spPr>
          </p:sp>
          <p:sp>
            <p:nvSpPr>
              <p:cNvPr name="TextBox 79" id="79"/>
              <p:cNvSpPr txBox="true"/>
              <p:nvPr/>
            </p:nvSpPr>
            <p:spPr>
              <a:xfrm>
                <a:off x="0" y="-47625"/>
                <a:ext cx="2479353" cy="575836"/>
              </a:xfrm>
              <a:prstGeom prst="rect">
                <a:avLst/>
              </a:prstGeom>
            </p:spPr>
            <p:txBody>
              <a:bodyPr anchor="ctr" rtlCol="false" tIns="0" lIns="0" bIns="0" rIns="0"/>
              <a:lstStyle/>
              <a:p>
                <a:pPr algn="l">
                  <a:lnSpc>
                    <a:spcPts val="2364"/>
                  </a:lnSpc>
                </a:pPr>
                <a:r>
                  <a:rPr lang="en-US" sz="1970">
                    <a:solidFill>
                      <a:srgbClr val="000000"/>
                    </a:solidFill>
                    <a:latin typeface="Calibri (MS)"/>
                    <a:ea typeface="Calibri (MS)"/>
                    <a:cs typeface="Calibri (MS)"/>
                    <a:sym typeface="Calibri (MS)"/>
                  </a:rPr>
                  <a:t>DJI Matrice 30T </a:t>
                </a:r>
              </a:p>
            </p:txBody>
          </p:sp>
        </p:grpSp>
        <p:grpSp>
          <p:nvGrpSpPr>
            <p:cNvPr name="Group 80" id="80"/>
            <p:cNvGrpSpPr/>
            <p:nvPr/>
          </p:nvGrpSpPr>
          <p:grpSpPr>
            <a:xfrm rot="0">
              <a:off x="2361713" y="652800"/>
              <a:ext cx="1495291" cy="571752"/>
              <a:chOff x="0" y="0"/>
              <a:chExt cx="1770833" cy="677111"/>
            </a:xfrm>
          </p:grpSpPr>
          <p:sp>
            <p:nvSpPr>
              <p:cNvPr name="Freeform 81" id="81"/>
              <p:cNvSpPr/>
              <p:nvPr/>
            </p:nvSpPr>
            <p:spPr>
              <a:xfrm flipH="false" flipV="false" rot="0">
                <a:off x="0" y="0"/>
                <a:ext cx="1770832" cy="677111"/>
              </a:xfrm>
              <a:custGeom>
                <a:avLst/>
                <a:gdLst/>
                <a:ahLst/>
                <a:cxnLst/>
                <a:rect r="r" b="b" t="t" l="l"/>
                <a:pathLst>
                  <a:path h="677111" w="1770832">
                    <a:moveTo>
                      <a:pt x="0" y="0"/>
                    </a:moveTo>
                    <a:lnTo>
                      <a:pt x="1770832" y="0"/>
                    </a:lnTo>
                    <a:lnTo>
                      <a:pt x="1770832" y="677111"/>
                    </a:lnTo>
                    <a:lnTo>
                      <a:pt x="0" y="677111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l="0" t="-51166" r="-111710" b="-64603"/>
                </a:stretch>
              </a:blipFill>
            </p:spPr>
          </p:sp>
          <p:sp>
            <p:nvSpPr>
              <p:cNvPr name="TextBox 82" id="82"/>
              <p:cNvSpPr txBox="true"/>
              <p:nvPr/>
            </p:nvSpPr>
            <p:spPr>
              <a:xfrm>
                <a:off x="0" y="-38100"/>
                <a:ext cx="1770833" cy="715211"/>
              </a:xfrm>
              <a:prstGeom prst="rect">
                <a:avLst/>
              </a:prstGeom>
            </p:spPr>
            <p:txBody>
              <a:bodyPr anchor="ctr" rtlCol="false" tIns="0" lIns="0" bIns="0" rIns="0"/>
              <a:lstStyle/>
              <a:p>
                <a:pPr algn="r">
                  <a:lnSpc>
                    <a:spcPts val="2280"/>
                  </a:lnSpc>
                </a:pPr>
                <a:r>
                  <a:rPr lang="en-US" sz="1900" b="true">
                    <a:solidFill>
                      <a:srgbClr val="B42318"/>
                    </a:solidFill>
                    <a:latin typeface="Calibri (MS) Bold"/>
                    <a:ea typeface="Calibri (MS) Bold"/>
                    <a:cs typeface="Calibri (MS) Bold"/>
                    <a:sym typeface="Calibri (MS) Bold"/>
                  </a:rPr>
                  <a:t>₹10+ Lakhs</a:t>
                </a:r>
              </a:p>
            </p:txBody>
          </p:sp>
        </p:grpSp>
        <p:grpSp>
          <p:nvGrpSpPr>
            <p:cNvPr name="Group 83" id="83"/>
            <p:cNvGrpSpPr/>
            <p:nvPr/>
          </p:nvGrpSpPr>
          <p:grpSpPr>
            <a:xfrm rot="0">
              <a:off x="4332535" y="652800"/>
              <a:ext cx="1589199" cy="606691"/>
              <a:chOff x="0" y="0"/>
              <a:chExt cx="2841207" cy="1084656"/>
            </a:xfrm>
          </p:grpSpPr>
          <p:sp>
            <p:nvSpPr>
              <p:cNvPr name="Freeform 84" id="84"/>
              <p:cNvSpPr/>
              <p:nvPr/>
            </p:nvSpPr>
            <p:spPr>
              <a:xfrm flipH="false" flipV="false" rot="0">
                <a:off x="0" y="0"/>
                <a:ext cx="2841207" cy="1084656"/>
              </a:xfrm>
              <a:custGeom>
                <a:avLst/>
                <a:gdLst/>
                <a:ahLst/>
                <a:cxnLst/>
                <a:rect r="r" b="b" t="t" l="l"/>
                <a:pathLst>
                  <a:path h="1084656" w="2841207">
                    <a:moveTo>
                      <a:pt x="0" y="0"/>
                    </a:moveTo>
                    <a:lnTo>
                      <a:pt x="2841207" y="0"/>
                    </a:lnTo>
                    <a:lnTo>
                      <a:pt x="2841207" y="1084656"/>
                    </a:lnTo>
                    <a:lnTo>
                      <a:pt x="0" y="1084656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l="0" t="-13872" r="3449" b="15313"/>
                </a:stretch>
              </a:blipFill>
            </p:spPr>
          </p:sp>
          <p:sp>
            <p:nvSpPr>
              <p:cNvPr name="TextBox 85" id="85"/>
              <p:cNvSpPr txBox="true"/>
              <p:nvPr/>
            </p:nvSpPr>
            <p:spPr>
              <a:xfrm>
                <a:off x="0" y="-47625"/>
                <a:ext cx="2841207" cy="1132281"/>
              </a:xfrm>
              <a:prstGeom prst="rect">
                <a:avLst/>
              </a:prstGeom>
            </p:spPr>
            <p:txBody>
              <a:bodyPr anchor="ctr" rtlCol="false" tIns="0" lIns="0" bIns="0" rIns="0"/>
              <a:lstStyle/>
              <a:p>
                <a:pPr algn="l">
                  <a:lnSpc>
                    <a:spcPts val="2729"/>
                  </a:lnSpc>
                </a:pPr>
                <a:r>
                  <a:rPr lang="en-US" sz="2274">
                    <a:solidFill>
                      <a:srgbClr val="000000"/>
                    </a:solidFill>
                    <a:latin typeface="Calibri (MS)"/>
                    <a:ea typeface="Calibri (MS)"/>
                    <a:cs typeface="Calibri (MS)"/>
                    <a:sym typeface="Calibri (MS)"/>
                  </a:rPr>
                  <a:t>Phoenix </a:t>
                </a:r>
              </a:p>
            </p:txBody>
          </p:sp>
        </p:grpSp>
        <p:grpSp>
          <p:nvGrpSpPr>
            <p:cNvPr name="Group 86" id="86"/>
            <p:cNvGrpSpPr/>
            <p:nvPr/>
          </p:nvGrpSpPr>
          <p:grpSpPr>
            <a:xfrm rot="0">
              <a:off x="5223134" y="633999"/>
              <a:ext cx="1766707" cy="644292"/>
              <a:chOff x="0" y="0"/>
              <a:chExt cx="1766707" cy="644292"/>
            </a:xfrm>
          </p:grpSpPr>
          <p:sp>
            <p:nvSpPr>
              <p:cNvPr name="Freeform 87" id="87"/>
              <p:cNvSpPr/>
              <p:nvPr/>
            </p:nvSpPr>
            <p:spPr>
              <a:xfrm flipH="false" flipV="false" rot="0">
                <a:off x="0" y="0"/>
                <a:ext cx="1766706" cy="644292"/>
              </a:xfrm>
              <a:custGeom>
                <a:avLst/>
                <a:gdLst/>
                <a:ahLst/>
                <a:cxnLst/>
                <a:rect r="r" b="b" t="t" l="l"/>
                <a:pathLst>
                  <a:path h="644292" w="1766706">
                    <a:moveTo>
                      <a:pt x="0" y="0"/>
                    </a:moveTo>
                    <a:lnTo>
                      <a:pt x="1766706" y="0"/>
                    </a:lnTo>
                    <a:lnTo>
                      <a:pt x="1766706" y="644292"/>
                    </a:lnTo>
                    <a:lnTo>
                      <a:pt x="0" y="644292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l="0" t="-53772" r="-112205" b="-72988"/>
                </a:stretch>
              </a:blipFill>
            </p:spPr>
          </p:sp>
          <p:sp>
            <p:nvSpPr>
              <p:cNvPr name="TextBox 88" id="88"/>
              <p:cNvSpPr txBox="true"/>
              <p:nvPr/>
            </p:nvSpPr>
            <p:spPr>
              <a:xfrm>
                <a:off x="0" y="-38100"/>
                <a:ext cx="1766707" cy="682392"/>
              </a:xfrm>
              <a:prstGeom prst="rect">
                <a:avLst/>
              </a:prstGeom>
            </p:spPr>
            <p:txBody>
              <a:bodyPr anchor="ctr" rtlCol="false" tIns="0" lIns="0" bIns="0" rIns="0"/>
              <a:lstStyle/>
              <a:p>
                <a:pPr algn="r">
                  <a:lnSpc>
                    <a:spcPts val="2280"/>
                  </a:lnSpc>
                </a:pPr>
                <a:r>
                  <a:rPr lang="en-US" sz="1900" b="true">
                    <a:solidFill>
                      <a:srgbClr val="0A7A33"/>
                    </a:solidFill>
                    <a:latin typeface="Calibri (MS) Bold"/>
                    <a:ea typeface="Calibri (MS) Bold"/>
                    <a:cs typeface="Calibri (MS) Bold"/>
                    <a:sym typeface="Calibri (MS) Bold"/>
                  </a:rPr>
                  <a:t>₹1.2 Lakh</a:t>
                </a:r>
              </a:p>
            </p:txBody>
          </p:sp>
        </p:grpSp>
      </p:grpSp>
      <p:grpSp>
        <p:nvGrpSpPr>
          <p:cNvPr name="Group 89" id="89"/>
          <p:cNvGrpSpPr/>
          <p:nvPr/>
        </p:nvGrpSpPr>
        <p:grpSpPr>
          <a:xfrm rot="0">
            <a:off x="6117617" y="3172150"/>
            <a:ext cx="5309435" cy="828470"/>
            <a:chOff x="0" y="0"/>
            <a:chExt cx="7079247" cy="1104626"/>
          </a:xfrm>
        </p:grpSpPr>
        <p:grpSp>
          <p:nvGrpSpPr>
            <p:cNvPr name="Group 90" id="90"/>
            <p:cNvGrpSpPr/>
            <p:nvPr/>
          </p:nvGrpSpPr>
          <p:grpSpPr>
            <a:xfrm rot="0">
              <a:off x="0" y="148836"/>
              <a:ext cx="7079247" cy="806955"/>
              <a:chOff x="0" y="0"/>
              <a:chExt cx="1072027" cy="122199"/>
            </a:xfrm>
          </p:grpSpPr>
          <p:sp>
            <p:nvSpPr>
              <p:cNvPr name="Freeform 91" id="91"/>
              <p:cNvSpPr/>
              <p:nvPr/>
            </p:nvSpPr>
            <p:spPr>
              <a:xfrm flipH="false" flipV="false" rot="0">
                <a:off x="0" y="0"/>
                <a:ext cx="1072027" cy="122199"/>
              </a:xfrm>
              <a:custGeom>
                <a:avLst/>
                <a:gdLst/>
                <a:ahLst/>
                <a:cxnLst/>
                <a:rect r="r" b="b" t="t" l="l"/>
                <a:pathLst>
                  <a:path h="122199" w="1072027">
                    <a:moveTo>
                      <a:pt x="24788" y="0"/>
                    </a:moveTo>
                    <a:lnTo>
                      <a:pt x="1047239" y="0"/>
                    </a:lnTo>
                    <a:cubicBezTo>
                      <a:pt x="1060929" y="0"/>
                      <a:pt x="1072027" y="11098"/>
                      <a:pt x="1072027" y="24788"/>
                    </a:cubicBezTo>
                    <a:lnTo>
                      <a:pt x="1072027" y="97411"/>
                    </a:lnTo>
                    <a:cubicBezTo>
                      <a:pt x="1072027" y="111101"/>
                      <a:pt x="1060929" y="122199"/>
                      <a:pt x="1047239" y="122199"/>
                    </a:cubicBezTo>
                    <a:lnTo>
                      <a:pt x="24788" y="122199"/>
                    </a:lnTo>
                    <a:cubicBezTo>
                      <a:pt x="11098" y="122199"/>
                      <a:pt x="0" y="111101"/>
                      <a:pt x="0" y="97411"/>
                    </a:cubicBezTo>
                    <a:lnTo>
                      <a:pt x="0" y="24788"/>
                    </a:lnTo>
                    <a:cubicBezTo>
                      <a:pt x="0" y="11098"/>
                      <a:pt x="11098" y="0"/>
                      <a:pt x="24788" y="0"/>
                    </a:cubicBezTo>
                    <a:close/>
                  </a:path>
                </a:pathLst>
              </a:custGeom>
              <a:solidFill>
                <a:srgbClr val="FC9223"/>
              </a:solidFill>
            </p:spPr>
          </p:sp>
          <p:sp>
            <p:nvSpPr>
              <p:cNvPr name="TextBox 92" id="92"/>
              <p:cNvSpPr txBox="true"/>
              <p:nvPr/>
            </p:nvSpPr>
            <p:spPr>
              <a:xfrm>
                <a:off x="0" y="-38100"/>
                <a:ext cx="1072027" cy="160299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070"/>
                  </a:lnSpc>
                </a:pPr>
              </a:p>
            </p:txBody>
          </p:sp>
        </p:grpSp>
        <p:grpSp>
          <p:nvGrpSpPr>
            <p:cNvPr name="Group 93" id="93"/>
            <p:cNvGrpSpPr/>
            <p:nvPr/>
          </p:nvGrpSpPr>
          <p:grpSpPr>
            <a:xfrm rot="0">
              <a:off x="201618" y="0"/>
              <a:ext cx="6727618" cy="1104626"/>
              <a:chOff x="0" y="0"/>
              <a:chExt cx="5157571" cy="846836"/>
            </a:xfrm>
          </p:grpSpPr>
          <p:sp>
            <p:nvSpPr>
              <p:cNvPr name="Freeform 94" id="94"/>
              <p:cNvSpPr/>
              <p:nvPr/>
            </p:nvSpPr>
            <p:spPr>
              <a:xfrm flipH="false" flipV="false" rot="0">
                <a:off x="0" y="0"/>
                <a:ext cx="5157571" cy="846836"/>
              </a:xfrm>
              <a:custGeom>
                <a:avLst/>
                <a:gdLst/>
                <a:ahLst/>
                <a:cxnLst/>
                <a:rect r="r" b="b" t="t" l="l"/>
                <a:pathLst>
                  <a:path h="846836" w="5157571">
                    <a:moveTo>
                      <a:pt x="0" y="0"/>
                    </a:moveTo>
                    <a:lnTo>
                      <a:pt x="5157571" y="0"/>
                    </a:lnTo>
                    <a:lnTo>
                      <a:pt x="5157571" y="846836"/>
                    </a:lnTo>
                    <a:lnTo>
                      <a:pt x="0" y="846836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l="0" t="-104872" r="-26587" b="-95573"/>
                </a:stretch>
              </a:blipFill>
            </p:spPr>
          </p:sp>
          <p:sp>
            <p:nvSpPr>
              <p:cNvPr name="TextBox 95" id="95"/>
              <p:cNvSpPr txBox="true"/>
              <p:nvPr/>
            </p:nvSpPr>
            <p:spPr>
              <a:xfrm>
                <a:off x="0" y="-57150"/>
                <a:ext cx="5157571" cy="903986"/>
              </a:xfrm>
              <a:prstGeom prst="rect">
                <a:avLst/>
              </a:prstGeom>
            </p:spPr>
            <p:txBody>
              <a:bodyPr anchor="ctr" rtlCol="false" tIns="0" lIns="0" bIns="0" rIns="0"/>
              <a:lstStyle/>
              <a:p>
                <a:pPr algn="ctr">
                  <a:lnSpc>
                    <a:spcPts val="3419"/>
                  </a:lnSpc>
                </a:pPr>
                <a:r>
                  <a:rPr lang="en-US" sz="2850" b="true">
                    <a:solidFill>
                      <a:srgbClr val="14345C"/>
                    </a:solidFill>
                    <a:latin typeface="Calibri (MS) Bold"/>
                    <a:ea typeface="Calibri (MS) Bold"/>
                    <a:cs typeface="Calibri (MS) Bold"/>
                    <a:sym typeface="Calibri (MS) Bold"/>
                  </a:rPr>
                  <a:t>Prototype cost:</a:t>
                </a:r>
                <a:r>
                  <a:rPr lang="en-US" sz="2850" b="true">
                    <a:solidFill>
                      <a:srgbClr val="000000"/>
                    </a:solidFill>
                    <a:latin typeface="Calibri (MS) Bold"/>
                    <a:ea typeface="Calibri (MS) Bold"/>
                    <a:cs typeface="Calibri (MS) Bold"/>
                    <a:sym typeface="Calibri (MS) Bold"/>
                  </a:rPr>
                  <a:t> </a:t>
                </a:r>
                <a:r>
                  <a:rPr lang="en-US" b="true" sz="2850">
                    <a:solidFill>
                      <a:srgbClr val="FFFFFF"/>
                    </a:solidFill>
                    <a:latin typeface="Calibri (MS) Bold"/>
                    <a:ea typeface="Calibri (MS) Bold"/>
                    <a:cs typeface="Calibri (MS) Bold"/>
                    <a:sym typeface="Calibri (MS) Bold"/>
                  </a:rPr>
                  <a:t>&lt;40,000₹</a:t>
                </a:r>
              </a:p>
            </p:txBody>
          </p:sp>
        </p:grpSp>
      </p:grpSp>
      <p:sp>
        <p:nvSpPr>
          <p:cNvPr name="TextBox 96" id="96"/>
          <p:cNvSpPr txBox="true"/>
          <p:nvPr/>
        </p:nvSpPr>
        <p:spPr>
          <a:xfrm rot="0">
            <a:off x="6237451" y="5405057"/>
            <a:ext cx="4896612" cy="7143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298609" indent="-149304" lvl="1">
              <a:lnSpc>
                <a:spcPts val="1980"/>
              </a:lnSpc>
              <a:buFont typeface="Arial"/>
              <a:buChar char="•"/>
            </a:pPr>
            <a:r>
              <a:rPr lang="en-US" b="true" sz="1650">
                <a:solidFill>
                  <a:srgbClr val="FFFFFF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Fleet Scalability: </a:t>
            </a:r>
            <a:r>
              <a:rPr lang="en-US" sz="1650">
                <a:solidFill>
                  <a:srgbClr val="E4ECF7"/>
                </a:solidFill>
                <a:latin typeface="Calibri (MS)"/>
                <a:ea typeface="Calibri (MS)"/>
                <a:cs typeface="Calibri (MS)"/>
                <a:sym typeface="Calibri (MS)"/>
              </a:rPr>
              <a:t>NDRF battalions can deploy a swarm of 5 Phoenix UAVs for the price of 1 commercial drone.</a:t>
            </a:r>
          </a:p>
        </p:txBody>
      </p:sp>
      <p:grpSp>
        <p:nvGrpSpPr>
          <p:cNvPr name="Group 97" id="97"/>
          <p:cNvGrpSpPr/>
          <p:nvPr/>
        </p:nvGrpSpPr>
        <p:grpSpPr>
          <a:xfrm rot="0">
            <a:off x="6237451" y="6290882"/>
            <a:ext cx="411480" cy="411480"/>
            <a:chOff x="0" y="0"/>
            <a:chExt cx="548640" cy="548640"/>
          </a:xfrm>
        </p:grpSpPr>
        <p:sp>
          <p:nvSpPr>
            <p:cNvPr name="Freeform 98" id="98"/>
            <p:cNvSpPr/>
            <p:nvPr/>
          </p:nvSpPr>
          <p:spPr>
            <a:xfrm flipH="false" flipV="false" rot="0">
              <a:off x="0" y="0"/>
              <a:ext cx="548640" cy="548640"/>
            </a:xfrm>
            <a:custGeom>
              <a:avLst/>
              <a:gdLst/>
              <a:ahLst/>
              <a:cxnLst/>
              <a:rect r="r" b="b" t="t" l="l"/>
              <a:pathLst>
                <a:path h="548640" w="548640">
                  <a:moveTo>
                    <a:pt x="0" y="274320"/>
                  </a:moveTo>
                  <a:cubicBezTo>
                    <a:pt x="0" y="122809"/>
                    <a:pt x="122809" y="0"/>
                    <a:pt x="274320" y="0"/>
                  </a:cubicBezTo>
                  <a:cubicBezTo>
                    <a:pt x="425831" y="0"/>
                    <a:pt x="548640" y="122809"/>
                    <a:pt x="548640" y="274320"/>
                  </a:cubicBezTo>
                  <a:cubicBezTo>
                    <a:pt x="548640" y="425831"/>
                    <a:pt x="425831" y="548640"/>
                    <a:pt x="274320" y="548640"/>
                  </a:cubicBezTo>
                  <a:cubicBezTo>
                    <a:pt x="122809" y="548640"/>
                    <a:pt x="0" y="425831"/>
                    <a:pt x="0" y="274320"/>
                  </a:cubicBezTo>
                  <a:close/>
                </a:path>
              </a:pathLst>
            </a:custGeom>
            <a:solidFill>
              <a:srgbClr val="FDEEDD"/>
            </a:solidFill>
          </p:spPr>
        </p:sp>
      </p:grpSp>
      <p:grpSp>
        <p:nvGrpSpPr>
          <p:cNvPr name="Group 99" id="99"/>
          <p:cNvGrpSpPr/>
          <p:nvPr/>
        </p:nvGrpSpPr>
        <p:grpSpPr>
          <a:xfrm rot="0">
            <a:off x="6340321" y="6393752"/>
            <a:ext cx="205740" cy="205740"/>
            <a:chOff x="0" y="0"/>
            <a:chExt cx="274320" cy="274320"/>
          </a:xfrm>
        </p:grpSpPr>
        <p:sp>
          <p:nvSpPr>
            <p:cNvPr name="Freeform 100" id="100" descr="National Data Sovereignty icon"/>
            <p:cNvSpPr/>
            <p:nvPr/>
          </p:nvSpPr>
          <p:spPr>
            <a:xfrm flipH="false" flipV="false" rot="0">
              <a:off x="0" y="0"/>
              <a:ext cx="274320" cy="274320"/>
            </a:xfrm>
            <a:custGeom>
              <a:avLst/>
              <a:gdLst/>
              <a:ahLst/>
              <a:cxnLst/>
              <a:rect r="r" b="b" t="t" l="l"/>
              <a:pathLst>
                <a:path h="274320" w="274320">
                  <a:moveTo>
                    <a:pt x="0" y="0"/>
                  </a:moveTo>
                  <a:lnTo>
                    <a:pt x="274320" y="0"/>
                  </a:lnTo>
                  <a:lnTo>
                    <a:pt x="274320" y="274320"/>
                  </a:lnTo>
                  <a:lnTo>
                    <a:pt x="0" y="27432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/>
              <a:stretch>
                <a:fillRect l="0" t="0" r="0" b="0"/>
              </a:stretch>
            </a:blipFill>
          </p:spPr>
        </p:sp>
      </p:grpSp>
      <p:grpSp>
        <p:nvGrpSpPr>
          <p:cNvPr name="Group 101" id="101"/>
          <p:cNvGrpSpPr/>
          <p:nvPr/>
        </p:nvGrpSpPr>
        <p:grpSpPr>
          <a:xfrm rot="0">
            <a:off x="6786091" y="6290882"/>
            <a:ext cx="4114800" cy="411480"/>
            <a:chOff x="0" y="0"/>
            <a:chExt cx="5486400" cy="548640"/>
          </a:xfrm>
        </p:grpSpPr>
        <p:sp>
          <p:nvSpPr>
            <p:cNvPr name="Freeform 102" id="102"/>
            <p:cNvSpPr/>
            <p:nvPr/>
          </p:nvSpPr>
          <p:spPr>
            <a:xfrm flipH="false" flipV="false" rot="0">
              <a:off x="0" y="0"/>
              <a:ext cx="5486400" cy="548640"/>
            </a:xfrm>
            <a:custGeom>
              <a:avLst/>
              <a:gdLst/>
              <a:ahLst/>
              <a:cxnLst/>
              <a:rect r="r" b="b" t="t" l="l"/>
              <a:pathLst>
                <a:path h="548640" w="5486400">
                  <a:moveTo>
                    <a:pt x="0" y="0"/>
                  </a:moveTo>
                  <a:lnTo>
                    <a:pt x="5486400" y="0"/>
                  </a:lnTo>
                  <a:lnTo>
                    <a:pt x="548640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44850" r="0" b="-144850"/>
              </a:stretch>
            </a:blipFill>
          </p:spPr>
        </p:sp>
        <p:sp>
          <p:nvSpPr>
            <p:cNvPr name="TextBox 103" id="103"/>
            <p:cNvSpPr txBox="true"/>
            <p:nvPr/>
          </p:nvSpPr>
          <p:spPr>
            <a:xfrm>
              <a:off x="0" y="-28575"/>
              <a:ext cx="5486400" cy="57721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980"/>
                </a:lnSpc>
              </a:pPr>
              <a:r>
                <a:rPr lang="en-US" b="true" sz="1650" spc="120">
                  <a:solidFill>
                    <a:srgbClr val="FFB35C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NATIONAL DATA SOVEREIGNTY</a:t>
              </a:r>
            </a:p>
          </p:txBody>
        </p:sp>
      </p:grpSp>
      <p:sp>
        <p:nvSpPr>
          <p:cNvPr name="TextBox 104" id="104"/>
          <p:cNvSpPr txBox="true"/>
          <p:nvPr/>
        </p:nvSpPr>
        <p:spPr>
          <a:xfrm rot="0">
            <a:off x="6237451" y="6756083"/>
            <a:ext cx="4896612" cy="9201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298609" indent="-149304" lvl="1">
              <a:lnSpc>
                <a:spcPts val="1980"/>
              </a:lnSpc>
              <a:buFont typeface="Arial"/>
              <a:buChar char="•"/>
            </a:pPr>
            <a:r>
              <a:rPr lang="en-US" b="true" sz="1650">
                <a:solidFill>
                  <a:srgbClr val="FFFFFF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100% Air-Gapped: </a:t>
            </a:r>
            <a:r>
              <a:rPr lang="en-US" sz="1650">
                <a:solidFill>
                  <a:srgbClr val="E4ECF7"/>
                </a:solidFill>
                <a:latin typeface="Calibri (MS)"/>
                <a:ea typeface="Calibri (MS)"/>
                <a:cs typeface="Calibri (MS)"/>
                <a:sym typeface="Calibri (MS)"/>
              </a:rPr>
              <a:t>Zero telemetry leaked to foreign cloud servers; adheres to Indian Defense &amp; Home Ministry cyber norms.</a:t>
            </a:r>
          </a:p>
        </p:txBody>
      </p:sp>
      <p:grpSp>
        <p:nvGrpSpPr>
          <p:cNvPr name="Group 105" id="105"/>
          <p:cNvGrpSpPr/>
          <p:nvPr/>
        </p:nvGrpSpPr>
        <p:grpSpPr>
          <a:xfrm rot="0">
            <a:off x="6237451" y="7662482"/>
            <a:ext cx="411480" cy="411480"/>
            <a:chOff x="0" y="0"/>
            <a:chExt cx="548640" cy="548640"/>
          </a:xfrm>
        </p:grpSpPr>
        <p:sp>
          <p:nvSpPr>
            <p:cNvPr name="Freeform 106" id="106"/>
            <p:cNvSpPr/>
            <p:nvPr/>
          </p:nvSpPr>
          <p:spPr>
            <a:xfrm flipH="false" flipV="false" rot="0">
              <a:off x="0" y="0"/>
              <a:ext cx="548640" cy="548640"/>
            </a:xfrm>
            <a:custGeom>
              <a:avLst/>
              <a:gdLst/>
              <a:ahLst/>
              <a:cxnLst/>
              <a:rect r="r" b="b" t="t" l="l"/>
              <a:pathLst>
                <a:path h="548640" w="548640">
                  <a:moveTo>
                    <a:pt x="0" y="274320"/>
                  </a:moveTo>
                  <a:cubicBezTo>
                    <a:pt x="0" y="122809"/>
                    <a:pt x="122809" y="0"/>
                    <a:pt x="274320" y="0"/>
                  </a:cubicBezTo>
                  <a:cubicBezTo>
                    <a:pt x="425831" y="0"/>
                    <a:pt x="548640" y="122809"/>
                    <a:pt x="548640" y="274320"/>
                  </a:cubicBezTo>
                  <a:cubicBezTo>
                    <a:pt x="548640" y="425831"/>
                    <a:pt x="425831" y="548640"/>
                    <a:pt x="274320" y="548640"/>
                  </a:cubicBezTo>
                  <a:cubicBezTo>
                    <a:pt x="122809" y="548640"/>
                    <a:pt x="0" y="425831"/>
                    <a:pt x="0" y="274320"/>
                  </a:cubicBezTo>
                  <a:close/>
                </a:path>
              </a:pathLst>
            </a:custGeom>
            <a:solidFill>
              <a:srgbClr val="FDEEDD"/>
            </a:solidFill>
          </p:spPr>
        </p:sp>
      </p:grpSp>
      <p:grpSp>
        <p:nvGrpSpPr>
          <p:cNvPr name="Group 107" id="107"/>
          <p:cNvGrpSpPr/>
          <p:nvPr/>
        </p:nvGrpSpPr>
        <p:grpSpPr>
          <a:xfrm rot="0">
            <a:off x="6340321" y="7765352"/>
            <a:ext cx="205740" cy="205740"/>
            <a:chOff x="0" y="0"/>
            <a:chExt cx="274320" cy="274320"/>
          </a:xfrm>
        </p:grpSpPr>
        <p:sp>
          <p:nvSpPr>
            <p:cNvPr name="Freeform 108" id="108" descr="Deployment Ecosystem icon"/>
            <p:cNvSpPr/>
            <p:nvPr/>
          </p:nvSpPr>
          <p:spPr>
            <a:xfrm flipH="false" flipV="false" rot="0">
              <a:off x="0" y="0"/>
              <a:ext cx="274320" cy="274320"/>
            </a:xfrm>
            <a:custGeom>
              <a:avLst/>
              <a:gdLst/>
              <a:ahLst/>
              <a:cxnLst/>
              <a:rect r="r" b="b" t="t" l="l"/>
              <a:pathLst>
                <a:path h="274320" w="274320">
                  <a:moveTo>
                    <a:pt x="0" y="0"/>
                  </a:moveTo>
                  <a:lnTo>
                    <a:pt x="274320" y="0"/>
                  </a:lnTo>
                  <a:lnTo>
                    <a:pt x="274320" y="274320"/>
                  </a:lnTo>
                  <a:lnTo>
                    <a:pt x="0" y="27432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/>
              <a:stretch>
                <a:fillRect l="0" t="0" r="0" b="0"/>
              </a:stretch>
            </a:blipFill>
          </p:spPr>
        </p:sp>
      </p:grpSp>
      <p:grpSp>
        <p:nvGrpSpPr>
          <p:cNvPr name="Group 109" id="109"/>
          <p:cNvGrpSpPr/>
          <p:nvPr/>
        </p:nvGrpSpPr>
        <p:grpSpPr>
          <a:xfrm rot="0">
            <a:off x="6786091" y="7662482"/>
            <a:ext cx="4114800" cy="411480"/>
            <a:chOff x="0" y="0"/>
            <a:chExt cx="5486400" cy="548640"/>
          </a:xfrm>
        </p:grpSpPr>
        <p:sp>
          <p:nvSpPr>
            <p:cNvPr name="Freeform 110" id="110"/>
            <p:cNvSpPr/>
            <p:nvPr/>
          </p:nvSpPr>
          <p:spPr>
            <a:xfrm flipH="false" flipV="false" rot="0">
              <a:off x="0" y="0"/>
              <a:ext cx="5486400" cy="548640"/>
            </a:xfrm>
            <a:custGeom>
              <a:avLst/>
              <a:gdLst/>
              <a:ahLst/>
              <a:cxnLst/>
              <a:rect r="r" b="b" t="t" l="l"/>
              <a:pathLst>
                <a:path h="548640" w="5486400">
                  <a:moveTo>
                    <a:pt x="0" y="0"/>
                  </a:moveTo>
                  <a:lnTo>
                    <a:pt x="5486400" y="0"/>
                  </a:lnTo>
                  <a:lnTo>
                    <a:pt x="548640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44850" r="0" b="-144850"/>
              </a:stretch>
            </a:blipFill>
          </p:spPr>
        </p:sp>
        <p:sp>
          <p:nvSpPr>
            <p:cNvPr name="TextBox 111" id="111"/>
            <p:cNvSpPr txBox="true"/>
            <p:nvPr/>
          </p:nvSpPr>
          <p:spPr>
            <a:xfrm>
              <a:off x="0" y="-28575"/>
              <a:ext cx="5486400" cy="57721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980"/>
                </a:lnSpc>
              </a:pPr>
              <a:r>
                <a:rPr lang="en-US" b="true" sz="1650" spc="120">
                  <a:solidFill>
                    <a:srgbClr val="FFB35C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DEPLOYMENT ECOSYSTEM</a:t>
              </a:r>
            </a:p>
          </p:txBody>
        </p:sp>
      </p:grpSp>
      <p:sp>
        <p:nvSpPr>
          <p:cNvPr name="TextBox 112" id="112"/>
          <p:cNvSpPr txBox="true"/>
          <p:nvPr/>
        </p:nvSpPr>
        <p:spPr>
          <a:xfrm rot="0">
            <a:off x="6237451" y="8127683"/>
            <a:ext cx="4896612" cy="87896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298609" indent="-149304" lvl="1">
              <a:lnSpc>
                <a:spcPts val="1980"/>
              </a:lnSpc>
              <a:buFont typeface="Arial"/>
              <a:buChar char="•"/>
            </a:pPr>
            <a:r>
              <a:rPr lang="en-US" sz="1650">
                <a:solidFill>
                  <a:srgbClr val="E4ECF7"/>
                </a:solidFill>
                <a:latin typeface="Calibri (MS)"/>
                <a:ea typeface="Calibri (MS)"/>
                <a:cs typeface="Calibri (MS)"/>
                <a:sym typeface="Calibri (MS)"/>
              </a:rPr>
              <a:t>Seamless integration into state disaster management authorities (NDRF, SDRF, Indian Army disaster columns).</a:t>
            </a:r>
          </a:p>
        </p:txBody>
      </p:sp>
      <p:grpSp>
        <p:nvGrpSpPr>
          <p:cNvPr name="Group 113" id="113"/>
          <p:cNvGrpSpPr/>
          <p:nvPr/>
        </p:nvGrpSpPr>
        <p:grpSpPr>
          <a:xfrm rot="0">
            <a:off x="12056364" y="2194560"/>
            <a:ext cx="3689737" cy="411480"/>
            <a:chOff x="0" y="0"/>
            <a:chExt cx="4919650" cy="548640"/>
          </a:xfrm>
        </p:grpSpPr>
        <p:sp>
          <p:nvSpPr>
            <p:cNvPr name="Freeform 114" id="114"/>
            <p:cNvSpPr/>
            <p:nvPr/>
          </p:nvSpPr>
          <p:spPr>
            <a:xfrm flipH="false" flipV="false" rot="0">
              <a:off x="0" y="0"/>
              <a:ext cx="4919599" cy="548640"/>
            </a:xfrm>
            <a:custGeom>
              <a:avLst/>
              <a:gdLst/>
              <a:ahLst/>
              <a:cxnLst/>
              <a:rect r="r" b="b" t="t" l="l"/>
              <a:pathLst>
                <a:path h="548640" w="4919599">
                  <a:moveTo>
                    <a:pt x="0" y="274320"/>
                  </a:moveTo>
                  <a:cubicBezTo>
                    <a:pt x="0" y="122809"/>
                    <a:pt x="122809" y="0"/>
                    <a:pt x="274320" y="0"/>
                  </a:cubicBezTo>
                  <a:lnTo>
                    <a:pt x="4645279" y="0"/>
                  </a:lnTo>
                  <a:cubicBezTo>
                    <a:pt x="4796790" y="0"/>
                    <a:pt x="4919599" y="122809"/>
                    <a:pt x="4919599" y="274320"/>
                  </a:cubicBezTo>
                  <a:cubicBezTo>
                    <a:pt x="4919599" y="425831"/>
                    <a:pt x="4796790" y="548640"/>
                    <a:pt x="4645279" y="548640"/>
                  </a:cubicBezTo>
                  <a:lnTo>
                    <a:pt x="274320" y="548640"/>
                  </a:lnTo>
                  <a:cubicBezTo>
                    <a:pt x="122809" y="548640"/>
                    <a:pt x="0" y="425831"/>
                    <a:pt x="0" y="274320"/>
                  </a:cubicBezTo>
                  <a:close/>
                </a:path>
              </a:pathLst>
            </a:custGeom>
            <a:solidFill>
              <a:srgbClr val="E1EEF9"/>
            </a:solidFill>
          </p:spPr>
        </p:sp>
      </p:grpSp>
      <p:grpSp>
        <p:nvGrpSpPr>
          <p:cNvPr name="Group 115" id="115"/>
          <p:cNvGrpSpPr/>
          <p:nvPr/>
        </p:nvGrpSpPr>
        <p:grpSpPr>
          <a:xfrm rot="0">
            <a:off x="12056364" y="2194560"/>
            <a:ext cx="3689737" cy="411480"/>
            <a:chOff x="0" y="0"/>
            <a:chExt cx="4919650" cy="548640"/>
          </a:xfrm>
        </p:grpSpPr>
        <p:sp>
          <p:nvSpPr>
            <p:cNvPr name="Freeform 116" id="116"/>
            <p:cNvSpPr/>
            <p:nvPr/>
          </p:nvSpPr>
          <p:spPr>
            <a:xfrm flipH="false" flipV="false" rot="0">
              <a:off x="0" y="0"/>
              <a:ext cx="4919654" cy="548640"/>
            </a:xfrm>
            <a:custGeom>
              <a:avLst/>
              <a:gdLst/>
              <a:ahLst/>
              <a:cxnLst/>
              <a:rect r="r" b="b" t="t" l="l"/>
              <a:pathLst>
                <a:path h="548640" w="4919654">
                  <a:moveTo>
                    <a:pt x="0" y="0"/>
                  </a:moveTo>
                  <a:lnTo>
                    <a:pt x="4919654" y="0"/>
                  </a:lnTo>
                  <a:lnTo>
                    <a:pt x="4919654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24722" r="0" b="-124722"/>
              </a:stretch>
            </a:blipFill>
          </p:spPr>
        </p:sp>
        <p:sp>
          <p:nvSpPr>
            <p:cNvPr name="TextBox 117" id="117"/>
            <p:cNvSpPr txBox="true"/>
            <p:nvPr/>
          </p:nvSpPr>
          <p:spPr>
            <a:xfrm>
              <a:off x="0" y="-19050"/>
              <a:ext cx="4919650" cy="56769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889"/>
                </a:lnSpc>
              </a:pPr>
              <a:r>
                <a:rPr lang="en-US" b="true" sz="1575" spc="224">
                  <a:solidFill>
                    <a:srgbClr val="0070C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CHALLENGES → STRATEGIES</a:t>
              </a:r>
            </a:p>
          </p:txBody>
        </p:sp>
      </p:grpSp>
      <p:grpSp>
        <p:nvGrpSpPr>
          <p:cNvPr name="Group 118" id="118"/>
          <p:cNvGrpSpPr/>
          <p:nvPr/>
        </p:nvGrpSpPr>
        <p:grpSpPr>
          <a:xfrm rot="0">
            <a:off x="12056364" y="2962656"/>
            <a:ext cx="438912" cy="438912"/>
            <a:chOff x="0" y="0"/>
            <a:chExt cx="585216" cy="585216"/>
          </a:xfrm>
        </p:grpSpPr>
        <p:sp>
          <p:nvSpPr>
            <p:cNvPr name="Freeform 119" id="119"/>
            <p:cNvSpPr/>
            <p:nvPr/>
          </p:nvSpPr>
          <p:spPr>
            <a:xfrm flipH="false" flipV="false" rot="0">
              <a:off x="0" y="0"/>
              <a:ext cx="585216" cy="585216"/>
            </a:xfrm>
            <a:custGeom>
              <a:avLst/>
              <a:gdLst/>
              <a:ahLst/>
              <a:cxnLst/>
              <a:rect r="r" b="b" t="t" l="l"/>
              <a:pathLst>
                <a:path h="585216" w="585216">
                  <a:moveTo>
                    <a:pt x="0" y="292608"/>
                  </a:moveTo>
                  <a:cubicBezTo>
                    <a:pt x="0" y="131064"/>
                    <a:pt x="131064" y="0"/>
                    <a:pt x="292608" y="0"/>
                  </a:cubicBezTo>
                  <a:cubicBezTo>
                    <a:pt x="454152" y="0"/>
                    <a:pt x="585216" y="131064"/>
                    <a:pt x="585216" y="292608"/>
                  </a:cubicBezTo>
                  <a:cubicBezTo>
                    <a:pt x="585216" y="454152"/>
                    <a:pt x="454152" y="585216"/>
                    <a:pt x="292608" y="585216"/>
                  </a:cubicBezTo>
                  <a:cubicBezTo>
                    <a:pt x="131064" y="585216"/>
                    <a:pt x="0" y="454152"/>
                    <a:pt x="0" y="292608"/>
                  </a:cubicBezTo>
                  <a:close/>
                </a:path>
              </a:pathLst>
            </a:custGeom>
            <a:solidFill>
              <a:srgbClr val="D9700F"/>
            </a:solidFill>
          </p:spPr>
        </p:sp>
      </p:grpSp>
      <p:grpSp>
        <p:nvGrpSpPr>
          <p:cNvPr name="Group 120" id="120"/>
          <p:cNvGrpSpPr/>
          <p:nvPr/>
        </p:nvGrpSpPr>
        <p:grpSpPr>
          <a:xfrm rot="0">
            <a:off x="12056364" y="2962656"/>
            <a:ext cx="438912" cy="438912"/>
            <a:chOff x="0" y="0"/>
            <a:chExt cx="585216" cy="585216"/>
          </a:xfrm>
        </p:grpSpPr>
        <p:sp>
          <p:nvSpPr>
            <p:cNvPr name="Freeform 121" id="121"/>
            <p:cNvSpPr/>
            <p:nvPr/>
          </p:nvSpPr>
          <p:spPr>
            <a:xfrm flipH="false" flipV="false" rot="0">
              <a:off x="0" y="0"/>
              <a:ext cx="585216" cy="585216"/>
            </a:xfrm>
            <a:custGeom>
              <a:avLst/>
              <a:gdLst/>
              <a:ahLst/>
              <a:cxnLst/>
              <a:rect r="r" b="b" t="t" l="l"/>
              <a:pathLst>
                <a:path h="585216" w="585216">
                  <a:moveTo>
                    <a:pt x="0" y="0"/>
                  </a:moveTo>
                  <a:lnTo>
                    <a:pt x="585216" y="0"/>
                  </a:lnTo>
                  <a:lnTo>
                    <a:pt x="585216" y="585216"/>
                  </a:lnTo>
                  <a:lnTo>
                    <a:pt x="0" y="58521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78303" t="0" r="-78303" b="0"/>
              </a:stretch>
            </a:blipFill>
          </p:spPr>
        </p:sp>
        <p:sp>
          <p:nvSpPr>
            <p:cNvPr name="TextBox 122" id="122"/>
            <p:cNvSpPr txBox="true"/>
            <p:nvPr/>
          </p:nvSpPr>
          <p:spPr>
            <a:xfrm>
              <a:off x="0" y="-38100"/>
              <a:ext cx="585216" cy="62331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070"/>
                </a:lnSpc>
              </a:pPr>
              <a:r>
                <a:rPr lang="en-US" sz="1725" b="true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1</a:t>
              </a:r>
            </a:p>
          </p:txBody>
        </p:sp>
      </p:grpSp>
      <p:grpSp>
        <p:nvGrpSpPr>
          <p:cNvPr name="Group 123" id="123"/>
          <p:cNvGrpSpPr/>
          <p:nvPr/>
        </p:nvGrpSpPr>
        <p:grpSpPr>
          <a:xfrm rot="0">
            <a:off x="12687300" y="2948940"/>
            <a:ext cx="4471416" cy="466344"/>
            <a:chOff x="0" y="0"/>
            <a:chExt cx="5961888" cy="621792"/>
          </a:xfrm>
        </p:grpSpPr>
        <p:sp>
          <p:nvSpPr>
            <p:cNvPr name="Freeform 124" id="124"/>
            <p:cNvSpPr/>
            <p:nvPr/>
          </p:nvSpPr>
          <p:spPr>
            <a:xfrm flipH="false" flipV="false" rot="0">
              <a:off x="0" y="0"/>
              <a:ext cx="5961888" cy="621792"/>
            </a:xfrm>
            <a:custGeom>
              <a:avLst/>
              <a:gdLst/>
              <a:ahLst/>
              <a:cxnLst/>
              <a:rect r="r" b="b" t="t" l="l"/>
              <a:pathLst>
                <a:path h="621792" w="5961888">
                  <a:moveTo>
                    <a:pt x="0" y="0"/>
                  </a:moveTo>
                  <a:lnTo>
                    <a:pt x="5961888" y="0"/>
                  </a:lnTo>
                  <a:lnTo>
                    <a:pt x="5961888" y="621792"/>
                  </a:lnTo>
                  <a:lnTo>
                    <a:pt x="0" y="62179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36827" r="0" b="-136827"/>
              </a:stretch>
            </a:blipFill>
          </p:spPr>
        </p:sp>
        <p:sp>
          <p:nvSpPr>
            <p:cNvPr name="TextBox 125" id="125"/>
            <p:cNvSpPr txBox="true"/>
            <p:nvPr/>
          </p:nvSpPr>
          <p:spPr>
            <a:xfrm>
              <a:off x="0" y="-38100"/>
              <a:ext cx="5961888" cy="65989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160"/>
                </a:lnSpc>
              </a:pPr>
              <a:r>
                <a:rPr lang="en-US" sz="1800" b="true">
                  <a:solidFill>
                    <a:srgbClr val="1F497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Comms Blackout in Canyons</a:t>
              </a:r>
            </a:p>
          </p:txBody>
        </p:sp>
      </p:grpSp>
      <p:sp>
        <p:nvSpPr>
          <p:cNvPr name="TextBox 126" id="126"/>
          <p:cNvSpPr txBox="true"/>
          <p:nvPr/>
        </p:nvSpPr>
        <p:spPr>
          <a:xfrm rot="0">
            <a:off x="12687300" y="3414141"/>
            <a:ext cx="4471416" cy="7829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80"/>
              </a:lnSpc>
            </a:pPr>
            <a:r>
              <a:rPr sz="1500" b="0" i="0">
                <a:solidFill>
                  <a:srgbClr val="1E2638"/>
                </a:solidFill>
                <a:latin typeface="Calibri"/>
              </a:rPr>
              <a:t>→ Strategy: 868MHz LoRa packet bridge in NLoS canyons [2] (Pérez-Díaz-de-Cerio, IEEE Access 2026, DOI: 10.1109/ACCESS.2026.3731317).</a:t>
            </a:r>
          </a:p>
        </p:txBody>
      </p:sp>
      <p:grpSp>
        <p:nvGrpSpPr>
          <p:cNvPr name="Group 127" id="127"/>
          <p:cNvGrpSpPr/>
          <p:nvPr/>
        </p:nvGrpSpPr>
        <p:grpSpPr>
          <a:xfrm rot="0">
            <a:off x="12056364" y="4238244"/>
            <a:ext cx="438912" cy="438912"/>
            <a:chOff x="0" y="0"/>
            <a:chExt cx="585216" cy="585216"/>
          </a:xfrm>
        </p:grpSpPr>
        <p:sp>
          <p:nvSpPr>
            <p:cNvPr name="Freeform 128" id="128"/>
            <p:cNvSpPr/>
            <p:nvPr/>
          </p:nvSpPr>
          <p:spPr>
            <a:xfrm flipH="false" flipV="false" rot="0">
              <a:off x="0" y="0"/>
              <a:ext cx="585216" cy="585216"/>
            </a:xfrm>
            <a:custGeom>
              <a:avLst/>
              <a:gdLst/>
              <a:ahLst/>
              <a:cxnLst/>
              <a:rect r="r" b="b" t="t" l="l"/>
              <a:pathLst>
                <a:path h="585216" w="585216">
                  <a:moveTo>
                    <a:pt x="0" y="292608"/>
                  </a:moveTo>
                  <a:cubicBezTo>
                    <a:pt x="0" y="131064"/>
                    <a:pt x="131064" y="0"/>
                    <a:pt x="292608" y="0"/>
                  </a:cubicBezTo>
                  <a:cubicBezTo>
                    <a:pt x="454152" y="0"/>
                    <a:pt x="585216" y="131064"/>
                    <a:pt x="585216" y="292608"/>
                  </a:cubicBezTo>
                  <a:cubicBezTo>
                    <a:pt x="585216" y="454152"/>
                    <a:pt x="454152" y="585216"/>
                    <a:pt x="292608" y="585216"/>
                  </a:cubicBezTo>
                  <a:cubicBezTo>
                    <a:pt x="131064" y="585216"/>
                    <a:pt x="0" y="454152"/>
                    <a:pt x="0" y="292608"/>
                  </a:cubicBezTo>
                  <a:close/>
                </a:path>
              </a:pathLst>
            </a:custGeom>
            <a:solidFill>
              <a:srgbClr val="D9700F"/>
            </a:solidFill>
          </p:spPr>
        </p:sp>
      </p:grpSp>
      <p:grpSp>
        <p:nvGrpSpPr>
          <p:cNvPr name="Group 129" id="129"/>
          <p:cNvGrpSpPr/>
          <p:nvPr/>
        </p:nvGrpSpPr>
        <p:grpSpPr>
          <a:xfrm rot="0">
            <a:off x="12056364" y="4238244"/>
            <a:ext cx="438912" cy="438912"/>
            <a:chOff x="0" y="0"/>
            <a:chExt cx="585216" cy="585216"/>
          </a:xfrm>
        </p:grpSpPr>
        <p:sp>
          <p:nvSpPr>
            <p:cNvPr name="Freeform 130" id="130"/>
            <p:cNvSpPr/>
            <p:nvPr/>
          </p:nvSpPr>
          <p:spPr>
            <a:xfrm flipH="false" flipV="false" rot="0">
              <a:off x="0" y="0"/>
              <a:ext cx="585216" cy="585216"/>
            </a:xfrm>
            <a:custGeom>
              <a:avLst/>
              <a:gdLst/>
              <a:ahLst/>
              <a:cxnLst/>
              <a:rect r="r" b="b" t="t" l="l"/>
              <a:pathLst>
                <a:path h="585216" w="585216">
                  <a:moveTo>
                    <a:pt x="0" y="0"/>
                  </a:moveTo>
                  <a:lnTo>
                    <a:pt x="585216" y="0"/>
                  </a:lnTo>
                  <a:lnTo>
                    <a:pt x="585216" y="585216"/>
                  </a:lnTo>
                  <a:lnTo>
                    <a:pt x="0" y="58521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78303" t="0" r="-78303" b="0"/>
              </a:stretch>
            </a:blipFill>
          </p:spPr>
        </p:sp>
        <p:sp>
          <p:nvSpPr>
            <p:cNvPr name="TextBox 131" id="131"/>
            <p:cNvSpPr txBox="true"/>
            <p:nvPr/>
          </p:nvSpPr>
          <p:spPr>
            <a:xfrm>
              <a:off x="0" y="-38100"/>
              <a:ext cx="585216" cy="62331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070"/>
                </a:lnSpc>
              </a:pPr>
              <a:r>
                <a:rPr lang="en-US" sz="1725" b="true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2</a:t>
              </a:r>
            </a:p>
          </p:txBody>
        </p:sp>
      </p:grpSp>
      <p:grpSp>
        <p:nvGrpSpPr>
          <p:cNvPr name="Group 132" id="132"/>
          <p:cNvGrpSpPr/>
          <p:nvPr/>
        </p:nvGrpSpPr>
        <p:grpSpPr>
          <a:xfrm rot="0">
            <a:off x="12687300" y="4224528"/>
            <a:ext cx="4471416" cy="466344"/>
            <a:chOff x="0" y="0"/>
            <a:chExt cx="5961888" cy="621792"/>
          </a:xfrm>
        </p:grpSpPr>
        <p:sp>
          <p:nvSpPr>
            <p:cNvPr name="Freeform 133" id="133"/>
            <p:cNvSpPr/>
            <p:nvPr/>
          </p:nvSpPr>
          <p:spPr>
            <a:xfrm flipH="false" flipV="false" rot="0">
              <a:off x="0" y="0"/>
              <a:ext cx="5961888" cy="621792"/>
            </a:xfrm>
            <a:custGeom>
              <a:avLst/>
              <a:gdLst/>
              <a:ahLst/>
              <a:cxnLst/>
              <a:rect r="r" b="b" t="t" l="l"/>
              <a:pathLst>
                <a:path h="621792" w="5961888">
                  <a:moveTo>
                    <a:pt x="0" y="0"/>
                  </a:moveTo>
                  <a:lnTo>
                    <a:pt x="5961888" y="0"/>
                  </a:lnTo>
                  <a:lnTo>
                    <a:pt x="5961888" y="621792"/>
                  </a:lnTo>
                  <a:lnTo>
                    <a:pt x="0" y="62179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36827" r="0" b="-136827"/>
              </a:stretch>
            </a:blipFill>
          </p:spPr>
        </p:sp>
        <p:sp>
          <p:nvSpPr>
            <p:cNvPr name="TextBox 134" id="134"/>
            <p:cNvSpPr txBox="true"/>
            <p:nvPr/>
          </p:nvSpPr>
          <p:spPr>
            <a:xfrm>
              <a:off x="0" y="-38100"/>
              <a:ext cx="5961888" cy="65989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160"/>
                </a:lnSpc>
              </a:pPr>
              <a:r>
                <a:rPr lang="en-US" sz="1800" b="true">
                  <a:solidFill>
                    <a:srgbClr val="1F497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Smoke, Mud Slush &amp; Darkness</a:t>
              </a:r>
            </a:p>
          </p:txBody>
        </p:sp>
      </p:grpSp>
      <p:sp>
        <p:nvSpPr>
          <p:cNvPr name="TextBox 135" id="135"/>
          <p:cNvSpPr txBox="true"/>
          <p:nvPr/>
        </p:nvSpPr>
        <p:spPr>
          <a:xfrm rot="0">
            <a:off x="12687300" y="4689729"/>
            <a:ext cx="4471416" cy="7829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80"/>
              </a:lnSpc>
            </a:pPr>
            <a:r>
              <a:rPr sz="1500" b="0" i="0">
                <a:solidFill>
                  <a:srgbClr val="1E2638"/>
                </a:solidFill>
                <a:latin typeface="Calibri"/>
              </a:rPr>
              <a:t>→ Strategy: 8–14μm LWIR thermal detection of casualties &amp; debris interfaces in smoke/fog [1] (Siotia, IEEE Access 2026).</a:t>
            </a:r>
          </a:p>
        </p:txBody>
      </p:sp>
      <p:grpSp>
        <p:nvGrpSpPr>
          <p:cNvPr name="Group 136" id="136"/>
          <p:cNvGrpSpPr/>
          <p:nvPr/>
        </p:nvGrpSpPr>
        <p:grpSpPr>
          <a:xfrm rot="0">
            <a:off x="12056364" y="5513832"/>
            <a:ext cx="438912" cy="438912"/>
            <a:chOff x="0" y="0"/>
            <a:chExt cx="585216" cy="585216"/>
          </a:xfrm>
        </p:grpSpPr>
        <p:sp>
          <p:nvSpPr>
            <p:cNvPr name="Freeform 137" id="137"/>
            <p:cNvSpPr/>
            <p:nvPr/>
          </p:nvSpPr>
          <p:spPr>
            <a:xfrm flipH="false" flipV="false" rot="0">
              <a:off x="0" y="0"/>
              <a:ext cx="585216" cy="585216"/>
            </a:xfrm>
            <a:custGeom>
              <a:avLst/>
              <a:gdLst/>
              <a:ahLst/>
              <a:cxnLst/>
              <a:rect r="r" b="b" t="t" l="l"/>
              <a:pathLst>
                <a:path h="585216" w="585216">
                  <a:moveTo>
                    <a:pt x="0" y="292608"/>
                  </a:moveTo>
                  <a:cubicBezTo>
                    <a:pt x="0" y="131064"/>
                    <a:pt x="131064" y="0"/>
                    <a:pt x="292608" y="0"/>
                  </a:cubicBezTo>
                  <a:cubicBezTo>
                    <a:pt x="454152" y="0"/>
                    <a:pt x="585216" y="131064"/>
                    <a:pt x="585216" y="292608"/>
                  </a:cubicBezTo>
                  <a:cubicBezTo>
                    <a:pt x="585216" y="454152"/>
                    <a:pt x="454152" y="585216"/>
                    <a:pt x="292608" y="585216"/>
                  </a:cubicBezTo>
                  <a:cubicBezTo>
                    <a:pt x="131064" y="585216"/>
                    <a:pt x="0" y="454152"/>
                    <a:pt x="0" y="292608"/>
                  </a:cubicBezTo>
                  <a:close/>
                </a:path>
              </a:pathLst>
            </a:custGeom>
            <a:solidFill>
              <a:srgbClr val="D9700F"/>
            </a:solidFill>
          </p:spPr>
        </p:sp>
      </p:grpSp>
      <p:grpSp>
        <p:nvGrpSpPr>
          <p:cNvPr name="Group 138" id="138"/>
          <p:cNvGrpSpPr/>
          <p:nvPr/>
        </p:nvGrpSpPr>
        <p:grpSpPr>
          <a:xfrm rot="0">
            <a:off x="12056364" y="5513832"/>
            <a:ext cx="438912" cy="438912"/>
            <a:chOff x="0" y="0"/>
            <a:chExt cx="585216" cy="585216"/>
          </a:xfrm>
        </p:grpSpPr>
        <p:sp>
          <p:nvSpPr>
            <p:cNvPr name="Freeform 139" id="139"/>
            <p:cNvSpPr/>
            <p:nvPr/>
          </p:nvSpPr>
          <p:spPr>
            <a:xfrm flipH="false" flipV="false" rot="0">
              <a:off x="0" y="0"/>
              <a:ext cx="585216" cy="585216"/>
            </a:xfrm>
            <a:custGeom>
              <a:avLst/>
              <a:gdLst/>
              <a:ahLst/>
              <a:cxnLst/>
              <a:rect r="r" b="b" t="t" l="l"/>
              <a:pathLst>
                <a:path h="585216" w="585216">
                  <a:moveTo>
                    <a:pt x="0" y="0"/>
                  </a:moveTo>
                  <a:lnTo>
                    <a:pt x="585216" y="0"/>
                  </a:lnTo>
                  <a:lnTo>
                    <a:pt x="585216" y="585216"/>
                  </a:lnTo>
                  <a:lnTo>
                    <a:pt x="0" y="58521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78303" t="0" r="-78303" b="0"/>
              </a:stretch>
            </a:blipFill>
          </p:spPr>
        </p:sp>
        <p:sp>
          <p:nvSpPr>
            <p:cNvPr name="TextBox 140" id="140"/>
            <p:cNvSpPr txBox="true"/>
            <p:nvPr/>
          </p:nvSpPr>
          <p:spPr>
            <a:xfrm>
              <a:off x="0" y="-38100"/>
              <a:ext cx="585216" cy="62331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070"/>
                </a:lnSpc>
              </a:pPr>
              <a:r>
                <a:rPr lang="en-US" sz="1725" b="true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3</a:t>
              </a:r>
            </a:p>
          </p:txBody>
        </p:sp>
      </p:grpSp>
      <p:grpSp>
        <p:nvGrpSpPr>
          <p:cNvPr name="Group 141" id="141"/>
          <p:cNvGrpSpPr/>
          <p:nvPr/>
        </p:nvGrpSpPr>
        <p:grpSpPr>
          <a:xfrm rot="0">
            <a:off x="12687300" y="5500116"/>
            <a:ext cx="4471416" cy="466344"/>
            <a:chOff x="0" y="0"/>
            <a:chExt cx="5961888" cy="621792"/>
          </a:xfrm>
        </p:grpSpPr>
        <p:sp>
          <p:nvSpPr>
            <p:cNvPr name="Freeform 142" id="142"/>
            <p:cNvSpPr/>
            <p:nvPr/>
          </p:nvSpPr>
          <p:spPr>
            <a:xfrm flipH="false" flipV="false" rot="0">
              <a:off x="0" y="0"/>
              <a:ext cx="5961888" cy="621792"/>
            </a:xfrm>
            <a:custGeom>
              <a:avLst/>
              <a:gdLst/>
              <a:ahLst/>
              <a:cxnLst/>
              <a:rect r="r" b="b" t="t" l="l"/>
              <a:pathLst>
                <a:path h="621792" w="5961888">
                  <a:moveTo>
                    <a:pt x="0" y="0"/>
                  </a:moveTo>
                  <a:lnTo>
                    <a:pt x="5961888" y="0"/>
                  </a:lnTo>
                  <a:lnTo>
                    <a:pt x="5961888" y="621792"/>
                  </a:lnTo>
                  <a:lnTo>
                    <a:pt x="0" y="62179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36827" r="0" b="-136827"/>
              </a:stretch>
            </a:blipFill>
          </p:spPr>
        </p:sp>
        <p:sp>
          <p:nvSpPr>
            <p:cNvPr name="TextBox 143" id="143"/>
            <p:cNvSpPr txBox="true"/>
            <p:nvPr/>
          </p:nvSpPr>
          <p:spPr>
            <a:xfrm>
              <a:off x="0" y="-38100"/>
              <a:ext cx="5961888" cy="65989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160"/>
                </a:lnSpc>
              </a:pPr>
              <a:r>
                <a:rPr lang="en-US" sz="1800" b="true">
                  <a:solidFill>
                    <a:srgbClr val="1F497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Rubble Steel Magnetometer Distortion</a:t>
              </a:r>
            </a:p>
          </p:txBody>
        </p:sp>
      </p:grpSp>
      <p:sp>
        <p:nvSpPr>
          <p:cNvPr name="TextBox 144" id="144"/>
          <p:cNvSpPr txBox="true"/>
          <p:nvPr/>
        </p:nvSpPr>
        <p:spPr>
          <a:xfrm rot="0">
            <a:off x="12687300" y="5965317"/>
            <a:ext cx="4471416" cy="7829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80"/>
              </a:lnSpc>
            </a:pPr>
            <a:r>
              <a:rPr sz="1500" b="0" i="0">
                <a:solidFill>
                  <a:srgbClr val="1E2638"/>
                </a:solidFill>
                <a:latin typeface="Calibri"/>
              </a:rPr>
              <a:t>→ Strategy: Visual-Inertial Odometry overrides magnetometer in collapsed steel rubble (IEEE standard navigation).</a:t>
            </a:r>
          </a:p>
        </p:txBody>
      </p:sp>
      <p:grpSp>
        <p:nvGrpSpPr>
          <p:cNvPr name="Group 145" id="145"/>
          <p:cNvGrpSpPr/>
          <p:nvPr/>
        </p:nvGrpSpPr>
        <p:grpSpPr>
          <a:xfrm rot="0">
            <a:off x="12056364" y="6789420"/>
            <a:ext cx="438912" cy="438912"/>
            <a:chOff x="0" y="0"/>
            <a:chExt cx="585216" cy="585216"/>
          </a:xfrm>
        </p:grpSpPr>
        <p:sp>
          <p:nvSpPr>
            <p:cNvPr name="Freeform 146" id="146"/>
            <p:cNvSpPr/>
            <p:nvPr/>
          </p:nvSpPr>
          <p:spPr>
            <a:xfrm flipH="false" flipV="false" rot="0">
              <a:off x="0" y="0"/>
              <a:ext cx="585216" cy="585216"/>
            </a:xfrm>
            <a:custGeom>
              <a:avLst/>
              <a:gdLst/>
              <a:ahLst/>
              <a:cxnLst/>
              <a:rect r="r" b="b" t="t" l="l"/>
              <a:pathLst>
                <a:path h="585216" w="585216">
                  <a:moveTo>
                    <a:pt x="0" y="292608"/>
                  </a:moveTo>
                  <a:cubicBezTo>
                    <a:pt x="0" y="131064"/>
                    <a:pt x="131064" y="0"/>
                    <a:pt x="292608" y="0"/>
                  </a:cubicBezTo>
                  <a:cubicBezTo>
                    <a:pt x="454152" y="0"/>
                    <a:pt x="585216" y="131064"/>
                    <a:pt x="585216" y="292608"/>
                  </a:cubicBezTo>
                  <a:cubicBezTo>
                    <a:pt x="585216" y="454152"/>
                    <a:pt x="454152" y="585216"/>
                    <a:pt x="292608" y="585216"/>
                  </a:cubicBezTo>
                  <a:cubicBezTo>
                    <a:pt x="131064" y="585216"/>
                    <a:pt x="0" y="454152"/>
                    <a:pt x="0" y="292608"/>
                  </a:cubicBezTo>
                  <a:close/>
                </a:path>
              </a:pathLst>
            </a:custGeom>
            <a:solidFill>
              <a:srgbClr val="D9700F"/>
            </a:solidFill>
          </p:spPr>
        </p:sp>
      </p:grpSp>
      <p:grpSp>
        <p:nvGrpSpPr>
          <p:cNvPr name="Group 147" id="147"/>
          <p:cNvGrpSpPr/>
          <p:nvPr/>
        </p:nvGrpSpPr>
        <p:grpSpPr>
          <a:xfrm rot="0">
            <a:off x="12056364" y="6789420"/>
            <a:ext cx="438912" cy="438912"/>
            <a:chOff x="0" y="0"/>
            <a:chExt cx="585216" cy="585216"/>
          </a:xfrm>
        </p:grpSpPr>
        <p:sp>
          <p:nvSpPr>
            <p:cNvPr name="Freeform 148" id="148"/>
            <p:cNvSpPr/>
            <p:nvPr/>
          </p:nvSpPr>
          <p:spPr>
            <a:xfrm flipH="false" flipV="false" rot="0">
              <a:off x="0" y="0"/>
              <a:ext cx="585216" cy="585216"/>
            </a:xfrm>
            <a:custGeom>
              <a:avLst/>
              <a:gdLst/>
              <a:ahLst/>
              <a:cxnLst/>
              <a:rect r="r" b="b" t="t" l="l"/>
              <a:pathLst>
                <a:path h="585216" w="585216">
                  <a:moveTo>
                    <a:pt x="0" y="0"/>
                  </a:moveTo>
                  <a:lnTo>
                    <a:pt x="585216" y="0"/>
                  </a:lnTo>
                  <a:lnTo>
                    <a:pt x="585216" y="585216"/>
                  </a:lnTo>
                  <a:lnTo>
                    <a:pt x="0" y="58521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78303" t="0" r="-78303" b="0"/>
              </a:stretch>
            </a:blipFill>
          </p:spPr>
        </p:sp>
        <p:sp>
          <p:nvSpPr>
            <p:cNvPr name="TextBox 149" id="149"/>
            <p:cNvSpPr txBox="true"/>
            <p:nvPr/>
          </p:nvSpPr>
          <p:spPr>
            <a:xfrm>
              <a:off x="0" y="-38100"/>
              <a:ext cx="585216" cy="62331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070"/>
                </a:lnSpc>
              </a:pPr>
              <a:r>
                <a:rPr lang="en-US" sz="1725" b="true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4</a:t>
              </a:r>
            </a:p>
          </p:txBody>
        </p:sp>
      </p:grpSp>
      <p:grpSp>
        <p:nvGrpSpPr>
          <p:cNvPr name="Group 150" id="150"/>
          <p:cNvGrpSpPr/>
          <p:nvPr/>
        </p:nvGrpSpPr>
        <p:grpSpPr>
          <a:xfrm rot="0">
            <a:off x="12687300" y="6775704"/>
            <a:ext cx="4471416" cy="466344"/>
            <a:chOff x="0" y="0"/>
            <a:chExt cx="5961888" cy="621792"/>
          </a:xfrm>
        </p:grpSpPr>
        <p:sp>
          <p:nvSpPr>
            <p:cNvPr name="Freeform 151" id="151"/>
            <p:cNvSpPr/>
            <p:nvPr/>
          </p:nvSpPr>
          <p:spPr>
            <a:xfrm flipH="false" flipV="false" rot="0">
              <a:off x="0" y="0"/>
              <a:ext cx="5961888" cy="621792"/>
            </a:xfrm>
            <a:custGeom>
              <a:avLst/>
              <a:gdLst/>
              <a:ahLst/>
              <a:cxnLst/>
              <a:rect r="r" b="b" t="t" l="l"/>
              <a:pathLst>
                <a:path h="621792" w="5961888">
                  <a:moveTo>
                    <a:pt x="0" y="0"/>
                  </a:moveTo>
                  <a:lnTo>
                    <a:pt x="5961888" y="0"/>
                  </a:lnTo>
                  <a:lnTo>
                    <a:pt x="5961888" y="621792"/>
                  </a:lnTo>
                  <a:lnTo>
                    <a:pt x="0" y="62179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36827" r="0" b="-136827"/>
              </a:stretch>
            </a:blipFill>
          </p:spPr>
        </p:sp>
        <p:sp>
          <p:nvSpPr>
            <p:cNvPr name="TextBox 152" id="152"/>
            <p:cNvSpPr txBox="true"/>
            <p:nvPr/>
          </p:nvSpPr>
          <p:spPr>
            <a:xfrm>
              <a:off x="0" y="-38100"/>
              <a:ext cx="5961888" cy="65989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160"/>
                </a:lnSpc>
              </a:pPr>
              <a:r>
                <a:rPr lang="en-US" sz="1800" b="true">
                  <a:solidFill>
                    <a:srgbClr val="1F497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Propeller Vibration Sensor Noise</a:t>
              </a:r>
            </a:p>
          </p:txBody>
        </p:sp>
      </p:grpSp>
      <p:sp>
        <p:nvSpPr>
          <p:cNvPr name="TextBox 153" id="153"/>
          <p:cNvSpPr txBox="true"/>
          <p:nvPr/>
        </p:nvSpPr>
        <p:spPr>
          <a:xfrm rot="0">
            <a:off x="12687300" y="7240905"/>
            <a:ext cx="4471416" cy="7829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80"/>
              </a:lnSpc>
            </a:pPr>
            <a:r>
              <a:rPr sz="1500" b="0" i="0">
                <a:solidFill>
                  <a:srgbClr val="1E2638"/>
                </a:solidFill>
                <a:latin typeface="Calibri"/>
              </a:rPr>
              <a:t>→ Strategy: Notch-filtered EKF &amp; silicone harmonic vibration dampening (IEEE Control Systems &amp; Robotics).</a:t>
            </a:r>
          </a:p>
        </p:txBody>
      </p:sp>
      <p:grpSp>
        <p:nvGrpSpPr>
          <p:cNvPr name="Group 154" id="154"/>
          <p:cNvGrpSpPr/>
          <p:nvPr/>
        </p:nvGrpSpPr>
        <p:grpSpPr>
          <a:xfrm rot="0">
            <a:off x="12056364" y="8065008"/>
            <a:ext cx="438912" cy="438912"/>
            <a:chOff x="0" y="0"/>
            <a:chExt cx="585216" cy="585216"/>
          </a:xfrm>
        </p:grpSpPr>
        <p:sp>
          <p:nvSpPr>
            <p:cNvPr name="Freeform 155" id="155"/>
            <p:cNvSpPr/>
            <p:nvPr/>
          </p:nvSpPr>
          <p:spPr>
            <a:xfrm flipH="false" flipV="false" rot="0">
              <a:off x="0" y="0"/>
              <a:ext cx="585216" cy="585216"/>
            </a:xfrm>
            <a:custGeom>
              <a:avLst/>
              <a:gdLst/>
              <a:ahLst/>
              <a:cxnLst/>
              <a:rect r="r" b="b" t="t" l="l"/>
              <a:pathLst>
                <a:path h="585216" w="585216">
                  <a:moveTo>
                    <a:pt x="0" y="292608"/>
                  </a:moveTo>
                  <a:cubicBezTo>
                    <a:pt x="0" y="131064"/>
                    <a:pt x="131064" y="0"/>
                    <a:pt x="292608" y="0"/>
                  </a:cubicBezTo>
                  <a:cubicBezTo>
                    <a:pt x="454152" y="0"/>
                    <a:pt x="585216" y="131064"/>
                    <a:pt x="585216" y="292608"/>
                  </a:cubicBezTo>
                  <a:cubicBezTo>
                    <a:pt x="585216" y="454152"/>
                    <a:pt x="454152" y="585216"/>
                    <a:pt x="292608" y="585216"/>
                  </a:cubicBezTo>
                  <a:cubicBezTo>
                    <a:pt x="131064" y="585216"/>
                    <a:pt x="0" y="454152"/>
                    <a:pt x="0" y="292608"/>
                  </a:cubicBezTo>
                  <a:close/>
                </a:path>
              </a:pathLst>
            </a:custGeom>
            <a:solidFill>
              <a:srgbClr val="D9700F"/>
            </a:solidFill>
          </p:spPr>
        </p:sp>
      </p:grpSp>
      <p:grpSp>
        <p:nvGrpSpPr>
          <p:cNvPr name="Group 156" id="156"/>
          <p:cNvGrpSpPr/>
          <p:nvPr/>
        </p:nvGrpSpPr>
        <p:grpSpPr>
          <a:xfrm rot="0">
            <a:off x="12056364" y="8065008"/>
            <a:ext cx="438912" cy="438912"/>
            <a:chOff x="0" y="0"/>
            <a:chExt cx="585216" cy="585216"/>
          </a:xfrm>
        </p:grpSpPr>
        <p:sp>
          <p:nvSpPr>
            <p:cNvPr name="Freeform 157" id="157"/>
            <p:cNvSpPr/>
            <p:nvPr/>
          </p:nvSpPr>
          <p:spPr>
            <a:xfrm flipH="false" flipV="false" rot="0">
              <a:off x="0" y="0"/>
              <a:ext cx="585216" cy="585216"/>
            </a:xfrm>
            <a:custGeom>
              <a:avLst/>
              <a:gdLst/>
              <a:ahLst/>
              <a:cxnLst/>
              <a:rect r="r" b="b" t="t" l="l"/>
              <a:pathLst>
                <a:path h="585216" w="585216">
                  <a:moveTo>
                    <a:pt x="0" y="0"/>
                  </a:moveTo>
                  <a:lnTo>
                    <a:pt x="585216" y="0"/>
                  </a:lnTo>
                  <a:lnTo>
                    <a:pt x="585216" y="585216"/>
                  </a:lnTo>
                  <a:lnTo>
                    <a:pt x="0" y="58521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78303" t="0" r="-78303" b="0"/>
              </a:stretch>
            </a:blipFill>
          </p:spPr>
        </p:sp>
        <p:sp>
          <p:nvSpPr>
            <p:cNvPr name="TextBox 158" id="158"/>
            <p:cNvSpPr txBox="true"/>
            <p:nvPr/>
          </p:nvSpPr>
          <p:spPr>
            <a:xfrm>
              <a:off x="0" y="-38100"/>
              <a:ext cx="585216" cy="62331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070"/>
                </a:lnSpc>
              </a:pPr>
              <a:r>
                <a:rPr lang="en-US" sz="1725" b="true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5</a:t>
              </a:r>
            </a:p>
          </p:txBody>
        </p:sp>
      </p:grpSp>
      <p:grpSp>
        <p:nvGrpSpPr>
          <p:cNvPr name="Group 159" id="159"/>
          <p:cNvGrpSpPr/>
          <p:nvPr/>
        </p:nvGrpSpPr>
        <p:grpSpPr>
          <a:xfrm rot="0">
            <a:off x="12687300" y="8051292"/>
            <a:ext cx="4471416" cy="466344"/>
            <a:chOff x="0" y="0"/>
            <a:chExt cx="5961888" cy="621792"/>
          </a:xfrm>
        </p:grpSpPr>
        <p:sp>
          <p:nvSpPr>
            <p:cNvPr name="Freeform 160" id="160"/>
            <p:cNvSpPr/>
            <p:nvPr/>
          </p:nvSpPr>
          <p:spPr>
            <a:xfrm flipH="false" flipV="false" rot="0">
              <a:off x="0" y="0"/>
              <a:ext cx="5961888" cy="621792"/>
            </a:xfrm>
            <a:custGeom>
              <a:avLst/>
              <a:gdLst/>
              <a:ahLst/>
              <a:cxnLst/>
              <a:rect r="r" b="b" t="t" l="l"/>
              <a:pathLst>
                <a:path h="621792" w="5961888">
                  <a:moveTo>
                    <a:pt x="0" y="0"/>
                  </a:moveTo>
                  <a:lnTo>
                    <a:pt x="5961888" y="0"/>
                  </a:lnTo>
                  <a:lnTo>
                    <a:pt x="5961888" y="621792"/>
                  </a:lnTo>
                  <a:lnTo>
                    <a:pt x="0" y="62179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36827" r="0" b="-136827"/>
              </a:stretch>
            </a:blipFill>
          </p:spPr>
        </p:sp>
        <p:sp>
          <p:nvSpPr>
            <p:cNvPr name="TextBox 161" id="161"/>
            <p:cNvSpPr txBox="true"/>
            <p:nvPr/>
          </p:nvSpPr>
          <p:spPr>
            <a:xfrm>
              <a:off x="0" y="-38100"/>
              <a:ext cx="5961888" cy="65989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160"/>
                </a:lnSpc>
              </a:pPr>
              <a:r>
                <a:rPr lang="en-US" sz="1800" b="true">
                  <a:solidFill>
                    <a:srgbClr val="1F497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Actuator Saturation in Gusts</a:t>
              </a:r>
            </a:p>
          </p:txBody>
        </p:sp>
      </p:grpSp>
      <p:sp>
        <p:nvSpPr>
          <p:cNvPr name="TextBox 162" id="162"/>
          <p:cNvSpPr txBox="true"/>
          <p:nvPr/>
        </p:nvSpPr>
        <p:spPr>
          <a:xfrm rot="0">
            <a:off x="12687300" y="8516493"/>
            <a:ext cx="4471416" cy="7829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80"/>
              </a:lnSpc>
            </a:pPr>
            <a:r>
              <a:rPr sz="1500" b="0" i="0">
                <a:solidFill>
                  <a:srgbClr val="1E2638"/>
                </a:solidFill>
                <a:latin typeface="Calibri"/>
              </a:rPr>
              <a:t>→ Strategy: Anti-windup integrator clamping on 250Hz deterministic PID loop (IEEE Industrial Electronics).</a:t>
            </a:r>
          </a:p>
        </p:txBody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9532144"/>
            <a:ext cx="18288000" cy="754856"/>
            <a:chOff x="0" y="0"/>
            <a:chExt cx="24384000" cy="1006475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84000" cy="1006475"/>
            </a:xfrm>
            <a:custGeom>
              <a:avLst/>
              <a:gdLst/>
              <a:ahLst/>
              <a:cxnLst/>
              <a:rect r="r" b="b" t="t" l="l"/>
              <a:pathLst>
                <a:path h="1006475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006475"/>
                  </a:lnTo>
                  <a:lnTo>
                    <a:pt x="0" y="1006475"/>
                  </a:lnTo>
                  <a:close/>
                </a:path>
              </a:pathLst>
            </a:custGeom>
            <a:solidFill>
              <a:srgbClr val="0070C0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914400" y="-71438"/>
            <a:ext cx="16459200" cy="1714500"/>
            <a:chOff x="0" y="0"/>
            <a:chExt cx="21945600" cy="228600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1945600" cy="2286000"/>
            </a:xfrm>
            <a:custGeom>
              <a:avLst/>
              <a:gdLst/>
              <a:ahLst/>
              <a:cxnLst/>
              <a:rect r="r" b="b" t="t" l="l"/>
              <a:pathLst>
                <a:path h="2286000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2286000"/>
                  </a:lnTo>
                  <a:lnTo>
                    <a:pt x="0" y="22860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37056" r="0" b="-137056"/>
              </a:stretch>
            </a:blipFill>
          </p:spPr>
        </p:sp>
        <p:sp>
          <p:nvSpPr>
            <p:cNvPr name="TextBox 6" id="6"/>
            <p:cNvSpPr txBox="true"/>
            <p:nvPr/>
          </p:nvSpPr>
          <p:spPr>
            <a:xfrm>
              <a:off x="0" y="-28575"/>
              <a:ext cx="21945600" cy="231457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6480"/>
                </a:lnSpc>
              </a:pPr>
              <a:r>
                <a:rPr lang="en-US" sz="5400" b="true">
                  <a:solidFill>
                    <a:srgbClr val="000000"/>
                  </a:solidFill>
                  <a:latin typeface="Times New Roman Bold"/>
                  <a:ea typeface="Times New Roman Bold"/>
                  <a:cs typeface="Times New Roman Bold"/>
                  <a:sym typeface="Times New Roman Bold"/>
                </a:rPr>
                <a:t>IMPACT AND BENEFITS</a:t>
              </a:r>
            </a:p>
          </p:txBody>
        </p:sp>
      </p:grpSp>
      <p:grpSp>
        <p:nvGrpSpPr>
          <p:cNvPr name="Group 7" id="7"/>
          <p:cNvGrpSpPr/>
          <p:nvPr/>
        </p:nvGrpSpPr>
        <p:grpSpPr>
          <a:xfrm rot="0">
            <a:off x="13106400" y="9534525"/>
            <a:ext cx="4267200" cy="547688"/>
            <a:chOff x="0" y="0"/>
            <a:chExt cx="5689600" cy="73025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5689600" cy="730250"/>
            </a:xfrm>
            <a:custGeom>
              <a:avLst/>
              <a:gdLst/>
              <a:ahLst/>
              <a:cxnLst/>
              <a:rect r="r" b="b" t="t" l="l"/>
              <a:pathLst>
                <a:path h="730250" w="5689600">
                  <a:moveTo>
                    <a:pt x="0" y="0"/>
                  </a:moveTo>
                  <a:lnTo>
                    <a:pt x="5689600" y="0"/>
                  </a:lnTo>
                  <a:lnTo>
                    <a:pt x="5689600" y="730250"/>
                  </a:lnTo>
                  <a:lnTo>
                    <a:pt x="0" y="73025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01813" r="0" b="-101813"/>
              </a:stretch>
            </a:blipFill>
          </p:spPr>
        </p:sp>
        <p:sp>
          <p:nvSpPr>
            <p:cNvPr name="TextBox 9" id="9"/>
            <p:cNvSpPr txBox="true"/>
            <p:nvPr/>
          </p:nvSpPr>
          <p:spPr>
            <a:xfrm>
              <a:off x="0" y="-19050"/>
              <a:ext cx="5689600" cy="74930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r">
                <a:lnSpc>
                  <a:spcPts val="2160"/>
                </a:lnSpc>
              </a:pPr>
              <a:r>
                <a:rPr lang="en-US" b="true" sz="1800">
                  <a:solidFill>
                    <a:srgbClr val="FFFFFF"/>
                  </a:solidFill>
                  <a:latin typeface="Arimo Bold"/>
                  <a:ea typeface="Arimo Bold"/>
                  <a:cs typeface="Arimo Bold"/>
                  <a:sym typeface="Arimo Bold"/>
                </a:rPr>
                <a:t>5</a:t>
              </a: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14670129" y="2248"/>
            <a:ext cx="3374774" cy="1593504"/>
            <a:chOff x="0" y="0"/>
            <a:chExt cx="4499699" cy="2124672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4499737" cy="2124710"/>
            </a:xfrm>
            <a:custGeom>
              <a:avLst/>
              <a:gdLst/>
              <a:ahLst/>
              <a:cxnLst/>
              <a:rect r="r" b="b" t="t" l="l"/>
              <a:pathLst>
                <a:path h="2124710" w="4499737">
                  <a:moveTo>
                    <a:pt x="0" y="0"/>
                  </a:moveTo>
                  <a:lnTo>
                    <a:pt x="4499737" y="0"/>
                  </a:lnTo>
                  <a:lnTo>
                    <a:pt x="4499737" y="2124710"/>
                  </a:lnTo>
                  <a:lnTo>
                    <a:pt x="0" y="212471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0" t="0" r="0" b="1"/>
              </a:stretch>
            </a:blipFill>
          </p:spPr>
        </p:sp>
      </p:grpSp>
      <p:grpSp>
        <p:nvGrpSpPr>
          <p:cNvPr name="Group 12" id="12"/>
          <p:cNvGrpSpPr/>
          <p:nvPr/>
        </p:nvGrpSpPr>
        <p:grpSpPr>
          <a:xfrm rot="0">
            <a:off x="603504" y="315468"/>
            <a:ext cx="2263140" cy="740664"/>
            <a:chOff x="0" y="0"/>
            <a:chExt cx="3017520" cy="987552"/>
          </a:xfrm>
        </p:grpSpPr>
        <p:sp>
          <p:nvSpPr>
            <p:cNvPr name="Freeform 13" id="13" descr="Phoenix team logo"/>
            <p:cNvSpPr/>
            <p:nvPr/>
          </p:nvSpPr>
          <p:spPr>
            <a:xfrm flipH="false" flipV="false" rot="0">
              <a:off x="0" y="0"/>
              <a:ext cx="3017520" cy="987552"/>
            </a:xfrm>
            <a:custGeom>
              <a:avLst/>
              <a:gdLst/>
              <a:ahLst/>
              <a:cxnLst/>
              <a:rect r="r" b="b" t="t" l="l"/>
              <a:pathLst>
                <a:path h="987552" w="3017520">
                  <a:moveTo>
                    <a:pt x="0" y="0"/>
                  </a:moveTo>
                  <a:lnTo>
                    <a:pt x="3017520" y="0"/>
                  </a:lnTo>
                  <a:lnTo>
                    <a:pt x="3017520" y="987552"/>
                  </a:lnTo>
                  <a:lnTo>
                    <a:pt x="0" y="98755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-33" t="0" r="-33" b="0"/>
              </a:stretch>
            </a:blipFill>
          </p:spPr>
        </p:sp>
      </p:grpSp>
      <p:grpSp>
        <p:nvGrpSpPr>
          <p:cNvPr name="Group 14" id="14"/>
          <p:cNvGrpSpPr/>
          <p:nvPr/>
        </p:nvGrpSpPr>
        <p:grpSpPr>
          <a:xfrm rot="0">
            <a:off x="548640" y="9532620"/>
            <a:ext cx="6515100" cy="754380"/>
            <a:chOff x="0" y="0"/>
            <a:chExt cx="8686800" cy="100584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8686800" cy="1005840"/>
            </a:xfrm>
            <a:custGeom>
              <a:avLst/>
              <a:gdLst/>
              <a:ahLst/>
              <a:cxnLst/>
              <a:rect r="r" b="b" t="t" l="l"/>
              <a:pathLst>
                <a:path h="1005840" w="8686800">
                  <a:moveTo>
                    <a:pt x="0" y="0"/>
                  </a:moveTo>
                  <a:lnTo>
                    <a:pt x="8686800" y="0"/>
                  </a:lnTo>
                  <a:lnTo>
                    <a:pt x="8686800" y="1005840"/>
                  </a:lnTo>
                  <a:lnTo>
                    <a:pt x="0" y="10058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18279" r="0" b="-118279"/>
              </a:stretch>
            </a:blipFill>
          </p:spPr>
        </p:sp>
        <p:sp>
          <p:nvSpPr>
            <p:cNvPr name="TextBox 16" id="16"/>
            <p:cNvSpPr txBox="true"/>
            <p:nvPr/>
          </p:nvSpPr>
          <p:spPr>
            <a:xfrm>
              <a:off x="0" y="-28575"/>
              <a:ext cx="8686800" cy="103441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PROJECT PHOENIX: Autonomous Multi-Spectral Edge-AI UAV  |  SIH26177 (Qualcomm Inc.)</a:t>
              </a:r>
            </a:p>
          </p:txBody>
        </p:sp>
      </p:grpSp>
      <p:grpSp>
        <p:nvGrpSpPr>
          <p:cNvPr name="Group 17" id="17"/>
          <p:cNvGrpSpPr/>
          <p:nvPr/>
        </p:nvGrpSpPr>
        <p:grpSpPr>
          <a:xfrm rot="0">
            <a:off x="918972" y="1275588"/>
            <a:ext cx="16459200" cy="466344"/>
            <a:chOff x="0" y="0"/>
            <a:chExt cx="21945600" cy="621792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21945600" cy="621792"/>
            </a:xfrm>
            <a:custGeom>
              <a:avLst/>
              <a:gdLst/>
              <a:ahLst/>
              <a:cxnLst/>
              <a:rect r="r" b="b" t="t" l="l"/>
              <a:pathLst>
                <a:path h="621792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621792"/>
                  </a:lnTo>
                  <a:lnTo>
                    <a:pt x="0" y="62179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637707" r="0" b="-637707"/>
              </a:stretch>
            </a:blipFill>
          </p:spPr>
        </p:sp>
        <p:sp>
          <p:nvSpPr>
            <p:cNvPr name="TextBox 19" id="19"/>
            <p:cNvSpPr txBox="true"/>
            <p:nvPr/>
          </p:nvSpPr>
          <p:spPr>
            <a:xfrm>
              <a:off x="0" y="-38100"/>
              <a:ext cx="21945600" cy="65989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879"/>
                </a:lnSpc>
              </a:pPr>
              <a:r>
                <a:rPr lang="en-US" sz="2400" b="true">
                  <a:solidFill>
                    <a:srgbClr val="0070C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Mission Impact &amp; Multi-Stakeholder Benefits</a:t>
              </a:r>
            </a:p>
          </p:txBody>
        </p:sp>
      </p:grpSp>
      <p:grpSp>
        <p:nvGrpSpPr>
          <p:cNvPr name="Group 20" id="20"/>
          <p:cNvGrpSpPr/>
          <p:nvPr/>
        </p:nvGrpSpPr>
        <p:grpSpPr>
          <a:xfrm rot="0">
            <a:off x="820617" y="2126859"/>
            <a:ext cx="3927805" cy="2885174"/>
            <a:chOff x="0" y="0"/>
            <a:chExt cx="5237074" cy="3846898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5237099" cy="3846899"/>
            </a:xfrm>
            <a:custGeom>
              <a:avLst/>
              <a:gdLst/>
              <a:ahLst/>
              <a:cxnLst/>
              <a:rect r="r" b="b" t="t" l="l"/>
              <a:pathLst>
                <a:path h="3846899" w="5237099">
                  <a:moveTo>
                    <a:pt x="0" y="224430"/>
                  </a:moveTo>
                  <a:cubicBezTo>
                    <a:pt x="0" y="100412"/>
                    <a:pt x="115062" y="0"/>
                    <a:pt x="257175" y="0"/>
                  </a:cubicBezTo>
                  <a:lnTo>
                    <a:pt x="4979924" y="0"/>
                  </a:lnTo>
                  <a:cubicBezTo>
                    <a:pt x="5121910" y="0"/>
                    <a:pt x="5237099" y="100412"/>
                    <a:pt x="5237099" y="224430"/>
                  </a:cubicBezTo>
                  <a:lnTo>
                    <a:pt x="5237099" y="3622468"/>
                  </a:lnTo>
                  <a:cubicBezTo>
                    <a:pt x="5237099" y="3746376"/>
                    <a:pt x="5122037" y="3846899"/>
                    <a:pt x="4979924" y="3846899"/>
                  </a:cubicBezTo>
                  <a:lnTo>
                    <a:pt x="257175" y="3846899"/>
                  </a:lnTo>
                  <a:cubicBezTo>
                    <a:pt x="115062" y="3846899"/>
                    <a:pt x="0" y="3746487"/>
                    <a:pt x="0" y="3622468"/>
                  </a:cubicBezTo>
                  <a:close/>
                </a:path>
              </a:pathLst>
            </a:custGeom>
            <a:solidFill>
              <a:srgbClr val="F4F8FC"/>
            </a:solidFill>
            <a:ln w="14288" cap="sq">
              <a:solidFill>
                <a:srgbClr val="D6E1EE"/>
              </a:solidFill>
              <a:prstDash val="solid"/>
              <a:miter/>
            </a:ln>
          </p:spPr>
        </p:sp>
      </p:grpSp>
      <p:grpSp>
        <p:nvGrpSpPr>
          <p:cNvPr name="Group 22" id="22"/>
          <p:cNvGrpSpPr/>
          <p:nvPr/>
        </p:nvGrpSpPr>
        <p:grpSpPr>
          <a:xfrm rot="0">
            <a:off x="1129513" y="2353459"/>
            <a:ext cx="630936" cy="630936"/>
            <a:chOff x="0" y="0"/>
            <a:chExt cx="841248" cy="841248"/>
          </a:xfrm>
        </p:grpSpPr>
        <p:sp>
          <p:nvSpPr>
            <p:cNvPr name="Freeform 23" id="23"/>
            <p:cNvSpPr/>
            <p:nvPr/>
          </p:nvSpPr>
          <p:spPr>
            <a:xfrm flipH="false" flipV="false" rot="0">
              <a:off x="0" y="0"/>
              <a:ext cx="841248" cy="841248"/>
            </a:xfrm>
            <a:custGeom>
              <a:avLst/>
              <a:gdLst/>
              <a:ahLst/>
              <a:cxnLst/>
              <a:rect r="r" b="b" t="t" l="l"/>
              <a:pathLst>
                <a:path h="841248" w="841248">
                  <a:moveTo>
                    <a:pt x="0" y="420624"/>
                  </a:moveTo>
                  <a:cubicBezTo>
                    <a:pt x="0" y="188341"/>
                    <a:pt x="188341" y="0"/>
                    <a:pt x="420624" y="0"/>
                  </a:cubicBezTo>
                  <a:cubicBezTo>
                    <a:pt x="652907" y="0"/>
                    <a:pt x="841248" y="188341"/>
                    <a:pt x="841248" y="420624"/>
                  </a:cubicBezTo>
                  <a:cubicBezTo>
                    <a:pt x="841248" y="652907"/>
                    <a:pt x="652907" y="841248"/>
                    <a:pt x="420624" y="841248"/>
                  </a:cubicBezTo>
                  <a:cubicBezTo>
                    <a:pt x="188341" y="841248"/>
                    <a:pt x="0" y="652907"/>
                    <a:pt x="0" y="420624"/>
                  </a:cubicBezTo>
                  <a:close/>
                </a:path>
              </a:pathLst>
            </a:custGeom>
            <a:solidFill>
              <a:srgbClr val="FDEEDD"/>
            </a:solidFill>
          </p:spPr>
        </p:sp>
      </p:grpSp>
      <p:grpSp>
        <p:nvGrpSpPr>
          <p:cNvPr name="Group 24" id="24"/>
          <p:cNvGrpSpPr/>
          <p:nvPr/>
        </p:nvGrpSpPr>
        <p:grpSpPr>
          <a:xfrm rot="0">
            <a:off x="1287247" y="2511193"/>
            <a:ext cx="315468" cy="315468"/>
            <a:chOff x="0" y="0"/>
            <a:chExt cx="420624" cy="420624"/>
          </a:xfrm>
        </p:grpSpPr>
        <p:sp>
          <p:nvSpPr>
            <p:cNvPr name="Freeform 25" id="25" descr="TRAPPED VICTIMS icon"/>
            <p:cNvSpPr/>
            <p:nvPr/>
          </p:nvSpPr>
          <p:spPr>
            <a:xfrm flipH="false" flipV="false" rot="0">
              <a:off x="0" y="0"/>
              <a:ext cx="420624" cy="420624"/>
            </a:xfrm>
            <a:custGeom>
              <a:avLst/>
              <a:gdLst/>
              <a:ahLst/>
              <a:cxnLst/>
              <a:rect r="r" b="b" t="t" l="l"/>
              <a:pathLst>
                <a:path h="420624" w="420624">
                  <a:moveTo>
                    <a:pt x="0" y="0"/>
                  </a:moveTo>
                  <a:lnTo>
                    <a:pt x="420624" y="0"/>
                  </a:lnTo>
                  <a:lnTo>
                    <a:pt x="420624" y="420624"/>
                  </a:lnTo>
                  <a:lnTo>
                    <a:pt x="0" y="42062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l="0" t="0" r="0" b="0"/>
              </a:stretch>
            </a:blipFill>
          </p:spPr>
        </p:sp>
      </p:grpSp>
      <p:grpSp>
        <p:nvGrpSpPr>
          <p:cNvPr name="Group 26" id="26"/>
          <p:cNvGrpSpPr/>
          <p:nvPr/>
        </p:nvGrpSpPr>
        <p:grpSpPr>
          <a:xfrm rot="0">
            <a:off x="1925041" y="2353459"/>
            <a:ext cx="2679078" cy="630936"/>
            <a:chOff x="0" y="0"/>
            <a:chExt cx="3572104" cy="841248"/>
          </a:xfrm>
        </p:grpSpPr>
        <p:sp>
          <p:nvSpPr>
            <p:cNvPr name="Freeform 27" id="27"/>
            <p:cNvSpPr/>
            <p:nvPr/>
          </p:nvSpPr>
          <p:spPr>
            <a:xfrm flipH="false" flipV="false" rot="0">
              <a:off x="0" y="0"/>
              <a:ext cx="3572102" cy="841248"/>
            </a:xfrm>
            <a:custGeom>
              <a:avLst/>
              <a:gdLst/>
              <a:ahLst/>
              <a:cxnLst/>
              <a:rect r="r" b="b" t="t" l="l"/>
              <a:pathLst>
                <a:path h="841248" w="3572102">
                  <a:moveTo>
                    <a:pt x="0" y="0"/>
                  </a:moveTo>
                  <a:lnTo>
                    <a:pt x="3572102" y="0"/>
                  </a:lnTo>
                  <a:lnTo>
                    <a:pt x="3572102" y="841248"/>
                  </a:lnTo>
                  <a:lnTo>
                    <a:pt x="0" y="84124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2737" r="0" b="-32737"/>
              </a:stretch>
            </a:blipFill>
          </p:spPr>
        </p:sp>
        <p:sp>
          <p:nvSpPr>
            <p:cNvPr name="TextBox 28" id="28"/>
            <p:cNvSpPr txBox="true"/>
            <p:nvPr/>
          </p:nvSpPr>
          <p:spPr>
            <a:xfrm>
              <a:off x="0" y="-38100"/>
              <a:ext cx="3572104" cy="879348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250"/>
                </a:lnSpc>
              </a:pPr>
              <a:r>
                <a:rPr lang="en-US" b="true" sz="1875" spc="60">
                  <a:solidFill>
                    <a:srgbClr val="1F497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TRAPPED VICTIMS</a:t>
              </a:r>
            </a:p>
          </p:txBody>
        </p:sp>
      </p:grpSp>
      <p:sp>
        <p:nvSpPr>
          <p:cNvPr name="TextBox 29" id="29"/>
          <p:cNvSpPr txBox="true"/>
          <p:nvPr/>
        </p:nvSpPr>
        <p:spPr>
          <a:xfrm rot="0">
            <a:off x="1129513" y="3127270"/>
            <a:ext cx="3364878" cy="169567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330279" indent="-165139" lvl="1">
              <a:lnSpc>
                <a:spcPts val="2189"/>
              </a:lnSpc>
              <a:buFont typeface="Arial"/>
              <a:buChar char="•"/>
            </a:pPr>
            <a:r>
              <a:rPr lang="en-US" sz="1824">
                <a:solidFill>
                  <a:srgbClr val="1E2638"/>
                </a:solidFill>
                <a:latin typeface="Calibri (MS)"/>
                <a:ea typeface="Calibri (MS)"/>
                <a:cs typeface="Calibri (MS)"/>
                <a:sym typeface="Calibri (MS)"/>
              </a:rPr>
              <a:t>Located in Golden 72h window</a:t>
            </a:r>
          </a:p>
          <a:p>
            <a:pPr algn="l" marL="330279" indent="-165139" lvl="1">
              <a:lnSpc>
                <a:spcPts val="2189"/>
              </a:lnSpc>
              <a:buFont typeface="Arial"/>
              <a:buChar char="•"/>
            </a:pPr>
            <a:r>
              <a:rPr lang="en-US" sz="1824">
                <a:solidFill>
                  <a:srgbClr val="1E2638"/>
                </a:solidFill>
                <a:latin typeface="Calibri (MS)"/>
                <a:ea typeface="Calibri (MS)"/>
                <a:cs typeface="Calibri (MS)"/>
                <a:sym typeface="Calibri (MS)"/>
              </a:rPr>
              <a:t>Discovered through mud &amp; debris</a:t>
            </a:r>
          </a:p>
          <a:p>
            <a:pPr algn="l" marL="330279" indent="-165139" lvl="1">
              <a:lnSpc>
                <a:spcPts val="2189"/>
              </a:lnSpc>
              <a:buFont typeface="Arial"/>
              <a:buChar char="•"/>
            </a:pPr>
            <a:r>
              <a:rPr lang="en-US" sz="1824">
                <a:solidFill>
                  <a:srgbClr val="1E2638"/>
                </a:solidFill>
                <a:latin typeface="Calibri (MS)"/>
                <a:ea typeface="Calibri (MS)"/>
                <a:cs typeface="Calibri (MS)"/>
                <a:sym typeface="Calibri (MS)"/>
              </a:rPr>
              <a:t>Rapid medical triage prioritization</a:t>
            </a:r>
          </a:p>
          <a:p>
            <a:pPr algn="l" marL="330279" indent="-165139" lvl="1">
              <a:lnSpc>
                <a:spcPts val="2189"/>
              </a:lnSpc>
              <a:buFont typeface="Arial"/>
              <a:buChar char="•"/>
            </a:pPr>
            <a:r>
              <a:rPr lang="en-US" sz="1824">
                <a:solidFill>
                  <a:srgbClr val="1E2638"/>
                </a:solidFill>
                <a:latin typeface="Calibri (MS)"/>
                <a:ea typeface="Calibri (MS)"/>
                <a:cs typeface="Calibri (MS)"/>
                <a:sym typeface="Calibri (MS)"/>
              </a:rPr>
              <a:t>Maximized chances of survival</a:t>
            </a:r>
          </a:p>
        </p:txBody>
      </p:sp>
      <p:grpSp>
        <p:nvGrpSpPr>
          <p:cNvPr name="Group 30" id="30"/>
          <p:cNvGrpSpPr/>
          <p:nvPr/>
        </p:nvGrpSpPr>
        <p:grpSpPr>
          <a:xfrm rot="0">
            <a:off x="5063319" y="2126859"/>
            <a:ext cx="3927805" cy="2885174"/>
            <a:chOff x="0" y="0"/>
            <a:chExt cx="5237074" cy="3846898"/>
          </a:xfrm>
        </p:grpSpPr>
        <p:sp>
          <p:nvSpPr>
            <p:cNvPr name="Freeform 31" id="31"/>
            <p:cNvSpPr/>
            <p:nvPr/>
          </p:nvSpPr>
          <p:spPr>
            <a:xfrm flipH="false" flipV="false" rot="0">
              <a:off x="0" y="0"/>
              <a:ext cx="5237099" cy="3846899"/>
            </a:xfrm>
            <a:custGeom>
              <a:avLst/>
              <a:gdLst/>
              <a:ahLst/>
              <a:cxnLst/>
              <a:rect r="r" b="b" t="t" l="l"/>
              <a:pathLst>
                <a:path h="3846899" w="5237099">
                  <a:moveTo>
                    <a:pt x="0" y="224430"/>
                  </a:moveTo>
                  <a:cubicBezTo>
                    <a:pt x="0" y="100412"/>
                    <a:pt x="115062" y="0"/>
                    <a:pt x="257175" y="0"/>
                  </a:cubicBezTo>
                  <a:lnTo>
                    <a:pt x="4979924" y="0"/>
                  </a:lnTo>
                  <a:cubicBezTo>
                    <a:pt x="5121910" y="0"/>
                    <a:pt x="5237099" y="100412"/>
                    <a:pt x="5237099" y="224430"/>
                  </a:cubicBezTo>
                  <a:lnTo>
                    <a:pt x="5237099" y="3622468"/>
                  </a:lnTo>
                  <a:cubicBezTo>
                    <a:pt x="5237099" y="3746376"/>
                    <a:pt x="5122037" y="3846899"/>
                    <a:pt x="4979924" y="3846899"/>
                  </a:cubicBezTo>
                  <a:lnTo>
                    <a:pt x="257175" y="3846899"/>
                  </a:lnTo>
                  <a:cubicBezTo>
                    <a:pt x="115062" y="3846899"/>
                    <a:pt x="0" y="3746487"/>
                    <a:pt x="0" y="3622468"/>
                  </a:cubicBezTo>
                  <a:close/>
                </a:path>
              </a:pathLst>
            </a:custGeom>
            <a:solidFill>
              <a:srgbClr val="F4F8FC"/>
            </a:solidFill>
            <a:ln w="14288" cap="sq">
              <a:solidFill>
                <a:srgbClr val="D6E1EE"/>
              </a:solidFill>
              <a:prstDash val="solid"/>
              <a:miter/>
            </a:ln>
          </p:spPr>
        </p:sp>
      </p:grpSp>
      <p:grpSp>
        <p:nvGrpSpPr>
          <p:cNvPr name="Group 32" id="32"/>
          <p:cNvGrpSpPr/>
          <p:nvPr/>
        </p:nvGrpSpPr>
        <p:grpSpPr>
          <a:xfrm rot="0">
            <a:off x="5372214" y="2353459"/>
            <a:ext cx="630936" cy="630936"/>
            <a:chOff x="0" y="0"/>
            <a:chExt cx="841248" cy="841248"/>
          </a:xfrm>
        </p:grpSpPr>
        <p:sp>
          <p:nvSpPr>
            <p:cNvPr name="Freeform 33" id="33"/>
            <p:cNvSpPr/>
            <p:nvPr/>
          </p:nvSpPr>
          <p:spPr>
            <a:xfrm flipH="false" flipV="false" rot="0">
              <a:off x="0" y="0"/>
              <a:ext cx="841248" cy="841248"/>
            </a:xfrm>
            <a:custGeom>
              <a:avLst/>
              <a:gdLst/>
              <a:ahLst/>
              <a:cxnLst/>
              <a:rect r="r" b="b" t="t" l="l"/>
              <a:pathLst>
                <a:path h="841248" w="841248">
                  <a:moveTo>
                    <a:pt x="0" y="420624"/>
                  </a:moveTo>
                  <a:cubicBezTo>
                    <a:pt x="0" y="188341"/>
                    <a:pt x="188341" y="0"/>
                    <a:pt x="420624" y="0"/>
                  </a:cubicBezTo>
                  <a:cubicBezTo>
                    <a:pt x="652907" y="0"/>
                    <a:pt x="841248" y="188341"/>
                    <a:pt x="841248" y="420624"/>
                  </a:cubicBezTo>
                  <a:cubicBezTo>
                    <a:pt x="841248" y="652907"/>
                    <a:pt x="652907" y="841248"/>
                    <a:pt x="420624" y="841248"/>
                  </a:cubicBezTo>
                  <a:cubicBezTo>
                    <a:pt x="188341" y="841248"/>
                    <a:pt x="0" y="652907"/>
                    <a:pt x="0" y="420624"/>
                  </a:cubicBezTo>
                  <a:close/>
                </a:path>
              </a:pathLst>
            </a:custGeom>
            <a:solidFill>
              <a:srgbClr val="FDEEDD"/>
            </a:solidFill>
          </p:spPr>
        </p:sp>
      </p:grpSp>
      <p:grpSp>
        <p:nvGrpSpPr>
          <p:cNvPr name="Group 34" id="34"/>
          <p:cNvGrpSpPr/>
          <p:nvPr/>
        </p:nvGrpSpPr>
        <p:grpSpPr>
          <a:xfrm rot="0">
            <a:off x="5529948" y="2511193"/>
            <a:ext cx="315468" cy="315468"/>
            <a:chOff x="0" y="0"/>
            <a:chExt cx="420624" cy="420624"/>
          </a:xfrm>
        </p:grpSpPr>
        <p:sp>
          <p:nvSpPr>
            <p:cNvPr name="Freeform 35" id="35" descr="NDRF / SDRF TEAMS icon"/>
            <p:cNvSpPr/>
            <p:nvPr/>
          </p:nvSpPr>
          <p:spPr>
            <a:xfrm flipH="false" flipV="false" rot="0">
              <a:off x="0" y="0"/>
              <a:ext cx="420624" cy="420624"/>
            </a:xfrm>
            <a:custGeom>
              <a:avLst/>
              <a:gdLst/>
              <a:ahLst/>
              <a:cxnLst/>
              <a:rect r="r" b="b" t="t" l="l"/>
              <a:pathLst>
                <a:path h="420624" w="420624">
                  <a:moveTo>
                    <a:pt x="0" y="0"/>
                  </a:moveTo>
                  <a:lnTo>
                    <a:pt x="420624" y="0"/>
                  </a:lnTo>
                  <a:lnTo>
                    <a:pt x="420624" y="420624"/>
                  </a:lnTo>
                  <a:lnTo>
                    <a:pt x="0" y="42062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 l="0" t="0" r="0" b="0"/>
              </a:stretch>
            </a:blipFill>
          </p:spPr>
        </p:sp>
      </p:grpSp>
      <p:grpSp>
        <p:nvGrpSpPr>
          <p:cNvPr name="Group 36" id="36"/>
          <p:cNvGrpSpPr/>
          <p:nvPr/>
        </p:nvGrpSpPr>
        <p:grpSpPr>
          <a:xfrm rot="0">
            <a:off x="6167742" y="2353459"/>
            <a:ext cx="2679078" cy="630936"/>
            <a:chOff x="0" y="0"/>
            <a:chExt cx="3572104" cy="841248"/>
          </a:xfrm>
        </p:grpSpPr>
        <p:sp>
          <p:nvSpPr>
            <p:cNvPr name="Freeform 37" id="37"/>
            <p:cNvSpPr/>
            <p:nvPr/>
          </p:nvSpPr>
          <p:spPr>
            <a:xfrm flipH="false" flipV="false" rot="0">
              <a:off x="0" y="0"/>
              <a:ext cx="3572102" cy="841248"/>
            </a:xfrm>
            <a:custGeom>
              <a:avLst/>
              <a:gdLst/>
              <a:ahLst/>
              <a:cxnLst/>
              <a:rect r="r" b="b" t="t" l="l"/>
              <a:pathLst>
                <a:path h="841248" w="3572102">
                  <a:moveTo>
                    <a:pt x="0" y="0"/>
                  </a:moveTo>
                  <a:lnTo>
                    <a:pt x="3572102" y="0"/>
                  </a:lnTo>
                  <a:lnTo>
                    <a:pt x="3572102" y="841248"/>
                  </a:lnTo>
                  <a:lnTo>
                    <a:pt x="0" y="84124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2737" r="0" b="-32737"/>
              </a:stretch>
            </a:blipFill>
          </p:spPr>
        </p:sp>
        <p:sp>
          <p:nvSpPr>
            <p:cNvPr name="TextBox 38" id="38"/>
            <p:cNvSpPr txBox="true"/>
            <p:nvPr/>
          </p:nvSpPr>
          <p:spPr>
            <a:xfrm>
              <a:off x="0" y="-38100"/>
              <a:ext cx="3572104" cy="879348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250"/>
                </a:lnSpc>
              </a:pPr>
              <a:r>
                <a:rPr lang="en-US" b="true" sz="1875" spc="60">
                  <a:solidFill>
                    <a:srgbClr val="1F497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NDRF / SDRF TEAMS</a:t>
              </a:r>
            </a:p>
          </p:txBody>
        </p:sp>
      </p:grpSp>
      <p:sp>
        <p:nvSpPr>
          <p:cNvPr name="TextBox 39" id="39"/>
          <p:cNvSpPr txBox="true"/>
          <p:nvPr/>
        </p:nvSpPr>
        <p:spPr>
          <a:xfrm rot="0">
            <a:off x="5372214" y="3127270"/>
            <a:ext cx="3364878" cy="169567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330279" indent="-165139" lvl="1">
              <a:lnSpc>
                <a:spcPts val="2189"/>
              </a:lnSpc>
              <a:buFont typeface="Arial"/>
              <a:buChar char="•"/>
            </a:pPr>
            <a:r>
              <a:rPr lang="en-US" sz="1824">
                <a:solidFill>
                  <a:srgbClr val="1E2638"/>
                </a:solidFill>
                <a:latin typeface="Calibri (MS)"/>
                <a:ea typeface="Calibri (MS)"/>
                <a:cs typeface="Calibri (MS)"/>
                <a:sym typeface="Calibri (MS)"/>
              </a:rPr>
              <a:t>Advance hazard mapping</a:t>
            </a:r>
          </a:p>
          <a:p>
            <a:pPr algn="l" marL="330279" indent="-165139" lvl="1">
              <a:lnSpc>
                <a:spcPts val="2189"/>
              </a:lnSpc>
              <a:buFont typeface="Arial"/>
              <a:buChar char="•"/>
            </a:pPr>
            <a:r>
              <a:rPr lang="en-US" sz="1824">
                <a:solidFill>
                  <a:srgbClr val="1E2638"/>
                </a:solidFill>
                <a:latin typeface="Calibri (MS)"/>
                <a:ea typeface="Calibri (MS)"/>
                <a:cs typeface="Calibri (MS)"/>
                <a:sym typeface="Calibri (MS)"/>
              </a:rPr>
              <a:t>Avoid live cables &amp; gas leaks</a:t>
            </a:r>
          </a:p>
          <a:p>
            <a:pPr algn="l" marL="330279" indent="-165139" lvl="1">
              <a:lnSpc>
                <a:spcPts val="2189"/>
              </a:lnSpc>
              <a:buFont typeface="Arial"/>
              <a:buChar char="•"/>
            </a:pPr>
            <a:r>
              <a:rPr lang="en-US" sz="1824">
                <a:solidFill>
                  <a:srgbClr val="1E2638"/>
                </a:solidFill>
                <a:latin typeface="Calibri (MS)"/>
                <a:ea typeface="Calibri (MS)"/>
                <a:cs typeface="Calibri (MS)"/>
                <a:sym typeface="Calibri (MS)"/>
              </a:rPr>
              <a:t>Automated safe-route navigation</a:t>
            </a:r>
          </a:p>
          <a:p>
            <a:pPr algn="l" marL="330279" indent="-165139" lvl="1">
              <a:lnSpc>
                <a:spcPts val="2189"/>
              </a:lnSpc>
              <a:buFont typeface="Arial"/>
              <a:buChar char="•"/>
            </a:pPr>
            <a:r>
              <a:rPr lang="en-US" sz="1824">
                <a:solidFill>
                  <a:srgbClr val="1E2638"/>
                </a:solidFill>
                <a:latin typeface="Calibri (MS)"/>
                <a:ea typeface="Calibri (MS)"/>
                <a:cs typeface="Calibri (MS)"/>
                <a:sym typeface="Calibri (MS)"/>
              </a:rPr>
              <a:t>Reduced physical rescuer fatigue</a:t>
            </a:r>
          </a:p>
        </p:txBody>
      </p:sp>
      <p:grpSp>
        <p:nvGrpSpPr>
          <p:cNvPr name="Group 40" id="40"/>
          <p:cNvGrpSpPr/>
          <p:nvPr/>
        </p:nvGrpSpPr>
        <p:grpSpPr>
          <a:xfrm rot="0">
            <a:off x="9306020" y="2126859"/>
            <a:ext cx="3927805" cy="2885174"/>
            <a:chOff x="0" y="0"/>
            <a:chExt cx="5237074" cy="3846898"/>
          </a:xfrm>
        </p:grpSpPr>
        <p:sp>
          <p:nvSpPr>
            <p:cNvPr name="Freeform 41" id="41"/>
            <p:cNvSpPr/>
            <p:nvPr/>
          </p:nvSpPr>
          <p:spPr>
            <a:xfrm flipH="false" flipV="false" rot="0">
              <a:off x="0" y="0"/>
              <a:ext cx="5237099" cy="3846899"/>
            </a:xfrm>
            <a:custGeom>
              <a:avLst/>
              <a:gdLst/>
              <a:ahLst/>
              <a:cxnLst/>
              <a:rect r="r" b="b" t="t" l="l"/>
              <a:pathLst>
                <a:path h="3846899" w="5237099">
                  <a:moveTo>
                    <a:pt x="0" y="224430"/>
                  </a:moveTo>
                  <a:cubicBezTo>
                    <a:pt x="0" y="100412"/>
                    <a:pt x="115062" y="0"/>
                    <a:pt x="257175" y="0"/>
                  </a:cubicBezTo>
                  <a:lnTo>
                    <a:pt x="4979924" y="0"/>
                  </a:lnTo>
                  <a:cubicBezTo>
                    <a:pt x="5121910" y="0"/>
                    <a:pt x="5237099" y="100412"/>
                    <a:pt x="5237099" y="224430"/>
                  </a:cubicBezTo>
                  <a:lnTo>
                    <a:pt x="5237099" y="3622468"/>
                  </a:lnTo>
                  <a:cubicBezTo>
                    <a:pt x="5237099" y="3746376"/>
                    <a:pt x="5122037" y="3846899"/>
                    <a:pt x="4979924" y="3846899"/>
                  </a:cubicBezTo>
                  <a:lnTo>
                    <a:pt x="257175" y="3846899"/>
                  </a:lnTo>
                  <a:cubicBezTo>
                    <a:pt x="115062" y="3846899"/>
                    <a:pt x="0" y="3746487"/>
                    <a:pt x="0" y="3622468"/>
                  </a:cubicBezTo>
                  <a:close/>
                </a:path>
              </a:pathLst>
            </a:custGeom>
            <a:solidFill>
              <a:srgbClr val="F4F8FC"/>
            </a:solidFill>
            <a:ln w="14288" cap="sq">
              <a:solidFill>
                <a:srgbClr val="D6E1EE"/>
              </a:solidFill>
              <a:prstDash val="solid"/>
              <a:miter/>
            </a:ln>
          </p:spPr>
        </p:sp>
      </p:grpSp>
      <p:grpSp>
        <p:nvGrpSpPr>
          <p:cNvPr name="Group 42" id="42"/>
          <p:cNvGrpSpPr/>
          <p:nvPr/>
        </p:nvGrpSpPr>
        <p:grpSpPr>
          <a:xfrm rot="0">
            <a:off x="9614916" y="2353459"/>
            <a:ext cx="630936" cy="630936"/>
            <a:chOff x="0" y="0"/>
            <a:chExt cx="841248" cy="841248"/>
          </a:xfrm>
        </p:grpSpPr>
        <p:sp>
          <p:nvSpPr>
            <p:cNvPr name="Freeform 43" id="43"/>
            <p:cNvSpPr/>
            <p:nvPr/>
          </p:nvSpPr>
          <p:spPr>
            <a:xfrm flipH="false" flipV="false" rot="0">
              <a:off x="0" y="0"/>
              <a:ext cx="841248" cy="841248"/>
            </a:xfrm>
            <a:custGeom>
              <a:avLst/>
              <a:gdLst/>
              <a:ahLst/>
              <a:cxnLst/>
              <a:rect r="r" b="b" t="t" l="l"/>
              <a:pathLst>
                <a:path h="841248" w="841248">
                  <a:moveTo>
                    <a:pt x="0" y="420624"/>
                  </a:moveTo>
                  <a:cubicBezTo>
                    <a:pt x="0" y="188341"/>
                    <a:pt x="188341" y="0"/>
                    <a:pt x="420624" y="0"/>
                  </a:cubicBezTo>
                  <a:cubicBezTo>
                    <a:pt x="652907" y="0"/>
                    <a:pt x="841248" y="188341"/>
                    <a:pt x="841248" y="420624"/>
                  </a:cubicBezTo>
                  <a:cubicBezTo>
                    <a:pt x="841248" y="652907"/>
                    <a:pt x="652907" y="841248"/>
                    <a:pt x="420624" y="841248"/>
                  </a:cubicBezTo>
                  <a:cubicBezTo>
                    <a:pt x="188341" y="841248"/>
                    <a:pt x="0" y="652907"/>
                    <a:pt x="0" y="420624"/>
                  </a:cubicBezTo>
                  <a:close/>
                </a:path>
              </a:pathLst>
            </a:custGeom>
            <a:solidFill>
              <a:srgbClr val="FDEEDD"/>
            </a:solidFill>
          </p:spPr>
        </p:sp>
      </p:grpSp>
      <p:grpSp>
        <p:nvGrpSpPr>
          <p:cNvPr name="Group 44" id="44"/>
          <p:cNvGrpSpPr/>
          <p:nvPr/>
        </p:nvGrpSpPr>
        <p:grpSpPr>
          <a:xfrm rot="0">
            <a:off x="9772650" y="2511193"/>
            <a:ext cx="315468" cy="315468"/>
            <a:chOff x="0" y="0"/>
            <a:chExt cx="420624" cy="420624"/>
          </a:xfrm>
        </p:grpSpPr>
        <p:sp>
          <p:nvSpPr>
            <p:cNvPr name="Freeform 45" id="45" descr="DISASTER AUTHORITIES icon"/>
            <p:cNvSpPr/>
            <p:nvPr/>
          </p:nvSpPr>
          <p:spPr>
            <a:xfrm flipH="false" flipV="false" rot="0">
              <a:off x="0" y="0"/>
              <a:ext cx="420624" cy="420624"/>
            </a:xfrm>
            <a:custGeom>
              <a:avLst/>
              <a:gdLst/>
              <a:ahLst/>
              <a:cxnLst/>
              <a:rect r="r" b="b" t="t" l="l"/>
              <a:pathLst>
                <a:path h="420624" w="420624">
                  <a:moveTo>
                    <a:pt x="0" y="0"/>
                  </a:moveTo>
                  <a:lnTo>
                    <a:pt x="420624" y="0"/>
                  </a:lnTo>
                  <a:lnTo>
                    <a:pt x="420624" y="420624"/>
                  </a:lnTo>
                  <a:lnTo>
                    <a:pt x="0" y="42062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>
                <a:fillRect l="0" t="0" r="0" b="0"/>
              </a:stretch>
            </a:blipFill>
          </p:spPr>
        </p:sp>
      </p:grpSp>
      <p:grpSp>
        <p:nvGrpSpPr>
          <p:cNvPr name="Group 46" id="46"/>
          <p:cNvGrpSpPr/>
          <p:nvPr/>
        </p:nvGrpSpPr>
        <p:grpSpPr>
          <a:xfrm rot="0">
            <a:off x="10410444" y="2353459"/>
            <a:ext cx="2679078" cy="630936"/>
            <a:chOff x="0" y="0"/>
            <a:chExt cx="3572104" cy="841248"/>
          </a:xfrm>
        </p:grpSpPr>
        <p:sp>
          <p:nvSpPr>
            <p:cNvPr name="Freeform 47" id="47"/>
            <p:cNvSpPr/>
            <p:nvPr/>
          </p:nvSpPr>
          <p:spPr>
            <a:xfrm flipH="false" flipV="false" rot="0">
              <a:off x="0" y="0"/>
              <a:ext cx="3572102" cy="841248"/>
            </a:xfrm>
            <a:custGeom>
              <a:avLst/>
              <a:gdLst/>
              <a:ahLst/>
              <a:cxnLst/>
              <a:rect r="r" b="b" t="t" l="l"/>
              <a:pathLst>
                <a:path h="841248" w="3572102">
                  <a:moveTo>
                    <a:pt x="0" y="0"/>
                  </a:moveTo>
                  <a:lnTo>
                    <a:pt x="3572102" y="0"/>
                  </a:lnTo>
                  <a:lnTo>
                    <a:pt x="3572102" y="841248"/>
                  </a:lnTo>
                  <a:lnTo>
                    <a:pt x="0" y="84124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2737" r="0" b="-32737"/>
              </a:stretch>
            </a:blipFill>
          </p:spPr>
        </p:sp>
        <p:sp>
          <p:nvSpPr>
            <p:cNvPr name="TextBox 48" id="48"/>
            <p:cNvSpPr txBox="true"/>
            <p:nvPr/>
          </p:nvSpPr>
          <p:spPr>
            <a:xfrm>
              <a:off x="0" y="-38100"/>
              <a:ext cx="3572104" cy="879348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250"/>
                </a:lnSpc>
              </a:pPr>
              <a:r>
                <a:rPr lang="en-US" b="true" sz="1875" spc="60">
                  <a:solidFill>
                    <a:srgbClr val="1F497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DISASTER AUTHORITIES</a:t>
              </a:r>
            </a:p>
          </p:txBody>
        </p:sp>
      </p:grpSp>
      <p:sp>
        <p:nvSpPr>
          <p:cNvPr name="TextBox 49" id="49"/>
          <p:cNvSpPr txBox="true"/>
          <p:nvPr/>
        </p:nvSpPr>
        <p:spPr>
          <a:xfrm rot="0">
            <a:off x="9614916" y="3127270"/>
            <a:ext cx="3364878" cy="141941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330279" indent="-165139" lvl="1">
              <a:lnSpc>
                <a:spcPts val="2189"/>
              </a:lnSpc>
              <a:buFont typeface="Arial"/>
              <a:buChar char="•"/>
            </a:pPr>
            <a:r>
              <a:rPr lang="en-US" sz="1824">
                <a:solidFill>
                  <a:srgbClr val="1E2638"/>
                </a:solidFill>
                <a:latin typeface="Calibri (MS)"/>
                <a:ea typeface="Calibri (MS)"/>
                <a:cs typeface="Calibri (MS)"/>
                <a:sym typeface="Calibri (MS)"/>
              </a:rPr>
              <a:t>Unified local tactical map</a:t>
            </a:r>
          </a:p>
          <a:p>
            <a:pPr algn="l" marL="330279" indent="-165139" lvl="1">
              <a:lnSpc>
                <a:spcPts val="2189"/>
              </a:lnSpc>
              <a:buFont typeface="Arial"/>
              <a:buChar char="•"/>
            </a:pPr>
            <a:r>
              <a:rPr lang="en-US" sz="1824">
                <a:solidFill>
                  <a:srgbClr val="1E2638"/>
                </a:solidFill>
                <a:latin typeface="Calibri (MS)"/>
                <a:ea typeface="Calibri (MS)"/>
                <a:cs typeface="Calibri (MS)"/>
                <a:sym typeface="Calibri (MS)"/>
              </a:rPr>
              <a:t>Real-time survivor count &amp; coords</a:t>
            </a:r>
          </a:p>
          <a:p>
            <a:pPr algn="l" marL="330279" indent="-165139" lvl="1">
              <a:lnSpc>
                <a:spcPts val="2189"/>
              </a:lnSpc>
              <a:buFont typeface="Arial"/>
              <a:buChar char="•"/>
            </a:pPr>
            <a:r>
              <a:rPr lang="en-US" sz="1824">
                <a:solidFill>
                  <a:srgbClr val="1E2638"/>
                </a:solidFill>
                <a:latin typeface="Calibri (MS)"/>
                <a:ea typeface="Calibri (MS)"/>
                <a:cs typeface="Calibri (MS)"/>
                <a:sym typeface="Calibri (MS)"/>
              </a:rPr>
              <a:t>Zero dependency on cell towers</a:t>
            </a:r>
          </a:p>
          <a:p>
            <a:pPr algn="l" marL="330279" indent="-165139" lvl="1">
              <a:lnSpc>
                <a:spcPts val="2189"/>
              </a:lnSpc>
              <a:buFont typeface="Arial"/>
              <a:buChar char="•"/>
            </a:pPr>
            <a:r>
              <a:rPr lang="en-US" sz="1824">
                <a:solidFill>
                  <a:srgbClr val="1E2638"/>
                </a:solidFill>
                <a:latin typeface="Calibri (MS)"/>
                <a:ea typeface="Calibri (MS)"/>
                <a:cs typeface="Calibri (MS)"/>
                <a:sym typeface="Calibri (MS)"/>
              </a:rPr>
              <a:t>Dynamic search sector logging</a:t>
            </a:r>
          </a:p>
        </p:txBody>
      </p:sp>
      <p:grpSp>
        <p:nvGrpSpPr>
          <p:cNvPr name="Group 50" id="50"/>
          <p:cNvGrpSpPr/>
          <p:nvPr/>
        </p:nvGrpSpPr>
        <p:grpSpPr>
          <a:xfrm rot="0">
            <a:off x="13548722" y="2126859"/>
            <a:ext cx="3927805" cy="2885174"/>
            <a:chOff x="0" y="0"/>
            <a:chExt cx="5237074" cy="3846898"/>
          </a:xfrm>
        </p:grpSpPr>
        <p:sp>
          <p:nvSpPr>
            <p:cNvPr name="Freeform 51" id="51"/>
            <p:cNvSpPr/>
            <p:nvPr/>
          </p:nvSpPr>
          <p:spPr>
            <a:xfrm flipH="false" flipV="false" rot="0">
              <a:off x="0" y="0"/>
              <a:ext cx="5237099" cy="3846899"/>
            </a:xfrm>
            <a:custGeom>
              <a:avLst/>
              <a:gdLst/>
              <a:ahLst/>
              <a:cxnLst/>
              <a:rect r="r" b="b" t="t" l="l"/>
              <a:pathLst>
                <a:path h="3846899" w="5237099">
                  <a:moveTo>
                    <a:pt x="0" y="224430"/>
                  </a:moveTo>
                  <a:cubicBezTo>
                    <a:pt x="0" y="100412"/>
                    <a:pt x="115062" y="0"/>
                    <a:pt x="257175" y="0"/>
                  </a:cubicBezTo>
                  <a:lnTo>
                    <a:pt x="4979924" y="0"/>
                  </a:lnTo>
                  <a:cubicBezTo>
                    <a:pt x="5121910" y="0"/>
                    <a:pt x="5237099" y="100412"/>
                    <a:pt x="5237099" y="224430"/>
                  </a:cubicBezTo>
                  <a:lnTo>
                    <a:pt x="5237099" y="3622468"/>
                  </a:lnTo>
                  <a:cubicBezTo>
                    <a:pt x="5237099" y="3746376"/>
                    <a:pt x="5122037" y="3846899"/>
                    <a:pt x="4979924" y="3846899"/>
                  </a:cubicBezTo>
                  <a:lnTo>
                    <a:pt x="257175" y="3846899"/>
                  </a:lnTo>
                  <a:cubicBezTo>
                    <a:pt x="115062" y="3846899"/>
                    <a:pt x="0" y="3746487"/>
                    <a:pt x="0" y="3622468"/>
                  </a:cubicBezTo>
                  <a:close/>
                </a:path>
              </a:pathLst>
            </a:custGeom>
            <a:solidFill>
              <a:srgbClr val="F4F8FC"/>
            </a:solidFill>
            <a:ln w="14288" cap="sq">
              <a:solidFill>
                <a:srgbClr val="D6E1EE"/>
              </a:solidFill>
              <a:prstDash val="solid"/>
              <a:miter/>
            </a:ln>
          </p:spPr>
        </p:sp>
      </p:grpSp>
      <p:grpSp>
        <p:nvGrpSpPr>
          <p:cNvPr name="Group 52" id="52"/>
          <p:cNvGrpSpPr/>
          <p:nvPr/>
        </p:nvGrpSpPr>
        <p:grpSpPr>
          <a:xfrm rot="0">
            <a:off x="13857618" y="2353459"/>
            <a:ext cx="630936" cy="630936"/>
            <a:chOff x="0" y="0"/>
            <a:chExt cx="841248" cy="841248"/>
          </a:xfrm>
        </p:grpSpPr>
        <p:sp>
          <p:nvSpPr>
            <p:cNvPr name="Freeform 53" id="53"/>
            <p:cNvSpPr/>
            <p:nvPr/>
          </p:nvSpPr>
          <p:spPr>
            <a:xfrm flipH="false" flipV="false" rot="0">
              <a:off x="0" y="0"/>
              <a:ext cx="841248" cy="841248"/>
            </a:xfrm>
            <a:custGeom>
              <a:avLst/>
              <a:gdLst/>
              <a:ahLst/>
              <a:cxnLst/>
              <a:rect r="r" b="b" t="t" l="l"/>
              <a:pathLst>
                <a:path h="841248" w="841248">
                  <a:moveTo>
                    <a:pt x="0" y="420624"/>
                  </a:moveTo>
                  <a:cubicBezTo>
                    <a:pt x="0" y="188341"/>
                    <a:pt x="188341" y="0"/>
                    <a:pt x="420624" y="0"/>
                  </a:cubicBezTo>
                  <a:cubicBezTo>
                    <a:pt x="652907" y="0"/>
                    <a:pt x="841248" y="188341"/>
                    <a:pt x="841248" y="420624"/>
                  </a:cubicBezTo>
                  <a:cubicBezTo>
                    <a:pt x="841248" y="652907"/>
                    <a:pt x="652907" y="841248"/>
                    <a:pt x="420624" y="841248"/>
                  </a:cubicBezTo>
                  <a:cubicBezTo>
                    <a:pt x="188341" y="841248"/>
                    <a:pt x="0" y="652907"/>
                    <a:pt x="0" y="420624"/>
                  </a:cubicBezTo>
                  <a:close/>
                </a:path>
              </a:pathLst>
            </a:custGeom>
            <a:solidFill>
              <a:srgbClr val="FDEEDD"/>
            </a:solidFill>
          </p:spPr>
        </p:sp>
      </p:grpSp>
      <p:grpSp>
        <p:nvGrpSpPr>
          <p:cNvPr name="Group 54" id="54"/>
          <p:cNvGrpSpPr/>
          <p:nvPr/>
        </p:nvGrpSpPr>
        <p:grpSpPr>
          <a:xfrm rot="0">
            <a:off x="14015352" y="2511193"/>
            <a:ext cx="315468" cy="315468"/>
            <a:chOff x="0" y="0"/>
            <a:chExt cx="420624" cy="420624"/>
          </a:xfrm>
        </p:grpSpPr>
        <p:sp>
          <p:nvSpPr>
            <p:cNvPr name="Freeform 55" id="55" descr="DISTRICT GOVERNANCE icon"/>
            <p:cNvSpPr/>
            <p:nvPr/>
          </p:nvSpPr>
          <p:spPr>
            <a:xfrm flipH="false" flipV="false" rot="0">
              <a:off x="0" y="0"/>
              <a:ext cx="420624" cy="420624"/>
            </a:xfrm>
            <a:custGeom>
              <a:avLst/>
              <a:gdLst/>
              <a:ahLst/>
              <a:cxnLst/>
              <a:rect r="r" b="b" t="t" l="l"/>
              <a:pathLst>
                <a:path h="420624" w="420624">
                  <a:moveTo>
                    <a:pt x="0" y="0"/>
                  </a:moveTo>
                  <a:lnTo>
                    <a:pt x="420624" y="0"/>
                  </a:lnTo>
                  <a:lnTo>
                    <a:pt x="420624" y="420624"/>
                  </a:lnTo>
                  <a:lnTo>
                    <a:pt x="0" y="42062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>
                <a:fillRect l="0" t="0" r="0" b="0"/>
              </a:stretch>
            </a:blipFill>
          </p:spPr>
        </p:sp>
      </p:grpSp>
      <p:grpSp>
        <p:nvGrpSpPr>
          <p:cNvPr name="Group 56" id="56"/>
          <p:cNvGrpSpPr/>
          <p:nvPr/>
        </p:nvGrpSpPr>
        <p:grpSpPr>
          <a:xfrm rot="0">
            <a:off x="14653146" y="2353459"/>
            <a:ext cx="2679078" cy="630936"/>
            <a:chOff x="0" y="0"/>
            <a:chExt cx="3572104" cy="841248"/>
          </a:xfrm>
        </p:grpSpPr>
        <p:sp>
          <p:nvSpPr>
            <p:cNvPr name="Freeform 57" id="57"/>
            <p:cNvSpPr/>
            <p:nvPr/>
          </p:nvSpPr>
          <p:spPr>
            <a:xfrm flipH="false" flipV="false" rot="0">
              <a:off x="0" y="0"/>
              <a:ext cx="3572102" cy="841248"/>
            </a:xfrm>
            <a:custGeom>
              <a:avLst/>
              <a:gdLst/>
              <a:ahLst/>
              <a:cxnLst/>
              <a:rect r="r" b="b" t="t" l="l"/>
              <a:pathLst>
                <a:path h="841248" w="3572102">
                  <a:moveTo>
                    <a:pt x="0" y="0"/>
                  </a:moveTo>
                  <a:lnTo>
                    <a:pt x="3572102" y="0"/>
                  </a:lnTo>
                  <a:lnTo>
                    <a:pt x="3572102" y="841248"/>
                  </a:lnTo>
                  <a:lnTo>
                    <a:pt x="0" y="84124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2737" r="0" b="-32737"/>
              </a:stretch>
            </a:blipFill>
          </p:spPr>
        </p:sp>
        <p:sp>
          <p:nvSpPr>
            <p:cNvPr name="TextBox 58" id="58"/>
            <p:cNvSpPr txBox="true"/>
            <p:nvPr/>
          </p:nvSpPr>
          <p:spPr>
            <a:xfrm>
              <a:off x="0" y="-38100"/>
              <a:ext cx="3572104" cy="879348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250"/>
                </a:lnSpc>
              </a:pPr>
              <a:r>
                <a:rPr lang="en-US" b="true" sz="1875" spc="60">
                  <a:solidFill>
                    <a:srgbClr val="1F497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DISTRICT GOVERNANCE</a:t>
              </a:r>
            </a:p>
          </p:txBody>
        </p:sp>
      </p:grpSp>
      <p:sp>
        <p:nvSpPr>
          <p:cNvPr name="TextBox 59" id="59"/>
          <p:cNvSpPr txBox="true"/>
          <p:nvPr/>
        </p:nvSpPr>
        <p:spPr>
          <a:xfrm rot="0">
            <a:off x="13857618" y="3127270"/>
            <a:ext cx="3364878" cy="141941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330279" indent="-165139" lvl="1">
              <a:lnSpc>
                <a:spcPts val="2189"/>
              </a:lnSpc>
              <a:buFont typeface="Arial"/>
              <a:buChar char="•"/>
            </a:pPr>
            <a:r>
              <a:rPr lang="en-US" sz="1824">
                <a:solidFill>
                  <a:srgbClr val="1E2638"/>
                </a:solidFill>
                <a:latin typeface="Calibri (MS)"/>
                <a:ea typeface="Calibri (MS)"/>
                <a:cs typeface="Calibri (MS)"/>
                <a:sym typeface="Calibri (MS)"/>
              </a:rPr>
              <a:t>Efficient resource allocation</a:t>
            </a:r>
          </a:p>
          <a:p>
            <a:pPr algn="l" marL="330279" indent="-165139" lvl="1">
              <a:lnSpc>
                <a:spcPts val="2189"/>
              </a:lnSpc>
              <a:buFont typeface="Arial"/>
              <a:buChar char="•"/>
            </a:pPr>
            <a:r>
              <a:rPr lang="en-US" sz="1824">
                <a:solidFill>
                  <a:srgbClr val="1E2638"/>
                </a:solidFill>
                <a:latin typeface="Calibri (MS)"/>
                <a:ea typeface="Calibri (MS)"/>
                <a:cs typeface="Calibri (MS)"/>
                <a:sym typeface="Calibri (MS)"/>
              </a:rPr>
              <a:t>Targeted airlift &amp; medical drops</a:t>
            </a:r>
          </a:p>
          <a:p>
            <a:pPr algn="l" marL="330279" indent="-165139" lvl="1">
              <a:lnSpc>
                <a:spcPts val="2189"/>
              </a:lnSpc>
              <a:buFont typeface="Arial"/>
              <a:buChar char="•"/>
            </a:pPr>
            <a:r>
              <a:rPr lang="en-US" sz="1824">
                <a:solidFill>
                  <a:srgbClr val="1E2638"/>
                </a:solidFill>
                <a:latin typeface="Calibri (MS)"/>
                <a:ea typeface="Calibri (MS)"/>
                <a:cs typeface="Calibri (MS)"/>
                <a:sym typeface="Calibri (MS)"/>
              </a:rPr>
              <a:t>Post-disaster audit trails</a:t>
            </a:r>
          </a:p>
          <a:p>
            <a:pPr algn="l" marL="330279" indent="-165139" lvl="1">
              <a:lnSpc>
                <a:spcPts val="2189"/>
              </a:lnSpc>
              <a:buFont typeface="Arial"/>
              <a:buChar char="•"/>
            </a:pPr>
            <a:r>
              <a:rPr lang="en-US" sz="1824">
                <a:solidFill>
                  <a:srgbClr val="1E2638"/>
                </a:solidFill>
                <a:latin typeface="Calibri (MS)"/>
                <a:ea typeface="Calibri (MS)"/>
                <a:cs typeface="Calibri (MS)"/>
                <a:sym typeface="Calibri (MS)"/>
              </a:rPr>
              <a:t>Affordable procurement at scale</a:t>
            </a:r>
          </a:p>
        </p:txBody>
      </p:sp>
      <p:grpSp>
        <p:nvGrpSpPr>
          <p:cNvPr name="Group 60" id="60"/>
          <p:cNvGrpSpPr/>
          <p:nvPr/>
        </p:nvGrpSpPr>
        <p:grpSpPr>
          <a:xfrm rot="0">
            <a:off x="815816" y="5396960"/>
            <a:ext cx="16655910" cy="3937064"/>
            <a:chOff x="0" y="0"/>
            <a:chExt cx="22207880" cy="5249418"/>
          </a:xfrm>
        </p:grpSpPr>
        <p:sp>
          <p:nvSpPr>
            <p:cNvPr name="Freeform 61" id="61"/>
            <p:cNvSpPr/>
            <p:nvPr/>
          </p:nvSpPr>
          <p:spPr>
            <a:xfrm flipH="false" flipV="false" rot="0">
              <a:off x="0" y="0"/>
              <a:ext cx="22207855" cy="5249418"/>
            </a:xfrm>
            <a:custGeom>
              <a:avLst/>
              <a:gdLst/>
              <a:ahLst/>
              <a:cxnLst/>
              <a:rect r="r" b="b" t="t" l="l"/>
              <a:pathLst>
                <a:path h="5249418" w="22207855">
                  <a:moveTo>
                    <a:pt x="0" y="256921"/>
                  </a:moveTo>
                  <a:cubicBezTo>
                    <a:pt x="0" y="115062"/>
                    <a:pt x="115062" y="0"/>
                    <a:pt x="256921" y="0"/>
                  </a:cubicBezTo>
                  <a:lnTo>
                    <a:pt x="21950935" y="0"/>
                  </a:lnTo>
                  <a:cubicBezTo>
                    <a:pt x="22092794" y="0"/>
                    <a:pt x="22207855" y="115062"/>
                    <a:pt x="22207855" y="256921"/>
                  </a:cubicBezTo>
                  <a:lnTo>
                    <a:pt x="22207855" y="4992497"/>
                  </a:lnTo>
                  <a:cubicBezTo>
                    <a:pt x="22207855" y="5134356"/>
                    <a:pt x="22092794" y="5249418"/>
                    <a:pt x="21950935" y="5249418"/>
                  </a:cubicBezTo>
                  <a:lnTo>
                    <a:pt x="256921" y="5249418"/>
                  </a:lnTo>
                  <a:cubicBezTo>
                    <a:pt x="115062" y="5249418"/>
                    <a:pt x="0" y="5134356"/>
                    <a:pt x="0" y="4992497"/>
                  </a:cubicBezTo>
                  <a:close/>
                </a:path>
              </a:pathLst>
            </a:custGeom>
            <a:solidFill>
              <a:srgbClr val="FFB35C">
                <a:alpha val="7843"/>
              </a:srgbClr>
            </a:solidFill>
            <a:ln w="14288" cap="sq">
              <a:solidFill>
                <a:srgbClr val="D6E1EE">
                  <a:alpha val="7843"/>
                </a:srgbClr>
              </a:solidFill>
              <a:prstDash val="solid"/>
              <a:miter/>
            </a:ln>
          </p:spPr>
        </p:sp>
      </p:grpSp>
      <p:grpSp>
        <p:nvGrpSpPr>
          <p:cNvPr name="Group 62" id="62"/>
          <p:cNvGrpSpPr/>
          <p:nvPr/>
        </p:nvGrpSpPr>
        <p:grpSpPr>
          <a:xfrm rot="0">
            <a:off x="1124712" y="5568696"/>
            <a:ext cx="2606726" cy="384048"/>
            <a:chOff x="0" y="0"/>
            <a:chExt cx="3475634" cy="512064"/>
          </a:xfrm>
        </p:grpSpPr>
        <p:sp>
          <p:nvSpPr>
            <p:cNvPr name="Freeform 63" id="63"/>
            <p:cNvSpPr/>
            <p:nvPr/>
          </p:nvSpPr>
          <p:spPr>
            <a:xfrm flipH="false" flipV="false" rot="0">
              <a:off x="0" y="0"/>
              <a:ext cx="3475609" cy="512064"/>
            </a:xfrm>
            <a:custGeom>
              <a:avLst/>
              <a:gdLst/>
              <a:ahLst/>
              <a:cxnLst/>
              <a:rect r="r" b="b" t="t" l="l"/>
              <a:pathLst>
                <a:path h="512064" w="3475609">
                  <a:moveTo>
                    <a:pt x="0" y="256032"/>
                  </a:moveTo>
                  <a:cubicBezTo>
                    <a:pt x="0" y="114681"/>
                    <a:pt x="114681" y="0"/>
                    <a:pt x="256032" y="0"/>
                  </a:cubicBezTo>
                  <a:lnTo>
                    <a:pt x="3219577" y="0"/>
                  </a:lnTo>
                  <a:cubicBezTo>
                    <a:pt x="3360928" y="0"/>
                    <a:pt x="3475609" y="114681"/>
                    <a:pt x="3475609" y="256032"/>
                  </a:cubicBezTo>
                  <a:cubicBezTo>
                    <a:pt x="3475609" y="397383"/>
                    <a:pt x="3360928" y="512064"/>
                    <a:pt x="3219577" y="512064"/>
                  </a:cubicBezTo>
                  <a:lnTo>
                    <a:pt x="256032" y="512064"/>
                  </a:lnTo>
                  <a:cubicBezTo>
                    <a:pt x="114681" y="512064"/>
                    <a:pt x="0" y="397383"/>
                    <a:pt x="0" y="256032"/>
                  </a:cubicBezTo>
                  <a:close/>
                </a:path>
              </a:pathLst>
            </a:custGeom>
            <a:solidFill>
              <a:srgbClr val="FDEEDD"/>
            </a:solidFill>
          </p:spPr>
        </p:sp>
      </p:grpSp>
      <p:grpSp>
        <p:nvGrpSpPr>
          <p:cNvPr name="Group 64" id="64"/>
          <p:cNvGrpSpPr/>
          <p:nvPr/>
        </p:nvGrpSpPr>
        <p:grpSpPr>
          <a:xfrm rot="0">
            <a:off x="1124712" y="5568696"/>
            <a:ext cx="2606726" cy="384048"/>
            <a:chOff x="0" y="0"/>
            <a:chExt cx="3475634" cy="512064"/>
          </a:xfrm>
        </p:grpSpPr>
        <p:sp>
          <p:nvSpPr>
            <p:cNvPr name="Freeform 65" id="65"/>
            <p:cNvSpPr/>
            <p:nvPr/>
          </p:nvSpPr>
          <p:spPr>
            <a:xfrm flipH="false" flipV="false" rot="0">
              <a:off x="0" y="0"/>
              <a:ext cx="3475634" cy="512064"/>
            </a:xfrm>
            <a:custGeom>
              <a:avLst/>
              <a:gdLst/>
              <a:ahLst/>
              <a:cxnLst/>
              <a:rect r="r" b="b" t="t" l="l"/>
              <a:pathLst>
                <a:path h="512064" w="3475634">
                  <a:moveTo>
                    <a:pt x="0" y="0"/>
                  </a:moveTo>
                  <a:lnTo>
                    <a:pt x="3475634" y="0"/>
                  </a:lnTo>
                  <a:lnTo>
                    <a:pt x="3475634" y="512064"/>
                  </a:lnTo>
                  <a:lnTo>
                    <a:pt x="0" y="51206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82254" r="0" b="-82254"/>
              </a:stretch>
            </a:blipFill>
          </p:spPr>
        </p:sp>
        <p:sp>
          <p:nvSpPr>
            <p:cNvPr name="TextBox 66" id="66"/>
            <p:cNvSpPr txBox="true"/>
            <p:nvPr/>
          </p:nvSpPr>
          <p:spPr>
            <a:xfrm>
              <a:off x="0" y="-19050"/>
              <a:ext cx="3475634" cy="53111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889"/>
                </a:lnSpc>
              </a:pPr>
              <a:r>
                <a:rPr lang="en-US" b="true" sz="1575" spc="224">
                  <a:solidFill>
                    <a:srgbClr val="B35A0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IMPACT PIPELINE</a:t>
              </a:r>
            </a:p>
          </p:txBody>
        </p:sp>
      </p:grpSp>
      <p:grpSp>
        <p:nvGrpSpPr>
          <p:cNvPr name="Group 67" id="67"/>
          <p:cNvGrpSpPr/>
          <p:nvPr/>
        </p:nvGrpSpPr>
        <p:grpSpPr>
          <a:xfrm rot="0">
            <a:off x="1124712" y="6830568"/>
            <a:ext cx="1645920" cy="740664"/>
            <a:chOff x="0" y="0"/>
            <a:chExt cx="2194560" cy="987552"/>
          </a:xfrm>
        </p:grpSpPr>
        <p:sp>
          <p:nvSpPr>
            <p:cNvPr name="Freeform 68" id="68"/>
            <p:cNvSpPr/>
            <p:nvPr/>
          </p:nvSpPr>
          <p:spPr>
            <a:xfrm flipH="false" flipV="false" rot="0">
              <a:off x="0" y="0"/>
              <a:ext cx="2194560" cy="987552"/>
            </a:xfrm>
            <a:custGeom>
              <a:avLst/>
              <a:gdLst/>
              <a:ahLst/>
              <a:cxnLst/>
              <a:rect r="r" b="b" t="t" l="l"/>
              <a:pathLst>
                <a:path h="987552" w="2194560">
                  <a:moveTo>
                    <a:pt x="0" y="0"/>
                  </a:moveTo>
                  <a:lnTo>
                    <a:pt x="2194560" y="0"/>
                  </a:lnTo>
                  <a:lnTo>
                    <a:pt x="2194560" y="987552"/>
                  </a:lnTo>
                  <a:lnTo>
                    <a:pt x="0" y="98755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7736" t="0" r="-7736" b="0"/>
              </a:stretch>
            </a:blipFill>
          </p:spPr>
        </p:sp>
        <p:sp>
          <p:nvSpPr>
            <p:cNvPr name="TextBox 69" id="69"/>
            <p:cNvSpPr txBox="true"/>
            <p:nvPr/>
          </p:nvSpPr>
          <p:spPr>
            <a:xfrm>
              <a:off x="0" y="-38100"/>
              <a:ext cx="2194560" cy="102565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800"/>
                </a:lnSpc>
              </a:pPr>
              <a:r>
                <a:rPr lang="en-US" b="true" sz="1500" spc="150">
                  <a:solidFill>
                    <a:srgbClr val="0070C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PHOENIX DOES</a:t>
              </a:r>
            </a:p>
          </p:txBody>
        </p:sp>
      </p:grpSp>
      <p:grpSp>
        <p:nvGrpSpPr>
          <p:cNvPr name="Group 70" id="70"/>
          <p:cNvGrpSpPr/>
          <p:nvPr/>
        </p:nvGrpSpPr>
        <p:grpSpPr>
          <a:xfrm rot="0">
            <a:off x="1124712" y="7626096"/>
            <a:ext cx="1645920" cy="740664"/>
            <a:chOff x="0" y="0"/>
            <a:chExt cx="2194560" cy="987552"/>
          </a:xfrm>
        </p:grpSpPr>
        <p:sp>
          <p:nvSpPr>
            <p:cNvPr name="Freeform 71" id="71"/>
            <p:cNvSpPr/>
            <p:nvPr/>
          </p:nvSpPr>
          <p:spPr>
            <a:xfrm flipH="false" flipV="false" rot="0">
              <a:off x="0" y="0"/>
              <a:ext cx="2194560" cy="987552"/>
            </a:xfrm>
            <a:custGeom>
              <a:avLst/>
              <a:gdLst/>
              <a:ahLst/>
              <a:cxnLst/>
              <a:rect r="r" b="b" t="t" l="l"/>
              <a:pathLst>
                <a:path h="987552" w="2194560">
                  <a:moveTo>
                    <a:pt x="0" y="0"/>
                  </a:moveTo>
                  <a:lnTo>
                    <a:pt x="2194560" y="0"/>
                  </a:lnTo>
                  <a:lnTo>
                    <a:pt x="2194560" y="987552"/>
                  </a:lnTo>
                  <a:lnTo>
                    <a:pt x="0" y="98755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7736" t="0" r="-7736" b="0"/>
              </a:stretch>
            </a:blipFill>
          </p:spPr>
        </p:sp>
        <p:sp>
          <p:nvSpPr>
            <p:cNvPr name="TextBox 72" id="72"/>
            <p:cNvSpPr txBox="true"/>
            <p:nvPr/>
          </p:nvSpPr>
          <p:spPr>
            <a:xfrm>
              <a:off x="0" y="-38100"/>
              <a:ext cx="2194560" cy="102565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800"/>
                </a:lnSpc>
              </a:pPr>
              <a:r>
                <a:rPr lang="en-US" b="true" sz="1500" spc="150">
                  <a:solidFill>
                    <a:srgbClr val="0070C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IMPACT</a:t>
              </a:r>
            </a:p>
          </p:txBody>
        </p:sp>
      </p:grpSp>
      <p:grpSp>
        <p:nvGrpSpPr>
          <p:cNvPr name="Group 73" id="73"/>
          <p:cNvGrpSpPr/>
          <p:nvPr/>
        </p:nvGrpSpPr>
        <p:grpSpPr>
          <a:xfrm rot="0">
            <a:off x="1124712" y="8421624"/>
            <a:ext cx="1645920" cy="795528"/>
            <a:chOff x="0" y="0"/>
            <a:chExt cx="2194560" cy="1060704"/>
          </a:xfrm>
        </p:grpSpPr>
        <p:sp>
          <p:nvSpPr>
            <p:cNvPr name="Freeform 74" id="74"/>
            <p:cNvSpPr/>
            <p:nvPr/>
          </p:nvSpPr>
          <p:spPr>
            <a:xfrm flipH="false" flipV="false" rot="0">
              <a:off x="0" y="0"/>
              <a:ext cx="2194560" cy="1060704"/>
            </a:xfrm>
            <a:custGeom>
              <a:avLst/>
              <a:gdLst/>
              <a:ahLst/>
              <a:cxnLst/>
              <a:rect r="r" b="b" t="t" l="l"/>
              <a:pathLst>
                <a:path h="1060704" w="2194560">
                  <a:moveTo>
                    <a:pt x="0" y="0"/>
                  </a:moveTo>
                  <a:lnTo>
                    <a:pt x="2194560" y="0"/>
                  </a:lnTo>
                  <a:lnTo>
                    <a:pt x="2194560" y="1060704"/>
                  </a:lnTo>
                  <a:lnTo>
                    <a:pt x="0" y="106070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12013" t="0" r="-12013" b="0"/>
              </a:stretch>
            </a:blipFill>
          </p:spPr>
        </p:sp>
        <p:sp>
          <p:nvSpPr>
            <p:cNvPr name="TextBox 75" id="75"/>
            <p:cNvSpPr txBox="true"/>
            <p:nvPr/>
          </p:nvSpPr>
          <p:spPr>
            <a:xfrm>
              <a:off x="0" y="-38100"/>
              <a:ext cx="2194560" cy="109880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800"/>
                </a:lnSpc>
              </a:pPr>
              <a:r>
                <a:rPr lang="en-US" b="true" sz="1500" spc="150">
                  <a:solidFill>
                    <a:srgbClr val="0070C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MEASURE</a:t>
              </a:r>
            </a:p>
          </p:txBody>
        </p:sp>
      </p:grpSp>
      <p:sp>
        <p:nvSpPr>
          <p:cNvPr name="AutoShape 76" id="76"/>
          <p:cNvSpPr/>
          <p:nvPr/>
        </p:nvSpPr>
        <p:spPr>
          <a:xfrm rot="3060">
            <a:off x="1117568" y="6784657"/>
            <a:ext cx="16079848" cy="0"/>
          </a:xfrm>
          <a:prstGeom prst="line">
            <a:avLst/>
          </a:prstGeom>
          <a:ln cap="rnd" w="9525">
            <a:solidFill>
              <a:srgbClr val="D6E1EE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77" id="77"/>
          <p:cNvSpPr/>
          <p:nvPr/>
        </p:nvSpPr>
        <p:spPr>
          <a:xfrm rot="3060">
            <a:off x="1117568" y="7580186"/>
            <a:ext cx="16079848" cy="0"/>
          </a:xfrm>
          <a:prstGeom prst="line">
            <a:avLst/>
          </a:prstGeom>
          <a:ln cap="rnd" w="9525">
            <a:solidFill>
              <a:srgbClr val="D6E1EE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78" id="78"/>
          <p:cNvSpPr/>
          <p:nvPr/>
        </p:nvSpPr>
        <p:spPr>
          <a:xfrm rot="3060">
            <a:off x="1117568" y="8375714"/>
            <a:ext cx="16079848" cy="0"/>
          </a:xfrm>
          <a:prstGeom prst="line">
            <a:avLst/>
          </a:prstGeom>
          <a:ln cap="rnd" w="9525">
            <a:solidFill>
              <a:srgbClr val="D6E1EE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79" id="79"/>
          <p:cNvGrpSpPr/>
          <p:nvPr/>
        </p:nvGrpSpPr>
        <p:grpSpPr>
          <a:xfrm rot="0">
            <a:off x="2880360" y="6089904"/>
            <a:ext cx="2796140" cy="603504"/>
            <a:chOff x="0" y="0"/>
            <a:chExt cx="3728187" cy="804672"/>
          </a:xfrm>
        </p:grpSpPr>
        <p:sp>
          <p:nvSpPr>
            <p:cNvPr name="Freeform 80" id="80"/>
            <p:cNvSpPr/>
            <p:nvPr/>
          </p:nvSpPr>
          <p:spPr>
            <a:xfrm flipH="false" flipV="false" rot="0">
              <a:off x="0" y="0"/>
              <a:ext cx="3728212" cy="804672"/>
            </a:xfrm>
            <a:custGeom>
              <a:avLst/>
              <a:gdLst/>
              <a:ahLst/>
              <a:cxnLst/>
              <a:rect r="r" b="b" t="t" l="l"/>
              <a:pathLst>
                <a:path h="804672" w="3728212">
                  <a:moveTo>
                    <a:pt x="0" y="0"/>
                  </a:moveTo>
                  <a:lnTo>
                    <a:pt x="3454654" y="0"/>
                  </a:lnTo>
                  <a:lnTo>
                    <a:pt x="3728212" y="402336"/>
                  </a:lnTo>
                  <a:lnTo>
                    <a:pt x="3454654" y="804672"/>
                  </a:lnTo>
                  <a:lnTo>
                    <a:pt x="0" y="804672"/>
                  </a:lnTo>
                  <a:close/>
                </a:path>
              </a:pathLst>
            </a:custGeom>
            <a:solidFill>
              <a:srgbClr val="1F497D"/>
            </a:solidFill>
          </p:spPr>
        </p:sp>
      </p:grpSp>
      <p:grpSp>
        <p:nvGrpSpPr>
          <p:cNvPr name="Group 81" id="81"/>
          <p:cNvGrpSpPr/>
          <p:nvPr/>
        </p:nvGrpSpPr>
        <p:grpSpPr>
          <a:xfrm rot="0">
            <a:off x="3044952" y="6089904"/>
            <a:ext cx="2247500" cy="603504"/>
            <a:chOff x="0" y="0"/>
            <a:chExt cx="2996667" cy="804672"/>
          </a:xfrm>
        </p:grpSpPr>
        <p:sp>
          <p:nvSpPr>
            <p:cNvPr name="Freeform 82" id="82"/>
            <p:cNvSpPr/>
            <p:nvPr/>
          </p:nvSpPr>
          <p:spPr>
            <a:xfrm flipH="false" flipV="false" rot="0">
              <a:off x="0" y="0"/>
              <a:ext cx="2996670" cy="804672"/>
            </a:xfrm>
            <a:custGeom>
              <a:avLst/>
              <a:gdLst/>
              <a:ahLst/>
              <a:cxnLst/>
              <a:rect r="r" b="b" t="t" l="l"/>
              <a:pathLst>
                <a:path h="804672" w="2996670">
                  <a:moveTo>
                    <a:pt x="0" y="0"/>
                  </a:moveTo>
                  <a:lnTo>
                    <a:pt x="2996670" y="0"/>
                  </a:lnTo>
                  <a:lnTo>
                    <a:pt x="2996670" y="804672"/>
                  </a:lnTo>
                  <a:lnTo>
                    <a:pt x="0" y="80467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2563" r="0" b="-22563"/>
              </a:stretch>
            </a:blipFill>
          </p:spPr>
        </p:sp>
        <p:sp>
          <p:nvSpPr>
            <p:cNvPr name="TextBox 83" id="83"/>
            <p:cNvSpPr txBox="true"/>
            <p:nvPr/>
          </p:nvSpPr>
          <p:spPr>
            <a:xfrm>
              <a:off x="0" y="-38100"/>
              <a:ext cx="2996667" cy="84277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160"/>
                </a:lnSpc>
              </a:pPr>
              <a:r>
                <a:rPr lang="en-US" b="true" sz="1800" spc="149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1  DEPLOY</a:t>
              </a:r>
            </a:p>
          </p:txBody>
        </p:sp>
      </p:grpSp>
      <p:sp>
        <p:nvSpPr>
          <p:cNvPr name="TextBox 84" id="84"/>
          <p:cNvSpPr txBox="true"/>
          <p:nvPr/>
        </p:nvSpPr>
        <p:spPr>
          <a:xfrm rot="0">
            <a:off x="2962656" y="6792468"/>
            <a:ext cx="2604116" cy="77876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070"/>
              </a:lnSpc>
            </a:pPr>
            <a:r>
              <a:rPr lang="en-US" sz="1725" b="true">
                <a:solidFill>
                  <a:srgbClr val="1F497D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Backpack to flight with no infrastructure</a:t>
            </a:r>
          </a:p>
        </p:txBody>
      </p:sp>
      <p:sp>
        <p:nvSpPr>
          <p:cNvPr name="TextBox 85" id="85"/>
          <p:cNvSpPr txBox="true"/>
          <p:nvPr/>
        </p:nvSpPr>
        <p:spPr>
          <a:xfrm rot="0">
            <a:off x="2962656" y="7587996"/>
            <a:ext cx="2604116" cy="77876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070"/>
              </a:lnSpc>
            </a:pPr>
            <a:r>
              <a:rPr lang="en-US" sz="1725">
                <a:solidFill>
                  <a:srgbClr val="1E2638"/>
                </a:solidFill>
                <a:latin typeface="Calibri (MS)"/>
                <a:ea typeface="Calibri (MS)"/>
                <a:cs typeface="Calibri (MS)"/>
                <a:sym typeface="Calibri (MS)"/>
              </a:rPr>
              <a:t>Search starts within minutes of arrival</a:t>
            </a:r>
          </a:p>
        </p:txBody>
      </p:sp>
      <p:grpSp>
        <p:nvGrpSpPr>
          <p:cNvPr name="Group 86" id="86"/>
          <p:cNvGrpSpPr/>
          <p:nvPr/>
        </p:nvGrpSpPr>
        <p:grpSpPr>
          <a:xfrm rot="0">
            <a:off x="2880360" y="8421624"/>
            <a:ext cx="2713844" cy="795528"/>
            <a:chOff x="0" y="0"/>
            <a:chExt cx="3618459" cy="1060704"/>
          </a:xfrm>
        </p:grpSpPr>
        <p:sp>
          <p:nvSpPr>
            <p:cNvPr name="Freeform 87" id="87"/>
            <p:cNvSpPr/>
            <p:nvPr/>
          </p:nvSpPr>
          <p:spPr>
            <a:xfrm flipH="false" flipV="false" rot="0">
              <a:off x="0" y="0"/>
              <a:ext cx="3618484" cy="1060704"/>
            </a:xfrm>
            <a:custGeom>
              <a:avLst/>
              <a:gdLst/>
              <a:ahLst/>
              <a:cxnLst/>
              <a:rect r="r" b="b" t="t" l="l"/>
              <a:pathLst>
                <a:path h="1060704" w="3618484">
                  <a:moveTo>
                    <a:pt x="0" y="182880"/>
                  </a:moveTo>
                  <a:cubicBezTo>
                    <a:pt x="0" y="81915"/>
                    <a:pt x="81915" y="0"/>
                    <a:pt x="182880" y="0"/>
                  </a:cubicBezTo>
                  <a:lnTo>
                    <a:pt x="3435604" y="0"/>
                  </a:lnTo>
                  <a:cubicBezTo>
                    <a:pt x="3536569" y="0"/>
                    <a:pt x="3618484" y="81915"/>
                    <a:pt x="3618484" y="182880"/>
                  </a:cubicBezTo>
                  <a:lnTo>
                    <a:pt x="3618484" y="877824"/>
                  </a:lnTo>
                  <a:cubicBezTo>
                    <a:pt x="3618484" y="978789"/>
                    <a:pt x="3536569" y="1060704"/>
                    <a:pt x="3435604" y="1060704"/>
                  </a:cubicBezTo>
                  <a:lnTo>
                    <a:pt x="182880" y="1060704"/>
                  </a:lnTo>
                  <a:cubicBezTo>
                    <a:pt x="81915" y="1060704"/>
                    <a:pt x="0" y="978789"/>
                    <a:pt x="0" y="877824"/>
                  </a:cubicBezTo>
                  <a:close/>
                </a:path>
              </a:pathLst>
            </a:custGeom>
            <a:solidFill>
              <a:srgbClr val="FDEEDD"/>
            </a:solidFill>
          </p:spPr>
        </p:sp>
      </p:grpSp>
      <p:grpSp>
        <p:nvGrpSpPr>
          <p:cNvPr name="Group 88" id="88"/>
          <p:cNvGrpSpPr/>
          <p:nvPr/>
        </p:nvGrpSpPr>
        <p:grpSpPr>
          <a:xfrm rot="0">
            <a:off x="2880360" y="8458581"/>
            <a:ext cx="2713844" cy="411480"/>
            <a:chOff x="0" y="0"/>
            <a:chExt cx="3618459" cy="548640"/>
          </a:xfrm>
        </p:grpSpPr>
        <p:sp>
          <p:nvSpPr>
            <p:cNvPr name="Freeform 89" id="89"/>
            <p:cNvSpPr/>
            <p:nvPr/>
          </p:nvSpPr>
          <p:spPr>
            <a:xfrm flipH="false" flipV="false" rot="0">
              <a:off x="0" y="0"/>
              <a:ext cx="3618462" cy="548640"/>
            </a:xfrm>
            <a:custGeom>
              <a:avLst/>
              <a:gdLst/>
              <a:ahLst/>
              <a:cxnLst/>
              <a:rect r="r" b="b" t="t" l="l"/>
              <a:pathLst>
                <a:path h="548640" w="3618462">
                  <a:moveTo>
                    <a:pt x="0" y="0"/>
                  </a:moveTo>
                  <a:lnTo>
                    <a:pt x="3618462" y="0"/>
                  </a:lnTo>
                  <a:lnTo>
                    <a:pt x="3618462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78510" r="0" b="-78510"/>
              </a:stretch>
            </a:blipFill>
          </p:spPr>
        </p:sp>
        <p:sp>
          <p:nvSpPr>
            <p:cNvPr name="TextBox 90" id="90"/>
            <p:cNvSpPr txBox="true"/>
            <p:nvPr/>
          </p:nvSpPr>
          <p:spPr>
            <a:xfrm>
              <a:off x="0" y="-57150"/>
              <a:ext cx="3618459" cy="60579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700"/>
                </a:lnSpc>
              </a:pPr>
              <a:r>
                <a:rPr lang="en-US" sz="2250" b="true">
                  <a:solidFill>
                    <a:srgbClr val="B35A0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&lt; 3 min</a:t>
              </a:r>
            </a:p>
          </p:txBody>
        </p:sp>
      </p:grpSp>
      <p:grpSp>
        <p:nvGrpSpPr>
          <p:cNvPr name="Group 91" id="91"/>
          <p:cNvGrpSpPr/>
          <p:nvPr/>
        </p:nvGrpSpPr>
        <p:grpSpPr>
          <a:xfrm rot="0">
            <a:off x="2880360" y="8860536"/>
            <a:ext cx="2713844" cy="329184"/>
            <a:chOff x="0" y="0"/>
            <a:chExt cx="3618459" cy="438912"/>
          </a:xfrm>
        </p:grpSpPr>
        <p:sp>
          <p:nvSpPr>
            <p:cNvPr name="Freeform 92" id="92"/>
            <p:cNvSpPr/>
            <p:nvPr/>
          </p:nvSpPr>
          <p:spPr>
            <a:xfrm flipH="false" flipV="false" rot="0">
              <a:off x="0" y="0"/>
              <a:ext cx="3618462" cy="438912"/>
            </a:xfrm>
            <a:custGeom>
              <a:avLst/>
              <a:gdLst/>
              <a:ahLst/>
              <a:cxnLst/>
              <a:rect r="r" b="b" t="t" l="l"/>
              <a:pathLst>
                <a:path h="438912" w="3618462">
                  <a:moveTo>
                    <a:pt x="0" y="0"/>
                  </a:moveTo>
                  <a:lnTo>
                    <a:pt x="3618462" y="0"/>
                  </a:lnTo>
                  <a:lnTo>
                    <a:pt x="3618462" y="438912"/>
                  </a:lnTo>
                  <a:lnTo>
                    <a:pt x="0" y="43891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10637" r="0" b="-110637"/>
              </a:stretch>
            </a:blipFill>
          </p:spPr>
        </p:sp>
        <p:sp>
          <p:nvSpPr>
            <p:cNvPr name="TextBox 93" id="93"/>
            <p:cNvSpPr txBox="true"/>
            <p:nvPr/>
          </p:nvSpPr>
          <p:spPr>
            <a:xfrm>
              <a:off x="0" y="-38100"/>
              <a:ext cx="3618459" cy="47701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800"/>
                </a:lnSpc>
              </a:pPr>
              <a:r>
                <a:rPr lang="en-US" sz="1500">
                  <a:solidFill>
                    <a:srgbClr val="566074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unboxing to flight</a:t>
              </a:r>
            </a:p>
          </p:txBody>
        </p:sp>
      </p:grpSp>
      <p:grpSp>
        <p:nvGrpSpPr>
          <p:cNvPr name="Group 94" id="94"/>
          <p:cNvGrpSpPr/>
          <p:nvPr/>
        </p:nvGrpSpPr>
        <p:grpSpPr>
          <a:xfrm rot="0">
            <a:off x="5758796" y="6089904"/>
            <a:ext cx="2796140" cy="603504"/>
            <a:chOff x="0" y="0"/>
            <a:chExt cx="3728187" cy="804672"/>
          </a:xfrm>
        </p:grpSpPr>
        <p:sp>
          <p:nvSpPr>
            <p:cNvPr name="Freeform 95" id="95"/>
            <p:cNvSpPr/>
            <p:nvPr/>
          </p:nvSpPr>
          <p:spPr>
            <a:xfrm flipH="false" flipV="false" rot="0">
              <a:off x="0" y="0"/>
              <a:ext cx="3728212" cy="804672"/>
            </a:xfrm>
            <a:custGeom>
              <a:avLst/>
              <a:gdLst/>
              <a:ahLst/>
              <a:cxnLst/>
              <a:rect r="r" b="b" t="t" l="l"/>
              <a:pathLst>
                <a:path h="804672" w="3728212">
                  <a:moveTo>
                    <a:pt x="0" y="0"/>
                  </a:moveTo>
                  <a:lnTo>
                    <a:pt x="3454654" y="0"/>
                  </a:lnTo>
                  <a:lnTo>
                    <a:pt x="3728212" y="402336"/>
                  </a:lnTo>
                  <a:lnTo>
                    <a:pt x="3454654" y="804672"/>
                  </a:lnTo>
                  <a:lnTo>
                    <a:pt x="0" y="804672"/>
                  </a:lnTo>
                  <a:close/>
                </a:path>
              </a:pathLst>
            </a:custGeom>
            <a:solidFill>
              <a:srgbClr val="1F497D"/>
            </a:solidFill>
          </p:spPr>
        </p:sp>
      </p:grpSp>
      <p:grpSp>
        <p:nvGrpSpPr>
          <p:cNvPr name="Group 96" id="96"/>
          <p:cNvGrpSpPr/>
          <p:nvPr/>
        </p:nvGrpSpPr>
        <p:grpSpPr>
          <a:xfrm rot="0">
            <a:off x="5923388" y="6089904"/>
            <a:ext cx="2247500" cy="603504"/>
            <a:chOff x="0" y="0"/>
            <a:chExt cx="2996667" cy="804672"/>
          </a:xfrm>
        </p:grpSpPr>
        <p:sp>
          <p:nvSpPr>
            <p:cNvPr name="Freeform 97" id="97"/>
            <p:cNvSpPr/>
            <p:nvPr/>
          </p:nvSpPr>
          <p:spPr>
            <a:xfrm flipH="false" flipV="false" rot="0">
              <a:off x="0" y="0"/>
              <a:ext cx="2996670" cy="804672"/>
            </a:xfrm>
            <a:custGeom>
              <a:avLst/>
              <a:gdLst/>
              <a:ahLst/>
              <a:cxnLst/>
              <a:rect r="r" b="b" t="t" l="l"/>
              <a:pathLst>
                <a:path h="804672" w="2996670">
                  <a:moveTo>
                    <a:pt x="0" y="0"/>
                  </a:moveTo>
                  <a:lnTo>
                    <a:pt x="2996670" y="0"/>
                  </a:lnTo>
                  <a:lnTo>
                    <a:pt x="2996670" y="804672"/>
                  </a:lnTo>
                  <a:lnTo>
                    <a:pt x="0" y="80467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2563" r="0" b="-22563"/>
              </a:stretch>
            </a:blipFill>
          </p:spPr>
        </p:sp>
        <p:sp>
          <p:nvSpPr>
            <p:cNvPr name="TextBox 98" id="98"/>
            <p:cNvSpPr txBox="true"/>
            <p:nvPr/>
          </p:nvSpPr>
          <p:spPr>
            <a:xfrm>
              <a:off x="0" y="-38100"/>
              <a:ext cx="2996667" cy="84277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160"/>
                </a:lnSpc>
              </a:pPr>
              <a:r>
                <a:rPr lang="en-US" b="true" sz="1800" spc="149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2  SEARCH</a:t>
              </a:r>
            </a:p>
          </p:txBody>
        </p:sp>
      </p:grpSp>
      <p:sp>
        <p:nvSpPr>
          <p:cNvPr name="TextBox 99" id="99"/>
          <p:cNvSpPr txBox="true"/>
          <p:nvPr/>
        </p:nvSpPr>
        <p:spPr>
          <a:xfrm rot="0">
            <a:off x="5841092" y="6792468"/>
            <a:ext cx="2604116" cy="77876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070"/>
              </a:lnSpc>
            </a:pPr>
            <a:r>
              <a:rPr lang="en-US" sz="1725" b="true">
                <a:solidFill>
                  <a:srgbClr val="1F497D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Flies an autonomous sweep with RGB + thermal vision</a:t>
            </a:r>
          </a:p>
        </p:txBody>
      </p:sp>
      <p:sp>
        <p:nvSpPr>
          <p:cNvPr name="TextBox 100" id="100"/>
          <p:cNvSpPr txBox="true"/>
          <p:nvPr/>
        </p:nvSpPr>
        <p:spPr>
          <a:xfrm rot="0">
            <a:off x="5841092" y="7587996"/>
            <a:ext cx="2604116" cy="77876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070"/>
              </a:lnSpc>
            </a:pPr>
            <a:r>
              <a:rPr lang="en-US" sz="1725">
                <a:solidFill>
                  <a:srgbClr val="1E2638"/>
                </a:solidFill>
                <a:latin typeface="Calibri (MS)"/>
                <a:ea typeface="Calibri (MS)"/>
                <a:cs typeface="Calibri (MS)"/>
                <a:sym typeface="Calibri (MS)"/>
              </a:rPr>
              <a:t>Search continues at night and in smoke or fog</a:t>
            </a:r>
          </a:p>
        </p:txBody>
      </p:sp>
      <p:grpSp>
        <p:nvGrpSpPr>
          <p:cNvPr name="Group 101" id="101"/>
          <p:cNvGrpSpPr/>
          <p:nvPr/>
        </p:nvGrpSpPr>
        <p:grpSpPr>
          <a:xfrm rot="0">
            <a:off x="5758796" y="8421624"/>
            <a:ext cx="2713844" cy="795528"/>
            <a:chOff x="0" y="0"/>
            <a:chExt cx="3618459" cy="1060704"/>
          </a:xfrm>
        </p:grpSpPr>
        <p:sp>
          <p:nvSpPr>
            <p:cNvPr name="Freeform 102" id="102"/>
            <p:cNvSpPr/>
            <p:nvPr/>
          </p:nvSpPr>
          <p:spPr>
            <a:xfrm flipH="false" flipV="false" rot="0">
              <a:off x="0" y="0"/>
              <a:ext cx="3618484" cy="1060704"/>
            </a:xfrm>
            <a:custGeom>
              <a:avLst/>
              <a:gdLst/>
              <a:ahLst/>
              <a:cxnLst/>
              <a:rect r="r" b="b" t="t" l="l"/>
              <a:pathLst>
                <a:path h="1060704" w="3618484">
                  <a:moveTo>
                    <a:pt x="0" y="182880"/>
                  </a:moveTo>
                  <a:cubicBezTo>
                    <a:pt x="0" y="81915"/>
                    <a:pt x="81915" y="0"/>
                    <a:pt x="182880" y="0"/>
                  </a:cubicBezTo>
                  <a:lnTo>
                    <a:pt x="3435604" y="0"/>
                  </a:lnTo>
                  <a:cubicBezTo>
                    <a:pt x="3536569" y="0"/>
                    <a:pt x="3618484" y="81915"/>
                    <a:pt x="3618484" y="182880"/>
                  </a:cubicBezTo>
                  <a:lnTo>
                    <a:pt x="3618484" y="877824"/>
                  </a:lnTo>
                  <a:cubicBezTo>
                    <a:pt x="3618484" y="978789"/>
                    <a:pt x="3536569" y="1060704"/>
                    <a:pt x="3435604" y="1060704"/>
                  </a:cubicBezTo>
                  <a:lnTo>
                    <a:pt x="182880" y="1060704"/>
                  </a:lnTo>
                  <a:cubicBezTo>
                    <a:pt x="81915" y="1060704"/>
                    <a:pt x="0" y="978789"/>
                    <a:pt x="0" y="877824"/>
                  </a:cubicBezTo>
                  <a:close/>
                </a:path>
              </a:pathLst>
            </a:custGeom>
            <a:solidFill>
              <a:srgbClr val="FDEEDD"/>
            </a:solidFill>
          </p:spPr>
        </p:sp>
      </p:grpSp>
      <p:grpSp>
        <p:nvGrpSpPr>
          <p:cNvPr name="Group 103" id="103"/>
          <p:cNvGrpSpPr/>
          <p:nvPr/>
        </p:nvGrpSpPr>
        <p:grpSpPr>
          <a:xfrm rot="0">
            <a:off x="5758796" y="8449056"/>
            <a:ext cx="2713844" cy="411480"/>
            <a:chOff x="0" y="0"/>
            <a:chExt cx="3618459" cy="548640"/>
          </a:xfrm>
        </p:grpSpPr>
        <p:sp>
          <p:nvSpPr>
            <p:cNvPr name="Freeform 104" id="104"/>
            <p:cNvSpPr/>
            <p:nvPr/>
          </p:nvSpPr>
          <p:spPr>
            <a:xfrm flipH="false" flipV="false" rot="0">
              <a:off x="0" y="0"/>
              <a:ext cx="3618462" cy="548640"/>
            </a:xfrm>
            <a:custGeom>
              <a:avLst/>
              <a:gdLst/>
              <a:ahLst/>
              <a:cxnLst/>
              <a:rect r="r" b="b" t="t" l="l"/>
              <a:pathLst>
                <a:path h="548640" w="3618462">
                  <a:moveTo>
                    <a:pt x="0" y="0"/>
                  </a:moveTo>
                  <a:lnTo>
                    <a:pt x="3618462" y="0"/>
                  </a:lnTo>
                  <a:lnTo>
                    <a:pt x="3618462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78510" r="0" b="-78510"/>
              </a:stretch>
            </a:blipFill>
          </p:spPr>
        </p:sp>
        <p:sp>
          <p:nvSpPr>
            <p:cNvPr name="TextBox 105" id="105"/>
            <p:cNvSpPr txBox="true"/>
            <p:nvPr/>
          </p:nvSpPr>
          <p:spPr>
            <a:xfrm>
              <a:off x="0" y="-57150"/>
              <a:ext cx="3618459" cy="60579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700"/>
                </a:lnSpc>
              </a:pPr>
              <a:r>
                <a:rPr lang="en-US" sz="2250" b="true">
                  <a:solidFill>
                    <a:srgbClr val="B35A0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2 km²</a:t>
              </a:r>
            </a:p>
          </p:txBody>
        </p:sp>
      </p:grpSp>
      <p:grpSp>
        <p:nvGrpSpPr>
          <p:cNvPr name="Group 106" id="106"/>
          <p:cNvGrpSpPr/>
          <p:nvPr/>
        </p:nvGrpSpPr>
        <p:grpSpPr>
          <a:xfrm rot="0">
            <a:off x="5758796" y="8860536"/>
            <a:ext cx="2713844" cy="329184"/>
            <a:chOff x="0" y="0"/>
            <a:chExt cx="3618459" cy="438912"/>
          </a:xfrm>
        </p:grpSpPr>
        <p:sp>
          <p:nvSpPr>
            <p:cNvPr name="Freeform 107" id="107"/>
            <p:cNvSpPr/>
            <p:nvPr/>
          </p:nvSpPr>
          <p:spPr>
            <a:xfrm flipH="false" flipV="false" rot="0">
              <a:off x="0" y="0"/>
              <a:ext cx="3618462" cy="438912"/>
            </a:xfrm>
            <a:custGeom>
              <a:avLst/>
              <a:gdLst/>
              <a:ahLst/>
              <a:cxnLst/>
              <a:rect r="r" b="b" t="t" l="l"/>
              <a:pathLst>
                <a:path h="438912" w="3618462">
                  <a:moveTo>
                    <a:pt x="0" y="0"/>
                  </a:moveTo>
                  <a:lnTo>
                    <a:pt x="3618462" y="0"/>
                  </a:lnTo>
                  <a:lnTo>
                    <a:pt x="3618462" y="438912"/>
                  </a:lnTo>
                  <a:lnTo>
                    <a:pt x="0" y="43891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10637" r="0" b="-110637"/>
              </a:stretch>
            </a:blipFill>
          </p:spPr>
        </p:sp>
        <p:sp>
          <p:nvSpPr>
            <p:cNvPr name="TextBox 108" id="108"/>
            <p:cNvSpPr txBox="true"/>
            <p:nvPr/>
          </p:nvSpPr>
          <p:spPr>
            <a:xfrm>
              <a:off x="0" y="-38100"/>
              <a:ext cx="3618459" cy="47701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800"/>
                </a:lnSpc>
              </a:pPr>
              <a:r>
                <a:rPr lang="en-US" sz="1500">
                  <a:solidFill>
                    <a:srgbClr val="566074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search sector</a:t>
              </a:r>
            </a:p>
          </p:txBody>
        </p:sp>
      </p:grpSp>
      <p:grpSp>
        <p:nvGrpSpPr>
          <p:cNvPr name="Group 109" id="109"/>
          <p:cNvGrpSpPr/>
          <p:nvPr/>
        </p:nvGrpSpPr>
        <p:grpSpPr>
          <a:xfrm rot="0">
            <a:off x="8637241" y="6089904"/>
            <a:ext cx="2796140" cy="603504"/>
            <a:chOff x="0" y="0"/>
            <a:chExt cx="3728187" cy="804672"/>
          </a:xfrm>
        </p:grpSpPr>
        <p:sp>
          <p:nvSpPr>
            <p:cNvPr name="Freeform 110" id="110"/>
            <p:cNvSpPr/>
            <p:nvPr/>
          </p:nvSpPr>
          <p:spPr>
            <a:xfrm flipH="false" flipV="false" rot="0">
              <a:off x="0" y="0"/>
              <a:ext cx="3728212" cy="804672"/>
            </a:xfrm>
            <a:custGeom>
              <a:avLst/>
              <a:gdLst/>
              <a:ahLst/>
              <a:cxnLst/>
              <a:rect r="r" b="b" t="t" l="l"/>
              <a:pathLst>
                <a:path h="804672" w="3728212">
                  <a:moveTo>
                    <a:pt x="0" y="0"/>
                  </a:moveTo>
                  <a:lnTo>
                    <a:pt x="3454654" y="0"/>
                  </a:lnTo>
                  <a:lnTo>
                    <a:pt x="3728212" y="402336"/>
                  </a:lnTo>
                  <a:lnTo>
                    <a:pt x="3454654" y="804672"/>
                  </a:lnTo>
                  <a:lnTo>
                    <a:pt x="0" y="804672"/>
                  </a:lnTo>
                  <a:close/>
                </a:path>
              </a:pathLst>
            </a:custGeom>
            <a:solidFill>
              <a:srgbClr val="1F497D"/>
            </a:solidFill>
          </p:spPr>
        </p:sp>
      </p:grpSp>
      <p:grpSp>
        <p:nvGrpSpPr>
          <p:cNvPr name="Group 111" id="111"/>
          <p:cNvGrpSpPr/>
          <p:nvPr/>
        </p:nvGrpSpPr>
        <p:grpSpPr>
          <a:xfrm rot="0">
            <a:off x="8801833" y="6089904"/>
            <a:ext cx="2247500" cy="603504"/>
            <a:chOff x="0" y="0"/>
            <a:chExt cx="2996667" cy="804672"/>
          </a:xfrm>
        </p:grpSpPr>
        <p:sp>
          <p:nvSpPr>
            <p:cNvPr name="Freeform 112" id="112"/>
            <p:cNvSpPr/>
            <p:nvPr/>
          </p:nvSpPr>
          <p:spPr>
            <a:xfrm flipH="false" flipV="false" rot="0">
              <a:off x="0" y="0"/>
              <a:ext cx="2996670" cy="804672"/>
            </a:xfrm>
            <a:custGeom>
              <a:avLst/>
              <a:gdLst/>
              <a:ahLst/>
              <a:cxnLst/>
              <a:rect r="r" b="b" t="t" l="l"/>
              <a:pathLst>
                <a:path h="804672" w="2996670">
                  <a:moveTo>
                    <a:pt x="0" y="0"/>
                  </a:moveTo>
                  <a:lnTo>
                    <a:pt x="2996670" y="0"/>
                  </a:lnTo>
                  <a:lnTo>
                    <a:pt x="2996670" y="804672"/>
                  </a:lnTo>
                  <a:lnTo>
                    <a:pt x="0" y="80467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2563" r="0" b="-22563"/>
              </a:stretch>
            </a:blipFill>
          </p:spPr>
        </p:sp>
        <p:sp>
          <p:nvSpPr>
            <p:cNvPr name="TextBox 113" id="113"/>
            <p:cNvSpPr txBox="true"/>
            <p:nvPr/>
          </p:nvSpPr>
          <p:spPr>
            <a:xfrm>
              <a:off x="0" y="-38100"/>
              <a:ext cx="2996667" cy="84277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160"/>
                </a:lnSpc>
              </a:pPr>
              <a:r>
                <a:rPr lang="en-US" b="true" sz="1800" spc="149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3  LOCATE</a:t>
              </a:r>
            </a:p>
          </p:txBody>
        </p:sp>
      </p:grpSp>
      <p:sp>
        <p:nvSpPr>
          <p:cNvPr name="TextBox 114" id="114"/>
          <p:cNvSpPr txBox="true"/>
          <p:nvPr/>
        </p:nvSpPr>
        <p:spPr>
          <a:xfrm rot="0">
            <a:off x="8719537" y="6792468"/>
            <a:ext cx="2604116" cy="77876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070"/>
              </a:lnSpc>
            </a:pPr>
            <a:r>
              <a:rPr lang="en-US" sz="1725" b="true">
                <a:solidFill>
                  <a:srgbClr val="1F497D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Pins each detected survivor with GPS coordinates</a:t>
            </a:r>
          </a:p>
        </p:txBody>
      </p:sp>
      <p:sp>
        <p:nvSpPr>
          <p:cNvPr name="TextBox 115" id="115"/>
          <p:cNvSpPr txBox="true"/>
          <p:nvPr/>
        </p:nvSpPr>
        <p:spPr>
          <a:xfrm rot="0">
            <a:off x="8719537" y="7587996"/>
            <a:ext cx="2604116" cy="77876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070"/>
              </a:lnSpc>
            </a:pPr>
            <a:r>
              <a:rPr lang="en-US" sz="1725">
                <a:solidFill>
                  <a:srgbClr val="1E2638"/>
                </a:solidFill>
                <a:latin typeface="Calibri (MS)"/>
                <a:ea typeface="Calibri (MS)"/>
                <a:cs typeface="Calibri (MS)"/>
                <a:sym typeface="Calibri (MS)"/>
              </a:rPr>
              <a:t>Rescuers go straight to survivors, not digging blind</a:t>
            </a:r>
          </a:p>
        </p:txBody>
      </p:sp>
      <p:grpSp>
        <p:nvGrpSpPr>
          <p:cNvPr name="Group 116" id="116"/>
          <p:cNvGrpSpPr/>
          <p:nvPr/>
        </p:nvGrpSpPr>
        <p:grpSpPr>
          <a:xfrm rot="0">
            <a:off x="8637241" y="8421624"/>
            <a:ext cx="2713844" cy="795528"/>
            <a:chOff x="0" y="0"/>
            <a:chExt cx="3618459" cy="1060704"/>
          </a:xfrm>
        </p:grpSpPr>
        <p:sp>
          <p:nvSpPr>
            <p:cNvPr name="Freeform 117" id="117"/>
            <p:cNvSpPr/>
            <p:nvPr/>
          </p:nvSpPr>
          <p:spPr>
            <a:xfrm flipH="false" flipV="false" rot="0">
              <a:off x="0" y="0"/>
              <a:ext cx="3618484" cy="1060704"/>
            </a:xfrm>
            <a:custGeom>
              <a:avLst/>
              <a:gdLst/>
              <a:ahLst/>
              <a:cxnLst/>
              <a:rect r="r" b="b" t="t" l="l"/>
              <a:pathLst>
                <a:path h="1060704" w="3618484">
                  <a:moveTo>
                    <a:pt x="0" y="182880"/>
                  </a:moveTo>
                  <a:cubicBezTo>
                    <a:pt x="0" y="81915"/>
                    <a:pt x="81915" y="0"/>
                    <a:pt x="182880" y="0"/>
                  </a:cubicBezTo>
                  <a:lnTo>
                    <a:pt x="3435604" y="0"/>
                  </a:lnTo>
                  <a:cubicBezTo>
                    <a:pt x="3536569" y="0"/>
                    <a:pt x="3618484" y="81915"/>
                    <a:pt x="3618484" y="182880"/>
                  </a:cubicBezTo>
                  <a:lnTo>
                    <a:pt x="3618484" y="877824"/>
                  </a:lnTo>
                  <a:cubicBezTo>
                    <a:pt x="3618484" y="978789"/>
                    <a:pt x="3536569" y="1060704"/>
                    <a:pt x="3435604" y="1060704"/>
                  </a:cubicBezTo>
                  <a:lnTo>
                    <a:pt x="182880" y="1060704"/>
                  </a:lnTo>
                  <a:cubicBezTo>
                    <a:pt x="81915" y="1060704"/>
                    <a:pt x="0" y="978789"/>
                    <a:pt x="0" y="877824"/>
                  </a:cubicBezTo>
                  <a:close/>
                </a:path>
              </a:pathLst>
            </a:custGeom>
            <a:solidFill>
              <a:srgbClr val="FDEEDD"/>
            </a:solidFill>
          </p:spPr>
        </p:sp>
      </p:grpSp>
      <p:grpSp>
        <p:nvGrpSpPr>
          <p:cNvPr name="Group 118" id="118"/>
          <p:cNvGrpSpPr/>
          <p:nvPr/>
        </p:nvGrpSpPr>
        <p:grpSpPr>
          <a:xfrm rot="0">
            <a:off x="8637241" y="8468106"/>
            <a:ext cx="2713844" cy="411480"/>
            <a:chOff x="0" y="0"/>
            <a:chExt cx="3618459" cy="548640"/>
          </a:xfrm>
        </p:grpSpPr>
        <p:sp>
          <p:nvSpPr>
            <p:cNvPr name="Freeform 119" id="119"/>
            <p:cNvSpPr/>
            <p:nvPr/>
          </p:nvSpPr>
          <p:spPr>
            <a:xfrm flipH="false" flipV="false" rot="0">
              <a:off x="0" y="0"/>
              <a:ext cx="3618462" cy="548640"/>
            </a:xfrm>
            <a:custGeom>
              <a:avLst/>
              <a:gdLst/>
              <a:ahLst/>
              <a:cxnLst/>
              <a:rect r="r" b="b" t="t" l="l"/>
              <a:pathLst>
                <a:path h="548640" w="3618462">
                  <a:moveTo>
                    <a:pt x="0" y="0"/>
                  </a:moveTo>
                  <a:lnTo>
                    <a:pt x="3618462" y="0"/>
                  </a:lnTo>
                  <a:lnTo>
                    <a:pt x="3618462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78510" r="0" b="-78510"/>
              </a:stretch>
            </a:blipFill>
          </p:spPr>
        </p:sp>
        <p:sp>
          <p:nvSpPr>
            <p:cNvPr name="TextBox 120" id="120"/>
            <p:cNvSpPr txBox="true"/>
            <p:nvPr/>
          </p:nvSpPr>
          <p:spPr>
            <a:xfrm>
              <a:off x="0" y="-57150"/>
              <a:ext cx="3618459" cy="60579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700"/>
                </a:lnSpc>
              </a:pPr>
              <a:r>
                <a:rPr lang="en-US" sz="2250" b="true">
                  <a:solidFill>
                    <a:srgbClr val="B35A0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0 cell towers</a:t>
              </a:r>
            </a:p>
          </p:txBody>
        </p:sp>
      </p:grpSp>
      <p:grpSp>
        <p:nvGrpSpPr>
          <p:cNvPr name="Group 121" id="121"/>
          <p:cNvGrpSpPr/>
          <p:nvPr/>
        </p:nvGrpSpPr>
        <p:grpSpPr>
          <a:xfrm rot="0">
            <a:off x="8637241" y="8860536"/>
            <a:ext cx="2713844" cy="329184"/>
            <a:chOff x="0" y="0"/>
            <a:chExt cx="3618459" cy="438912"/>
          </a:xfrm>
        </p:grpSpPr>
        <p:sp>
          <p:nvSpPr>
            <p:cNvPr name="Freeform 122" id="122"/>
            <p:cNvSpPr/>
            <p:nvPr/>
          </p:nvSpPr>
          <p:spPr>
            <a:xfrm flipH="false" flipV="false" rot="0">
              <a:off x="0" y="0"/>
              <a:ext cx="3618462" cy="438912"/>
            </a:xfrm>
            <a:custGeom>
              <a:avLst/>
              <a:gdLst/>
              <a:ahLst/>
              <a:cxnLst/>
              <a:rect r="r" b="b" t="t" l="l"/>
              <a:pathLst>
                <a:path h="438912" w="3618462">
                  <a:moveTo>
                    <a:pt x="0" y="0"/>
                  </a:moveTo>
                  <a:lnTo>
                    <a:pt x="3618462" y="0"/>
                  </a:lnTo>
                  <a:lnTo>
                    <a:pt x="3618462" y="438912"/>
                  </a:lnTo>
                  <a:lnTo>
                    <a:pt x="0" y="43891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10637" r="0" b="-110637"/>
              </a:stretch>
            </a:blipFill>
          </p:spPr>
        </p:sp>
        <p:sp>
          <p:nvSpPr>
            <p:cNvPr name="TextBox 123" id="123"/>
            <p:cNvSpPr txBox="true"/>
            <p:nvPr/>
          </p:nvSpPr>
          <p:spPr>
            <a:xfrm>
              <a:off x="0" y="-38100"/>
              <a:ext cx="3618459" cy="47701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800"/>
                </a:lnSpc>
              </a:pPr>
              <a:r>
                <a:rPr lang="en-US" sz="1500">
                  <a:solidFill>
                    <a:srgbClr val="566074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needed to report locations</a:t>
              </a:r>
            </a:p>
          </p:txBody>
        </p:sp>
      </p:grpSp>
      <p:grpSp>
        <p:nvGrpSpPr>
          <p:cNvPr name="Group 124" id="124"/>
          <p:cNvGrpSpPr/>
          <p:nvPr/>
        </p:nvGrpSpPr>
        <p:grpSpPr>
          <a:xfrm rot="0">
            <a:off x="11515677" y="6089904"/>
            <a:ext cx="2796140" cy="603504"/>
            <a:chOff x="0" y="0"/>
            <a:chExt cx="3728187" cy="804672"/>
          </a:xfrm>
        </p:grpSpPr>
        <p:sp>
          <p:nvSpPr>
            <p:cNvPr name="Freeform 125" id="125"/>
            <p:cNvSpPr/>
            <p:nvPr/>
          </p:nvSpPr>
          <p:spPr>
            <a:xfrm flipH="false" flipV="false" rot="0">
              <a:off x="0" y="0"/>
              <a:ext cx="3728212" cy="804672"/>
            </a:xfrm>
            <a:custGeom>
              <a:avLst/>
              <a:gdLst/>
              <a:ahLst/>
              <a:cxnLst/>
              <a:rect r="r" b="b" t="t" l="l"/>
              <a:pathLst>
                <a:path h="804672" w="3728212">
                  <a:moveTo>
                    <a:pt x="0" y="0"/>
                  </a:moveTo>
                  <a:lnTo>
                    <a:pt x="3454654" y="0"/>
                  </a:lnTo>
                  <a:lnTo>
                    <a:pt x="3728212" y="402336"/>
                  </a:lnTo>
                  <a:lnTo>
                    <a:pt x="3454654" y="804672"/>
                  </a:lnTo>
                  <a:lnTo>
                    <a:pt x="0" y="804672"/>
                  </a:lnTo>
                  <a:close/>
                </a:path>
              </a:pathLst>
            </a:custGeom>
            <a:solidFill>
              <a:srgbClr val="1F497D"/>
            </a:solidFill>
          </p:spPr>
        </p:sp>
      </p:grpSp>
      <p:grpSp>
        <p:nvGrpSpPr>
          <p:cNvPr name="Group 126" id="126"/>
          <p:cNvGrpSpPr/>
          <p:nvPr/>
        </p:nvGrpSpPr>
        <p:grpSpPr>
          <a:xfrm rot="0">
            <a:off x="11680269" y="6089904"/>
            <a:ext cx="2247500" cy="603504"/>
            <a:chOff x="0" y="0"/>
            <a:chExt cx="2996667" cy="804672"/>
          </a:xfrm>
        </p:grpSpPr>
        <p:sp>
          <p:nvSpPr>
            <p:cNvPr name="Freeform 127" id="127"/>
            <p:cNvSpPr/>
            <p:nvPr/>
          </p:nvSpPr>
          <p:spPr>
            <a:xfrm flipH="false" flipV="false" rot="0">
              <a:off x="0" y="0"/>
              <a:ext cx="2996670" cy="804672"/>
            </a:xfrm>
            <a:custGeom>
              <a:avLst/>
              <a:gdLst/>
              <a:ahLst/>
              <a:cxnLst/>
              <a:rect r="r" b="b" t="t" l="l"/>
              <a:pathLst>
                <a:path h="804672" w="2996670">
                  <a:moveTo>
                    <a:pt x="0" y="0"/>
                  </a:moveTo>
                  <a:lnTo>
                    <a:pt x="2996670" y="0"/>
                  </a:lnTo>
                  <a:lnTo>
                    <a:pt x="2996670" y="804672"/>
                  </a:lnTo>
                  <a:lnTo>
                    <a:pt x="0" y="80467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2563" r="0" b="-22563"/>
              </a:stretch>
            </a:blipFill>
          </p:spPr>
        </p:sp>
        <p:sp>
          <p:nvSpPr>
            <p:cNvPr name="TextBox 128" id="128"/>
            <p:cNvSpPr txBox="true"/>
            <p:nvPr/>
          </p:nvSpPr>
          <p:spPr>
            <a:xfrm>
              <a:off x="0" y="-38100"/>
              <a:ext cx="2996667" cy="84277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160"/>
                </a:lnSpc>
              </a:pPr>
              <a:r>
                <a:rPr lang="en-US" b="true" sz="1800" spc="149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4  RESPOND</a:t>
              </a:r>
            </a:p>
          </p:txBody>
        </p:sp>
      </p:grpSp>
      <p:sp>
        <p:nvSpPr>
          <p:cNvPr name="TextBox 129" id="129"/>
          <p:cNvSpPr txBox="true"/>
          <p:nvPr/>
        </p:nvSpPr>
        <p:spPr>
          <a:xfrm rot="0">
            <a:off x="11597973" y="6792468"/>
            <a:ext cx="2604116" cy="77876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070"/>
              </a:lnSpc>
            </a:pPr>
            <a:r>
              <a:rPr lang="en-US" sz="1725" b="true">
                <a:solidFill>
                  <a:srgbClr val="1F497D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Ranks survivors and plots a hazard-free route</a:t>
            </a:r>
          </a:p>
        </p:txBody>
      </p:sp>
      <p:sp>
        <p:nvSpPr>
          <p:cNvPr name="TextBox 130" id="130"/>
          <p:cNvSpPr txBox="true"/>
          <p:nvPr/>
        </p:nvSpPr>
        <p:spPr>
          <a:xfrm rot="0">
            <a:off x="11597973" y="7587996"/>
            <a:ext cx="2604116" cy="77876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070"/>
              </a:lnSpc>
            </a:pPr>
            <a:r>
              <a:rPr lang="en-US" sz="1725">
                <a:solidFill>
                  <a:srgbClr val="1E2638"/>
                </a:solidFill>
                <a:latin typeface="Calibri (MS)"/>
                <a:ea typeface="Calibri (MS)"/>
                <a:cs typeface="Calibri (MS)"/>
                <a:sym typeface="Calibri (MS)"/>
              </a:rPr>
              <a:t>Crews avoid cave-ins, gas leaks and live cables</a:t>
            </a:r>
          </a:p>
        </p:txBody>
      </p:sp>
      <p:grpSp>
        <p:nvGrpSpPr>
          <p:cNvPr name="Group 131" id="131"/>
          <p:cNvGrpSpPr/>
          <p:nvPr/>
        </p:nvGrpSpPr>
        <p:grpSpPr>
          <a:xfrm rot="0">
            <a:off x="11515677" y="8421624"/>
            <a:ext cx="2713844" cy="795528"/>
            <a:chOff x="0" y="0"/>
            <a:chExt cx="3618459" cy="1060704"/>
          </a:xfrm>
        </p:grpSpPr>
        <p:sp>
          <p:nvSpPr>
            <p:cNvPr name="Freeform 132" id="132"/>
            <p:cNvSpPr/>
            <p:nvPr/>
          </p:nvSpPr>
          <p:spPr>
            <a:xfrm flipH="false" flipV="false" rot="0">
              <a:off x="0" y="0"/>
              <a:ext cx="3618484" cy="1060704"/>
            </a:xfrm>
            <a:custGeom>
              <a:avLst/>
              <a:gdLst/>
              <a:ahLst/>
              <a:cxnLst/>
              <a:rect r="r" b="b" t="t" l="l"/>
              <a:pathLst>
                <a:path h="1060704" w="3618484">
                  <a:moveTo>
                    <a:pt x="0" y="182880"/>
                  </a:moveTo>
                  <a:cubicBezTo>
                    <a:pt x="0" y="81915"/>
                    <a:pt x="81915" y="0"/>
                    <a:pt x="182880" y="0"/>
                  </a:cubicBezTo>
                  <a:lnTo>
                    <a:pt x="3435604" y="0"/>
                  </a:lnTo>
                  <a:cubicBezTo>
                    <a:pt x="3536569" y="0"/>
                    <a:pt x="3618484" y="81915"/>
                    <a:pt x="3618484" y="182880"/>
                  </a:cubicBezTo>
                  <a:lnTo>
                    <a:pt x="3618484" y="877824"/>
                  </a:lnTo>
                  <a:cubicBezTo>
                    <a:pt x="3618484" y="978789"/>
                    <a:pt x="3536569" y="1060704"/>
                    <a:pt x="3435604" y="1060704"/>
                  </a:cubicBezTo>
                  <a:lnTo>
                    <a:pt x="182880" y="1060704"/>
                  </a:lnTo>
                  <a:cubicBezTo>
                    <a:pt x="81915" y="1060704"/>
                    <a:pt x="0" y="978789"/>
                    <a:pt x="0" y="877824"/>
                  </a:cubicBezTo>
                  <a:close/>
                </a:path>
              </a:pathLst>
            </a:custGeom>
            <a:solidFill>
              <a:srgbClr val="FDEEDD"/>
            </a:solidFill>
          </p:spPr>
        </p:sp>
      </p:grpSp>
      <p:grpSp>
        <p:nvGrpSpPr>
          <p:cNvPr name="Group 133" id="133"/>
          <p:cNvGrpSpPr/>
          <p:nvPr/>
        </p:nvGrpSpPr>
        <p:grpSpPr>
          <a:xfrm rot="0">
            <a:off x="11515677" y="8458581"/>
            <a:ext cx="2713844" cy="411480"/>
            <a:chOff x="0" y="0"/>
            <a:chExt cx="3618459" cy="548640"/>
          </a:xfrm>
        </p:grpSpPr>
        <p:sp>
          <p:nvSpPr>
            <p:cNvPr name="Freeform 134" id="134"/>
            <p:cNvSpPr/>
            <p:nvPr/>
          </p:nvSpPr>
          <p:spPr>
            <a:xfrm flipH="false" flipV="false" rot="0">
              <a:off x="0" y="0"/>
              <a:ext cx="3618462" cy="548640"/>
            </a:xfrm>
            <a:custGeom>
              <a:avLst/>
              <a:gdLst/>
              <a:ahLst/>
              <a:cxnLst/>
              <a:rect r="r" b="b" t="t" l="l"/>
              <a:pathLst>
                <a:path h="548640" w="3618462">
                  <a:moveTo>
                    <a:pt x="0" y="0"/>
                  </a:moveTo>
                  <a:lnTo>
                    <a:pt x="3618462" y="0"/>
                  </a:lnTo>
                  <a:lnTo>
                    <a:pt x="3618462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78510" r="0" b="-78510"/>
              </a:stretch>
            </a:blipFill>
          </p:spPr>
        </p:sp>
        <p:sp>
          <p:nvSpPr>
            <p:cNvPr name="TextBox 135" id="135"/>
            <p:cNvSpPr txBox="true"/>
            <p:nvPr/>
          </p:nvSpPr>
          <p:spPr>
            <a:xfrm>
              <a:off x="0" y="-57150"/>
              <a:ext cx="3618459" cy="60579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700"/>
                </a:lnSpc>
              </a:pPr>
              <a:r>
                <a:rPr lang="en-US" sz="2250" b="true">
                  <a:solidFill>
                    <a:srgbClr val="B35A0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Ranked queue</a:t>
              </a:r>
            </a:p>
          </p:txBody>
        </p:sp>
      </p:grpSp>
      <p:grpSp>
        <p:nvGrpSpPr>
          <p:cNvPr name="Group 136" id="136"/>
          <p:cNvGrpSpPr/>
          <p:nvPr/>
        </p:nvGrpSpPr>
        <p:grpSpPr>
          <a:xfrm rot="0">
            <a:off x="11515677" y="8860536"/>
            <a:ext cx="2713844" cy="329184"/>
            <a:chOff x="0" y="0"/>
            <a:chExt cx="3618459" cy="438912"/>
          </a:xfrm>
        </p:grpSpPr>
        <p:sp>
          <p:nvSpPr>
            <p:cNvPr name="Freeform 137" id="137"/>
            <p:cNvSpPr/>
            <p:nvPr/>
          </p:nvSpPr>
          <p:spPr>
            <a:xfrm flipH="false" flipV="false" rot="0">
              <a:off x="0" y="0"/>
              <a:ext cx="3618462" cy="438912"/>
            </a:xfrm>
            <a:custGeom>
              <a:avLst/>
              <a:gdLst/>
              <a:ahLst/>
              <a:cxnLst/>
              <a:rect r="r" b="b" t="t" l="l"/>
              <a:pathLst>
                <a:path h="438912" w="3618462">
                  <a:moveTo>
                    <a:pt x="0" y="0"/>
                  </a:moveTo>
                  <a:lnTo>
                    <a:pt x="3618462" y="0"/>
                  </a:lnTo>
                  <a:lnTo>
                    <a:pt x="3618462" y="438912"/>
                  </a:lnTo>
                  <a:lnTo>
                    <a:pt x="0" y="43891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10637" r="0" b="-110637"/>
              </a:stretch>
            </a:blipFill>
          </p:spPr>
        </p:sp>
        <p:sp>
          <p:nvSpPr>
            <p:cNvPr name="TextBox 138" id="138"/>
            <p:cNvSpPr txBox="true"/>
            <p:nvPr/>
          </p:nvSpPr>
          <p:spPr>
            <a:xfrm>
              <a:off x="0" y="-38100"/>
              <a:ext cx="3618459" cy="47701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800"/>
                </a:lnSpc>
              </a:pPr>
              <a:r>
                <a:rPr lang="en-US" sz="1500">
                  <a:solidFill>
                    <a:srgbClr val="566074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+ safe rescue route</a:t>
              </a:r>
            </a:p>
          </p:txBody>
        </p:sp>
      </p:grpSp>
      <p:grpSp>
        <p:nvGrpSpPr>
          <p:cNvPr name="Group 139" id="139"/>
          <p:cNvGrpSpPr/>
          <p:nvPr/>
        </p:nvGrpSpPr>
        <p:grpSpPr>
          <a:xfrm rot="0">
            <a:off x="14394123" y="6089904"/>
            <a:ext cx="2796140" cy="603504"/>
            <a:chOff x="0" y="0"/>
            <a:chExt cx="3728187" cy="804672"/>
          </a:xfrm>
        </p:grpSpPr>
        <p:sp>
          <p:nvSpPr>
            <p:cNvPr name="Freeform 140" id="140"/>
            <p:cNvSpPr/>
            <p:nvPr/>
          </p:nvSpPr>
          <p:spPr>
            <a:xfrm flipH="false" flipV="false" rot="0">
              <a:off x="0" y="0"/>
              <a:ext cx="3728212" cy="804672"/>
            </a:xfrm>
            <a:custGeom>
              <a:avLst/>
              <a:gdLst/>
              <a:ahLst/>
              <a:cxnLst/>
              <a:rect r="r" b="b" t="t" l="l"/>
              <a:pathLst>
                <a:path h="804672" w="3728212">
                  <a:moveTo>
                    <a:pt x="0" y="0"/>
                  </a:moveTo>
                  <a:lnTo>
                    <a:pt x="3454654" y="0"/>
                  </a:lnTo>
                  <a:lnTo>
                    <a:pt x="3728212" y="402336"/>
                  </a:lnTo>
                  <a:lnTo>
                    <a:pt x="3454654" y="804672"/>
                  </a:lnTo>
                  <a:lnTo>
                    <a:pt x="0" y="804672"/>
                  </a:lnTo>
                  <a:close/>
                </a:path>
              </a:pathLst>
            </a:custGeom>
            <a:solidFill>
              <a:srgbClr val="D9700F"/>
            </a:solidFill>
          </p:spPr>
        </p:sp>
      </p:grpSp>
      <p:grpSp>
        <p:nvGrpSpPr>
          <p:cNvPr name="Group 141" id="141"/>
          <p:cNvGrpSpPr/>
          <p:nvPr/>
        </p:nvGrpSpPr>
        <p:grpSpPr>
          <a:xfrm rot="0">
            <a:off x="14558715" y="6089904"/>
            <a:ext cx="2247500" cy="603504"/>
            <a:chOff x="0" y="0"/>
            <a:chExt cx="2996667" cy="804672"/>
          </a:xfrm>
        </p:grpSpPr>
        <p:sp>
          <p:nvSpPr>
            <p:cNvPr name="Freeform 142" id="142"/>
            <p:cNvSpPr/>
            <p:nvPr/>
          </p:nvSpPr>
          <p:spPr>
            <a:xfrm flipH="false" flipV="false" rot="0">
              <a:off x="0" y="0"/>
              <a:ext cx="2996670" cy="804672"/>
            </a:xfrm>
            <a:custGeom>
              <a:avLst/>
              <a:gdLst/>
              <a:ahLst/>
              <a:cxnLst/>
              <a:rect r="r" b="b" t="t" l="l"/>
              <a:pathLst>
                <a:path h="804672" w="2996670">
                  <a:moveTo>
                    <a:pt x="0" y="0"/>
                  </a:moveTo>
                  <a:lnTo>
                    <a:pt x="2996670" y="0"/>
                  </a:lnTo>
                  <a:lnTo>
                    <a:pt x="2996670" y="804672"/>
                  </a:lnTo>
                  <a:lnTo>
                    <a:pt x="0" y="80467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2563" r="0" b="-22563"/>
              </a:stretch>
            </a:blipFill>
          </p:spPr>
        </p:sp>
        <p:sp>
          <p:nvSpPr>
            <p:cNvPr name="TextBox 143" id="143"/>
            <p:cNvSpPr txBox="true"/>
            <p:nvPr/>
          </p:nvSpPr>
          <p:spPr>
            <a:xfrm>
              <a:off x="0" y="-38100"/>
              <a:ext cx="2996667" cy="84277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160"/>
                </a:lnSpc>
              </a:pPr>
              <a:r>
                <a:rPr lang="en-US" b="true" sz="1800" spc="149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5  OUTCOME</a:t>
              </a:r>
            </a:p>
          </p:txBody>
        </p:sp>
      </p:grpSp>
      <p:sp>
        <p:nvSpPr>
          <p:cNvPr name="TextBox 144" id="144"/>
          <p:cNvSpPr txBox="true"/>
          <p:nvPr/>
        </p:nvSpPr>
        <p:spPr>
          <a:xfrm rot="0">
            <a:off x="14476419" y="6792468"/>
            <a:ext cx="2604116" cy="77876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070"/>
              </a:lnSpc>
            </a:pPr>
            <a:r>
              <a:rPr lang="en-US" sz="1725" b="true">
                <a:solidFill>
                  <a:srgbClr val="1F497D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Delivers all this at a fraction of enterprise-drone cost</a:t>
            </a:r>
          </a:p>
        </p:txBody>
      </p:sp>
      <p:sp>
        <p:nvSpPr>
          <p:cNvPr name="TextBox 145" id="145"/>
          <p:cNvSpPr txBox="true"/>
          <p:nvPr/>
        </p:nvSpPr>
        <p:spPr>
          <a:xfrm rot="0">
            <a:off x="14476419" y="7587996"/>
            <a:ext cx="2604116" cy="77876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070"/>
              </a:lnSpc>
            </a:pPr>
            <a:r>
              <a:rPr lang="en-US" sz="1725">
                <a:solidFill>
                  <a:srgbClr val="1E2638"/>
                </a:solidFill>
                <a:latin typeface="Calibri (MS)"/>
                <a:ea typeface="Calibri (MS)"/>
                <a:cs typeface="Calibri (MS)"/>
                <a:sym typeface="Calibri (MS)"/>
              </a:rPr>
              <a:t>More survivors reached in the Golden 72 hours</a:t>
            </a:r>
          </a:p>
        </p:txBody>
      </p:sp>
      <p:grpSp>
        <p:nvGrpSpPr>
          <p:cNvPr name="Group 146" id="146"/>
          <p:cNvGrpSpPr/>
          <p:nvPr/>
        </p:nvGrpSpPr>
        <p:grpSpPr>
          <a:xfrm rot="0">
            <a:off x="14394123" y="8421624"/>
            <a:ext cx="2713844" cy="795528"/>
            <a:chOff x="0" y="0"/>
            <a:chExt cx="3618459" cy="1060704"/>
          </a:xfrm>
        </p:grpSpPr>
        <p:sp>
          <p:nvSpPr>
            <p:cNvPr name="Freeform 147" id="147"/>
            <p:cNvSpPr/>
            <p:nvPr/>
          </p:nvSpPr>
          <p:spPr>
            <a:xfrm flipH="false" flipV="false" rot="0">
              <a:off x="0" y="0"/>
              <a:ext cx="3618484" cy="1060704"/>
            </a:xfrm>
            <a:custGeom>
              <a:avLst/>
              <a:gdLst/>
              <a:ahLst/>
              <a:cxnLst/>
              <a:rect r="r" b="b" t="t" l="l"/>
              <a:pathLst>
                <a:path h="1060704" w="3618484">
                  <a:moveTo>
                    <a:pt x="0" y="182880"/>
                  </a:moveTo>
                  <a:cubicBezTo>
                    <a:pt x="0" y="81915"/>
                    <a:pt x="81915" y="0"/>
                    <a:pt x="182880" y="0"/>
                  </a:cubicBezTo>
                  <a:lnTo>
                    <a:pt x="3435604" y="0"/>
                  </a:lnTo>
                  <a:cubicBezTo>
                    <a:pt x="3536569" y="0"/>
                    <a:pt x="3618484" y="81915"/>
                    <a:pt x="3618484" y="182880"/>
                  </a:cubicBezTo>
                  <a:lnTo>
                    <a:pt x="3618484" y="877824"/>
                  </a:lnTo>
                  <a:cubicBezTo>
                    <a:pt x="3618484" y="978789"/>
                    <a:pt x="3536569" y="1060704"/>
                    <a:pt x="3435604" y="1060704"/>
                  </a:cubicBezTo>
                  <a:lnTo>
                    <a:pt x="182880" y="1060704"/>
                  </a:lnTo>
                  <a:cubicBezTo>
                    <a:pt x="81915" y="1060704"/>
                    <a:pt x="0" y="978789"/>
                    <a:pt x="0" y="877824"/>
                  </a:cubicBezTo>
                  <a:close/>
                </a:path>
              </a:pathLst>
            </a:custGeom>
            <a:solidFill>
              <a:srgbClr val="FDEEDD"/>
            </a:solidFill>
          </p:spPr>
        </p:sp>
      </p:grpSp>
      <p:grpSp>
        <p:nvGrpSpPr>
          <p:cNvPr name="Group 148" id="148"/>
          <p:cNvGrpSpPr/>
          <p:nvPr/>
        </p:nvGrpSpPr>
        <p:grpSpPr>
          <a:xfrm rot="0">
            <a:off x="14394123" y="8458581"/>
            <a:ext cx="2713844" cy="411480"/>
            <a:chOff x="0" y="0"/>
            <a:chExt cx="3618459" cy="548640"/>
          </a:xfrm>
        </p:grpSpPr>
        <p:sp>
          <p:nvSpPr>
            <p:cNvPr name="Freeform 149" id="149"/>
            <p:cNvSpPr/>
            <p:nvPr/>
          </p:nvSpPr>
          <p:spPr>
            <a:xfrm flipH="false" flipV="false" rot="0">
              <a:off x="0" y="0"/>
              <a:ext cx="3618462" cy="548640"/>
            </a:xfrm>
            <a:custGeom>
              <a:avLst/>
              <a:gdLst/>
              <a:ahLst/>
              <a:cxnLst/>
              <a:rect r="r" b="b" t="t" l="l"/>
              <a:pathLst>
                <a:path h="548640" w="3618462">
                  <a:moveTo>
                    <a:pt x="0" y="0"/>
                  </a:moveTo>
                  <a:lnTo>
                    <a:pt x="3618462" y="0"/>
                  </a:lnTo>
                  <a:lnTo>
                    <a:pt x="3618462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78510" r="0" b="-78510"/>
              </a:stretch>
            </a:blipFill>
          </p:spPr>
        </p:sp>
        <p:sp>
          <p:nvSpPr>
            <p:cNvPr name="TextBox 150" id="150"/>
            <p:cNvSpPr txBox="true"/>
            <p:nvPr/>
          </p:nvSpPr>
          <p:spPr>
            <a:xfrm>
              <a:off x="0" y="-57150"/>
              <a:ext cx="3618459" cy="60579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700"/>
                </a:lnSpc>
              </a:pPr>
              <a:r>
                <a:rPr lang="en-US" sz="2250" b="true">
                  <a:solidFill>
                    <a:srgbClr val="B35A0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₹1.2 Lakh</a:t>
              </a:r>
            </a:p>
          </p:txBody>
        </p:sp>
      </p:grpSp>
      <p:grpSp>
        <p:nvGrpSpPr>
          <p:cNvPr name="Group 151" id="151"/>
          <p:cNvGrpSpPr/>
          <p:nvPr/>
        </p:nvGrpSpPr>
        <p:grpSpPr>
          <a:xfrm rot="0">
            <a:off x="14394123" y="8860536"/>
            <a:ext cx="2713844" cy="329184"/>
            <a:chOff x="0" y="0"/>
            <a:chExt cx="3618459" cy="438912"/>
          </a:xfrm>
        </p:grpSpPr>
        <p:sp>
          <p:nvSpPr>
            <p:cNvPr name="Freeform 152" id="152"/>
            <p:cNvSpPr/>
            <p:nvPr/>
          </p:nvSpPr>
          <p:spPr>
            <a:xfrm flipH="false" flipV="false" rot="0">
              <a:off x="0" y="0"/>
              <a:ext cx="3618462" cy="438912"/>
            </a:xfrm>
            <a:custGeom>
              <a:avLst/>
              <a:gdLst/>
              <a:ahLst/>
              <a:cxnLst/>
              <a:rect r="r" b="b" t="t" l="l"/>
              <a:pathLst>
                <a:path h="438912" w="3618462">
                  <a:moveTo>
                    <a:pt x="0" y="0"/>
                  </a:moveTo>
                  <a:lnTo>
                    <a:pt x="3618462" y="0"/>
                  </a:lnTo>
                  <a:lnTo>
                    <a:pt x="3618462" y="438912"/>
                  </a:lnTo>
                  <a:lnTo>
                    <a:pt x="0" y="43891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10637" r="0" b="-110637"/>
              </a:stretch>
            </a:blipFill>
          </p:spPr>
        </p:sp>
        <p:sp>
          <p:nvSpPr>
            <p:cNvPr name="TextBox 153" id="153"/>
            <p:cNvSpPr txBox="true"/>
            <p:nvPr/>
          </p:nvSpPr>
          <p:spPr>
            <a:xfrm>
              <a:off x="0" y="-38100"/>
              <a:ext cx="3618459" cy="47701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800"/>
                </a:lnSpc>
              </a:pPr>
              <a:r>
                <a:rPr lang="en-US" sz="1500">
                  <a:solidFill>
                    <a:srgbClr val="566074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vs ₹12-14 Lakhs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9532144"/>
            <a:ext cx="18288000" cy="754856"/>
            <a:chOff x="0" y="0"/>
            <a:chExt cx="24384000" cy="1006475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84000" cy="1006475"/>
            </a:xfrm>
            <a:custGeom>
              <a:avLst/>
              <a:gdLst/>
              <a:ahLst/>
              <a:cxnLst/>
              <a:rect r="r" b="b" t="t" l="l"/>
              <a:pathLst>
                <a:path h="1006475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006475"/>
                  </a:lnTo>
                  <a:lnTo>
                    <a:pt x="0" y="1006475"/>
                  </a:lnTo>
                  <a:close/>
                </a:path>
              </a:pathLst>
            </a:custGeom>
            <a:solidFill>
              <a:srgbClr val="0070C0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914400" y="-71438"/>
            <a:ext cx="16459200" cy="1714500"/>
            <a:chOff x="0" y="0"/>
            <a:chExt cx="21945600" cy="228600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1945600" cy="2286000"/>
            </a:xfrm>
            <a:custGeom>
              <a:avLst/>
              <a:gdLst/>
              <a:ahLst/>
              <a:cxnLst/>
              <a:rect r="r" b="b" t="t" l="l"/>
              <a:pathLst>
                <a:path h="2286000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2286000"/>
                  </a:lnTo>
                  <a:lnTo>
                    <a:pt x="0" y="22860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37056" r="0" b="-137056"/>
              </a:stretch>
            </a:blipFill>
          </p:spPr>
        </p:sp>
        <p:sp>
          <p:nvSpPr>
            <p:cNvPr name="TextBox 6" id="6"/>
            <p:cNvSpPr txBox="true"/>
            <p:nvPr/>
          </p:nvSpPr>
          <p:spPr>
            <a:xfrm>
              <a:off x="0" y="-28575"/>
              <a:ext cx="21945600" cy="231457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6480"/>
                </a:lnSpc>
              </a:pPr>
              <a:r>
                <a:rPr lang="en-US" sz="5400" b="true">
                  <a:solidFill>
                    <a:srgbClr val="000000"/>
                  </a:solidFill>
                  <a:latin typeface="Times New Roman Bold"/>
                  <a:ea typeface="Times New Roman Bold"/>
                  <a:cs typeface="Times New Roman Bold"/>
                  <a:sym typeface="Times New Roman Bold"/>
                </a:rPr>
                <a:t>RESEARCH  AND REFERENCES</a:t>
              </a:r>
            </a:p>
          </p:txBody>
        </p:sp>
      </p:grpSp>
      <p:grpSp>
        <p:nvGrpSpPr>
          <p:cNvPr name="Group 7" id="7"/>
          <p:cNvGrpSpPr/>
          <p:nvPr/>
        </p:nvGrpSpPr>
        <p:grpSpPr>
          <a:xfrm rot="0">
            <a:off x="13106400" y="9534525"/>
            <a:ext cx="4267200" cy="547688"/>
            <a:chOff x="0" y="0"/>
            <a:chExt cx="5689600" cy="73025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5689600" cy="730250"/>
            </a:xfrm>
            <a:custGeom>
              <a:avLst/>
              <a:gdLst/>
              <a:ahLst/>
              <a:cxnLst/>
              <a:rect r="r" b="b" t="t" l="l"/>
              <a:pathLst>
                <a:path h="730250" w="5689600">
                  <a:moveTo>
                    <a:pt x="0" y="0"/>
                  </a:moveTo>
                  <a:lnTo>
                    <a:pt x="5689600" y="0"/>
                  </a:lnTo>
                  <a:lnTo>
                    <a:pt x="5689600" y="730250"/>
                  </a:lnTo>
                  <a:lnTo>
                    <a:pt x="0" y="73025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01813" r="0" b="-101813"/>
              </a:stretch>
            </a:blipFill>
          </p:spPr>
        </p:sp>
        <p:sp>
          <p:nvSpPr>
            <p:cNvPr name="TextBox 9" id="9"/>
            <p:cNvSpPr txBox="true"/>
            <p:nvPr/>
          </p:nvSpPr>
          <p:spPr>
            <a:xfrm>
              <a:off x="0" y="-19050"/>
              <a:ext cx="5689600" cy="74930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r">
                <a:lnSpc>
                  <a:spcPts val="2160"/>
                </a:lnSpc>
              </a:pPr>
              <a:r>
                <a:rPr lang="en-US" b="true" sz="1800">
                  <a:solidFill>
                    <a:srgbClr val="FFFFFF"/>
                  </a:solidFill>
                  <a:latin typeface="Arimo Bold"/>
                  <a:ea typeface="Arimo Bold"/>
                  <a:cs typeface="Arimo Bold"/>
                  <a:sym typeface="Arimo Bold"/>
                </a:rPr>
                <a:t>6</a:t>
              </a: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14670129" y="2248"/>
            <a:ext cx="3374774" cy="1593504"/>
            <a:chOff x="0" y="0"/>
            <a:chExt cx="4499699" cy="2124672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4499737" cy="2124710"/>
            </a:xfrm>
            <a:custGeom>
              <a:avLst/>
              <a:gdLst/>
              <a:ahLst/>
              <a:cxnLst/>
              <a:rect r="r" b="b" t="t" l="l"/>
              <a:pathLst>
                <a:path h="2124710" w="4499737">
                  <a:moveTo>
                    <a:pt x="0" y="0"/>
                  </a:moveTo>
                  <a:lnTo>
                    <a:pt x="4499737" y="0"/>
                  </a:lnTo>
                  <a:lnTo>
                    <a:pt x="4499737" y="2124710"/>
                  </a:lnTo>
                  <a:lnTo>
                    <a:pt x="0" y="212471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0" t="0" r="0" b="1"/>
              </a:stretch>
            </a:blipFill>
          </p:spPr>
        </p:sp>
      </p:grpSp>
      <p:grpSp>
        <p:nvGrpSpPr>
          <p:cNvPr name="Group 12" id="12"/>
          <p:cNvGrpSpPr/>
          <p:nvPr/>
        </p:nvGrpSpPr>
        <p:grpSpPr>
          <a:xfrm rot="0">
            <a:off x="603504" y="315468"/>
            <a:ext cx="2263140" cy="740664"/>
            <a:chOff x="0" y="0"/>
            <a:chExt cx="3017520" cy="987552"/>
          </a:xfrm>
        </p:grpSpPr>
        <p:sp>
          <p:nvSpPr>
            <p:cNvPr name="Freeform 13" id="13" descr="Phoenix team logo"/>
            <p:cNvSpPr/>
            <p:nvPr/>
          </p:nvSpPr>
          <p:spPr>
            <a:xfrm flipH="false" flipV="false" rot="0">
              <a:off x="0" y="0"/>
              <a:ext cx="3017520" cy="987552"/>
            </a:xfrm>
            <a:custGeom>
              <a:avLst/>
              <a:gdLst/>
              <a:ahLst/>
              <a:cxnLst/>
              <a:rect r="r" b="b" t="t" l="l"/>
              <a:pathLst>
                <a:path h="987552" w="3017520">
                  <a:moveTo>
                    <a:pt x="0" y="0"/>
                  </a:moveTo>
                  <a:lnTo>
                    <a:pt x="3017520" y="0"/>
                  </a:lnTo>
                  <a:lnTo>
                    <a:pt x="3017520" y="987552"/>
                  </a:lnTo>
                  <a:lnTo>
                    <a:pt x="0" y="98755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-33" t="0" r="-33" b="0"/>
              </a:stretch>
            </a:blipFill>
          </p:spPr>
        </p:sp>
      </p:grpSp>
      <p:grpSp>
        <p:nvGrpSpPr>
          <p:cNvPr name="Group 14" id="14"/>
          <p:cNvGrpSpPr/>
          <p:nvPr/>
        </p:nvGrpSpPr>
        <p:grpSpPr>
          <a:xfrm rot="0">
            <a:off x="548640" y="9532620"/>
            <a:ext cx="6515100" cy="754380"/>
            <a:chOff x="0" y="0"/>
            <a:chExt cx="8686800" cy="100584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8686800" cy="1005840"/>
            </a:xfrm>
            <a:custGeom>
              <a:avLst/>
              <a:gdLst/>
              <a:ahLst/>
              <a:cxnLst/>
              <a:rect r="r" b="b" t="t" l="l"/>
              <a:pathLst>
                <a:path h="1005840" w="8686800">
                  <a:moveTo>
                    <a:pt x="0" y="0"/>
                  </a:moveTo>
                  <a:lnTo>
                    <a:pt x="8686800" y="0"/>
                  </a:lnTo>
                  <a:lnTo>
                    <a:pt x="8686800" y="1005840"/>
                  </a:lnTo>
                  <a:lnTo>
                    <a:pt x="0" y="10058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18279" r="0" b="-118279"/>
              </a:stretch>
            </a:blipFill>
          </p:spPr>
        </p:sp>
        <p:sp>
          <p:nvSpPr>
            <p:cNvPr name="TextBox 16" id="16"/>
            <p:cNvSpPr txBox="true"/>
            <p:nvPr/>
          </p:nvSpPr>
          <p:spPr>
            <a:xfrm>
              <a:off x="0" y="-28575"/>
              <a:ext cx="8686800" cy="103441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PROJECT PHOENIX: Autonomous Multi-Spectral Edge-AI UAV  |  SIH26177 (Qualcomm Inc.)</a:t>
              </a:r>
            </a:p>
          </p:txBody>
        </p:sp>
      </p:grpSp>
      <p:grpSp>
        <p:nvGrpSpPr>
          <p:cNvPr name="Group 17" id="17"/>
          <p:cNvGrpSpPr/>
          <p:nvPr/>
        </p:nvGrpSpPr>
        <p:grpSpPr>
          <a:xfrm rot="0">
            <a:off x="918972" y="1275588"/>
            <a:ext cx="16459200" cy="466344"/>
            <a:chOff x="0" y="0"/>
            <a:chExt cx="21945600" cy="621792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21945600" cy="621792"/>
            </a:xfrm>
            <a:custGeom>
              <a:avLst/>
              <a:gdLst/>
              <a:ahLst/>
              <a:cxnLst/>
              <a:rect r="r" b="b" t="t" l="l"/>
              <a:pathLst>
                <a:path h="621792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621792"/>
                  </a:lnTo>
                  <a:lnTo>
                    <a:pt x="0" y="62179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637707" r="0" b="-637707"/>
              </a:stretch>
            </a:blipFill>
          </p:spPr>
        </p:sp>
        <p:sp>
          <p:nvSpPr>
            <p:cNvPr name="TextBox 19" id="19"/>
            <p:cNvSpPr txBox="true"/>
            <p:nvPr/>
          </p:nvSpPr>
          <p:spPr>
            <a:xfrm>
              <a:off x="0" y="-38100"/>
              <a:ext cx="21945600" cy="65989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879"/>
                </a:lnSpc>
              </a:pPr>
              <a:r>
                <a:rPr lang="en-US" sz="2400" b="true">
                  <a:solidFill>
                    <a:srgbClr val="0070C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Academic Research Foundations &amp; Prototype Verification</a:t>
              </a:r>
            </a:p>
          </p:txBody>
        </p:sp>
      </p:grpSp>
      <p:grpSp>
        <p:nvGrpSpPr>
          <p:cNvPr name="Group 20" id="20"/>
          <p:cNvGrpSpPr/>
          <p:nvPr/>
        </p:nvGrpSpPr>
        <p:grpSpPr>
          <a:xfrm rot="0">
            <a:off x="822960" y="1892808"/>
            <a:ext cx="3418989" cy="411480"/>
            <a:chOff x="0" y="0"/>
            <a:chExt cx="4558652" cy="548640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4558665" cy="548640"/>
            </a:xfrm>
            <a:custGeom>
              <a:avLst/>
              <a:gdLst/>
              <a:ahLst/>
              <a:cxnLst/>
              <a:rect r="r" b="b" t="t" l="l"/>
              <a:pathLst>
                <a:path h="548640" w="4558665">
                  <a:moveTo>
                    <a:pt x="0" y="274320"/>
                  </a:moveTo>
                  <a:cubicBezTo>
                    <a:pt x="0" y="122809"/>
                    <a:pt x="122809" y="0"/>
                    <a:pt x="274320" y="0"/>
                  </a:cubicBezTo>
                  <a:lnTo>
                    <a:pt x="4284345" y="0"/>
                  </a:lnTo>
                  <a:cubicBezTo>
                    <a:pt x="4435856" y="0"/>
                    <a:pt x="4558665" y="122809"/>
                    <a:pt x="4558665" y="274320"/>
                  </a:cubicBezTo>
                  <a:cubicBezTo>
                    <a:pt x="4558665" y="425831"/>
                    <a:pt x="4435856" y="548640"/>
                    <a:pt x="4284345" y="548640"/>
                  </a:cubicBezTo>
                  <a:lnTo>
                    <a:pt x="274320" y="548640"/>
                  </a:lnTo>
                  <a:cubicBezTo>
                    <a:pt x="122809" y="548640"/>
                    <a:pt x="0" y="425831"/>
                    <a:pt x="0" y="274320"/>
                  </a:cubicBezTo>
                  <a:close/>
                </a:path>
              </a:pathLst>
            </a:custGeom>
            <a:solidFill>
              <a:srgbClr val="F08418"/>
            </a:solidFill>
          </p:spPr>
        </p:sp>
      </p:grpSp>
      <p:grpSp>
        <p:nvGrpSpPr>
          <p:cNvPr name="Group 22" id="22"/>
          <p:cNvGrpSpPr/>
          <p:nvPr/>
        </p:nvGrpSpPr>
        <p:grpSpPr>
          <a:xfrm rot="0">
            <a:off x="815816" y="1892808"/>
            <a:ext cx="3418989" cy="411480"/>
            <a:chOff x="0" y="0"/>
            <a:chExt cx="4558652" cy="548640"/>
          </a:xfrm>
        </p:grpSpPr>
        <p:sp>
          <p:nvSpPr>
            <p:cNvPr name="Freeform 23" id="23"/>
            <p:cNvSpPr/>
            <p:nvPr/>
          </p:nvSpPr>
          <p:spPr>
            <a:xfrm flipH="false" flipV="false" rot="0">
              <a:off x="0" y="0"/>
              <a:ext cx="4558648" cy="548640"/>
            </a:xfrm>
            <a:custGeom>
              <a:avLst/>
              <a:gdLst/>
              <a:ahLst/>
              <a:cxnLst/>
              <a:rect r="r" b="b" t="t" l="l"/>
              <a:pathLst>
                <a:path h="548640" w="4558648">
                  <a:moveTo>
                    <a:pt x="0" y="0"/>
                  </a:moveTo>
                  <a:lnTo>
                    <a:pt x="4558648" y="0"/>
                  </a:lnTo>
                  <a:lnTo>
                    <a:pt x="4558648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11901" r="0" b="-111901"/>
              </a:stretch>
            </a:blipFill>
          </p:spPr>
        </p:sp>
        <p:sp>
          <p:nvSpPr>
            <p:cNvPr name="TextBox 24" id="24"/>
            <p:cNvSpPr txBox="true"/>
            <p:nvPr/>
          </p:nvSpPr>
          <p:spPr>
            <a:xfrm>
              <a:off x="0" y="-19050"/>
              <a:ext cx="4558652" cy="56769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889"/>
                </a:lnSpc>
              </a:pPr>
              <a:r>
                <a:rPr lang="en-US" b="true" sz="1575" spc="224">
                  <a:solidFill>
                    <a:srgbClr val="14345C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RESEARCH &amp; REFERENCES</a:t>
              </a:r>
            </a:p>
          </p:txBody>
        </p:sp>
      </p:grpSp>
      <p:grpSp>
        <p:nvGrpSpPr>
          <p:cNvPr name="Group 25" id="25"/>
          <p:cNvGrpSpPr/>
          <p:nvPr/>
        </p:nvGrpSpPr>
        <p:grpSpPr>
          <a:xfrm rot="0">
            <a:off x="10424160" y="1892808"/>
            <a:ext cx="2606726" cy="411480"/>
            <a:chOff x="0" y="0"/>
            <a:chExt cx="3475634" cy="548640"/>
          </a:xfrm>
        </p:grpSpPr>
        <p:sp>
          <p:nvSpPr>
            <p:cNvPr name="Freeform 26" id="26"/>
            <p:cNvSpPr/>
            <p:nvPr/>
          </p:nvSpPr>
          <p:spPr>
            <a:xfrm flipH="false" flipV="false" rot="0">
              <a:off x="0" y="0"/>
              <a:ext cx="3475609" cy="548640"/>
            </a:xfrm>
            <a:custGeom>
              <a:avLst/>
              <a:gdLst/>
              <a:ahLst/>
              <a:cxnLst/>
              <a:rect r="r" b="b" t="t" l="l"/>
              <a:pathLst>
                <a:path h="548640" w="3475609">
                  <a:moveTo>
                    <a:pt x="0" y="274320"/>
                  </a:moveTo>
                  <a:cubicBezTo>
                    <a:pt x="0" y="122809"/>
                    <a:pt x="122809" y="0"/>
                    <a:pt x="274320" y="0"/>
                  </a:cubicBezTo>
                  <a:lnTo>
                    <a:pt x="3201289" y="0"/>
                  </a:lnTo>
                  <a:cubicBezTo>
                    <a:pt x="3352800" y="0"/>
                    <a:pt x="3475609" y="122809"/>
                    <a:pt x="3475609" y="274320"/>
                  </a:cubicBezTo>
                  <a:cubicBezTo>
                    <a:pt x="3475609" y="425831"/>
                    <a:pt x="3352800" y="548640"/>
                    <a:pt x="3201289" y="548640"/>
                  </a:cubicBezTo>
                  <a:lnTo>
                    <a:pt x="274320" y="548640"/>
                  </a:lnTo>
                  <a:cubicBezTo>
                    <a:pt x="122809" y="548640"/>
                    <a:pt x="0" y="425831"/>
                    <a:pt x="0" y="274320"/>
                  </a:cubicBezTo>
                  <a:close/>
                </a:path>
              </a:pathLst>
            </a:custGeom>
            <a:solidFill>
              <a:srgbClr val="F08418"/>
            </a:solidFill>
          </p:spPr>
        </p:sp>
      </p:grpSp>
      <p:grpSp>
        <p:nvGrpSpPr>
          <p:cNvPr name="Group 27" id="27"/>
          <p:cNvGrpSpPr/>
          <p:nvPr/>
        </p:nvGrpSpPr>
        <p:grpSpPr>
          <a:xfrm rot="0">
            <a:off x="10424160" y="1924145"/>
            <a:ext cx="2606726" cy="411480"/>
            <a:chOff x="0" y="0"/>
            <a:chExt cx="3475634" cy="548640"/>
          </a:xfrm>
        </p:grpSpPr>
        <p:sp>
          <p:nvSpPr>
            <p:cNvPr name="Freeform 28" id="28"/>
            <p:cNvSpPr/>
            <p:nvPr/>
          </p:nvSpPr>
          <p:spPr>
            <a:xfrm flipH="false" flipV="false" rot="0">
              <a:off x="0" y="0"/>
              <a:ext cx="3475634" cy="548640"/>
            </a:xfrm>
            <a:custGeom>
              <a:avLst/>
              <a:gdLst/>
              <a:ahLst/>
              <a:cxnLst/>
              <a:rect r="r" b="b" t="t" l="l"/>
              <a:pathLst>
                <a:path h="548640" w="3475634">
                  <a:moveTo>
                    <a:pt x="0" y="0"/>
                  </a:moveTo>
                  <a:lnTo>
                    <a:pt x="3475634" y="0"/>
                  </a:lnTo>
                  <a:lnTo>
                    <a:pt x="3475634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73437" r="0" b="-73437"/>
              </a:stretch>
            </a:blipFill>
          </p:spPr>
        </p:sp>
        <p:sp>
          <p:nvSpPr>
            <p:cNvPr name="TextBox 29" id="29"/>
            <p:cNvSpPr txBox="true"/>
            <p:nvPr/>
          </p:nvSpPr>
          <p:spPr>
            <a:xfrm>
              <a:off x="0" y="-19050"/>
              <a:ext cx="3475634" cy="56769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889"/>
                </a:lnSpc>
              </a:pPr>
              <a:r>
                <a:rPr lang="en-US" b="true" sz="1575" spc="224">
                  <a:solidFill>
                    <a:srgbClr val="14345C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PROTOTYPE PROOF</a:t>
              </a:r>
            </a:p>
          </p:txBody>
        </p:sp>
      </p:grpSp>
      <p:grpSp>
        <p:nvGrpSpPr>
          <p:cNvPr name="Group 30" id="30"/>
          <p:cNvGrpSpPr/>
          <p:nvPr/>
        </p:nvGrpSpPr>
        <p:grpSpPr>
          <a:xfrm rot="0">
            <a:off x="815816" y="2516600"/>
            <a:ext cx="9272588" cy="1550480"/>
            <a:chOff x="0" y="0"/>
            <a:chExt cx="12363450" cy="2067306"/>
          </a:xfrm>
        </p:grpSpPr>
        <p:sp>
          <p:nvSpPr>
            <p:cNvPr name="Freeform 31" id="31"/>
            <p:cNvSpPr/>
            <p:nvPr/>
          </p:nvSpPr>
          <p:spPr>
            <a:xfrm flipH="false" flipV="false" rot="0">
              <a:off x="0" y="0"/>
              <a:ext cx="12363450" cy="2067306"/>
            </a:xfrm>
            <a:custGeom>
              <a:avLst/>
              <a:gdLst/>
              <a:ahLst/>
              <a:cxnLst/>
              <a:rect r="r" b="b" t="t" l="l"/>
              <a:pathLst>
                <a:path h="2067306" w="12363450">
                  <a:moveTo>
                    <a:pt x="0" y="221488"/>
                  </a:moveTo>
                  <a:cubicBezTo>
                    <a:pt x="0" y="99187"/>
                    <a:pt x="99187" y="0"/>
                    <a:pt x="221488" y="0"/>
                  </a:cubicBezTo>
                  <a:lnTo>
                    <a:pt x="12141962" y="0"/>
                  </a:lnTo>
                  <a:cubicBezTo>
                    <a:pt x="12264263" y="0"/>
                    <a:pt x="12363450" y="99187"/>
                    <a:pt x="12363450" y="221488"/>
                  </a:cubicBezTo>
                  <a:lnTo>
                    <a:pt x="12363450" y="1845818"/>
                  </a:lnTo>
                  <a:cubicBezTo>
                    <a:pt x="12363450" y="1968119"/>
                    <a:pt x="12264263" y="2067306"/>
                    <a:pt x="12141962" y="2067306"/>
                  </a:cubicBezTo>
                  <a:lnTo>
                    <a:pt x="221488" y="2067306"/>
                  </a:lnTo>
                  <a:cubicBezTo>
                    <a:pt x="99187" y="2067306"/>
                    <a:pt x="0" y="1968119"/>
                    <a:pt x="0" y="1845818"/>
                  </a:cubicBezTo>
                  <a:close/>
                </a:path>
              </a:pathLst>
            </a:custGeom>
            <a:solidFill>
              <a:srgbClr val="F4F8FC"/>
            </a:solidFill>
            <a:ln w="14288" cap="sq">
              <a:solidFill>
                <a:srgbClr val="D6E1EE"/>
              </a:solidFill>
              <a:prstDash val="solid"/>
              <a:miter/>
            </a:ln>
          </p:spPr>
        </p:sp>
      </p:grpSp>
      <p:grpSp>
        <p:nvGrpSpPr>
          <p:cNvPr name="Group 32" id="32"/>
          <p:cNvGrpSpPr/>
          <p:nvPr/>
        </p:nvGrpSpPr>
        <p:grpSpPr>
          <a:xfrm rot="0">
            <a:off x="1124712" y="2660904"/>
            <a:ext cx="822960" cy="411480"/>
            <a:chOff x="0" y="0"/>
            <a:chExt cx="1097280" cy="548640"/>
          </a:xfrm>
        </p:grpSpPr>
        <p:sp>
          <p:nvSpPr>
            <p:cNvPr name="Freeform 33" id="33"/>
            <p:cNvSpPr/>
            <p:nvPr/>
          </p:nvSpPr>
          <p:spPr>
            <a:xfrm flipH="false" flipV="false" rot="0">
              <a:off x="0" y="0"/>
              <a:ext cx="1097280" cy="548640"/>
            </a:xfrm>
            <a:custGeom>
              <a:avLst/>
              <a:gdLst/>
              <a:ahLst/>
              <a:cxnLst/>
              <a:rect r="r" b="b" t="t" l="l"/>
              <a:pathLst>
                <a:path h="548640" w="1097280">
                  <a:moveTo>
                    <a:pt x="0" y="0"/>
                  </a:moveTo>
                  <a:lnTo>
                    <a:pt x="1097280" y="0"/>
                  </a:lnTo>
                  <a:lnTo>
                    <a:pt x="109728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14151" t="0" r="-14151" b="0"/>
              </a:stretch>
            </a:blipFill>
          </p:spPr>
        </p:sp>
        <p:sp>
          <p:nvSpPr>
            <p:cNvPr name="TextBox 34" id="34"/>
            <p:cNvSpPr txBox="true"/>
            <p:nvPr/>
          </p:nvSpPr>
          <p:spPr>
            <a:xfrm>
              <a:off x="0" y="-9525"/>
              <a:ext cx="1097280" cy="55816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879"/>
                </a:lnSpc>
              </a:pPr>
              <a:r>
                <a:rPr lang="en-US" sz="2400" b="true">
                  <a:solidFill>
                    <a:srgbClr val="D9700F"/>
                  </a:solidFill>
                  <a:latin typeface="Courier New Bold"/>
                  <a:ea typeface="Courier New Bold"/>
                  <a:cs typeface="Courier New Bold"/>
                  <a:sym typeface="Courier New Bold"/>
                </a:rPr>
                <a:t>01</a:t>
              </a:r>
            </a:p>
          </p:txBody>
        </p:sp>
      </p:grpSp>
      <p:grpSp>
        <p:nvGrpSpPr>
          <p:cNvPr name="Group 35" id="35"/>
          <p:cNvGrpSpPr/>
          <p:nvPr/>
        </p:nvGrpSpPr>
        <p:grpSpPr>
          <a:xfrm rot="0">
            <a:off x="2057400" y="2633472"/>
            <a:ext cx="7749540" cy="431113"/>
            <a:chOff x="0" y="0"/>
            <a:chExt cx="10332720" cy="574817"/>
          </a:xfrm>
        </p:grpSpPr>
        <p:sp>
          <p:nvSpPr>
            <p:cNvPr name="Freeform 36" id="36"/>
            <p:cNvSpPr/>
            <p:nvPr/>
          </p:nvSpPr>
          <p:spPr>
            <a:xfrm flipH="false" flipV="false" rot="0">
              <a:off x="0" y="0"/>
              <a:ext cx="10332720" cy="574817"/>
            </a:xfrm>
            <a:custGeom>
              <a:avLst/>
              <a:gdLst/>
              <a:ahLst/>
              <a:cxnLst/>
              <a:rect r="r" b="b" t="t" l="l"/>
              <a:pathLst>
                <a:path h="574817" w="10332720">
                  <a:moveTo>
                    <a:pt x="0" y="0"/>
                  </a:moveTo>
                  <a:lnTo>
                    <a:pt x="10332720" y="0"/>
                  </a:lnTo>
                  <a:lnTo>
                    <a:pt x="10332720" y="574817"/>
                  </a:lnTo>
                  <a:lnTo>
                    <a:pt x="0" y="574817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05715" r="0" b="-294797"/>
              </a:stretch>
            </a:blipFill>
          </p:spPr>
        </p:sp>
        <p:sp>
          <p:nvSpPr>
            <p:cNvPr name="TextBox 37" id="37"/>
            <p:cNvSpPr txBox="true"/>
            <p:nvPr/>
          </p:nvSpPr>
          <p:spPr>
            <a:xfrm>
              <a:off x="0" y="-47625"/>
              <a:ext cx="10332720" cy="62244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609"/>
                </a:lnSpc>
              </a:pPr>
              <a:r>
                <a:rPr sz="2100" b="1" i="0">
                  <a:solidFill>
                    <a:srgbClr val="1F497D"/>
                  </a:solidFill>
                  <a:latin typeface="Calibri"/>
                </a:rPr>
                <a:t>IIT Jodhpur &amp; Manipal (IEEE Access, Sept 2026) [1]</a:t>
              </a:r>
            </a:p>
          </p:txBody>
        </p:sp>
      </p:grpSp>
      <p:sp>
        <p:nvSpPr>
          <p:cNvPr name="TextBox 38" id="38"/>
          <p:cNvSpPr txBox="true"/>
          <p:nvPr/>
        </p:nvSpPr>
        <p:spPr>
          <a:xfrm rot="0">
            <a:off x="2057400" y="3016377"/>
            <a:ext cx="7749540" cy="101612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298609" indent="-149304" lvl="1">
              <a:lnSpc>
                <a:spcPts val="1980"/>
              </a:lnSpc>
              <a:buFont typeface="Arial"/>
              <a:buChar char="•"/>
            </a:pPr>
            <a:r>
              <a:rPr sz="1500" b="0" i="1">
                <a:solidFill>
                  <a:srgbClr val="566074"/>
                </a:solidFill>
                <a:latin typeface="Calibri"/>
              </a:rPr>
              <a:t>• 'SwarmSAR-FW: Drone-Based Swarm Search and Rescue in Fire and Water Disasters'</a:t>
            </a:r>
          </a:p>
          <a:p>
            <a:r>
              <a:rPr sz="1500" b="0" i="0">
                <a:solidFill>
                  <a:srgbClr val="1E2638"/>
                </a:solidFill>
                <a:latin typeface="Calibri"/>
              </a:rPr>
              <a:t>• Sourced &amp; validated Hazard-Aware Safe Access Ingress Routing for ground crews &amp; 98.7% triage.</a:t>
            </a:r>
          </a:p>
          <a:p>
            <a:r>
              <a:rPr sz="1200" b="1" i="0">
                <a:solidFill>
                  <a:srgbClr val="B35A00"/>
                </a:solidFill>
                <a:latin typeface="Calibri"/>
              </a:rPr>
              <a:t>DOI: </a:t>
            </a:r>
            <a:r>
              <a:rPr sz="1200" b="0" i="1">
                <a:solidFill>
                  <a:srgbClr val="1F497D"/>
                </a:solidFill>
                <a:latin typeface="Calibri"/>
                <a:hlinkClick r:id="rId12"/>
              </a:rPr>
              <a:t>10.1109/ACCESS.2026.3730315 (Direct IEEE Document Link)</a:t>
            </a:r>
          </a:p>
        </p:txBody>
      </p:sp>
      <p:grpSp>
        <p:nvGrpSpPr>
          <p:cNvPr name="Group 39" id="39"/>
          <p:cNvGrpSpPr/>
          <p:nvPr/>
        </p:nvGrpSpPr>
        <p:grpSpPr>
          <a:xfrm rot="0">
            <a:off x="815816" y="4217384"/>
            <a:ext cx="9272588" cy="1550480"/>
            <a:chOff x="0" y="0"/>
            <a:chExt cx="12363450" cy="2067306"/>
          </a:xfrm>
        </p:grpSpPr>
        <p:sp>
          <p:nvSpPr>
            <p:cNvPr name="Freeform 40" id="40"/>
            <p:cNvSpPr/>
            <p:nvPr/>
          </p:nvSpPr>
          <p:spPr>
            <a:xfrm flipH="false" flipV="false" rot="0">
              <a:off x="0" y="0"/>
              <a:ext cx="12363450" cy="2067306"/>
            </a:xfrm>
            <a:custGeom>
              <a:avLst/>
              <a:gdLst/>
              <a:ahLst/>
              <a:cxnLst/>
              <a:rect r="r" b="b" t="t" l="l"/>
              <a:pathLst>
                <a:path h="2067306" w="12363450">
                  <a:moveTo>
                    <a:pt x="0" y="221488"/>
                  </a:moveTo>
                  <a:cubicBezTo>
                    <a:pt x="0" y="99187"/>
                    <a:pt x="99187" y="0"/>
                    <a:pt x="221488" y="0"/>
                  </a:cubicBezTo>
                  <a:lnTo>
                    <a:pt x="12141962" y="0"/>
                  </a:lnTo>
                  <a:cubicBezTo>
                    <a:pt x="12264263" y="0"/>
                    <a:pt x="12363450" y="99187"/>
                    <a:pt x="12363450" y="221488"/>
                  </a:cubicBezTo>
                  <a:lnTo>
                    <a:pt x="12363450" y="1845818"/>
                  </a:lnTo>
                  <a:cubicBezTo>
                    <a:pt x="12363450" y="1968119"/>
                    <a:pt x="12264263" y="2067306"/>
                    <a:pt x="12141962" y="2067306"/>
                  </a:cubicBezTo>
                  <a:lnTo>
                    <a:pt x="221488" y="2067306"/>
                  </a:lnTo>
                  <a:cubicBezTo>
                    <a:pt x="99187" y="2067306"/>
                    <a:pt x="0" y="1968119"/>
                    <a:pt x="0" y="1845818"/>
                  </a:cubicBezTo>
                  <a:close/>
                </a:path>
              </a:pathLst>
            </a:custGeom>
            <a:solidFill>
              <a:srgbClr val="F4F8FC"/>
            </a:solidFill>
            <a:ln w="14288" cap="sq">
              <a:solidFill>
                <a:srgbClr val="D6E1EE"/>
              </a:solidFill>
              <a:prstDash val="solid"/>
              <a:miter/>
            </a:ln>
          </p:spPr>
        </p:sp>
      </p:grpSp>
      <p:grpSp>
        <p:nvGrpSpPr>
          <p:cNvPr name="Group 41" id="41"/>
          <p:cNvGrpSpPr/>
          <p:nvPr/>
        </p:nvGrpSpPr>
        <p:grpSpPr>
          <a:xfrm rot="0">
            <a:off x="1124712" y="4361688"/>
            <a:ext cx="822960" cy="411480"/>
            <a:chOff x="0" y="0"/>
            <a:chExt cx="1097280" cy="548640"/>
          </a:xfrm>
        </p:grpSpPr>
        <p:sp>
          <p:nvSpPr>
            <p:cNvPr name="Freeform 42" id="42"/>
            <p:cNvSpPr/>
            <p:nvPr/>
          </p:nvSpPr>
          <p:spPr>
            <a:xfrm flipH="false" flipV="false" rot="0">
              <a:off x="0" y="0"/>
              <a:ext cx="1097280" cy="548640"/>
            </a:xfrm>
            <a:custGeom>
              <a:avLst/>
              <a:gdLst/>
              <a:ahLst/>
              <a:cxnLst/>
              <a:rect r="r" b="b" t="t" l="l"/>
              <a:pathLst>
                <a:path h="548640" w="1097280">
                  <a:moveTo>
                    <a:pt x="0" y="0"/>
                  </a:moveTo>
                  <a:lnTo>
                    <a:pt x="1097280" y="0"/>
                  </a:lnTo>
                  <a:lnTo>
                    <a:pt x="109728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14151" t="0" r="-14151" b="0"/>
              </a:stretch>
            </a:blipFill>
          </p:spPr>
        </p:sp>
        <p:sp>
          <p:nvSpPr>
            <p:cNvPr name="TextBox 43" id="43"/>
            <p:cNvSpPr txBox="true"/>
            <p:nvPr/>
          </p:nvSpPr>
          <p:spPr>
            <a:xfrm>
              <a:off x="0" y="-9525"/>
              <a:ext cx="1097280" cy="55816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879"/>
                </a:lnSpc>
              </a:pPr>
              <a:r>
                <a:rPr lang="en-US" sz="2400" b="true">
                  <a:solidFill>
                    <a:srgbClr val="D9700F"/>
                  </a:solidFill>
                  <a:latin typeface="Courier New Bold"/>
                  <a:ea typeface="Courier New Bold"/>
                  <a:cs typeface="Courier New Bold"/>
                  <a:sym typeface="Courier New Bold"/>
                </a:rPr>
                <a:t>02</a:t>
              </a:r>
            </a:p>
          </p:txBody>
        </p:sp>
      </p:grpSp>
      <p:grpSp>
        <p:nvGrpSpPr>
          <p:cNvPr name="Group 44" id="44"/>
          <p:cNvGrpSpPr/>
          <p:nvPr/>
        </p:nvGrpSpPr>
        <p:grpSpPr>
          <a:xfrm rot="0">
            <a:off x="2057400" y="4334256"/>
            <a:ext cx="7749540" cy="431113"/>
            <a:chOff x="0" y="0"/>
            <a:chExt cx="10332720" cy="574817"/>
          </a:xfrm>
        </p:grpSpPr>
        <p:sp>
          <p:nvSpPr>
            <p:cNvPr name="Freeform 45" id="45"/>
            <p:cNvSpPr/>
            <p:nvPr/>
          </p:nvSpPr>
          <p:spPr>
            <a:xfrm flipH="false" flipV="false" rot="0">
              <a:off x="0" y="0"/>
              <a:ext cx="10332720" cy="574817"/>
            </a:xfrm>
            <a:custGeom>
              <a:avLst/>
              <a:gdLst/>
              <a:ahLst/>
              <a:cxnLst/>
              <a:rect r="r" b="b" t="t" l="l"/>
              <a:pathLst>
                <a:path h="574817" w="10332720">
                  <a:moveTo>
                    <a:pt x="0" y="0"/>
                  </a:moveTo>
                  <a:lnTo>
                    <a:pt x="10332720" y="0"/>
                  </a:lnTo>
                  <a:lnTo>
                    <a:pt x="10332720" y="574817"/>
                  </a:lnTo>
                  <a:lnTo>
                    <a:pt x="0" y="574817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05715" r="0" b="-294797"/>
              </a:stretch>
            </a:blipFill>
          </p:spPr>
        </p:sp>
        <p:sp>
          <p:nvSpPr>
            <p:cNvPr name="TextBox 46" id="46"/>
            <p:cNvSpPr txBox="true"/>
            <p:nvPr/>
          </p:nvSpPr>
          <p:spPr>
            <a:xfrm>
              <a:off x="0" y="-47625"/>
              <a:ext cx="10332720" cy="62244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609"/>
                </a:lnSpc>
              </a:pPr>
              <a:r>
                <a:rPr sz="2000" b="1" i="0">
                  <a:solidFill>
                    <a:srgbClr val="1F497D"/>
                  </a:solidFill>
                  <a:latin typeface="Calibri"/>
                </a:rPr>
                <a:t>UPC Spain &amp; Souli et al. (IEEE Access 2026 / Elsevier 2024) [2, 3]</a:t>
              </a:r>
            </a:p>
          </p:txBody>
        </p:sp>
      </p:grpSp>
      <p:sp>
        <p:nvSpPr>
          <p:cNvPr name="TextBox 47" id="47"/>
          <p:cNvSpPr txBox="true"/>
          <p:nvPr/>
        </p:nvSpPr>
        <p:spPr>
          <a:xfrm rot="0">
            <a:off x="2057400" y="4717161"/>
            <a:ext cx="7749540" cy="101612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298609" indent="-149304" lvl="1">
              <a:lnSpc>
                <a:spcPts val="1980"/>
              </a:lnSpc>
              <a:buFont typeface="Arial"/>
              <a:buChar char="•"/>
            </a:pPr>
            <a:r>
              <a:rPr sz="1450" b="0" i="1">
                <a:solidFill>
                  <a:srgbClr val="566074"/>
                </a:solidFill>
                <a:latin typeface="Calibri"/>
              </a:rPr>
              <a:t>• 'Long-Range BLE Detection via Drone LoRa Relays' [2] &amp; 'Mission-Critical ROS-LoRa Architecture' [3]</a:t>
            </a:r>
          </a:p>
          <a:p>
            <a:r>
              <a:rPr sz="1450" b="0" i="0">
                <a:solidFill>
                  <a:srgbClr val="1E2638"/>
                </a:solidFill>
                <a:latin typeface="Calibri"/>
              </a:rPr>
              <a:t>• Sourced 868 MHz LoRa off-grid data bridge &amp; 17-byte binary telemetry in cellular blackout zones.</a:t>
            </a:r>
          </a:p>
          <a:p>
            <a:r>
              <a:rPr sz="1200" b="1" i="0">
                <a:solidFill>
                  <a:srgbClr val="B35A00"/>
                </a:solidFill>
                <a:latin typeface="Calibri"/>
              </a:rPr>
              <a:t>DOIs: </a:t>
            </a:r>
            <a:r>
              <a:rPr sz="1200" b="0" i="1">
                <a:solidFill>
                  <a:srgbClr val="1F497D"/>
                </a:solidFill>
                <a:latin typeface="Calibri"/>
                <a:hlinkClick r:id="rId13"/>
              </a:rPr>
              <a:t>10.1109/ACCESS.2026.3731317 [2]  |  10.1016/j.comcom.2024.04.015 [3]</a:t>
            </a:r>
          </a:p>
        </p:txBody>
      </p:sp>
      <p:grpSp>
        <p:nvGrpSpPr>
          <p:cNvPr name="Group 48" id="48"/>
          <p:cNvGrpSpPr/>
          <p:nvPr/>
        </p:nvGrpSpPr>
        <p:grpSpPr>
          <a:xfrm rot="0">
            <a:off x="815816" y="5918168"/>
            <a:ext cx="9272588" cy="1550480"/>
            <a:chOff x="0" y="0"/>
            <a:chExt cx="12363450" cy="2067306"/>
          </a:xfrm>
        </p:grpSpPr>
        <p:sp>
          <p:nvSpPr>
            <p:cNvPr name="Freeform 49" id="49"/>
            <p:cNvSpPr/>
            <p:nvPr/>
          </p:nvSpPr>
          <p:spPr>
            <a:xfrm flipH="false" flipV="false" rot="0">
              <a:off x="0" y="0"/>
              <a:ext cx="12363450" cy="2067306"/>
            </a:xfrm>
            <a:custGeom>
              <a:avLst/>
              <a:gdLst/>
              <a:ahLst/>
              <a:cxnLst/>
              <a:rect r="r" b="b" t="t" l="l"/>
              <a:pathLst>
                <a:path h="2067306" w="12363450">
                  <a:moveTo>
                    <a:pt x="0" y="221488"/>
                  </a:moveTo>
                  <a:cubicBezTo>
                    <a:pt x="0" y="99187"/>
                    <a:pt x="99187" y="0"/>
                    <a:pt x="221488" y="0"/>
                  </a:cubicBezTo>
                  <a:lnTo>
                    <a:pt x="12141962" y="0"/>
                  </a:lnTo>
                  <a:cubicBezTo>
                    <a:pt x="12264263" y="0"/>
                    <a:pt x="12363450" y="99187"/>
                    <a:pt x="12363450" y="221488"/>
                  </a:cubicBezTo>
                  <a:lnTo>
                    <a:pt x="12363450" y="1845818"/>
                  </a:lnTo>
                  <a:cubicBezTo>
                    <a:pt x="12363450" y="1968119"/>
                    <a:pt x="12264263" y="2067306"/>
                    <a:pt x="12141962" y="2067306"/>
                  </a:cubicBezTo>
                  <a:lnTo>
                    <a:pt x="221488" y="2067306"/>
                  </a:lnTo>
                  <a:cubicBezTo>
                    <a:pt x="99187" y="2067306"/>
                    <a:pt x="0" y="1968119"/>
                    <a:pt x="0" y="1845818"/>
                  </a:cubicBezTo>
                  <a:close/>
                </a:path>
              </a:pathLst>
            </a:custGeom>
            <a:solidFill>
              <a:srgbClr val="F4F8FC"/>
            </a:solidFill>
            <a:ln w="14288" cap="sq">
              <a:solidFill>
                <a:srgbClr val="D6E1EE"/>
              </a:solidFill>
              <a:prstDash val="solid"/>
              <a:miter/>
            </a:ln>
          </p:spPr>
        </p:sp>
      </p:grpSp>
      <p:grpSp>
        <p:nvGrpSpPr>
          <p:cNvPr name="Group 50" id="50"/>
          <p:cNvGrpSpPr/>
          <p:nvPr/>
        </p:nvGrpSpPr>
        <p:grpSpPr>
          <a:xfrm rot="0">
            <a:off x="1124712" y="6062472"/>
            <a:ext cx="822960" cy="411480"/>
            <a:chOff x="0" y="0"/>
            <a:chExt cx="1097280" cy="548640"/>
          </a:xfrm>
        </p:grpSpPr>
        <p:sp>
          <p:nvSpPr>
            <p:cNvPr name="Freeform 51" id="51"/>
            <p:cNvSpPr/>
            <p:nvPr/>
          </p:nvSpPr>
          <p:spPr>
            <a:xfrm flipH="false" flipV="false" rot="0">
              <a:off x="0" y="0"/>
              <a:ext cx="1097280" cy="548640"/>
            </a:xfrm>
            <a:custGeom>
              <a:avLst/>
              <a:gdLst/>
              <a:ahLst/>
              <a:cxnLst/>
              <a:rect r="r" b="b" t="t" l="l"/>
              <a:pathLst>
                <a:path h="548640" w="1097280">
                  <a:moveTo>
                    <a:pt x="0" y="0"/>
                  </a:moveTo>
                  <a:lnTo>
                    <a:pt x="1097280" y="0"/>
                  </a:lnTo>
                  <a:lnTo>
                    <a:pt x="109728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14151" t="0" r="-14151" b="0"/>
              </a:stretch>
            </a:blipFill>
          </p:spPr>
        </p:sp>
        <p:sp>
          <p:nvSpPr>
            <p:cNvPr name="TextBox 52" id="52"/>
            <p:cNvSpPr txBox="true"/>
            <p:nvPr/>
          </p:nvSpPr>
          <p:spPr>
            <a:xfrm>
              <a:off x="0" y="-9525"/>
              <a:ext cx="1097280" cy="55816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879"/>
                </a:lnSpc>
              </a:pPr>
              <a:r>
                <a:rPr lang="en-US" sz="2400" b="true">
                  <a:solidFill>
                    <a:srgbClr val="D9700F"/>
                  </a:solidFill>
                  <a:latin typeface="Courier New Bold"/>
                  <a:ea typeface="Courier New Bold"/>
                  <a:cs typeface="Courier New Bold"/>
                  <a:sym typeface="Courier New Bold"/>
                </a:rPr>
                <a:t>03</a:t>
              </a:r>
            </a:p>
          </p:txBody>
        </p:sp>
      </p:grpSp>
      <p:grpSp>
        <p:nvGrpSpPr>
          <p:cNvPr name="Group 53" id="53"/>
          <p:cNvGrpSpPr/>
          <p:nvPr/>
        </p:nvGrpSpPr>
        <p:grpSpPr>
          <a:xfrm rot="0">
            <a:off x="2057400" y="6035040"/>
            <a:ext cx="7749540" cy="431113"/>
            <a:chOff x="0" y="0"/>
            <a:chExt cx="10332720" cy="574817"/>
          </a:xfrm>
        </p:grpSpPr>
        <p:sp>
          <p:nvSpPr>
            <p:cNvPr name="Freeform 54" id="54"/>
            <p:cNvSpPr/>
            <p:nvPr/>
          </p:nvSpPr>
          <p:spPr>
            <a:xfrm flipH="false" flipV="false" rot="0">
              <a:off x="0" y="0"/>
              <a:ext cx="10332720" cy="574817"/>
            </a:xfrm>
            <a:custGeom>
              <a:avLst/>
              <a:gdLst/>
              <a:ahLst/>
              <a:cxnLst/>
              <a:rect r="r" b="b" t="t" l="l"/>
              <a:pathLst>
                <a:path h="574817" w="10332720">
                  <a:moveTo>
                    <a:pt x="0" y="0"/>
                  </a:moveTo>
                  <a:lnTo>
                    <a:pt x="10332720" y="0"/>
                  </a:lnTo>
                  <a:lnTo>
                    <a:pt x="10332720" y="574817"/>
                  </a:lnTo>
                  <a:lnTo>
                    <a:pt x="0" y="574817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05715" r="0" b="-294797"/>
              </a:stretch>
            </a:blipFill>
          </p:spPr>
        </p:sp>
        <p:sp>
          <p:nvSpPr>
            <p:cNvPr name="TextBox 55" id="55"/>
            <p:cNvSpPr txBox="true"/>
            <p:nvPr/>
          </p:nvSpPr>
          <p:spPr>
            <a:xfrm>
              <a:off x="0" y="-47625"/>
              <a:ext cx="10332720" cy="62244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609"/>
                </a:lnSpc>
              </a:pPr>
              <a:r>
                <a:rPr sz="2000" b="1" i="0">
                  <a:solidFill>
                    <a:srgbClr val="1F497D"/>
                  </a:solidFill>
                  <a:latin typeface="Calibri"/>
                </a:rPr>
                <a:t>TalTech Estonia &amp; SARDO (IEEE Access 2023 / IEEE TMC 2022) [4, 5]</a:t>
              </a:r>
            </a:p>
          </p:txBody>
        </p:sp>
      </p:grpSp>
      <p:sp>
        <p:nvSpPr>
          <p:cNvPr name="TextBox 56" id="56"/>
          <p:cNvSpPr txBox="true"/>
          <p:nvPr/>
        </p:nvSpPr>
        <p:spPr>
          <a:xfrm rot="0">
            <a:off x="2057400" y="6417945"/>
            <a:ext cx="7749540" cy="101612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298609" indent="-149304" lvl="1">
              <a:lnSpc>
                <a:spcPts val="1980"/>
              </a:lnSpc>
              <a:buFont typeface="Arial"/>
              <a:buChar char="•"/>
            </a:pPr>
            <a:r>
              <a:rPr sz="1450" b="0" i="1">
                <a:solidFill>
                  <a:srgbClr val="566074"/>
                </a:solidFill>
                <a:latin typeface="Calibri"/>
              </a:rPr>
              <a:t>• 'Applying RIS-Based Comm for Collaborative Computing' [4] &amp; 'SARDO RF Victim Localization' [5]</a:t>
            </a:r>
          </a:p>
          <a:p>
            <a:r>
              <a:rPr sz="1450" b="0" i="0">
                <a:solidFill>
                  <a:srgbClr val="1E2638"/>
                </a:solidFill>
                <a:latin typeface="Calibri"/>
              </a:rPr>
              <a:t>• Validated decentralized swarm edge-computing without cloud servers (-32% energy); 1/8th weight vs SDR.</a:t>
            </a:r>
          </a:p>
          <a:p>
            <a:r>
              <a:rPr sz="1200" b="1" i="0">
                <a:solidFill>
                  <a:srgbClr val="B35A00"/>
                </a:solidFill>
                <a:latin typeface="Calibri"/>
              </a:rPr>
              <a:t>DOIs: </a:t>
            </a:r>
            <a:r>
              <a:rPr sz="1200" b="0" i="1">
                <a:solidFill>
                  <a:srgbClr val="1F497D"/>
                </a:solidFill>
                <a:latin typeface="Calibri"/>
                <a:hlinkClick r:id="rId14"/>
              </a:rPr>
              <a:t>10.1109/ACCESS.2023.3293737 [4]  |  10.1109/TMC.2022.3168331 [5]</a:t>
            </a:r>
          </a:p>
        </p:txBody>
      </p:sp>
      <p:grpSp>
        <p:nvGrpSpPr>
          <p:cNvPr name="Group 57" id="57"/>
          <p:cNvGrpSpPr/>
          <p:nvPr/>
        </p:nvGrpSpPr>
        <p:grpSpPr>
          <a:xfrm rot="0">
            <a:off x="815816" y="7618952"/>
            <a:ext cx="9272588" cy="1550480"/>
            <a:chOff x="0" y="0"/>
            <a:chExt cx="12363450" cy="2067306"/>
          </a:xfrm>
        </p:grpSpPr>
        <p:sp>
          <p:nvSpPr>
            <p:cNvPr name="Freeform 58" id="58"/>
            <p:cNvSpPr/>
            <p:nvPr/>
          </p:nvSpPr>
          <p:spPr>
            <a:xfrm flipH="false" flipV="false" rot="0">
              <a:off x="0" y="0"/>
              <a:ext cx="12363450" cy="2067306"/>
            </a:xfrm>
            <a:custGeom>
              <a:avLst/>
              <a:gdLst/>
              <a:ahLst/>
              <a:cxnLst/>
              <a:rect r="r" b="b" t="t" l="l"/>
              <a:pathLst>
                <a:path h="2067306" w="12363450">
                  <a:moveTo>
                    <a:pt x="0" y="221488"/>
                  </a:moveTo>
                  <a:cubicBezTo>
                    <a:pt x="0" y="99187"/>
                    <a:pt x="99187" y="0"/>
                    <a:pt x="221488" y="0"/>
                  </a:cubicBezTo>
                  <a:lnTo>
                    <a:pt x="12141962" y="0"/>
                  </a:lnTo>
                  <a:cubicBezTo>
                    <a:pt x="12264263" y="0"/>
                    <a:pt x="12363450" y="99187"/>
                    <a:pt x="12363450" y="221488"/>
                  </a:cubicBezTo>
                  <a:lnTo>
                    <a:pt x="12363450" y="1845818"/>
                  </a:lnTo>
                  <a:cubicBezTo>
                    <a:pt x="12363450" y="1968119"/>
                    <a:pt x="12264263" y="2067306"/>
                    <a:pt x="12141962" y="2067306"/>
                  </a:cubicBezTo>
                  <a:lnTo>
                    <a:pt x="221488" y="2067306"/>
                  </a:lnTo>
                  <a:cubicBezTo>
                    <a:pt x="99187" y="2067306"/>
                    <a:pt x="0" y="1968119"/>
                    <a:pt x="0" y="1845818"/>
                  </a:cubicBezTo>
                  <a:close/>
                </a:path>
              </a:pathLst>
            </a:custGeom>
            <a:solidFill>
              <a:srgbClr val="F4F8FC"/>
            </a:solidFill>
            <a:ln w="14288" cap="sq">
              <a:solidFill>
                <a:srgbClr val="D6E1EE"/>
              </a:solidFill>
              <a:prstDash val="solid"/>
              <a:miter/>
            </a:ln>
          </p:spPr>
        </p:sp>
      </p:grpSp>
      <p:grpSp>
        <p:nvGrpSpPr>
          <p:cNvPr name="Group 59" id="59"/>
          <p:cNvGrpSpPr/>
          <p:nvPr/>
        </p:nvGrpSpPr>
        <p:grpSpPr>
          <a:xfrm rot="0">
            <a:off x="1124712" y="7763256"/>
            <a:ext cx="822960" cy="411480"/>
            <a:chOff x="0" y="0"/>
            <a:chExt cx="1097280" cy="548640"/>
          </a:xfrm>
        </p:grpSpPr>
        <p:sp>
          <p:nvSpPr>
            <p:cNvPr name="Freeform 60" id="60"/>
            <p:cNvSpPr/>
            <p:nvPr/>
          </p:nvSpPr>
          <p:spPr>
            <a:xfrm flipH="false" flipV="false" rot="0">
              <a:off x="0" y="0"/>
              <a:ext cx="1097280" cy="548640"/>
            </a:xfrm>
            <a:custGeom>
              <a:avLst/>
              <a:gdLst/>
              <a:ahLst/>
              <a:cxnLst/>
              <a:rect r="r" b="b" t="t" l="l"/>
              <a:pathLst>
                <a:path h="548640" w="1097280">
                  <a:moveTo>
                    <a:pt x="0" y="0"/>
                  </a:moveTo>
                  <a:lnTo>
                    <a:pt x="1097280" y="0"/>
                  </a:lnTo>
                  <a:lnTo>
                    <a:pt x="109728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14151" t="0" r="-14151" b="0"/>
              </a:stretch>
            </a:blipFill>
          </p:spPr>
        </p:sp>
        <p:sp>
          <p:nvSpPr>
            <p:cNvPr name="TextBox 61" id="61"/>
            <p:cNvSpPr txBox="true"/>
            <p:nvPr/>
          </p:nvSpPr>
          <p:spPr>
            <a:xfrm>
              <a:off x="0" y="-9525"/>
              <a:ext cx="1097280" cy="55816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879"/>
                </a:lnSpc>
              </a:pPr>
              <a:r>
                <a:rPr lang="en-US" sz="2400" b="true">
                  <a:solidFill>
                    <a:srgbClr val="D9700F"/>
                  </a:solidFill>
                  <a:latin typeface="Courier New Bold"/>
                  <a:ea typeface="Courier New Bold"/>
                  <a:cs typeface="Courier New Bold"/>
                  <a:sym typeface="Courier New Bold"/>
                </a:rPr>
                <a:t>04</a:t>
              </a:r>
            </a:p>
          </p:txBody>
        </p:sp>
      </p:grpSp>
      <p:grpSp>
        <p:nvGrpSpPr>
          <p:cNvPr name="Group 62" id="62"/>
          <p:cNvGrpSpPr/>
          <p:nvPr/>
        </p:nvGrpSpPr>
        <p:grpSpPr>
          <a:xfrm rot="0">
            <a:off x="2057400" y="7735824"/>
            <a:ext cx="7749540" cy="431113"/>
            <a:chOff x="0" y="0"/>
            <a:chExt cx="10332720" cy="574817"/>
          </a:xfrm>
        </p:grpSpPr>
        <p:sp>
          <p:nvSpPr>
            <p:cNvPr name="Freeform 63" id="63"/>
            <p:cNvSpPr/>
            <p:nvPr/>
          </p:nvSpPr>
          <p:spPr>
            <a:xfrm flipH="false" flipV="false" rot="0">
              <a:off x="0" y="0"/>
              <a:ext cx="10332720" cy="574817"/>
            </a:xfrm>
            <a:custGeom>
              <a:avLst/>
              <a:gdLst/>
              <a:ahLst/>
              <a:cxnLst/>
              <a:rect r="r" b="b" t="t" l="l"/>
              <a:pathLst>
                <a:path h="574817" w="10332720">
                  <a:moveTo>
                    <a:pt x="0" y="0"/>
                  </a:moveTo>
                  <a:lnTo>
                    <a:pt x="10332720" y="0"/>
                  </a:lnTo>
                  <a:lnTo>
                    <a:pt x="10332720" y="574817"/>
                  </a:lnTo>
                  <a:lnTo>
                    <a:pt x="0" y="574817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05715" r="0" b="-294797"/>
              </a:stretch>
            </a:blipFill>
          </p:spPr>
        </p:sp>
        <p:sp>
          <p:nvSpPr>
            <p:cNvPr name="TextBox 64" id="64"/>
            <p:cNvSpPr txBox="true"/>
            <p:nvPr/>
          </p:nvSpPr>
          <p:spPr>
            <a:xfrm>
              <a:off x="0" y="-47625"/>
              <a:ext cx="10332720" cy="62244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609"/>
                </a:lnSpc>
              </a:pPr>
              <a:r>
                <a:rPr sz="2000" b="1" i="0">
                  <a:solidFill>
                    <a:srgbClr val="1F497D"/>
                  </a:solidFill>
                  <a:latin typeface="Calibri"/>
                </a:rPr>
                <a:t>BITS Pilani &amp; van Tilburg (Elsevier 2020 / Wilderness Med 2017) [6, 7]</a:t>
              </a:r>
            </a:p>
          </p:txBody>
        </p:sp>
      </p:grpSp>
      <p:sp>
        <p:nvSpPr>
          <p:cNvPr name="TextBox 65" id="65"/>
          <p:cNvSpPr txBox="true"/>
          <p:nvPr/>
        </p:nvSpPr>
        <p:spPr>
          <a:xfrm rot="0">
            <a:off x="2057400" y="8118729"/>
            <a:ext cx="7749540" cy="101612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298609" indent="-149304" lvl="1">
              <a:lnSpc>
                <a:spcPts val="1980"/>
              </a:lnSpc>
              <a:buFont typeface="Arial"/>
              <a:buChar char="•"/>
            </a:pPr>
            <a:r>
              <a:rPr sz="1450" b="0" i="1">
                <a:solidFill>
                  <a:srgbClr val="566074"/>
                </a:solidFill>
                <a:latin typeface="Calibri"/>
              </a:rPr>
              <a:t>• 'Drone Surveillance &amp; Human Action Detection' [6] &amp; 'First Report of Using Drones for SAR' [7]</a:t>
            </a:r>
          </a:p>
          <a:p>
            <a:r>
              <a:rPr sz="1450" b="0" i="0">
                <a:solidFill>
                  <a:srgbClr val="1E2638"/>
                </a:solidFill>
                <a:latin typeface="Calibri"/>
              </a:rPr>
              <a:t>• Validates 2000+ aerial human detection dataset for INT8 YOLO and operational field unboxing protocols.</a:t>
            </a:r>
          </a:p>
          <a:p>
            <a:r>
              <a:rPr sz="1200" b="1" i="0">
                <a:solidFill>
                  <a:srgbClr val="B35A00"/>
                </a:solidFill>
                <a:latin typeface="Calibri"/>
              </a:rPr>
              <a:t>DOIs: </a:t>
            </a:r>
            <a:r>
              <a:rPr sz="1200" b="0" i="1">
                <a:solidFill>
                  <a:srgbClr val="1F497D"/>
                </a:solidFill>
                <a:latin typeface="Calibri"/>
                <a:hlinkClick r:id="rId15"/>
              </a:rPr>
              <a:t>10.1016/j.comcom.2020.03.042 [6]  |  10.1016/j.wem.2017.06.004 [7]</a:t>
            </a:r>
          </a:p>
        </p:txBody>
      </p:sp>
      <p:grpSp>
        <p:nvGrpSpPr>
          <p:cNvPr name="Group 66" id="66"/>
          <p:cNvGrpSpPr/>
          <p:nvPr/>
        </p:nvGrpSpPr>
        <p:grpSpPr>
          <a:xfrm rot="0">
            <a:off x="10417016" y="2516600"/>
            <a:ext cx="7054710" cy="6652832"/>
            <a:chOff x="0" y="0"/>
            <a:chExt cx="9406280" cy="8870442"/>
          </a:xfrm>
        </p:grpSpPr>
        <p:sp>
          <p:nvSpPr>
            <p:cNvPr name="Freeform 67" id="67"/>
            <p:cNvSpPr/>
            <p:nvPr/>
          </p:nvSpPr>
          <p:spPr>
            <a:xfrm flipH="false" flipV="false" rot="0">
              <a:off x="0" y="0"/>
              <a:ext cx="9406255" cy="8870442"/>
            </a:xfrm>
            <a:custGeom>
              <a:avLst/>
              <a:gdLst/>
              <a:ahLst/>
              <a:cxnLst/>
              <a:rect r="r" b="b" t="t" l="l"/>
              <a:pathLst>
                <a:path h="8870442" w="9406255">
                  <a:moveTo>
                    <a:pt x="0" y="250346"/>
                  </a:moveTo>
                  <a:cubicBezTo>
                    <a:pt x="0" y="112036"/>
                    <a:pt x="114808" y="0"/>
                    <a:pt x="256540" y="0"/>
                  </a:cubicBezTo>
                  <a:lnTo>
                    <a:pt x="9149715" y="0"/>
                  </a:lnTo>
                  <a:cubicBezTo>
                    <a:pt x="9291447" y="0"/>
                    <a:pt x="9406255" y="112036"/>
                    <a:pt x="9406255" y="250346"/>
                  </a:cubicBezTo>
                  <a:lnTo>
                    <a:pt x="9406255" y="8620096"/>
                  </a:lnTo>
                  <a:cubicBezTo>
                    <a:pt x="9406255" y="8758405"/>
                    <a:pt x="9291447" y="8870442"/>
                    <a:pt x="9149715" y="8870442"/>
                  </a:cubicBezTo>
                  <a:lnTo>
                    <a:pt x="256540" y="8870442"/>
                  </a:lnTo>
                  <a:cubicBezTo>
                    <a:pt x="114808" y="8870442"/>
                    <a:pt x="0" y="8758406"/>
                    <a:pt x="0" y="8620096"/>
                  </a:cubicBezTo>
                  <a:close/>
                </a:path>
              </a:pathLst>
            </a:custGeom>
            <a:solidFill>
              <a:srgbClr val="F4F8FC"/>
            </a:solidFill>
            <a:ln w="14288" cap="sq">
              <a:solidFill>
                <a:srgbClr val="D6E1EE"/>
              </a:solidFill>
              <a:prstDash val="solid"/>
              <a:miter/>
            </a:ln>
          </p:spPr>
        </p:sp>
      </p:grpSp>
      <p:grpSp>
        <p:nvGrpSpPr>
          <p:cNvPr name="Group 68" id="68"/>
          <p:cNvGrpSpPr/>
          <p:nvPr/>
        </p:nvGrpSpPr>
        <p:grpSpPr>
          <a:xfrm rot="0">
            <a:off x="10767060" y="2688336"/>
            <a:ext cx="6354623" cy="411480"/>
            <a:chOff x="0" y="0"/>
            <a:chExt cx="8472830" cy="548640"/>
          </a:xfrm>
        </p:grpSpPr>
        <p:sp>
          <p:nvSpPr>
            <p:cNvPr name="Freeform 69" id="69"/>
            <p:cNvSpPr/>
            <p:nvPr/>
          </p:nvSpPr>
          <p:spPr>
            <a:xfrm flipH="false" flipV="false" rot="0">
              <a:off x="0" y="0"/>
              <a:ext cx="8472830" cy="548640"/>
            </a:xfrm>
            <a:custGeom>
              <a:avLst/>
              <a:gdLst/>
              <a:ahLst/>
              <a:cxnLst/>
              <a:rect r="r" b="b" t="t" l="l"/>
              <a:pathLst>
                <a:path h="548640" w="8472830">
                  <a:moveTo>
                    <a:pt x="0" y="0"/>
                  </a:moveTo>
                  <a:lnTo>
                    <a:pt x="8472830" y="0"/>
                  </a:lnTo>
                  <a:lnTo>
                    <a:pt x="847283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50913" r="0" b="-250913"/>
              </a:stretch>
            </a:blipFill>
          </p:spPr>
        </p:sp>
        <p:sp>
          <p:nvSpPr>
            <p:cNvPr name="TextBox 70" id="70"/>
            <p:cNvSpPr txBox="true"/>
            <p:nvPr/>
          </p:nvSpPr>
          <p:spPr>
            <a:xfrm>
              <a:off x="0" y="-38100"/>
              <a:ext cx="8472830" cy="58674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070"/>
                </a:lnSpc>
              </a:pPr>
              <a:r>
                <a:rPr lang="en-US" b="true" sz="1725" spc="119">
                  <a:solidFill>
                    <a:srgbClr val="1F497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OPEN-SOURCE REPOSITORY &amp; VERIFICATION ASSETS</a:t>
              </a:r>
            </a:p>
          </p:txBody>
        </p:sp>
      </p:grpSp>
      <p:sp>
        <p:nvSpPr>
          <p:cNvPr name="AutoShape 71" id="71"/>
          <p:cNvSpPr/>
          <p:nvPr/>
        </p:nvSpPr>
        <p:spPr>
          <a:xfrm rot="10260">
            <a:off x="10757525" y="3204781"/>
            <a:ext cx="6373701" cy="0"/>
          </a:xfrm>
          <a:prstGeom prst="line">
            <a:avLst/>
          </a:prstGeom>
          <a:ln cap="rnd" w="9525">
            <a:solidFill>
              <a:srgbClr val="D6E1EE"/>
            </a:solidFill>
            <a:prstDash val="solid"/>
            <a:headEnd type="none" len="sm" w="sm"/>
            <a:tailEnd type="none" len="sm" w="sm"/>
          </a:ln>
        </p:spPr>
        <p:txBody>
          <a:bodyPr/>
          <a:p>
            <a:r>
              <a:rPr sz="1300" i="1">
                <a:solidFill>
                  <a:srgbClr val="788296"/>
                </a:solidFill>
                <a:latin typeface="Calibri"/>
              </a:rPr>
              <a:t>Video link: SIH Grand Finale Submission Portal</a:t>
            </a:r>
          </a:p>
        </p:txBody>
      </p:sp>
      <p:grpSp>
        <p:nvGrpSpPr>
          <p:cNvPr name="Group 72" id="72"/>
          <p:cNvGrpSpPr/>
          <p:nvPr/>
        </p:nvGrpSpPr>
        <p:grpSpPr>
          <a:xfrm rot="0">
            <a:off x="10767060" y="3374136"/>
            <a:ext cx="356616" cy="356616"/>
            <a:chOff x="0" y="0"/>
            <a:chExt cx="475488" cy="475488"/>
          </a:xfrm>
        </p:grpSpPr>
        <p:sp>
          <p:nvSpPr>
            <p:cNvPr name="Freeform 73" id="73" descr="YouTube logo"/>
            <p:cNvSpPr/>
            <p:nvPr/>
          </p:nvSpPr>
          <p:spPr>
            <a:xfrm flipH="false" flipV="false" rot="0">
              <a:off x="0" y="0"/>
              <a:ext cx="475488" cy="475488"/>
            </a:xfrm>
            <a:custGeom>
              <a:avLst/>
              <a:gdLst/>
              <a:ahLst/>
              <a:cxnLst/>
              <a:rect r="r" b="b" t="t" l="l"/>
              <a:pathLst>
                <a:path h="475488" w="475488">
                  <a:moveTo>
                    <a:pt x="0" y="0"/>
                  </a:moveTo>
                  <a:lnTo>
                    <a:pt x="475488" y="0"/>
                  </a:lnTo>
                  <a:lnTo>
                    <a:pt x="475488" y="475488"/>
                  </a:lnTo>
                  <a:lnTo>
                    <a:pt x="0" y="47548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l="0" t="0" r="0" b="0"/>
              </a:stretch>
            </a:blipFill>
          </p:spPr>
        </p:sp>
      </p:grpSp>
      <p:grpSp>
        <p:nvGrpSpPr>
          <p:cNvPr name="Group 74" id="74"/>
          <p:cNvGrpSpPr/>
          <p:nvPr/>
        </p:nvGrpSpPr>
        <p:grpSpPr>
          <a:xfrm rot="0">
            <a:off x="11233404" y="3360420"/>
            <a:ext cx="6354623" cy="329184"/>
            <a:chOff x="0" y="0"/>
            <a:chExt cx="8472830" cy="438912"/>
          </a:xfrm>
        </p:grpSpPr>
        <p:sp>
          <p:nvSpPr>
            <p:cNvPr name="Freeform 75" id="75"/>
            <p:cNvSpPr/>
            <p:nvPr/>
          </p:nvSpPr>
          <p:spPr>
            <a:xfrm flipH="false" flipV="false" rot="0">
              <a:off x="0" y="0"/>
              <a:ext cx="8472830" cy="438912"/>
            </a:xfrm>
            <a:custGeom>
              <a:avLst/>
              <a:gdLst/>
              <a:ahLst/>
              <a:cxnLst/>
              <a:rect r="r" b="b" t="t" l="l"/>
              <a:pathLst>
                <a:path h="438912" w="8472830">
                  <a:moveTo>
                    <a:pt x="0" y="0"/>
                  </a:moveTo>
                  <a:lnTo>
                    <a:pt x="8472830" y="0"/>
                  </a:lnTo>
                  <a:lnTo>
                    <a:pt x="8472830" y="438912"/>
                  </a:lnTo>
                  <a:lnTo>
                    <a:pt x="0" y="43891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26142" r="0" b="-326142"/>
              </a:stretch>
            </a:blipFill>
          </p:spPr>
        </p:sp>
        <p:sp>
          <p:nvSpPr>
            <p:cNvPr name="TextBox 76" id="76"/>
            <p:cNvSpPr txBox="true"/>
            <p:nvPr/>
          </p:nvSpPr>
          <p:spPr>
            <a:xfrm>
              <a:off x="0" y="-28575"/>
              <a:ext cx="8472830" cy="467487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980"/>
                </a:lnSpc>
              </a:pPr>
              <a:r>
                <a:rPr lang="en-US" sz="1650" b="true">
                  <a:solidFill>
                    <a:srgbClr val="B35A0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Presentation Video:</a:t>
              </a:r>
            </a:p>
          </p:txBody>
        </p:sp>
      </p:grpSp>
      <p:grpSp>
        <p:nvGrpSpPr>
          <p:cNvPr name="Group 77" id="77"/>
          <p:cNvGrpSpPr/>
          <p:nvPr/>
        </p:nvGrpSpPr>
        <p:grpSpPr>
          <a:xfrm rot="0">
            <a:off x="10759916" y="3778472"/>
            <a:ext cx="6368910" cy="508064"/>
            <a:chOff x="0" y="0"/>
            <a:chExt cx="8491880" cy="677418"/>
          </a:xfrm>
        </p:grpSpPr>
        <p:sp>
          <p:nvSpPr>
            <p:cNvPr name="Freeform 78" id="78"/>
            <p:cNvSpPr/>
            <p:nvPr/>
          </p:nvSpPr>
          <p:spPr>
            <a:xfrm flipH="false" flipV="false" rot="0">
              <a:off x="0" y="0"/>
              <a:ext cx="8491855" cy="677418"/>
            </a:xfrm>
            <a:custGeom>
              <a:avLst/>
              <a:gdLst/>
              <a:ahLst/>
              <a:cxnLst/>
              <a:rect r="r" b="b" t="t" l="l"/>
              <a:pathLst>
                <a:path h="677418" w="8491855">
                  <a:moveTo>
                    <a:pt x="0" y="150495"/>
                  </a:moveTo>
                  <a:cubicBezTo>
                    <a:pt x="0" y="67437"/>
                    <a:pt x="67437" y="0"/>
                    <a:pt x="150495" y="0"/>
                  </a:cubicBezTo>
                  <a:lnTo>
                    <a:pt x="8341360" y="0"/>
                  </a:lnTo>
                  <a:cubicBezTo>
                    <a:pt x="8424545" y="0"/>
                    <a:pt x="8491855" y="67437"/>
                    <a:pt x="8491855" y="150495"/>
                  </a:cubicBezTo>
                  <a:lnTo>
                    <a:pt x="8491855" y="526923"/>
                  </a:lnTo>
                  <a:cubicBezTo>
                    <a:pt x="8491855" y="610108"/>
                    <a:pt x="8424418" y="677418"/>
                    <a:pt x="8341360" y="677418"/>
                  </a:cubicBezTo>
                  <a:lnTo>
                    <a:pt x="150495" y="677418"/>
                  </a:lnTo>
                  <a:cubicBezTo>
                    <a:pt x="67437" y="677418"/>
                    <a:pt x="0" y="609981"/>
                    <a:pt x="0" y="526923"/>
                  </a:cubicBezTo>
                  <a:close/>
                </a:path>
              </a:pathLst>
            </a:custGeom>
            <a:solidFill>
              <a:srgbClr val="FFFFFF"/>
            </a:solidFill>
            <a:ln w="14288" cap="sq">
              <a:solidFill>
                <a:srgbClr val="D6E1EE"/>
              </a:solidFill>
              <a:prstDash val="solid"/>
              <a:miter/>
            </a:ln>
          </p:spPr>
        </p:sp>
      </p:grpSp>
      <p:grpSp>
        <p:nvGrpSpPr>
          <p:cNvPr name="Group 79" id="79"/>
          <p:cNvGrpSpPr/>
          <p:nvPr/>
        </p:nvGrpSpPr>
        <p:grpSpPr>
          <a:xfrm rot="0">
            <a:off x="10767060" y="4443984"/>
            <a:ext cx="301752" cy="301752"/>
            <a:chOff x="0" y="0"/>
            <a:chExt cx="402336" cy="402336"/>
          </a:xfrm>
        </p:grpSpPr>
        <p:sp>
          <p:nvSpPr>
            <p:cNvPr name="Freeform 80" id="80" descr="Globe icon"/>
            <p:cNvSpPr/>
            <p:nvPr/>
          </p:nvSpPr>
          <p:spPr>
            <a:xfrm flipH="false" flipV="false" rot="0">
              <a:off x="0" y="0"/>
              <a:ext cx="402336" cy="402336"/>
            </a:xfrm>
            <a:custGeom>
              <a:avLst/>
              <a:gdLst/>
              <a:ahLst/>
              <a:cxnLst/>
              <a:rect r="r" b="b" t="t" l="l"/>
              <a:pathLst>
                <a:path h="402336" w="402336">
                  <a:moveTo>
                    <a:pt x="0" y="0"/>
                  </a:moveTo>
                  <a:lnTo>
                    <a:pt x="402336" y="0"/>
                  </a:lnTo>
                  <a:lnTo>
                    <a:pt x="402336" y="402336"/>
                  </a:lnTo>
                  <a:lnTo>
                    <a:pt x="0" y="40233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 l="0" t="0" r="0" b="0"/>
              </a:stretch>
            </a:blipFill>
          </p:spPr>
        </p:sp>
      </p:grpSp>
      <p:grpSp>
        <p:nvGrpSpPr>
          <p:cNvPr name="Group 81" id="81"/>
          <p:cNvGrpSpPr/>
          <p:nvPr/>
        </p:nvGrpSpPr>
        <p:grpSpPr>
          <a:xfrm rot="0">
            <a:off x="11178540" y="4430268"/>
            <a:ext cx="2662961" cy="329184"/>
            <a:chOff x="0" y="0"/>
            <a:chExt cx="3550615" cy="438912"/>
          </a:xfrm>
        </p:grpSpPr>
        <p:sp>
          <p:nvSpPr>
            <p:cNvPr name="Freeform 82" id="82"/>
            <p:cNvSpPr/>
            <p:nvPr/>
          </p:nvSpPr>
          <p:spPr>
            <a:xfrm flipH="false" flipV="false" rot="0">
              <a:off x="0" y="0"/>
              <a:ext cx="3550614" cy="438912"/>
            </a:xfrm>
            <a:custGeom>
              <a:avLst/>
              <a:gdLst/>
              <a:ahLst/>
              <a:cxnLst/>
              <a:rect r="r" b="b" t="t" l="l"/>
              <a:pathLst>
                <a:path h="438912" w="3550614">
                  <a:moveTo>
                    <a:pt x="0" y="0"/>
                  </a:moveTo>
                  <a:lnTo>
                    <a:pt x="3550614" y="0"/>
                  </a:lnTo>
                  <a:lnTo>
                    <a:pt x="3550614" y="438912"/>
                  </a:lnTo>
                  <a:lnTo>
                    <a:pt x="0" y="43891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07625" r="0" b="-107625"/>
              </a:stretch>
            </a:blipFill>
          </p:spPr>
        </p:sp>
        <p:sp>
          <p:nvSpPr>
            <p:cNvPr name="TextBox 83" id="83"/>
            <p:cNvSpPr txBox="true"/>
            <p:nvPr/>
          </p:nvSpPr>
          <p:spPr>
            <a:xfrm>
              <a:off x="0" y="-28575"/>
              <a:ext cx="3550615" cy="467487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980"/>
                </a:lnSpc>
              </a:pPr>
              <a:r>
                <a:rPr lang="en-US" sz="1650" b="true">
                  <a:solidFill>
                    <a:srgbClr val="B35A0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Web Demo:</a:t>
              </a:r>
            </a:p>
          </p:txBody>
        </p:sp>
      </p:grpSp>
      <p:grpSp>
        <p:nvGrpSpPr>
          <p:cNvPr name="Group 84" id="84"/>
          <p:cNvGrpSpPr/>
          <p:nvPr/>
        </p:nvGrpSpPr>
        <p:grpSpPr>
          <a:xfrm rot="0">
            <a:off x="14047241" y="4443984"/>
            <a:ext cx="301752" cy="301752"/>
            <a:chOff x="0" y="0"/>
            <a:chExt cx="402336" cy="402336"/>
          </a:xfrm>
        </p:grpSpPr>
        <p:sp>
          <p:nvSpPr>
            <p:cNvPr name="Freeform 85" id="85" descr="GitHub logo"/>
            <p:cNvSpPr/>
            <p:nvPr/>
          </p:nvSpPr>
          <p:spPr>
            <a:xfrm flipH="false" flipV="false" rot="0">
              <a:off x="0" y="0"/>
              <a:ext cx="402336" cy="402336"/>
            </a:xfrm>
            <a:custGeom>
              <a:avLst/>
              <a:gdLst/>
              <a:ahLst/>
              <a:cxnLst/>
              <a:rect r="r" b="b" t="t" l="l"/>
              <a:pathLst>
                <a:path h="402336" w="402336">
                  <a:moveTo>
                    <a:pt x="0" y="0"/>
                  </a:moveTo>
                  <a:lnTo>
                    <a:pt x="402336" y="0"/>
                  </a:lnTo>
                  <a:lnTo>
                    <a:pt x="402336" y="402336"/>
                  </a:lnTo>
                  <a:lnTo>
                    <a:pt x="0" y="40233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>
                <a:fillRect l="0" t="0" r="0" b="0"/>
              </a:stretch>
            </a:blipFill>
          </p:spPr>
        </p:sp>
      </p:grpSp>
      <p:grpSp>
        <p:nvGrpSpPr>
          <p:cNvPr name="Group 86" id="86"/>
          <p:cNvGrpSpPr/>
          <p:nvPr/>
        </p:nvGrpSpPr>
        <p:grpSpPr>
          <a:xfrm rot="0">
            <a:off x="14458721" y="4430268"/>
            <a:ext cx="2662961" cy="329184"/>
            <a:chOff x="0" y="0"/>
            <a:chExt cx="3550615" cy="438912"/>
          </a:xfrm>
        </p:grpSpPr>
        <p:sp>
          <p:nvSpPr>
            <p:cNvPr name="Freeform 87" id="87"/>
            <p:cNvSpPr/>
            <p:nvPr/>
          </p:nvSpPr>
          <p:spPr>
            <a:xfrm flipH="false" flipV="false" rot="0">
              <a:off x="0" y="0"/>
              <a:ext cx="3550614" cy="438912"/>
            </a:xfrm>
            <a:custGeom>
              <a:avLst/>
              <a:gdLst/>
              <a:ahLst/>
              <a:cxnLst/>
              <a:rect r="r" b="b" t="t" l="l"/>
              <a:pathLst>
                <a:path h="438912" w="3550614">
                  <a:moveTo>
                    <a:pt x="0" y="0"/>
                  </a:moveTo>
                  <a:lnTo>
                    <a:pt x="3550614" y="0"/>
                  </a:lnTo>
                  <a:lnTo>
                    <a:pt x="3550614" y="438912"/>
                  </a:lnTo>
                  <a:lnTo>
                    <a:pt x="0" y="43891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07625" r="0" b="-107625"/>
              </a:stretch>
            </a:blipFill>
          </p:spPr>
        </p:sp>
        <p:sp>
          <p:nvSpPr>
            <p:cNvPr name="TextBox 88" id="88"/>
            <p:cNvSpPr txBox="true"/>
            <p:nvPr/>
          </p:nvSpPr>
          <p:spPr>
            <a:xfrm>
              <a:off x="0" y="-28575"/>
              <a:ext cx="3550615" cy="467487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980"/>
                </a:lnSpc>
              </a:pPr>
              <a:r>
                <a:rPr lang="en-US" sz="1650" b="true">
                  <a:solidFill>
                    <a:srgbClr val="B35A0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Github Repo:</a:t>
              </a:r>
            </a:p>
          </p:txBody>
        </p:sp>
      </p:grpSp>
      <p:grpSp>
        <p:nvGrpSpPr>
          <p:cNvPr name="Group 89" id="89"/>
          <p:cNvGrpSpPr/>
          <p:nvPr/>
        </p:nvGrpSpPr>
        <p:grpSpPr>
          <a:xfrm rot="0">
            <a:off x="10759916" y="4848320"/>
            <a:ext cx="3088729" cy="508064"/>
            <a:chOff x="0" y="0"/>
            <a:chExt cx="4118305" cy="677418"/>
          </a:xfrm>
        </p:grpSpPr>
        <p:sp>
          <p:nvSpPr>
            <p:cNvPr name="Freeform 90" id="90"/>
            <p:cNvSpPr/>
            <p:nvPr/>
          </p:nvSpPr>
          <p:spPr>
            <a:xfrm flipH="false" flipV="false" rot="0">
              <a:off x="0" y="0"/>
              <a:ext cx="4118229" cy="677418"/>
            </a:xfrm>
            <a:custGeom>
              <a:avLst/>
              <a:gdLst/>
              <a:ahLst/>
              <a:cxnLst/>
              <a:rect r="r" b="b" t="t" l="l"/>
              <a:pathLst>
                <a:path h="677418" w="4118229">
                  <a:moveTo>
                    <a:pt x="0" y="150495"/>
                  </a:moveTo>
                  <a:cubicBezTo>
                    <a:pt x="0" y="67437"/>
                    <a:pt x="67437" y="0"/>
                    <a:pt x="150495" y="0"/>
                  </a:cubicBezTo>
                  <a:lnTo>
                    <a:pt x="3967734" y="0"/>
                  </a:lnTo>
                  <a:cubicBezTo>
                    <a:pt x="4050919" y="0"/>
                    <a:pt x="4118229" y="67437"/>
                    <a:pt x="4118229" y="150495"/>
                  </a:cubicBezTo>
                  <a:lnTo>
                    <a:pt x="4118229" y="526923"/>
                  </a:lnTo>
                  <a:cubicBezTo>
                    <a:pt x="4118229" y="610108"/>
                    <a:pt x="4050792" y="677418"/>
                    <a:pt x="3967734" y="677418"/>
                  </a:cubicBezTo>
                  <a:lnTo>
                    <a:pt x="150495" y="677418"/>
                  </a:lnTo>
                  <a:cubicBezTo>
                    <a:pt x="67437" y="677418"/>
                    <a:pt x="0" y="609981"/>
                    <a:pt x="0" y="526923"/>
                  </a:cubicBezTo>
                  <a:close/>
                </a:path>
              </a:pathLst>
            </a:custGeom>
            <a:solidFill>
              <a:srgbClr val="FFFFFF"/>
            </a:solidFill>
            <a:ln w="14288" cap="sq">
              <a:solidFill>
                <a:srgbClr val="D6E1EE"/>
              </a:solidFill>
              <a:prstDash val="solid"/>
              <a:miter/>
            </a:ln>
          </p:spPr>
        </p:sp>
      </p:grpSp>
      <p:grpSp>
        <p:nvGrpSpPr>
          <p:cNvPr name="Group 91" id="91"/>
          <p:cNvGrpSpPr/>
          <p:nvPr/>
        </p:nvGrpSpPr>
        <p:grpSpPr>
          <a:xfrm rot="0">
            <a:off x="10904220" y="4855464"/>
            <a:ext cx="2800121" cy="493776"/>
            <a:chOff x="0" y="0"/>
            <a:chExt cx="3733495" cy="658368"/>
          </a:xfrm>
        </p:grpSpPr>
        <p:sp>
          <p:nvSpPr>
            <p:cNvPr name="Freeform 92" id="92"/>
            <p:cNvSpPr/>
            <p:nvPr/>
          </p:nvSpPr>
          <p:spPr>
            <a:xfrm flipH="false" flipV="false" rot="0">
              <a:off x="0" y="0"/>
              <a:ext cx="3733494" cy="658368"/>
            </a:xfrm>
            <a:custGeom>
              <a:avLst/>
              <a:gdLst/>
              <a:ahLst/>
              <a:cxnLst/>
              <a:rect r="r" b="b" t="t" l="l"/>
              <a:pathLst>
                <a:path h="658368" w="3733494">
                  <a:moveTo>
                    <a:pt x="0" y="0"/>
                  </a:moveTo>
                  <a:lnTo>
                    <a:pt x="3733494" y="0"/>
                  </a:lnTo>
                  <a:lnTo>
                    <a:pt x="3733494" y="658368"/>
                  </a:lnTo>
                  <a:lnTo>
                    <a:pt x="0" y="65836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60496" r="0" b="-60496"/>
              </a:stretch>
            </a:blipFill>
          </p:spPr>
        </p:sp>
        <p:sp>
          <p:nvSpPr>
            <p:cNvPr name="TextBox 93" id="93"/>
            <p:cNvSpPr txBox="true"/>
            <p:nvPr/>
          </p:nvSpPr>
          <p:spPr>
            <a:xfrm>
              <a:off x="0" y="-19050"/>
              <a:ext cx="3733495" cy="677418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889"/>
                </a:lnSpc>
              </a:pPr>
              <a:r>
                <a:rPr lang="en-US" sz="1575" u="sng">
                  <a:solidFill>
                    <a:srgbClr val="0000FF"/>
                  </a:solidFill>
                  <a:latin typeface="Calibri (MS)"/>
                  <a:ea typeface="Calibri (MS)"/>
                  <a:cs typeface="Calibri (MS)"/>
                  <a:sym typeface="Calibri (MS)"/>
                  <a:hlinkClick r:id="rId9" tooltip="https://phoenix-sar-uav.vercel.app"/>
                </a:rPr>
                <a:t>phoenix-sar-uav.vercel.app</a:t>
              </a:r>
            </a:p>
          </p:txBody>
        </p:sp>
      </p:grpSp>
      <p:grpSp>
        <p:nvGrpSpPr>
          <p:cNvPr name="Group 94" id="94"/>
          <p:cNvGrpSpPr/>
          <p:nvPr/>
        </p:nvGrpSpPr>
        <p:grpSpPr>
          <a:xfrm rot="0">
            <a:off x="14040098" y="4848320"/>
            <a:ext cx="3088729" cy="508064"/>
            <a:chOff x="0" y="0"/>
            <a:chExt cx="4118305" cy="677418"/>
          </a:xfrm>
        </p:grpSpPr>
        <p:sp>
          <p:nvSpPr>
            <p:cNvPr name="Freeform 95" id="95"/>
            <p:cNvSpPr/>
            <p:nvPr/>
          </p:nvSpPr>
          <p:spPr>
            <a:xfrm flipH="false" flipV="false" rot="0">
              <a:off x="0" y="0"/>
              <a:ext cx="4118229" cy="677418"/>
            </a:xfrm>
            <a:custGeom>
              <a:avLst/>
              <a:gdLst/>
              <a:ahLst/>
              <a:cxnLst/>
              <a:rect r="r" b="b" t="t" l="l"/>
              <a:pathLst>
                <a:path h="677418" w="4118229">
                  <a:moveTo>
                    <a:pt x="0" y="150495"/>
                  </a:moveTo>
                  <a:cubicBezTo>
                    <a:pt x="0" y="67437"/>
                    <a:pt x="67437" y="0"/>
                    <a:pt x="150495" y="0"/>
                  </a:cubicBezTo>
                  <a:lnTo>
                    <a:pt x="3967734" y="0"/>
                  </a:lnTo>
                  <a:cubicBezTo>
                    <a:pt x="4050919" y="0"/>
                    <a:pt x="4118229" y="67437"/>
                    <a:pt x="4118229" y="150495"/>
                  </a:cubicBezTo>
                  <a:lnTo>
                    <a:pt x="4118229" y="526923"/>
                  </a:lnTo>
                  <a:cubicBezTo>
                    <a:pt x="4118229" y="610108"/>
                    <a:pt x="4050792" y="677418"/>
                    <a:pt x="3967734" y="677418"/>
                  </a:cubicBezTo>
                  <a:lnTo>
                    <a:pt x="150495" y="677418"/>
                  </a:lnTo>
                  <a:cubicBezTo>
                    <a:pt x="67437" y="677418"/>
                    <a:pt x="0" y="609981"/>
                    <a:pt x="0" y="526923"/>
                  </a:cubicBezTo>
                  <a:close/>
                </a:path>
              </a:pathLst>
            </a:custGeom>
            <a:solidFill>
              <a:srgbClr val="FFFFFF"/>
            </a:solidFill>
            <a:ln w="14288" cap="sq">
              <a:solidFill>
                <a:srgbClr val="D6E1EE"/>
              </a:solidFill>
              <a:prstDash val="solid"/>
              <a:miter/>
            </a:ln>
          </p:spPr>
        </p:sp>
      </p:grpSp>
      <p:grpSp>
        <p:nvGrpSpPr>
          <p:cNvPr name="Group 96" id="96"/>
          <p:cNvGrpSpPr/>
          <p:nvPr/>
        </p:nvGrpSpPr>
        <p:grpSpPr>
          <a:xfrm rot="0">
            <a:off x="14184401" y="4855464"/>
            <a:ext cx="2800121" cy="493776"/>
            <a:chOff x="0" y="0"/>
            <a:chExt cx="3733495" cy="658368"/>
          </a:xfrm>
        </p:grpSpPr>
        <p:sp>
          <p:nvSpPr>
            <p:cNvPr name="Freeform 97" id="97"/>
            <p:cNvSpPr/>
            <p:nvPr/>
          </p:nvSpPr>
          <p:spPr>
            <a:xfrm flipH="false" flipV="false" rot="0">
              <a:off x="0" y="0"/>
              <a:ext cx="3733494" cy="658368"/>
            </a:xfrm>
            <a:custGeom>
              <a:avLst/>
              <a:gdLst/>
              <a:ahLst/>
              <a:cxnLst/>
              <a:rect r="r" b="b" t="t" l="l"/>
              <a:pathLst>
                <a:path h="658368" w="3733494">
                  <a:moveTo>
                    <a:pt x="0" y="0"/>
                  </a:moveTo>
                  <a:lnTo>
                    <a:pt x="3733494" y="0"/>
                  </a:lnTo>
                  <a:lnTo>
                    <a:pt x="3733494" y="658368"/>
                  </a:lnTo>
                  <a:lnTo>
                    <a:pt x="0" y="65836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60496" r="0" b="-60496"/>
              </a:stretch>
            </a:blipFill>
          </p:spPr>
        </p:sp>
        <p:sp>
          <p:nvSpPr>
            <p:cNvPr name="TextBox 98" id="98"/>
            <p:cNvSpPr txBox="true"/>
            <p:nvPr/>
          </p:nvSpPr>
          <p:spPr>
            <a:xfrm>
              <a:off x="0" y="-19050"/>
              <a:ext cx="3733495" cy="677418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889"/>
                </a:lnSpc>
              </a:pPr>
              <a:r>
                <a:rPr sz="1400">
                  <a:solidFill>
                    <a:srgbClr val="1B55E2"/>
                  </a:solidFill>
                  <a:latin typeface="Calibri"/>
                </a:rPr>
                <a:t>github.com/jvstin47/Phoenix-SIH26177-SAR-UAV</a:t>
              </a:r>
            </a:p>
          </p:txBody>
        </p:sp>
      </p:grpSp>
      <p:sp>
        <p:nvSpPr>
          <p:cNvPr name="AutoShape 99" id="99"/>
          <p:cNvSpPr/>
          <p:nvPr/>
        </p:nvSpPr>
        <p:spPr>
          <a:xfrm rot="10260">
            <a:off x="10757525" y="5509070"/>
            <a:ext cx="6373701" cy="0"/>
          </a:xfrm>
          <a:prstGeom prst="line">
            <a:avLst/>
          </a:prstGeom>
          <a:ln cap="rnd" w="9525">
            <a:solidFill>
              <a:srgbClr val="D6E1EE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100" id="100"/>
          <p:cNvGrpSpPr/>
          <p:nvPr/>
        </p:nvGrpSpPr>
        <p:grpSpPr>
          <a:xfrm rot="0">
            <a:off x="10767060" y="5613831"/>
            <a:ext cx="6354623" cy="367466"/>
            <a:chOff x="0" y="0"/>
            <a:chExt cx="8472830" cy="489954"/>
          </a:xfrm>
        </p:grpSpPr>
        <p:sp>
          <p:nvSpPr>
            <p:cNvPr name="Freeform 101" id="101"/>
            <p:cNvSpPr/>
            <p:nvPr/>
          </p:nvSpPr>
          <p:spPr>
            <a:xfrm flipH="false" flipV="false" rot="0">
              <a:off x="0" y="0"/>
              <a:ext cx="8472830" cy="489954"/>
            </a:xfrm>
            <a:custGeom>
              <a:avLst/>
              <a:gdLst/>
              <a:ahLst/>
              <a:cxnLst/>
              <a:rect r="r" b="b" t="t" l="l"/>
              <a:pathLst>
                <a:path h="489954" w="8472830">
                  <a:moveTo>
                    <a:pt x="0" y="0"/>
                  </a:moveTo>
                  <a:lnTo>
                    <a:pt x="8472830" y="0"/>
                  </a:lnTo>
                  <a:lnTo>
                    <a:pt x="8472830" y="489954"/>
                  </a:lnTo>
                  <a:lnTo>
                    <a:pt x="0" y="48995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92165" r="0" b="-281747"/>
              </a:stretch>
            </a:blipFill>
          </p:spPr>
        </p:sp>
        <p:sp>
          <p:nvSpPr>
            <p:cNvPr name="TextBox 102" id="102"/>
            <p:cNvSpPr txBox="true"/>
            <p:nvPr/>
          </p:nvSpPr>
          <p:spPr>
            <a:xfrm>
              <a:off x="0" y="-47625"/>
              <a:ext cx="8472830" cy="537579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219"/>
                </a:lnSpc>
              </a:pPr>
              <a:r>
                <a:rPr lang="en-US" sz="1849" b="true">
                  <a:solidFill>
                    <a:srgbClr val="B35A0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Documented Subsystems:</a:t>
              </a:r>
            </a:p>
          </p:txBody>
        </p:sp>
      </p:grpSp>
      <p:sp>
        <p:nvSpPr>
          <p:cNvPr name="TextBox 103" id="103"/>
          <p:cNvSpPr txBox="true"/>
          <p:nvPr/>
        </p:nvSpPr>
        <p:spPr>
          <a:xfrm rot="0">
            <a:off x="10767060" y="5988354"/>
            <a:ext cx="6354623" cy="103829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069"/>
              </a:lnSpc>
            </a:pPr>
            <a:r>
              <a:rPr sz="1650" b="1">
                <a:solidFill>
                  <a:srgbClr val="1E2638"/>
                </a:solidFill>
                <a:latin typeface="Calibri"/>
              </a:rPr>
              <a:t>1. docs/research_papers_synthesis_2026.md</a:t>
            </a:r>
          </a:p>
          <a:p>
            <a:r>
              <a:rPr sz="1650" b="1">
                <a:solidFill>
                  <a:srgbClr val="1E2638"/>
                </a:solidFill>
                <a:latin typeface="Calibri"/>
              </a:rPr>
              <a:t>2. docs/prototype_bom_and_financial_viability.md</a:t>
            </a:r>
          </a:p>
          <a:p>
            <a:r>
              <a:rPr sz="1650" b="1">
                <a:solidFill>
                  <a:srgbClr val="1E2638"/>
                </a:solidFill>
                <a:latin typeface="Calibri"/>
              </a:rPr>
              <a:t>3. docs/ros_lora_mission_critical_uav_swarm_research.md</a:t>
            </a:r>
          </a:p>
          <a:p>
            <a:r>
              <a:rPr sz="1650" b="1">
                <a:solidFill>
                  <a:srgbClr val="1E2638"/>
                </a:solidFill>
                <a:latin typeface="Calibri"/>
              </a:rPr>
              <a:t>4. docs/bouabdallah_quadrotor_research_findings.md</a:t>
            </a:r>
          </a:p>
        </p:txBody>
      </p:sp>
      <p:sp>
        <p:nvSpPr>
          <p:cNvPr name="AutoShape 104" id="104"/>
          <p:cNvSpPr/>
          <p:nvPr/>
        </p:nvSpPr>
        <p:spPr>
          <a:xfrm>
            <a:off x="10767074" y="7088723"/>
            <a:ext cx="6373673" cy="19022"/>
          </a:xfrm>
          <a:prstGeom prst="line">
            <a:avLst/>
          </a:prstGeom>
          <a:ln cap="rnd" w="9525">
            <a:solidFill>
              <a:srgbClr val="D6E1EE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105" id="105"/>
          <p:cNvGrpSpPr/>
          <p:nvPr/>
        </p:nvGrpSpPr>
        <p:grpSpPr>
          <a:xfrm rot="0">
            <a:off x="10757540" y="7160133"/>
            <a:ext cx="6354623" cy="367466"/>
            <a:chOff x="0" y="0"/>
            <a:chExt cx="8472830" cy="489954"/>
          </a:xfrm>
        </p:grpSpPr>
        <p:sp>
          <p:nvSpPr>
            <p:cNvPr name="Freeform 106" id="106"/>
            <p:cNvSpPr/>
            <p:nvPr/>
          </p:nvSpPr>
          <p:spPr>
            <a:xfrm flipH="false" flipV="false" rot="0">
              <a:off x="0" y="0"/>
              <a:ext cx="8472830" cy="489954"/>
            </a:xfrm>
            <a:custGeom>
              <a:avLst/>
              <a:gdLst/>
              <a:ahLst/>
              <a:cxnLst/>
              <a:rect r="r" b="b" t="t" l="l"/>
              <a:pathLst>
                <a:path h="489954" w="8472830">
                  <a:moveTo>
                    <a:pt x="0" y="0"/>
                  </a:moveTo>
                  <a:lnTo>
                    <a:pt x="8472830" y="0"/>
                  </a:lnTo>
                  <a:lnTo>
                    <a:pt x="8472830" y="489954"/>
                  </a:lnTo>
                  <a:lnTo>
                    <a:pt x="0" y="48995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92165" r="0" b="-281747"/>
              </a:stretch>
            </a:blipFill>
          </p:spPr>
        </p:sp>
        <p:sp>
          <p:nvSpPr>
            <p:cNvPr name="TextBox 107" id="107"/>
            <p:cNvSpPr txBox="true"/>
            <p:nvPr/>
          </p:nvSpPr>
          <p:spPr>
            <a:xfrm>
              <a:off x="0" y="-47625"/>
              <a:ext cx="8472830" cy="537579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219"/>
                </a:lnSpc>
              </a:pPr>
              <a:r>
                <a:rPr lang="en-US" sz="1849" b="true">
                  <a:solidFill>
                    <a:srgbClr val="B35A0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Prototype Architecture Deliverables:</a:t>
              </a:r>
            </a:p>
          </p:txBody>
        </p:sp>
      </p:grpSp>
      <p:grpSp>
        <p:nvGrpSpPr>
          <p:cNvPr name="Group 108" id="108"/>
          <p:cNvGrpSpPr/>
          <p:nvPr/>
        </p:nvGrpSpPr>
        <p:grpSpPr>
          <a:xfrm rot="0">
            <a:off x="10757540" y="7612761"/>
            <a:ext cx="274320" cy="274320"/>
            <a:chOff x="0" y="0"/>
            <a:chExt cx="365760" cy="365760"/>
          </a:xfrm>
        </p:grpSpPr>
        <p:sp>
          <p:nvSpPr>
            <p:cNvPr name="Freeform 109" id="109"/>
            <p:cNvSpPr/>
            <p:nvPr/>
          </p:nvSpPr>
          <p:spPr>
            <a:xfrm flipH="false" flipV="false" rot="0">
              <a:off x="0" y="0"/>
              <a:ext cx="365760" cy="365760"/>
            </a:xfrm>
            <a:custGeom>
              <a:avLst/>
              <a:gdLst/>
              <a:ahLst/>
              <a:cxnLst/>
              <a:rect r="r" b="b" t="t" l="l"/>
              <a:pathLst>
                <a:path h="365760" w="365760">
                  <a:moveTo>
                    <a:pt x="0" y="182880"/>
                  </a:moveTo>
                  <a:cubicBezTo>
                    <a:pt x="0" y="81915"/>
                    <a:pt x="81915" y="0"/>
                    <a:pt x="182880" y="0"/>
                  </a:cubicBezTo>
                  <a:cubicBezTo>
                    <a:pt x="283845" y="0"/>
                    <a:pt x="365760" y="81915"/>
                    <a:pt x="365760" y="182880"/>
                  </a:cubicBezTo>
                  <a:cubicBezTo>
                    <a:pt x="365760" y="283845"/>
                    <a:pt x="283845" y="365760"/>
                    <a:pt x="182880" y="365760"/>
                  </a:cubicBezTo>
                  <a:cubicBezTo>
                    <a:pt x="81915" y="365760"/>
                    <a:pt x="0" y="283845"/>
                    <a:pt x="0" y="182880"/>
                  </a:cubicBezTo>
                  <a:close/>
                </a:path>
              </a:pathLst>
            </a:custGeom>
            <a:solidFill>
              <a:srgbClr val="0C903C"/>
            </a:solidFill>
          </p:spPr>
        </p:sp>
      </p:grpSp>
      <p:grpSp>
        <p:nvGrpSpPr>
          <p:cNvPr name="Group 110" id="110"/>
          <p:cNvGrpSpPr/>
          <p:nvPr/>
        </p:nvGrpSpPr>
        <p:grpSpPr>
          <a:xfrm rot="0">
            <a:off x="10819262" y="7674483"/>
            <a:ext cx="150876" cy="150876"/>
            <a:chOff x="0" y="0"/>
            <a:chExt cx="201168" cy="201168"/>
          </a:xfrm>
        </p:grpSpPr>
        <p:sp>
          <p:nvSpPr>
            <p:cNvPr name="Freeform 111" id="111" descr="Check mark"/>
            <p:cNvSpPr/>
            <p:nvPr/>
          </p:nvSpPr>
          <p:spPr>
            <a:xfrm flipH="false" flipV="false" rot="0">
              <a:off x="0" y="0"/>
              <a:ext cx="201168" cy="201168"/>
            </a:xfrm>
            <a:custGeom>
              <a:avLst/>
              <a:gdLst/>
              <a:ahLst/>
              <a:cxnLst/>
              <a:rect r="r" b="b" t="t" l="l"/>
              <a:pathLst>
                <a:path h="201168" w="201168">
                  <a:moveTo>
                    <a:pt x="0" y="0"/>
                  </a:moveTo>
                  <a:lnTo>
                    <a:pt x="201168" y="0"/>
                  </a:lnTo>
                  <a:lnTo>
                    <a:pt x="201168" y="201168"/>
                  </a:lnTo>
                  <a:lnTo>
                    <a:pt x="0" y="20116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/>
              <a:stretch>
                <a:fillRect l="0" t="0" r="0" b="0"/>
              </a:stretch>
            </a:blipFill>
          </p:spPr>
        </p:sp>
      </p:grpSp>
      <p:grpSp>
        <p:nvGrpSpPr>
          <p:cNvPr name="Group 112" id="112"/>
          <p:cNvGrpSpPr/>
          <p:nvPr/>
        </p:nvGrpSpPr>
        <p:grpSpPr>
          <a:xfrm rot="0">
            <a:off x="11196452" y="7571613"/>
            <a:ext cx="5915711" cy="356616"/>
            <a:chOff x="0" y="0"/>
            <a:chExt cx="7887614" cy="475488"/>
          </a:xfrm>
        </p:grpSpPr>
        <p:sp>
          <p:nvSpPr>
            <p:cNvPr name="Freeform 113" id="113"/>
            <p:cNvSpPr/>
            <p:nvPr/>
          </p:nvSpPr>
          <p:spPr>
            <a:xfrm flipH="false" flipV="false" rot="0">
              <a:off x="0" y="0"/>
              <a:ext cx="7887614" cy="475488"/>
            </a:xfrm>
            <a:custGeom>
              <a:avLst/>
              <a:gdLst/>
              <a:ahLst/>
              <a:cxnLst/>
              <a:rect r="r" b="b" t="t" l="l"/>
              <a:pathLst>
                <a:path h="475488" w="7887614">
                  <a:moveTo>
                    <a:pt x="0" y="0"/>
                  </a:moveTo>
                  <a:lnTo>
                    <a:pt x="7887614" y="0"/>
                  </a:lnTo>
                  <a:lnTo>
                    <a:pt x="7887614" y="475488"/>
                  </a:lnTo>
                  <a:lnTo>
                    <a:pt x="0" y="47548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73226" r="0" b="-273226"/>
              </a:stretch>
            </a:blipFill>
          </p:spPr>
        </p:sp>
        <p:sp>
          <p:nvSpPr>
            <p:cNvPr name="TextBox 114" id="114"/>
            <p:cNvSpPr txBox="true"/>
            <p:nvPr/>
          </p:nvSpPr>
          <p:spPr>
            <a:xfrm>
              <a:off x="0" y="-28575"/>
              <a:ext cx="7887614" cy="504063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980"/>
                </a:lnSpc>
              </a:pPr>
              <a:r>
                <a:rPr lang="en-US" sz="1650">
                  <a:solidFill>
                    <a:srgbClr val="1E2638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Live Web GCS Tactical Dashboard (React + Leaflet)</a:t>
              </a:r>
            </a:p>
          </p:txBody>
        </p:sp>
      </p:grpSp>
      <p:grpSp>
        <p:nvGrpSpPr>
          <p:cNvPr name="Group 115" id="115"/>
          <p:cNvGrpSpPr/>
          <p:nvPr/>
        </p:nvGrpSpPr>
        <p:grpSpPr>
          <a:xfrm rot="0">
            <a:off x="10757540" y="7983093"/>
            <a:ext cx="274320" cy="274320"/>
            <a:chOff x="0" y="0"/>
            <a:chExt cx="365760" cy="365760"/>
          </a:xfrm>
        </p:grpSpPr>
        <p:sp>
          <p:nvSpPr>
            <p:cNvPr name="Freeform 116" id="116"/>
            <p:cNvSpPr/>
            <p:nvPr/>
          </p:nvSpPr>
          <p:spPr>
            <a:xfrm flipH="false" flipV="false" rot="0">
              <a:off x="0" y="0"/>
              <a:ext cx="365760" cy="365760"/>
            </a:xfrm>
            <a:custGeom>
              <a:avLst/>
              <a:gdLst/>
              <a:ahLst/>
              <a:cxnLst/>
              <a:rect r="r" b="b" t="t" l="l"/>
              <a:pathLst>
                <a:path h="365760" w="365760">
                  <a:moveTo>
                    <a:pt x="0" y="182880"/>
                  </a:moveTo>
                  <a:cubicBezTo>
                    <a:pt x="0" y="81915"/>
                    <a:pt x="81915" y="0"/>
                    <a:pt x="182880" y="0"/>
                  </a:cubicBezTo>
                  <a:cubicBezTo>
                    <a:pt x="283845" y="0"/>
                    <a:pt x="365760" y="81915"/>
                    <a:pt x="365760" y="182880"/>
                  </a:cubicBezTo>
                  <a:cubicBezTo>
                    <a:pt x="365760" y="283845"/>
                    <a:pt x="283845" y="365760"/>
                    <a:pt x="182880" y="365760"/>
                  </a:cubicBezTo>
                  <a:cubicBezTo>
                    <a:pt x="81915" y="365760"/>
                    <a:pt x="0" y="283845"/>
                    <a:pt x="0" y="182880"/>
                  </a:cubicBezTo>
                  <a:close/>
                </a:path>
              </a:pathLst>
            </a:custGeom>
            <a:solidFill>
              <a:srgbClr val="0C903C"/>
            </a:solidFill>
          </p:spPr>
        </p:sp>
      </p:grpSp>
      <p:grpSp>
        <p:nvGrpSpPr>
          <p:cNvPr name="Group 117" id="117"/>
          <p:cNvGrpSpPr/>
          <p:nvPr/>
        </p:nvGrpSpPr>
        <p:grpSpPr>
          <a:xfrm rot="0">
            <a:off x="10819262" y="8044815"/>
            <a:ext cx="150876" cy="150876"/>
            <a:chOff x="0" y="0"/>
            <a:chExt cx="201168" cy="201168"/>
          </a:xfrm>
        </p:grpSpPr>
        <p:sp>
          <p:nvSpPr>
            <p:cNvPr name="Freeform 118" id="118" descr="Check mark"/>
            <p:cNvSpPr/>
            <p:nvPr/>
          </p:nvSpPr>
          <p:spPr>
            <a:xfrm flipH="false" flipV="false" rot="0">
              <a:off x="0" y="0"/>
              <a:ext cx="201168" cy="201168"/>
            </a:xfrm>
            <a:custGeom>
              <a:avLst/>
              <a:gdLst/>
              <a:ahLst/>
              <a:cxnLst/>
              <a:rect r="r" b="b" t="t" l="l"/>
              <a:pathLst>
                <a:path h="201168" w="201168">
                  <a:moveTo>
                    <a:pt x="0" y="0"/>
                  </a:moveTo>
                  <a:lnTo>
                    <a:pt x="201168" y="0"/>
                  </a:lnTo>
                  <a:lnTo>
                    <a:pt x="201168" y="201168"/>
                  </a:lnTo>
                  <a:lnTo>
                    <a:pt x="0" y="20116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/>
              <a:stretch>
                <a:fillRect l="0" t="0" r="0" b="0"/>
              </a:stretch>
            </a:blipFill>
          </p:spPr>
        </p:sp>
      </p:grpSp>
      <p:grpSp>
        <p:nvGrpSpPr>
          <p:cNvPr name="Group 119" id="119"/>
          <p:cNvGrpSpPr/>
          <p:nvPr/>
        </p:nvGrpSpPr>
        <p:grpSpPr>
          <a:xfrm rot="0">
            <a:off x="11196452" y="7941945"/>
            <a:ext cx="5915711" cy="356616"/>
            <a:chOff x="0" y="0"/>
            <a:chExt cx="7887614" cy="475488"/>
          </a:xfrm>
        </p:grpSpPr>
        <p:sp>
          <p:nvSpPr>
            <p:cNvPr name="Freeform 120" id="120"/>
            <p:cNvSpPr/>
            <p:nvPr/>
          </p:nvSpPr>
          <p:spPr>
            <a:xfrm flipH="false" flipV="false" rot="0">
              <a:off x="0" y="0"/>
              <a:ext cx="7887614" cy="475488"/>
            </a:xfrm>
            <a:custGeom>
              <a:avLst/>
              <a:gdLst/>
              <a:ahLst/>
              <a:cxnLst/>
              <a:rect r="r" b="b" t="t" l="l"/>
              <a:pathLst>
                <a:path h="475488" w="7887614">
                  <a:moveTo>
                    <a:pt x="0" y="0"/>
                  </a:moveTo>
                  <a:lnTo>
                    <a:pt x="7887614" y="0"/>
                  </a:lnTo>
                  <a:lnTo>
                    <a:pt x="7887614" y="475488"/>
                  </a:lnTo>
                  <a:lnTo>
                    <a:pt x="0" y="47548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73226" r="0" b="-273226"/>
              </a:stretch>
            </a:blipFill>
          </p:spPr>
        </p:sp>
        <p:sp>
          <p:nvSpPr>
            <p:cNvPr name="TextBox 121" id="121"/>
            <p:cNvSpPr txBox="true"/>
            <p:nvPr/>
          </p:nvSpPr>
          <p:spPr>
            <a:xfrm>
              <a:off x="0" y="-28575"/>
              <a:ext cx="7887614" cy="504063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980"/>
                </a:lnSpc>
              </a:pPr>
              <a:r>
                <a:rPr lang="en-US" sz="1650">
                  <a:solidFill>
                    <a:srgbClr val="1E2638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Multi-Spectral Dual Stream (RGB + LWIR Thermal HUD)</a:t>
              </a:r>
            </a:p>
          </p:txBody>
        </p:sp>
      </p:grpSp>
      <p:grpSp>
        <p:nvGrpSpPr>
          <p:cNvPr name="Group 122" id="122"/>
          <p:cNvGrpSpPr/>
          <p:nvPr/>
        </p:nvGrpSpPr>
        <p:grpSpPr>
          <a:xfrm rot="0">
            <a:off x="10757540" y="8353425"/>
            <a:ext cx="274320" cy="274320"/>
            <a:chOff x="0" y="0"/>
            <a:chExt cx="365760" cy="365760"/>
          </a:xfrm>
        </p:grpSpPr>
        <p:sp>
          <p:nvSpPr>
            <p:cNvPr name="Freeform 123" id="123"/>
            <p:cNvSpPr/>
            <p:nvPr/>
          </p:nvSpPr>
          <p:spPr>
            <a:xfrm flipH="false" flipV="false" rot="0">
              <a:off x="0" y="0"/>
              <a:ext cx="365760" cy="365760"/>
            </a:xfrm>
            <a:custGeom>
              <a:avLst/>
              <a:gdLst/>
              <a:ahLst/>
              <a:cxnLst/>
              <a:rect r="r" b="b" t="t" l="l"/>
              <a:pathLst>
                <a:path h="365760" w="365760">
                  <a:moveTo>
                    <a:pt x="0" y="182880"/>
                  </a:moveTo>
                  <a:cubicBezTo>
                    <a:pt x="0" y="81915"/>
                    <a:pt x="81915" y="0"/>
                    <a:pt x="182880" y="0"/>
                  </a:cubicBezTo>
                  <a:cubicBezTo>
                    <a:pt x="283845" y="0"/>
                    <a:pt x="365760" y="81915"/>
                    <a:pt x="365760" y="182880"/>
                  </a:cubicBezTo>
                  <a:cubicBezTo>
                    <a:pt x="365760" y="283845"/>
                    <a:pt x="283845" y="365760"/>
                    <a:pt x="182880" y="365760"/>
                  </a:cubicBezTo>
                  <a:cubicBezTo>
                    <a:pt x="81915" y="365760"/>
                    <a:pt x="0" y="283845"/>
                    <a:pt x="0" y="182880"/>
                  </a:cubicBezTo>
                  <a:close/>
                </a:path>
              </a:pathLst>
            </a:custGeom>
            <a:solidFill>
              <a:srgbClr val="0C903C"/>
            </a:solidFill>
          </p:spPr>
        </p:sp>
      </p:grpSp>
      <p:grpSp>
        <p:nvGrpSpPr>
          <p:cNvPr name="Group 124" id="124"/>
          <p:cNvGrpSpPr/>
          <p:nvPr/>
        </p:nvGrpSpPr>
        <p:grpSpPr>
          <a:xfrm rot="0">
            <a:off x="10819262" y="8415147"/>
            <a:ext cx="150876" cy="150876"/>
            <a:chOff x="0" y="0"/>
            <a:chExt cx="201168" cy="201168"/>
          </a:xfrm>
        </p:grpSpPr>
        <p:sp>
          <p:nvSpPr>
            <p:cNvPr name="Freeform 125" id="125" descr="Check mark"/>
            <p:cNvSpPr/>
            <p:nvPr/>
          </p:nvSpPr>
          <p:spPr>
            <a:xfrm flipH="false" flipV="false" rot="0">
              <a:off x="0" y="0"/>
              <a:ext cx="201168" cy="201168"/>
            </a:xfrm>
            <a:custGeom>
              <a:avLst/>
              <a:gdLst/>
              <a:ahLst/>
              <a:cxnLst/>
              <a:rect r="r" b="b" t="t" l="l"/>
              <a:pathLst>
                <a:path h="201168" w="201168">
                  <a:moveTo>
                    <a:pt x="0" y="0"/>
                  </a:moveTo>
                  <a:lnTo>
                    <a:pt x="201168" y="0"/>
                  </a:lnTo>
                  <a:lnTo>
                    <a:pt x="201168" y="201168"/>
                  </a:lnTo>
                  <a:lnTo>
                    <a:pt x="0" y="20116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/>
              <a:stretch>
                <a:fillRect l="0" t="0" r="0" b="0"/>
              </a:stretch>
            </a:blipFill>
          </p:spPr>
        </p:sp>
      </p:grpSp>
      <p:grpSp>
        <p:nvGrpSpPr>
          <p:cNvPr name="Group 126" id="126"/>
          <p:cNvGrpSpPr/>
          <p:nvPr/>
        </p:nvGrpSpPr>
        <p:grpSpPr>
          <a:xfrm rot="0">
            <a:off x="11196452" y="8312277"/>
            <a:ext cx="5915711" cy="356616"/>
            <a:chOff x="0" y="0"/>
            <a:chExt cx="7887614" cy="475488"/>
          </a:xfrm>
        </p:grpSpPr>
        <p:sp>
          <p:nvSpPr>
            <p:cNvPr name="Freeform 127" id="127"/>
            <p:cNvSpPr/>
            <p:nvPr/>
          </p:nvSpPr>
          <p:spPr>
            <a:xfrm flipH="false" flipV="false" rot="0">
              <a:off x="0" y="0"/>
              <a:ext cx="7887614" cy="475488"/>
            </a:xfrm>
            <a:custGeom>
              <a:avLst/>
              <a:gdLst/>
              <a:ahLst/>
              <a:cxnLst/>
              <a:rect r="r" b="b" t="t" l="l"/>
              <a:pathLst>
                <a:path h="475488" w="7887614">
                  <a:moveTo>
                    <a:pt x="0" y="0"/>
                  </a:moveTo>
                  <a:lnTo>
                    <a:pt x="7887614" y="0"/>
                  </a:lnTo>
                  <a:lnTo>
                    <a:pt x="7887614" y="475488"/>
                  </a:lnTo>
                  <a:lnTo>
                    <a:pt x="0" y="47548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73226" r="0" b="-273226"/>
              </a:stretch>
            </a:blipFill>
          </p:spPr>
        </p:sp>
        <p:sp>
          <p:nvSpPr>
            <p:cNvPr name="TextBox 128" id="128"/>
            <p:cNvSpPr txBox="true"/>
            <p:nvPr/>
          </p:nvSpPr>
          <p:spPr>
            <a:xfrm>
              <a:off x="0" y="-28575"/>
              <a:ext cx="7887614" cy="504063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980"/>
                </a:lnSpc>
              </a:pPr>
              <a:r>
                <a:rPr lang="en-US" sz="1650">
                  <a:solidFill>
                    <a:srgbClr val="1E2638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LoRa 17-Byte Binary Bit-Packing Serialization Module</a:t>
              </a:r>
            </a:p>
          </p:txBody>
        </p:sp>
      </p:grpSp>
      <p:grpSp>
        <p:nvGrpSpPr>
          <p:cNvPr name="Group 129" id="129"/>
          <p:cNvGrpSpPr/>
          <p:nvPr/>
        </p:nvGrpSpPr>
        <p:grpSpPr>
          <a:xfrm rot="0">
            <a:off x="10757540" y="8723757"/>
            <a:ext cx="274320" cy="274320"/>
            <a:chOff x="0" y="0"/>
            <a:chExt cx="365760" cy="365760"/>
          </a:xfrm>
        </p:grpSpPr>
        <p:sp>
          <p:nvSpPr>
            <p:cNvPr name="Freeform 130" id="130"/>
            <p:cNvSpPr/>
            <p:nvPr/>
          </p:nvSpPr>
          <p:spPr>
            <a:xfrm flipH="false" flipV="false" rot="0">
              <a:off x="0" y="0"/>
              <a:ext cx="365760" cy="365760"/>
            </a:xfrm>
            <a:custGeom>
              <a:avLst/>
              <a:gdLst/>
              <a:ahLst/>
              <a:cxnLst/>
              <a:rect r="r" b="b" t="t" l="l"/>
              <a:pathLst>
                <a:path h="365760" w="365760">
                  <a:moveTo>
                    <a:pt x="0" y="182880"/>
                  </a:moveTo>
                  <a:cubicBezTo>
                    <a:pt x="0" y="81915"/>
                    <a:pt x="81915" y="0"/>
                    <a:pt x="182880" y="0"/>
                  </a:cubicBezTo>
                  <a:cubicBezTo>
                    <a:pt x="283845" y="0"/>
                    <a:pt x="365760" y="81915"/>
                    <a:pt x="365760" y="182880"/>
                  </a:cubicBezTo>
                  <a:cubicBezTo>
                    <a:pt x="365760" y="283845"/>
                    <a:pt x="283845" y="365760"/>
                    <a:pt x="182880" y="365760"/>
                  </a:cubicBezTo>
                  <a:cubicBezTo>
                    <a:pt x="81915" y="365760"/>
                    <a:pt x="0" y="283845"/>
                    <a:pt x="0" y="182880"/>
                  </a:cubicBezTo>
                  <a:close/>
                </a:path>
              </a:pathLst>
            </a:custGeom>
            <a:solidFill>
              <a:srgbClr val="0C903C"/>
            </a:solidFill>
          </p:spPr>
        </p:sp>
      </p:grpSp>
      <p:grpSp>
        <p:nvGrpSpPr>
          <p:cNvPr name="Group 131" id="131"/>
          <p:cNvGrpSpPr/>
          <p:nvPr/>
        </p:nvGrpSpPr>
        <p:grpSpPr>
          <a:xfrm rot="0">
            <a:off x="10819262" y="8843153"/>
            <a:ext cx="150876" cy="150876"/>
            <a:chOff x="0" y="0"/>
            <a:chExt cx="201168" cy="201168"/>
          </a:xfrm>
        </p:grpSpPr>
        <p:sp>
          <p:nvSpPr>
            <p:cNvPr name="Freeform 132" id="132" descr="Check mark"/>
            <p:cNvSpPr/>
            <p:nvPr/>
          </p:nvSpPr>
          <p:spPr>
            <a:xfrm flipH="false" flipV="false" rot="0">
              <a:off x="0" y="0"/>
              <a:ext cx="201168" cy="201168"/>
            </a:xfrm>
            <a:custGeom>
              <a:avLst/>
              <a:gdLst/>
              <a:ahLst/>
              <a:cxnLst/>
              <a:rect r="r" b="b" t="t" l="l"/>
              <a:pathLst>
                <a:path h="201168" w="201168">
                  <a:moveTo>
                    <a:pt x="0" y="0"/>
                  </a:moveTo>
                  <a:lnTo>
                    <a:pt x="201168" y="0"/>
                  </a:lnTo>
                  <a:lnTo>
                    <a:pt x="201168" y="201168"/>
                  </a:lnTo>
                  <a:lnTo>
                    <a:pt x="0" y="20116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/>
              <a:stretch>
                <a:fillRect l="0" t="0" r="0" b="0"/>
              </a:stretch>
            </a:blipFill>
          </p:spPr>
        </p:sp>
      </p:grpSp>
      <p:grpSp>
        <p:nvGrpSpPr>
          <p:cNvPr name="Group 133" id="133"/>
          <p:cNvGrpSpPr/>
          <p:nvPr/>
        </p:nvGrpSpPr>
        <p:grpSpPr>
          <a:xfrm rot="0">
            <a:off x="11196452" y="8682609"/>
            <a:ext cx="5915711" cy="356616"/>
            <a:chOff x="0" y="0"/>
            <a:chExt cx="7887614" cy="475488"/>
          </a:xfrm>
        </p:grpSpPr>
        <p:sp>
          <p:nvSpPr>
            <p:cNvPr name="Freeform 134" id="134"/>
            <p:cNvSpPr/>
            <p:nvPr/>
          </p:nvSpPr>
          <p:spPr>
            <a:xfrm flipH="false" flipV="false" rot="0">
              <a:off x="0" y="0"/>
              <a:ext cx="7887614" cy="475488"/>
            </a:xfrm>
            <a:custGeom>
              <a:avLst/>
              <a:gdLst/>
              <a:ahLst/>
              <a:cxnLst/>
              <a:rect r="r" b="b" t="t" l="l"/>
              <a:pathLst>
                <a:path h="475488" w="7887614">
                  <a:moveTo>
                    <a:pt x="0" y="0"/>
                  </a:moveTo>
                  <a:lnTo>
                    <a:pt x="7887614" y="0"/>
                  </a:lnTo>
                  <a:lnTo>
                    <a:pt x="7887614" y="475488"/>
                  </a:lnTo>
                  <a:lnTo>
                    <a:pt x="0" y="47548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73226" r="0" b="-273226"/>
              </a:stretch>
            </a:blipFill>
          </p:spPr>
        </p:sp>
        <p:sp>
          <p:nvSpPr>
            <p:cNvPr name="TextBox 135" id="135"/>
            <p:cNvSpPr txBox="true"/>
            <p:nvPr/>
          </p:nvSpPr>
          <p:spPr>
            <a:xfrm>
              <a:off x="0" y="-28575"/>
              <a:ext cx="7887614" cy="504063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980"/>
                </a:lnSpc>
              </a:pPr>
              <a:r>
                <a:rPr lang="en-US" sz="1650">
                  <a:solidFill>
                    <a:srgbClr val="1E2638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Ray-Casting Geolocation Python Engine</a:t>
              </a:r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DAHWIHPl_Lg</dc:identifier>
  <dcterms:modified xsi:type="dcterms:W3CDTF">2011-08-01T06:04:30Z</dcterms:modified>
  <cp:revision>1</cp:revision>
  <dc:title>Copy of SIH26177_v6.pptx</dc:title>
</cp:coreProperties>
</file>