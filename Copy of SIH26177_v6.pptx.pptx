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Calibri (MS) Bold" charset="1" panose="020F0702030404030204"/>
      <p:regular r:id="rId13"/>
    </p:embeddedFont>
    <p:embeddedFont>
      <p:font typeface="Calibri (MS)" charset="1" panose="020F0502020204030204"/>
      <p:regular r:id="rId14"/>
    </p:embeddedFont>
    <p:embeddedFont>
      <p:font typeface="Times New Roman Bold" charset="1" panose="02020803070505020304"/>
      <p:regular r:id="rId18"/>
    </p:embeddedFont>
    <p:embeddedFont>
      <p:font typeface="Arimo Bold" charset="1" panose="020B0704020202020204"/>
      <p:regular r:id="rId19"/>
    </p:embeddedFont>
    <p:embeddedFont>
      <p:font typeface="Courier New Bold" charset="1" panose="02070609020205020404"/>
      <p:regular r:id="rId24"/>
    </p:embeddedFont>
    <p:embeddedFont>
      <p:font typeface="Calibri (MS) Italics" charset="1" panose="020F05020202040A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notesMaster" Target="notesMasters/notesMaster1.xml"/><Relationship Id="rId16" Type="http://schemas.openxmlformats.org/officeDocument/2006/relationships/theme" Target="theme/theme2.xml"/><Relationship Id="rId17" Type="http://schemas.openxmlformats.org/officeDocument/2006/relationships/notesSlide" Target="notesSlides/notesSlide1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notesSlide" Target="notesSlides/notesSlide2.xml"/><Relationship Id="rId21" Type="http://schemas.openxmlformats.org/officeDocument/2006/relationships/notesSlide" Target="notesSlides/notesSlide3.xml"/><Relationship Id="rId22" Type="http://schemas.openxmlformats.org/officeDocument/2006/relationships/notesSlide" Target="notesSlides/notesSlide4.xml"/><Relationship Id="rId23" Type="http://schemas.openxmlformats.org/officeDocument/2006/relationships/notesSlide" Target="notesSlides/notesSlide5.xml"/><Relationship Id="rId24" Type="http://schemas.openxmlformats.org/officeDocument/2006/relationships/font" Target="fonts/font24.fntdata"/><Relationship Id="rId25" Type="http://schemas.openxmlformats.org/officeDocument/2006/relationships/font" Target="fonts/font2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4.jpeg"/><Relationship Id="rId7" Type="http://schemas.openxmlformats.org/officeDocument/2006/relationships/image" Target="../media/image1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hyperlink" Target="https://phoenix-sar-uav.vercel.app" TargetMode="External"/><Relationship Id="rId10" Type="http://schemas.openxmlformats.org/officeDocument/2006/relationships/hyperlink" Target="https://github.com/jvstin47/Phoenix-SIH26177-SAR-UAV" TargetMode="External"/><Relationship Id="rId11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91288" y="1783080"/>
            <a:ext cx="4592222" cy="5103419"/>
          </a:xfrm>
          <a:custGeom>
            <a:avLst/>
            <a:gdLst/>
            <a:ahLst/>
            <a:cxnLst/>
            <a:rect r="r" b="b" t="t" l="l"/>
            <a:pathLst>
              <a:path h="5103419" w="4592222">
                <a:moveTo>
                  <a:pt x="0" y="0"/>
                </a:moveTo>
                <a:lnTo>
                  <a:pt x="4592222" y="0"/>
                </a:lnTo>
                <a:lnTo>
                  <a:pt x="4592222" y="5103419"/>
                </a:lnTo>
                <a:lnTo>
                  <a:pt x="0" y="5103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77417" y="2638796"/>
            <a:ext cx="3171473" cy="3391976"/>
            <a:chOff x="0" y="0"/>
            <a:chExt cx="4228630" cy="4522635"/>
          </a:xfrm>
        </p:grpSpPr>
        <p:sp>
          <p:nvSpPr>
            <p:cNvPr name="Freeform 4" id="4" descr="Smart India Hackathon light-bulb logo"/>
            <p:cNvSpPr/>
            <p:nvPr/>
          </p:nvSpPr>
          <p:spPr>
            <a:xfrm flipH="false" flipV="false" rot="0">
              <a:off x="0" y="0"/>
              <a:ext cx="4228592" cy="4522597"/>
            </a:xfrm>
            <a:custGeom>
              <a:avLst/>
              <a:gdLst/>
              <a:ahLst/>
              <a:cxnLst/>
              <a:rect r="r" b="b" t="t" l="l"/>
              <a:pathLst>
                <a:path h="4522597" w="4228592">
                  <a:moveTo>
                    <a:pt x="0" y="0"/>
                  </a:moveTo>
                  <a:lnTo>
                    <a:pt x="4228592" y="0"/>
                  </a:lnTo>
                  <a:lnTo>
                    <a:pt x="4228592" y="4522597"/>
                  </a:lnTo>
                  <a:lnTo>
                    <a:pt x="0" y="4522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8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17220" y="1303020"/>
            <a:ext cx="11247120" cy="356616"/>
            <a:chOff x="0" y="0"/>
            <a:chExt cx="14996160" cy="4754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996158" cy="475488"/>
            </a:xfrm>
            <a:custGeom>
              <a:avLst/>
              <a:gdLst/>
              <a:ahLst/>
              <a:cxnLst/>
              <a:rect r="r" b="b" t="t" l="l"/>
              <a:pathLst>
                <a:path h="475488" w="14996158">
                  <a:moveTo>
                    <a:pt x="0" y="0"/>
                  </a:moveTo>
                  <a:lnTo>
                    <a:pt x="14996158" y="0"/>
                  </a:lnTo>
                  <a:lnTo>
                    <a:pt x="1499615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64528" r="0" b="-56452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4996160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EDITION  |  MINISTRY OF EDUCATION &amp; QUALCOMM INC.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17220" y="1684782"/>
            <a:ext cx="1124712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6"/>
              </a:lnSpc>
            </a:pPr>
            <a:r>
              <a:rPr lang="en-US" sz="5700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PHOENIX X</a:t>
            </a:r>
          </a:p>
          <a:p>
            <a:pPr algn="l">
              <a:lnSpc>
                <a:spcPts val="6156"/>
              </a:lnSpc>
            </a:pPr>
            <a:r>
              <a:rPr lang="en-US" sz="5700" b="true">
                <a:solidFill>
                  <a:srgbClr val="D970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SAR UAV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7220" y="3322320"/>
            <a:ext cx="1083564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66074"/>
                </a:solidFill>
                <a:latin typeface="Calibri (MS)"/>
                <a:ea typeface="Calibri (MS)"/>
                <a:cs typeface="Calibri (MS)"/>
                <a:sym typeface="Calibri (MS)"/>
              </a:rPr>
              <a:t>Dual-Brain Edge-AI Scout for Zero-Infrastructure Disaster Reconnaissance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0076" y="4135088"/>
            <a:ext cx="10781348" cy="5418392"/>
            <a:chOff x="0" y="0"/>
            <a:chExt cx="14375130" cy="72245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375129" cy="7224523"/>
            </a:xfrm>
            <a:custGeom>
              <a:avLst/>
              <a:gdLst/>
              <a:ahLst/>
              <a:cxnLst/>
              <a:rect r="r" b="b" t="t" l="l"/>
              <a:pathLst>
                <a:path h="7224523" w="14375129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4118462" y="0"/>
                  </a:lnTo>
                  <a:cubicBezTo>
                    <a:pt x="14260195" y="0"/>
                    <a:pt x="14375129" y="114935"/>
                    <a:pt x="14375129" y="256667"/>
                  </a:cubicBezTo>
                  <a:lnTo>
                    <a:pt x="14375129" y="6967855"/>
                  </a:lnTo>
                  <a:cubicBezTo>
                    <a:pt x="14375129" y="7109587"/>
                    <a:pt x="14260195" y="7224523"/>
                    <a:pt x="14118462" y="7224523"/>
                  </a:cubicBezTo>
                  <a:lnTo>
                    <a:pt x="256667" y="7224523"/>
                  </a:lnTo>
                  <a:cubicBezTo>
                    <a:pt x="114935" y="7224522"/>
                    <a:pt x="0" y="7109587"/>
                    <a:pt x="0" y="6967855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28700" y="4389120"/>
            <a:ext cx="5349240" cy="246888"/>
            <a:chOff x="0" y="0"/>
            <a:chExt cx="7132320" cy="329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32320" cy="329184"/>
            </a:xfrm>
            <a:custGeom>
              <a:avLst/>
              <a:gdLst/>
              <a:ahLst/>
              <a:cxnLst/>
              <a:rect r="r" b="b" t="t" l="l"/>
              <a:pathLst>
                <a:path h="3291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13232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ID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4663440"/>
            <a:ext cx="5349240" cy="603504"/>
            <a:chOff x="0" y="0"/>
            <a:chExt cx="7132320" cy="8046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32320" cy="804672"/>
            </a:xfrm>
            <a:custGeom>
              <a:avLst/>
              <a:gdLst/>
              <a:ahLst/>
              <a:cxnLst/>
              <a:rect r="r" b="b" t="t" l="l"/>
              <a:pathLst>
                <a:path h="804672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2708" r="0" b="-12270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7132320" cy="871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D9700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SIH26177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15100" y="4389120"/>
            <a:ext cx="4526280" cy="246888"/>
            <a:chOff x="0" y="0"/>
            <a:chExt cx="6035040" cy="3291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35040" cy="329184"/>
            </a:xfrm>
            <a:custGeom>
              <a:avLst/>
              <a:gdLst/>
              <a:ahLst/>
              <a:cxnLst/>
              <a:rect r="r" b="b" t="t" l="l"/>
              <a:pathLst>
                <a:path h="3291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03504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THEME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15100" y="4663440"/>
            <a:ext cx="4526280" cy="603504"/>
            <a:chOff x="0" y="0"/>
            <a:chExt cx="6035040" cy="8046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35040" cy="804672"/>
            </a:xfrm>
            <a:custGeom>
              <a:avLst/>
              <a:gdLst/>
              <a:ahLst/>
              <a:cxnLst/>
              <a:rect r="r" b="b" t="t" l="l"/>
              <a:pathLst>
                <a:path h="804672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035040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Robotics and Drones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6600">
            <a:off x="1019165" y="5371910"/>
            <a:ext cx="9963169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028700" y="5513832"/>
            <a:ext cx="9944100" cy="246888"/>
            <a:chOff x="0" y="0"/>
            <a:chExt cx="13258800" cy="3291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258800" cy="329184"/>
            </a:xfrm>
            <a:custGeom>
              <a:avLst/>
              <a:gdLst/>
              <a:ahLst/>
              <a:cxnLst/>
              <a:rect r="r" b="b" t="t" l="l"/>
              <a:pathLst>
                <a:path h="329184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4814" r="0" b="-73481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325880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TITLE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28700" y="5763768"/>
            <a:ext cx="9944100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B42318"/>
                </a:solidFill>
                <a:latin typeface="Calibri (MS)"/>
                <a:ea typeface="Calibri (MS)"/>
                <a:cs typeface="Calibri (MS)"/>
                <a:sym typeface="Calibri (MS)"/>
              </a:rPr>
              <a:t>A deployable AI-powered autonomous drone that aids search-and-rescue operations by detecting people and hazards, thereby improving responder safety and reducing victim discovery time.</a:t>
            </a:r>
          </a:p>
        </p:txBody>
      </p:sp>
      <p:sp>
        <p:nvSpPr>
          <p:cNvPr name="AutoShape 34" id="34"/>
          <p:cNvSpPr/>
          <p:nvPr/>
        </p:nvSpPr>
        <p:spPr>
          <a:xfrm rot="6600">
            <a:off x="1019165" y="6510338"/>
            <a:ext cx="9963169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028700" y="6652260"/>
            <a:ext cx="5349240" cy="246888"/>
            <a:chOff x="0" y="0"/>
            <a:chExt cx="7132320" cy="3291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32320" cy="329184"/>
            </a:xfrm>
            <a:custGeom>
              <a:avLst/>
              <a:gdLst/>
              <a:ahLst/>
              <a:cxnLst/>
              <a:rect r="r" b="b" t="t" l="l"/>
              <a:pathLst>
                <a:path h="3291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13232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SPONSORING ORGANIZATION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515100" y="6652260"/>
            <a:ext cx="4526280" cy="246888"/>
            <a:chOff x="0" y="0"/>
            <a:chExt cx="6035040" cy="3291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35040" cy="329184"/>
            </a:xfrm>
            <a:custGeom>
              <a:avLst/>
              <a:gdLst/>
              <a:ahLst/>
              <a:cxnLst/>
              <a:rect r="r" b="b" t="t" l="l"/>
              <a:pathLst>
                <a:path h="3291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03504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28700" y="6926580"/>
            <a:ext cx="5349240" cy="411480"/>
            <a:chOff x="0" y="0"/>
            <a:chExt cx="713232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32320" cy="548640"/>
            </a:xfrm>
            <a:custGeom>
              <a:avLst/>
              <a:gdLst/>
              <a:ahLst/>
              <a:cxnLst/>
              <a:rect r="r" b="b" t="t" l="l"/>
              <a:pathLst>
                <a:path h="5486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71323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Qualcomm Inc.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515100" y="6926580"/>
            <a:ext cx="4526280" cy="411480"/>
            <a:chOff x="0" y="0"/>
            <a:chExt cx="603504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35040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0350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6600">
            <a:off x="1019165" y="7470457"/>
            <a:ext cx="9963169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1028700" y="7612380"/>
            <a:ext cx="5349240" cy="246888"/>
            <a:chOff x="0" y="0"/>
            <a:chExt cx="7132320" cy="32918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132320" cy="329184"/>
            </a:xfrm>
            <a:custGeom>
              <a:avLst/>
              <a:gdLst/>
              <a:ahLst/>
              <a:cxnLst/>
              <a:rect r="r" b="b" t="t" l="l"/>
              <a:pathLst>
                <a:path h="3291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713232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NAME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515100" y="7612380"/>
            <a:ext cx="4526280" cy="246888"/>
            <a:chOff x="0" y="0"/>
            <a:chExt cx="6035040" cy="3291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035040" cy="329184"/>
            </a:xfrm>
            <a:custGeom>
              <a:avLst/>
              <a:gdLst/>
              <a:ahLst/>
              <a:cxnLst/>
              <a:rect r="r" b="b" t="t" l="l"/>
              <a:pathLst>
                <a:path h="3291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03504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ID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8700" y="7886700"/>
            <a:ext cx="5349240" cy="411480"/>
            <a:chOff x="0" y="0"/>
            <a:chExt cx="713232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132320" cy="548640"/>
            </a:xfrm>
            <a:custGeom>
              <a:avLst/>
              <a:gdLst/>
              <a:ahLst/>
              <a:cxnLst/>
              <a:rect r="r" b="b" t="t" l="l"/>
              <a:pathLst>
                <a:path h="5486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71323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Phoenix X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515100" y="7886700"/>
            <a:ext cx="4526280" cy="411480"/>
            <a:chOff x="0" y="0"/>
            <a:chExt cx="603504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035040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0350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141943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6600">
            <a:off x="1019165" y="8430578"/>
            <a:ext cx="9963169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028700" y="8572500"/>
            <a:ext cx="5349240" cy="279820"/>
            <a:chOff x="0" y="0"/>
            <a:chExt cx="7132320" cy="37309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132320" cy="373094"/>
            </a:xfrm>
            <a:custGeom>
              <a:avLst/>
              <a:gdLst/>
              <a:ahLst/>
              <a:cxnLst/>
              <a:rect r="r" b="b" t="t" l="l"/>
              <a:pathLst>
                <a:path h="37309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73094"/>
                  </a:lnTo>
                  <a:lnTo>
                    <a:pt x="0" y="3730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8374" r="0" b="-31660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7132320" cy="411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DEMO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515100" y="8572500"/>
            <a:ext cx="4526280" cy="246888"/>
            <a:chOff x="0" y="0"/>
            <a:chExt cx="6035040" cy="329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035040" cy="329184"/>
            </a:xfrm>
            <a:custGeom>
              <a:avLst/>
              <a:gdLst/>
              <a:ahLst/>
              <a:cxnLst/>
              <a:rect r="r" b="b" t="t" l="l"/>
              <a:pathLst>
                <a:path h="3291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03504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VIDEO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344400" y="7379208"/>
            <a:ext cx="356616" cy="356616"/>
            <a:chOff x="0" y="0"/>
            <a:chExt cx="475488" cy="4754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424639" y="7459447"/>
            <a:ext cx="196139" cy="196139"/>
            <a:chOff x="0" y="0"/>
            <a:chExt cx="261518" cy="261518"/>
          </a:xfrm>
        </p:grpSpPr>
        <p:sp>
          <p:nvSpPr>
            <p:cNvPr name="Freeform 70" id="70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893040" y="7351776"/>
            <a:ext cx="4937760" cy="411480"/>
            <a:chOff x="0" y="0"/>
            <a:chExt cx="658368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65836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Qualcomm Dragonwing QRB2210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344400" y="7872984"/>
            <a:ext cx="356616" cy="356616"/>
            <a:chOff x="0" y="0"/>
            <a:chExt cx="475488" cy="4754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424639" y="7953223"/>
            <a:ext cx="196139" cy="196139"/>
            <a:chOff x="0" y="0"/>
            <a:chExt cx="261518" cy="261518"/>
          </a:xfrm>
        </p:grpSpPr>
        <p:sp>
          <p:nvSpPr>
            <p:cNvPr name="Freeform 77" id="77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2893040" y="7845552"/>
            <a:ext cx="4937760" cy="411480"/>
            <a:chOff x="0" y="0"/>
            <a:chExt cx="658368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65836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STM32U5 Zephyr RTOS Flight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344400" y="8366760"/>
            <a:ext cx="356616" cy="356616"/>
            <a:chOff x="0" y="0"/>
            <a:chExt cx="475488" cy="47548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424639" y="8446999"/>
            <a:ext cx="196139" cy="196139"/>
            <a:chOff x="0" y="0"/>
            <a:chExt cx="261518" cy="261518"/>
          </a:xfrm>
        </p:grpSpPr>
        <p:sp>
          <p:nvSpPr>
            <p:cNvPr name="Freeform 84" id="84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893040" y="8339328"/>
            <a:ext cx="4937760" cy="411480"/>
            <a:chOff x="0" y="0"/>
            <a:chExt cx="658368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65836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 RGB + Thermal Fusion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344400" y="8860536"/>
            <a:ext cx="356616" cy="356616"/>
            <a:chOff x="0" y="0"/>
            <a:chExt cx="475488" cy="47548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424639" y="8940775"/>
            <a:ext cx="196139" cy="196139"/>
            <a:chOff x="0" y="0"/>
            <a:chExt cx="261518" cy="261518"/>
          </a:xfrm>
        </p:grpSpPr>
        <p:sp>
          <p:nvSpPr>
            <p:cNvPr name="Freeform 91" id="91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893040" y="8833104"/>
            <a:ext cx="4937760" cy="411480"/>
            <a:chOff x="0" y="0"/>
            <a:chExt cx="658368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65836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3-5 km LoRa Telemetry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344400" y="9354312"/>
            <a:ext cx="356616" cy="356616"/>
            <a:chOff x="0" y="0"/>
            <a:chExt cx="475488" cy="47548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424639" y="9434551"/>
            <a:ext cx="196139" cy="196139"/>
            <a:chOff x="0" y="0"/>
            <a:chExt cx="261518" cy="261518"/>
          </a:xfrm>
        </p:grpSpPr>
        <p:sp>
          <p:nvSpPr>
            <p:cNvPr name="Freeform 98" id="98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2893040" y="9326880"/>
            <a:ext cx="4937760" cy="411480"/>
            <a:chOff x="0" y="0"/>
            <a:chExt cx="6583680" cy="5486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65836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Tait-Bryan Ray-Casting GPS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11780" y="0"/>
            <a:ext cx="11658600" cy="1714500"/>
            <a:chOff x="0" y="0"/>
            <a:chExt cx="155448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448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5544800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Disaster Reconnaissance &amp; Emergency Survivor Triage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3" id="13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" t="0" r="-3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86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5816" y="1775936"/>
            <a:ext cx="5465997" cy="4061097"/>
            <a:chOff x="0" y="0"/>
            <a:chExt cx="7287996" cy="54147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87996" cy="5414795"/>
            </a:xfrm>
            <a:custGeom>
              <a:avLst/>
              <a:gdLst/>
              <a:ahLst/>
              <a:cxnLst/>
              <a:rect r="r" b="b" t="t" l="l"/>
              <a:pathLst>
                <a:path h="5414795" w="7287996">
                  <a:moveTo>
                    <a:pt x="0" y="272613"/>
                  </a:moveTo>
                  <a:cubicBezTo>
                    <a:pt x="0" y="122090"/>
                    <a:pt x="76930" y="0"/>
                    <a:pt x="171777" y="0"/>
                  </a:cubicBezTo>
                  <a:lnTo>
                    <a:pt x="7116219" y="0"/>
                  </a:lnTo>
                  <a:cubicBezTo>
                    <a:pt x="7211066" y="0"/>
                    <a:pt x="7287996" y="122090"/>
                    <a:pt x="7287996" y="272613"/>
                  </a:cubicBezTo>
                  <a:lnTo>
                    <a:pt x="7287996" y="5142183"/>
                  </a:lnTo>
                  <a:cubicBezTo>
                    <a:pt x="7287996" y="5292706"/>
                    <a:pt x="7211066" y="5414795"/>
                    <a:pt x="7116219" y="5414795"/>
                  </a:cubicBezTo>
                  <a:lnTo>
                    <a:pt x="171777" y="5414795"/>
                  </a:lnTo>
                  <a:cubicBezTo>
                    <a:pt x="76930" y="5414795"/>
                    <a:pt x="0" y="5292706"/>
                    <a:pt x="0" y="5142183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24712" y="2002536"/>
            <a:ext cx="2877474" cy="411480"/>
            <a:chOff x="0" y="0"/>
            <a:chExt cx="3836632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36670" cy="548640"/>
            </a:xfrm>
            <a:custGeom>
              <a:avLst/>
              <a:gdLst/>
              <a:ahLst/>
              <a:cxnLst/>
              <a:rect r="r" b="b" t="t" l="l"/>
              <a:pathLst>
                <a:path h="548640" w="383667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3562350" y="0"/>
                  </a:lnTo>
                  <a:cubicBezTo>
                    <a:pt x="3713861" y="0"/>
                    <a:pt x="3836670" y="122809"/>
                    <a:pt x="3836670" y="274320"/>
                  </a:cubicBezTo>
                  <a:cubicBezTo>
                    <a:pt x="3836670" y="425831"/>
                    <a:pt x="3713861" y="548640"/>
                    <a:pt x="356235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9E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24712" y="2002536"/>
            <a:ext cx="2877474" cy="411480"/>
            <a:chOff x="0" y="0"/>
            <a:chExt cx="3836632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36638" cy="548640"/>
            </a:xfrm>
            <a:custGeom>
              <a:avLst/>
              <a:gdLst/>
              <a:ahLst/>
              <a:cxnLst/>
              <a:rect r="r" b="b" t="t" l="l"/>
              <a:pathLst>
                <a:path h="548640" w="3836638">
                  <a:moveTo>
                    <a:pt x="0" y="0"/>
                  </a:moveTo>
                  <a:lnTo>
                    <a:pt x="3836638" y="0"/>
                  </a:lnTo>
                  <a:lnTo>
                    <a:pt x="383663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258" r="0" b="-8625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836632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B4231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969448" y="1812703"/>
            <a:ext cx="5401361" cy="4024330"/>
            <a:chOff x="0" y="0"/>
            <a:chExt cx="7201814" cy="536577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1815" cy="5365774"/>
            </a:xfrm>
            <a:custGeom>
              <a:avLst/>
              <a:gdLst/>
              <a:ahLst/>
              <a:cxnLst/>
              <a:rect r="r" b="b" t="t" l="l"/>
              <a:pathLst>
                <a:path h="5365774" w="7201815">
                  <a:moveTo>
                    <a:pt x="0" y="270145"/>
                  </a:moveTo>
                  <a:cubicBezTo>
                    <a:pt x="0" y="120984"/>
                    <a:pt x="76021" y="0"/>
                    <a:pt x="169746" y="0"/>
                  </a:cubicBezTo>
                  <a:lnTo>
                    <a:pt x="7032068" y="0"/>
                  </a:lnTo>
                  <a:cubicBezTo>
                    <a:pt x="7125794" y="0"/>
                    <a:pt x="7201815" y="120984"/>
                    <a:pt x="7201815" y="270145"/>
                  </a:cubicBezTo>
                  <a:lnTo>
                    <a:pt x="7201815" y="5095629"/>
                  </a:lnTo>
                  <a:cubicBezTo>
                    <a:pt x="7201815" y="5244789"/>
                    <a:pt x="7125794" y="5365774"/>
                    <a:pt x="7032068" y="5365774"/>
                  </a:cubicBezTo>
                  <a:lnTo>
                    <a:pt x="169746" y="5365774"/>
                  </a:lnTo>
                  <a:cubicBezTo>
                    <a:pt x="76021" y="5365774"/>
                    <a:pt x="0" y="5244789"/>
                    <a:pt x="0" y="5095629"/>
                  </a:cubicBezTo>
                  <a:close/>
                </a:path>
              </a:pathLst>
            </a:custGeom>
            <a:solidFill>
              <a:srgbClr val="14345C"/>
            </a:solidFill>
            <a:ln w="14288" cap="sq">
              <a:solidFill>
                <a:srgbClr val="14345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179295" y="2039303"/>
            <a:ext cx="2877474" cy="411480"/>
            <a:chOff x="0" y="0"/>
            <a:chExt cx="3836632" cy="54864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3836632" cy="548640"/>
              <a:chOff x="0" y="0"/>
              <a:chExt cx="3836632" cy="54864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836670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3836670">
                    <a:moveTo>
                      <a:pt x="0" y="274320"/>
                    </a:moveTo>
                    <a:cubicBezTo>
                      <a:pt x="0" y="122809"/>
                      <a:pt x="122809" y="0"/>
                      <a:pt x="274320" y="0"/>
                    </a:cubicBezTo>
                    <a:lnTo>
                      <a:pt x="3562350" y="0"/>
                    </a:lnTo>
                    <a:cubicBezTo>
                      <a:pt x="3713861" y="0"/>
                      <a:pt x="3836670" y="122809"/>
                      <a:pt x="3836670" y="274320"/>
                    </a:cubicBezTo>
                    <a:cubicBezTo>
                      <a:pt x="3836670" y="425831"/>
                      <a:pt x="3713861" y="548640"/>
                      <a:pt x="3562350" y="548640"/>
                    </a:cubicBezTo>
                    <a:lnTo>
                      <a:pt x="274320" y="548640"/>
                    </a:lnTo>
                    <a:cubicBezTo>
                      <a:pt x="122809" y="548640"/>
                      <a:pt x="0" y="425831"/>
                      <a:pt x="0" y="274320"/>
                    </a:cubicBezTo>
                    <a:close/>
                  </a:path>
                </a:pathLst>
              </a:custGeom>
              <a:solidFill>
                <a:srgbClr val="F08418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3836632" cy="548640"/>
              <a:chOff x="0" y="0"/>
              <a:chExt cx="3836632" cy="54864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836638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3836638">
                    <a:moveTo>
                      <a:pt x="0" y="0"/>
                    </a:moveTo>
                    <a:lnTo>
                      <a:pt x="3836638" y="0"/>
                    </a:lnTo>
                    <a:lnTo>
                      <a:pt x="3836638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6258" r="0" b="-86258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19050"/>
                <a:ext cx="3836632" cy="56769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889"/>
                  </a:lnSpc>
                </a:pPr>
                <a:r>
                  <a:rPr lang="en-US" b="true" sz="1575" spc="224">
                    <a:solidFill>
                      <a:srgbClr val="14345C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PROPOSED SOLUTION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7281283" y="5313140"/>
            <a:ext cx="3689737" cy="384048"/>
            <a:chOff x="0" y="0"/>
            <a:chExt cx="4919650" cy="512064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4919650" cy="512064"/>
              <a:chOff x="0" y="0"/>
              <a:chExt cx="4919650" cy="51206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919599" cy="512064"/>
              </a:xfrm>
              <a:custGeom>
                <a:avLst/>
                <a:gdLst/>
                <a:ahLst/>
                <a:cxnLst/>
                <a:rect r="r" b="b" t="t" l="l"/>
                <a:pathLst>
                  <a:path h="512064" w="4919599">
                    <a:moveTo>
                      <a:pt x="0" y="256032"/>
                    </a:moveTo>
                    <a:cubicBezTo>
                      <a:pt x="0" y="114681"/>
                      <a:pt x="114681" y="0"/>
                      <a:pt x="256032" y="0"/>
                    </a:cubicBezTo>
                    <a:lnTo>
                      <a:pt x="4663567" y="0"/>
                    </a:lnTo>
                    <a:cubicBezTo>
                      <a:pt x="4804918" y="0"/>
                      <a:pt x="4919599" y="114681"/>
                      <a:pt x="4919599" y="256032"/>
                    </a:cubicBezTo>
                    <a:cubicBezTo>
                      <a:pt x="4919599" y="397383"/>
                      <a:pt x="4804918" y="512064"/>
                      <a:pt x="4663567" y="512064"/>
                    </a:cubicBezTo>
                    <a:lnTo>
                      <a:pt x="256032" y="512064"/>
                    </a:lnTo>
                    <a:cubicBezTo>
                      <a:pt x="114681" y="512064"/>
                      <a:pt x="0" y="397383"/>
                      <a:pt x="0" y="256032"/>
                    </a:cubicBezTo>
                    <a:close/>
                  </a:path>
                </a:pathLst>
              </a:custGeom>
              <a:solidFill>
                <a:srgbClr val="FDEEDD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0"/>
              <a:ext cx="4919650" cy="512064"/>
              <a:chOff x="0" y="0"/>
              <a:chExt cx="4919650" cy="51206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919654" cy="512064"/>
              </a:xfrm>
              <a:custGeom>
                <a:avLst/>
                <a:gdLst/>
                <a:ahLst/>
                <a:cxnLst/>
                <a:rect r="r" b="b" t="t" l="l"/>
                <a:pathLst>
                  <a:path h="512064" w="4919654">
                    <a:moveTo>
                      <a:pt x="0" y="0"/>
                    </a:moveTo>
                    <a:lnTo>
                      <a:pt x="4919654" y="0"/>
                    </a:lnTo>
                    <a:lnTo>
                      <a:pt x="4919654" y="512064"/>
                    </a:lnTo>
                    <a:lnTo>
                      <a:pt x="0" y="51206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7202" r="0" b="-137202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19050"/>
                <a:ext cx="4919650" cy="53111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889"/>
                  </a:lnSpc>
                </a:pPr>
                <a:r>
                  <a:rPr lang="en-US" b="true" sz="1575" spc="224">
                    <a:solidFill>
                      <a:srgbClr val="B35A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INNOVATION / UNIQUENESS</a:t>
                </a: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815816" y="6100486"/>
            <a:ext cx="3178016" cy="1523048"/>
            <a:chOff x="0" y="0"/>
            <a:chExt cx="4237355" cy="203073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37355" cy="2030730"/>
            </a:xfrm>
            <a:custGeom>
              <a:avLst/>
              <a:gdLst/>
              <a:ahLst/>
              <a:cxnLst/>
              <a:rect r="r" b="b" t="t" l="l"/>
              <a:pathLst>
                <a:path h="2030730" w="4237355">
                  <a:moveTo>
                    <a:pt x="0" y="258445"/>
                  </a:moveTo>
                  <a:cubicBezTo>
                    <a:pt x="0" y="115697"/>
                    <a:pt x="115697" y="0"/>
                    <a:pt x="258445" y="0"/>
                  </a:cubicBezTo>
                  <a:lnTo>
                    <a:pt x="3978910" y="0"/>
                  </a:lnTo>
                  <a:cubicBezTo>
                    <a:pt x="4121658" y="0"/>
                    <a:pt x="4237355" y="115697"/>
                    <a:pt x="4237355" y="258445"/>
                  </a:cubicBezTo>
                  <a:lnTo>
                    <a:pt x="4237355" y="1772285"/>
                  </a:lnTo>
                  <a:cubicBezTo>
                    <a:pt x="4237355" y="1915033"/>
                    <a:pt x="4121658" y="2030730"/>
                    <a:pt x="3978910" y="2030730"/>
                  </a:cubicBezTo>
                  <a:lnTo>
                    <a:pt x="258445" y="2030730"/>
                  </a:lnTo>
                  <a:cubicBezTo>
                    <a:pt x="115697" y="2030730"/>
                    <a:pt x="0" y="1915033"/>
                    <a:pt x="0" y="177228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14984" y="6231073"/>
            <a:ext cx="2285905" cy="411480"/>
            <a:chOff x="0" y="0"/>
            <a:chExt cx="3047873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47878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8">
                  <a:moveTo>
                    <a:pt x="0" y="0"/>
                  </a:moveTo>
                  <a:lnTo>
                    <a:pt x="3047878" y="0"/>
                  </a:lnTo>
                  <a:lnTo>
                    <a:pt x="304787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45" r="0" b="-5824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3047873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Dual-Brain Architecture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383185" y="6231073"/>
            <a:ext cx="411480" cy="411480"/>
            <a:chOff x="0" y="0"/>
            <a:chExt cx="54864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3486055" y="6333943"/>
            <a:ext cx="205740" cy="205740"/>
            <a:chOff x="0" y="0"/>
            <a:chExt cx="274320" cy="274320"/>
          </a:xfrm>
        </p:grpSpPr>
        <p:sp>
          <p:nvSpPr>
            <p:cNvPr name="Freeform 46" id="46" descr="Dual-Brain Architecture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185285" y="6100486"/>
            <a:ext cx="3178016" cy="1523048"/>
            <a:chOff x="0" y="0"/>
            <a:chExt cx="4237355" cy="203073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37355" cy="2030730"/>
            </a:xfrm>
            <a:custGeom>
              <a:avLst/>
              <a:gdLst/>
              <a:ahLst/>
              <a:cxnLst/>
              <a:rect r="r" b="b" t="t" l="l"/>
              <a:pathLst>
                <a:path h="2030730" w="4237355">
                  <a:moveTo>
                    <a:pt x="0" y="258445"/>
                  </a:moveTo>
                  <a:cubicBezTo>
                    <a:pt x="0" y="115697"/>
                    <a:pt x="115697" y="0"/>
                    <a:pt x="258445" y="0"/>
                  </a:cubicBezTo>
                  <a:lnTo>
                    <a:pt x="3978910" y="0"/>
                  </a:lnTo>
                  <a:cubicBezTo>
                    <a:pt x="4121658" y="0"/>
                    <a:pt x="4237355" y="115697"/>
                    <a:pt x="4237355" y="258445"/>
                  </a:cubicBezTo>
                  <a:lnTo>
                    <a:pt x="4237355" y="1772285"/>
                  </a:lnTo>
                  <a:cubicBezTo>
                    <a:pt x="4237355" y="1915033"/>
                    <a:pt x="4121658" y="2030730"/>
                    <a:pt x="3978910" y="2030730"/>
                  </a:cubicBezTo>
                  <a:lnTo>
                    <a:pt x="258445" y="2030730"/>
                  </a:lnTo>
                  <a:cubicBezTo>
                    <a:pt x="115697" y="2030730"/>
                    <a:pt x="0" y="1915033"/>
                    <a:pt x="0" y="177228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4384453" y="6231073"/>
            <a:ext cx="2285905" cy="411480"/>
            <a:chOff x="0" y="0"/>
            <a:chExt cx="3047873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047878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8">
                  <a:moveTo>
                    <a:pt x="0" y="0"/>
                  </a:moveTo>
                  <a:lnTo>
                    <a:pt x="3047878" y="0"/>
                  </a:lnTo>
                  <a:lnTo>
                    <a:pt x="304787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45" r="0" b="-5824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3047873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5W Edge YOLO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752663" y="6231073"/>
            <a:ext cx="411480" cy="411480"/>
            <a:chOff x="0" y="0"/>
            <a:chExt cx="54864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855533" y="6333943"/>
            <a:ext cx="205740" cy="205740"/>
            <a:chOff x="0" y="0"/>
            <a:chExt cx="274320" cy="274320"/>
          </a:xfrm>
        </p:grpSpPr>
        <p:sp>
          <p:nvSpPr>
            <p:cNvPr name="Freeform 55" id="55" descr="5W Edge YOLO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554763" y="6100486"/>
            <a:ext cx="3178016" cy="1523048"/>
            <a:chOff x="0" y="0"/>
            <a:chExt cx="4237355" cy="203073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237355" cy="2030730"/>
            </a:xfrm>
            <a:custGeom>
              <a:avLst/>
              <a:gdLst/>
              <a:ahLst/>
              <a:cxnLst/>
              <a:rect r="r" b="b" t="t" l="l"/>
              <a:pathLst>
                <a:path h="2030730" w="4237355">
                  <a:moveTo>
                    <a:pt x="0" y="258445"/>
                  </a:moveTo>
                  <a:cubicBezTo>
                    <a:pt x="0" y="115697"/>
                    <a:pt x="115697" y="0"/>
                    <a:pt x="258445" y="0"/>
                  </a:cubicBezTo>
                  <a:lnTo>
                    <a:pt x="3978910" y="0"/>
                  </a:lnTo>
                  <a:cubicBezTo>
                    <a:pt x="4121658" y="0"/>
                    <a:pt x="4237355" y="115697"/>
                    <a:pt x="4237355" y="258445"/>
                  </a:cubicBezTo>
                  <a:lnTo>
                    <a:pt x="4237355" y="1772285"/>
                  </a:lnTo>
                  <a:cubicBezTo>
                    <a:pt x="4237355" y="1915033"/>
                    <a:pt x="4121658" y="2030730"/>
                    <a:pt x="3978910" y="2030730"/>
                  </a:cubicBezTo>
                  <a:lnTo>
                    <a:pt x="258445" y="2030730"/>
                  </a:lnTo>
                  <a:cubicBezTo>
                    <a:pt x="115697" y="2030730"/>
                    <a:pt x="0" y="1915033"/>
                    <a:pt x="0" y="177228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753931" y="6231073"/>
            <a:ext cx="2285905" cy="411480"/>
            <a:chOff x="0" y="0"/>
            <a:chExt cx="3047873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047878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8">
                  <a:moveTo>
                    <a:pt x="0" y="0"/>
                  </a:moveTo>
                  <a:lnTo>
                    <a:pt x="3047878" y="0"/>
                  </a:lnTo>
                  <a:lnTo>
                    <a:pt x="304787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45" r="0" b="-5824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3047873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Ray-Cast Geolocation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122132" y="6231073"/>
            <a:ext cx="411480" cy="411480"/>
            <a:chOff x="0" y="0"/>
            <a:chExt cx="54864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225002" y="6333943"/>
            <a:ext cx="205740" cy="205740"/>
            <a:chOff x="0" y="0"/>
            <a:chExt cx="274320" cy="274320"/>
          </a:xfrm>
        </p:grpSpPr>
        <p:sp>
          <p:nvSpPr>
            <p:cNvPr name="Freeform 64" id="64" descr="Ray-Cast Geolocation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924232" y="6100486"/>
            <a:ext cx="3178016" cy="1523048"/>
            <a:chOff x="0" y="0"/>
            <a:chExt cx="4237355" cy="203073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37355" cy="2030730"/>
            </a:xfrm>
            <a:custGeom>
              <a:avLst/>
              <a:gdLst/>
              <a:ahLst/>
              <a:cxnLst/>
              <a:rect r="r" b="b" t="t" l="l"/>
              <a:pathLst>
                <a:path h="2030730" w="4237355">
                  <a:moveTo>
                    <a:pt x="0" y="258445"/>
                  </a:moveTo>
                  <a:cubicBezTo>
                    <a:pt x="0" y="115697"/>
                    <a:pt x="115697" y="0"/>
                    <a:pt x="258445" y="0"/>
                  </a:cubicBezTo>
                  <a:lnTo>
                    <a:pt x="3978910" y="0"/>
                  </a:lnTo>
                  <a:cubicBezTo>
                    <a:pt x="4121658" y="0"/>
                    <a:pt x="4237355" y="115697"/>
                    <a:pt x="4237355" y="258445"/>
                  </a:cubicBezTo>
                  <a:lnTo>
                    <a:pt x="4237355" y="1772285"/>
                  </a:lnTo>
                  <a:cubicBezTo>
                    <a:pt x="4237355" y="1915033"/>
                    <a:pt x="4121658" y="2030730"/>
                    <a:pt x="3978910" y="2030730"/>
                  </a:cubicBezTo>
                  <a:lnTo>
                    <a:pt x="258445" y="2030730"/>
                  </a:lnTo>
                  <a:cubicBezTo>
                    <a:pt x="115697" y="2030730"/>
                    <a:pt x="0" y="1915033"/>
                    <a:pt x="0" y="177228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1123400" y="6231073"/>
            <a:ext cx="2285905" cy="411480"/>
            <a:chOff x="0" y="0"/>
            <a:chExt cx="3047873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047878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8">
                  <a:moveTo>
                    <a:pt x="0" y="0"/>
                  </a:moveTo>
                  <a:lnTo>
                    <a:pt x="3047878" y="0"/>
                  </a:lnTo>
                  <a:lnTo>
                    <a:pt x="304787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45" r="0" b="-5824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3047873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ROS-LoRa P2P Bridge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491610" y="6231073"/>
            <a:ext cx="411480" cy="411480"/>
            <a:chOff x="0" y="0"/>
            <a:chExt cx="54864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594480" y="6333943"/>
            <a:ext cx="205740" cy="205740"/>
            <a:chOff x="0" y="0"/>
            <a:chExt cx="274320" cy="274320"/>
          </a:xfrm>
        </p:grpSpPr>
        <p:sp>
          <p:nvSpPr>
            <p:cNvPr name="Freeform 73" id="73" descr="ROS-LoRa P2P Bridge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4293710" y="6100486"/>
            <a:ext cx="3079890" cy="1523048"/>
            <a:chOff x="0" y="0"/>
            <a:chExt cx="4106520" cy="203073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106519" cy="2030730"/>
            </a:xfrm>
            <a:custGeom>
              <a:avLst/>
              <a:gdLst/>
              <a:ahLst/>
              <a:cxnLst/>
              <a:rect r="r" b="b" t="t" l="l"/>
              <a:pathLst>
                <a:path h="2030730" w="4106519">
                  <a:moveTo>
                    <a:pt x="0" y="258445"/>
                  </a:moveTo>
                  <a:cubicBezTo>
                    <a:pt x="0" y="115697"/>
                    <a:pt x="112125" y="0"/>
                    <a:pt x="250465" y="0"/>
                  </a:cubicBezTo>
                  <a:lnTo>
                    <a:pt x="3856055" y="0"/>
                  </a:lnTo>
                  <a:cubicBezTo>
                    <a:pt x="3994395" y="0"/>
                    <a:pt x="4106519" y="115697"/>
                    <a:pt x="4106519" y="258445"/>
                  </a:cubicBezTo>
                  <a:lnTo>
                    <a:pt x="4106519" y="1772285"/>
                  </a:lnTo>
                  <a:cubicBezTo>
                    <a:pt x="4106519" y="1915033"/>
                    <a:pt x="3994395" y="2030730"/>
                    <a:pt x="3856055" y="2030730"/>
                  </a:cubicBezTo>
                  <a:lnTo>
                    <a:pt x="250465" y="2030730"/>
                  </a:lnTo>
                  <a:cubicBezTo>
                    <a:pt x="112125" y="2030730"/>
                    <a:pt x="0" y="1915033"/>
                    <a:pt x="0" y="177228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4492878" y="6231073"/>
            <a:ext cx="2285905" cy="411480"/>
            <a:chOff x="0" y="0"/>
            <a:chExt cx="3047873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047878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8">
                  <a:moveTo>
                    <a:pt x="0" y="0"/>
                  </a:moveTo>
                  <a:lnTo>
                    <a:pt x="3047878" y="0"/>
                  </a:lnTo>
                  <a:lnTo>
                    <a:pt x="304787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45" r="0" b="-5824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3047873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Anti-Compass Drift VIO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6861079" y="6231073"/>
            <a:ext cx="411480" cy="411480"/>
            <a:chOff x="0" y="0"/>
            <a:chExt cx="54864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6963949" y="6333943"/>
            <a:ext cx="205740" cy="205740"/>
            <a:chOff x="0" y="0"/>
            <a:chExt cx="274320" cy="274320"/>
          </a:xfrm>
        </p:grpSpPr>
        <p:sp>
          <p:nvSpPr>
            <p:cNvPr name="Freeform 82" id="82" descr="Anti-Compass Drift VIO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85850" y="7886986"/>
            <a:ext cx="3634740" cy="630936"/>
            <a:chOff x="0" y="0"/>
            <a:chExt cx="4846320" cy="8412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846320" cy="841248"/>
            </a:xfrm>
            <a:custGeom>
              <a:avLst/>
              <a:gdLst/>
              <a:ahLst/>
              <a:cxnLst/>
              <a:rect r="r" b="b" t="t" l="l"/>
              <a:pathLst>
                <a:path h="841248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50" r="0" b="-6225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484632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44">
                  <a:solidFill>
                    <a:srgbClr val="B4231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TRADITIONAL DISASTER SEARCH</a:t>
              </a:r>
            </a:p>
            <a:p>
              <a:pPr algn="l">
                <a:lnSpc>
                  <a:spcPts val="1889"/>
                </a:lnSpc>
              </a:pPr>
              <a:r>
                <a:rPr lang="en-US" sz="1575" spc="44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(Current Approach)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4789170" y="7886986"/>
            <a:ext cx="2263140" cy="630936"/>
            <a:chOff x="0" y="0"/>
            <a:chExt cx="3017520" cy="8412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FBE6E3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4885182" y="7886986"/>
            <a:ext cx="2071116" cy="630936"/>
            <a:chOff x="0" y="0"/>
            <a:chExt cx="2761488" cy="84124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4A16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Foot Sweeps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7127748" y="8092726"/>
            <a:ext cx="123444" cy="219456"/>
            <a:chOff x="0" y="0"/>
            <a:chExt cx="164592" cy="29260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C9A29D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7326630" y="7886986"/>
            <a:ext cx="2263140" cy="630936"/>
            <a:chOff x="0" y="0"/>
            <a:chExt cx="3017520" cy="84124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FBE6E3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422642" y="7886986"/>
            <a:ext cx="2071116" cy="630936"/>
            <a:chOff x="0" y="0"/>
            <a:chExt cx="2761488" cy="84124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4A16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Blind Rubble Digging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665208" y="8092726"/>
            <a:ext cx="123444" cy="219456"/>
            <a:chOff x="0" y="0"/>
            <a:chExt cx="164592" cy="29260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C9A29D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864090" y="7886986"/>
            <a:ext cx="2263140" cy="630936"/>
            <a:chOff x="0" y="0"/>
            <a:chExt cx="3017520" cy="84124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FBE6E3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960102" y="7886986"/>
            <a:ext cx="2071116" cy="630936"/>
            <a:chOff x="0" y="0"/>
            <a:chExt cx="2761488" cy="84124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4A16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Stalled at Sunset (Darkness)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202668" y="8092726"/>
            <a:ext cx="123444" cy="219456"/>
            <a:chOff x="0" y="0"/>
            <a:chExt cx="164592" cy="29260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C9A29D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401550" y="7886986"/>
            <a:ext cx="2263140" cy="630936"/>
            <a:chOff x="0" y="0"/>
            <a:chExt cx="3017520" cy="84124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FBE6E3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2497562" y="7886986"/>
            <a:ext cx="2071116" cy="630936"/>
            <a:chOff x="0" y="0"/>
            <a:chExt cx="2761488" cy="84124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4A16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 Responder Casualty Risk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4740128" y="8092726"/>
            <a:ext cx="123444" cy="219456"/>
            <a:chOff x="0" y="0"/>
            <a:chExt cx="164592" cy="29260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C9A29D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4939010" y="7886986"/>
            <a:ext cx="2263140" cy="630936"/>
            <a:chOff x="0" y="0"/>
            <a:chExt cx="3017520" cy="84124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B42318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5035022" y="7886986"/>
            <a:ext cx="2071116" cy="630936"/>
            <a:chOff x="0" y="0"/>
            <a:chExt cx="2761488" cy="84124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Critical Hours Lost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85850" y="8655082"/>
            <a:ext cx="3634740" cy="630936"/>
            <a:chOff x="0" y="0"/>
            <a:chExt cx="4846320" cy="84124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846320" cy="841248"/>
            </a:xfrm>
            <a:custGeom>
              <a:avLst/>
              <a:gdLst/>
              <a:ahLst/>
              <a:cxnLst/>
              <a:rect r="r" b="b" t="t" l="l"/>
              <a:pathLst>
                <a:path h="841248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50" r="0" b="-6225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19050"/>
              <a:ext cx="484632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44">
                  <a:solidFill>
                    <a:srgbClr val="0A7A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PHOENIX AUTONOMOUS SAR</a:t>
              </a:r>
            </a:p>
            <a:p>
              <a:pPr algn="l">
                <a:lnSpc>
                  <a:spcPts val="1889"/>
                </a:lnSpc>
              </a:pPr>
              <a:r>
                <a:rPr lang="en-US" sz="1575" spc="44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(Our Approach)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4789170" y="8655082"/>
            <a:ext cx="2263140" cy="630936"/>
            <a:chOff x="0" y="0"/>
            <a:chExt cx="3017520" cy="84124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E3F4E9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85182" y="8655082"/>
            <a:ext cx="2071116" cy="630936"/>
            <a:chOff x="0" y="0"/>
            <a:chExt cx="2761488" cy="84124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3D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Autonomous Aerial Sweep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7127748" y="8860822"/>
            <a:ext cx="123444" cy="219456"/>
            <a:chOff x="0" y="0"/>
            <a:chExt cx="164592" cy="29260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7326630" y="8655082"/>
            <a:ext cx="2263140" cy="630936"/>
            <a:chOff x="0" y="0"/>
            <a:chExt cx="3017520" cy="84124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E3F4E9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7422642" y="8655082"/>
            <a:ext cx="2071116" cy="630936"/>
            <a:chOff x="0" y="0"/>
            <a:chExt cx="2761488" cy="84124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3D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24/7 Thermal Night Vision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665208" y="8860822"/>
            <a:ext cx="123444" cy="219456"/>
            <a:chOff x="0" y="0"/>
            <a:chExt cx="164592" cy="29260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9864090" y="8655082"/>
            <a:ext cx="2263140" cy="630936"/>
            <a:chOff x="0" y="0"/>
            <a:chExt cx="3017520" cy="84124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E3F4E9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9960102" y="8655082"/>
            <a:ext cx="2071116" cy="630936"/>
            <a:chOff x="0" y="0"/>
            <a:chExt cx="2761488" cy="841248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3D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Instant Survivor GPS Raycasting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2202668" y="8860822"/>
            <a:ext cx="123444" cy="219456"/>
            <a:chOff x="0" y="0"/>
            <a:chExt cx="164592" cy="29260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2401550" y="8655082"/>
            <a:ext cx="2263140" cy="630936"/>
            <a:chOff x="0" y="0"/>
            <a:chExt cx="3017520" cy="84124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E3F4E9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12497562" y="8655082"/>
            <a:ext cx="2071116" cy="630936"/>
            <a:chOff x="0" y="0"/>
            <a:chExt cx="2761488" cy="84124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3D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Zero-Drop LoRa Telemetry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4740128" y="8860822"/>
            <a:ext cx="123444" cy="219456"/>
            <a:chOff x="0" y="0"/>
            <a:chExt cx="164592" cy="29260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14939010" y="8655082"/>
            <a:ext cx="2263140" cy="630936"/>
            <a:chOff x="0" y="0"/>
            <a:chExt cx="3017520" cy="841248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5035022" y="8655082"/>
            <a:ext cx="2071116" cy="630936"/>
            <a:chOff x="0" y="0"/>
            <a:chExt cx="2761488" cy="84124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Safe Responder Path Routing</a:t>
              </a:r>
            </a:p>
          </p:txBody>
        </p:sp>
      </p:grpSp>
      <p:sp>
        <p:nvSpPr>
          <p:cNvPr name="Freeform 155" id="155"/>
          <p:cNvSpPr/>
          <p:nvPr/>
        </p:nvSpPr>
        <p:spPr>
          <a:xfrm flipH="false" flipV="false" rot="0">
            <a:off x="6483975" y="2075879"/>
            <a:ext cx="5284353" cy="2960560"/>
          </a:xfrm>
          <a:custGeom>
            <a:avLst/>
            <a:gdLst/>
            <a:ahLst/>
            <a:cxnLst/>
            <a:rect r="r" b="b" t="t" l="l"/>
            <a:pathLst>
              <a:path h="2960560" w="5284353">
                <a:moveTo>
                  <a:pt x="0" y="0"/>
                </a:moveTo>
                <a:lnTo>
                  <a:pt x="5284353" y="0"/>
                </a:lnTo>
                <a:lnTo>
                  <a:pt x="5284353" y="2960560"/>
                </a:lnTo>
                <a:lnTo>
                  <a:pt x="0" y="29605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89" t="0" r="-189" b="0"/>
            </a:stretch>
          </a:blipFill>
        </p:spPr>
        <p:txBody>
          <a:bodyPr/>
          <a:p/>
        </p:txBody>
      </p:sp>
      <p:sp>
        <p:nvSpPr>
          <p:cNvPr name="TextBox 156" id="156"/>
          <p:cNvSpPr txBox="true"/>
          <p:nvPr/>
        </p:nvSpPr>
        <p:spPr>
          <a:xfrm rot="0">
            <a:off x="1074505" y="2575941"/>
            <a:ext cx="5028840" cy="300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b="true" sz="1525" spc="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lang="en-US" b="true" sz="1525" spc="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 CATASTROPHIC DISASTERS (LANDSLIDES, EARTHQUAKES), FIRST RESPONDERS FACE FOUR CRITICAL BARRIERS:</a:t>
            </a:r>
          </a:p>
          <a:p>
            <a:pPr algn="l">
              <a:lnSpc>
                <a:spcPts val="1967"/>
              </a:lnSpc>
            </a:pPr>
          </a:p>
          <a:p>
            <a:pPr algn="l" marL="329249" indent="-164624" lvl="1">
              <a:lnSpc>
                <a:spcPts val="1967"/>
              </a:lnSpc>
              <a:buFont typeface="Arial"/>
              <a:buChar char="•"/>
            </a:pPr>
            <a:r>
              <a:rPr lang="en-US" b="true" sz="1525" spc="10">
                <a:solidFill>
                  <a:srgbClr val="B4231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COMMS BLACKOUT:</a:t>
            </a:r>
            <a:r>
              <a:rPr lang="en-US" b="true" sz="1525" spc="10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Downed towers &amp; power grids; cloud-AI drones rendered inoperable.</a:t>
            </a:r>
          </a:p>
          <a:p>
            <a:pPr algn="l" marL="329249" indent="-164624" lvl="1">
              <a:lnSpc>
                <a:spcPts val="1967"/>
              </a:lnSpc>
              <a:buFont typeface="Arial"/>
              <a:buChar char="•"/>
            </a:pPr>
            <a:r>
              <a:rPr lang="en-US" b="true" sz="1525" spc="10">
                <a:solidFill>
                  <a:srgbClr val="B4231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ZERO VISIBILITY: </a:t>
            </a:r>
            <a:r>
              <a:rPr lang="en-US" b="true" sz="1525" spc="10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Mud slush, smoke, and darkness blind standard visual cameras.</a:t>
            </a:r>
          </a:p>
          <a:p>
            <a:pPr algn="l" marL="329249" indent="-164624" lvl="1">
              <a:lnSpc>
                <a:spcPts val="1967"/>
              </a:lnSpc>
              <a:buFont typeface="Arial"/>
              <a:buChar char="•"/>
            </a:pPr>
            <a:r>
              <a:rPr lang="en-US" b="true" sz="1525" spc="10">
                <a:solidFill>
                  <a:srgbClr val="B4231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 MORTALITY: </a:t>
            </a:r>
            <a:r>
              <a:rPr lang="en-US" b="true" sz="1525" spc="10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Golden 72 Hours expire before manual foot sweeps reach victims.</a:t>
            </a:r>
          </a:p>
          <a:p>
            <a:pPr algn="l" marL="329249" indent="-164624" lvl="1">
              <a:lnSpc>
                <a:spcPts val="1967"/>
              </a:lnSpc>
              <a:buFont typeface="Arial"/>
              <a:buChar char="•"/>
            </a:pPr>
            <a:r>
              <a:rPr lang="en-US" b="true" sz="1525" spc="10">
                <a:solidFill>
                  <a:srgbClr val="B4231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RESPONDER HAZARDS:</a:t>
            </a:r>
            <a:r>
              <a:rPr lang="en-US" b="true" sz="1525" spc="10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Teams advance blindly into live wires, gas leaks, and shifting debris.</a:t>
            </a:r>
          </a:p>
          <a:p>
            <a:pPr algn="l">
              <a:lnSpc>
                <a:spcPts val="1967"/>
              </a:lnSpc>
            </a:pPr>
          </a:p>
        </p:txBody>
      </p:sp>
      <p:sp>
        <p:nvSpPr>
          <p:cNvPr name="TextBox 157" id="157"/>
          <p:cNvSpPr txBox="true"/>
          <p:nvPr/>
        </p:nvSpPr>
        <p:spPr>
          <a:xfrm rot="0">
            <a:off x="12179295" y="2727008"/>
            <a:ext cx="5140386" cy="2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162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Phoenix: An autonomous, field-deployable multirotor scout engineered for offline disaster zones:</a:t>
            </a:r>
          </a:p>
          <a:p>
            <a:pPr algn="l" marL="294085" indent="-147042" lvl="1">
              <a:lnSpc>
                <a:spcPts val="2112"/>
              </a:lnSpc>
              <a:buFont typeface="Arial"/>
              <a:buChar char="•"/>
            </a:pPr>
            <a:r>
              <a:rPr lang="en-US" b="true" sz="1625">
                <a:solidFill>
                  <a:srgbClr val="FFB3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 ON-DEVICE AI: </a:t>
            </a:r>
            <a:r>
              <a:rPr lang="en-US" sz="1625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Executes real-time vision on Qualcomm silicon without internet.</a:t>
            </a:r>
          </a:p>
          <a:p>
            <a:pPr algn="l" marL="294085" indent="-147042" lvl="1">
              <a:lnSpc>
                <a:spcPts val="2112"/>
              </a:lnSpc>
              <a:buFont typeface="Arial"/>
              <a:buChar char="•"/>
            </a:pPr>
            <a:r>
              <a:rPr lang="en-US" b="true" sz="1625">
                <a:solidFill>
                  <a:srgbClr val="FFB3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MULTI-SPECTRAL VISION: </a:t>
            </a:r>
            <a:r>
              <a:rPr lang="en-US" sz="1625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Fuses 4K RGB with LWIR Thermal (8-14μm) to spot living body heat (37°C).</a:t>
            </a:r>
          </a:p>
          <a:p>
            <a:pPr algn="l" marL="294085" indent="-147042" lvl="1">
              <a:lnSpc>
                <a:spcPts val="2112"/>
              </a:lnSpc>
              <a:buFont typeface="Arial"/>
              <a:buChar char="•"/>
            </a:pPr>
            <a:r>
              <a:rPr lang="en-US" b="true" sz="1625">
                <a:solidFill>
                  <a:srgbClr val="FFB3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TAIT-BRYAN RAY-CASTING: </a:t>
            </a:r>
            <a:r>
              <a:rPr lang="en-US" sz="1625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Calculates victim Lat/Long GPS coordinates instantly from altitude.</a:t>
            </a:r>
          </a:p>
          <a:p>
            <a:pPr algn="l" marL="294085" indent="-147042" lvl="1">
              <a:lnSpc>
                <a:spcPts val="2112"/>
              </a:lnSpc>
              <a:buFont typeface="Arial"/>
              <a:buChar char="•"/>
            </a:pPr>
            <a:r>
              <a:rPr lang="en-US" b="true" sz="1625">
                <a:solidFill>
                  <a:srgbClr val="FFB3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OFFLINE TACTICAL GCS: </a:t>
            </a:r>
            <a:r>
              <a:rPr lang="en-US" sz="1625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Streams priority triage queues and safe rescue routes to local operators.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1014984" y="6692083"/>
            <a:ext cx="2779681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Arduino UNO Q combining Qualcomm QRB2210 MPU + STM32U5 MCU in 40g.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4384453" y="6692083"/>
            <a:ext cx="2779681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sz="1650">
                <a:solidFill>
                  <a:srgbClr val="1E2638"/>
                </a:solidFill>
                <a:latin typeface="Calibri"/>
              </a:rPr>
              <a:t>INT8 YOLO identifies victims &amp; flight obstacles on Qualcomm NPU; preserves 90% power for rotors.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7753931" y="6692083"/>
            <a:ext cx="2779681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Tait-Bryan rotation matrix projects bounding boxes to ground GPS pins.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11123400" y="6692083"/>
            <a:ext cx="2779681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17-byte bit-packed telemetry stream over 5+ km (Souli et al., Elsevier 2024).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14492878" y="6692083"/>
            <a:ext cx="2779681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sz="1650">
                <a:solidFill>
                  <a:srgbClr val="1E2638"/>
                </a:solidFill>
                <a:latin typeface="Calibri"/>
              </a:rPr>
              <a:t>Visual-Inertial Odometry overrides magnetometer in collapsed steel rubble (IEEE).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3" id="13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" t="0" r="-3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86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8972" y="1275588"/>
            <a:ext cx="16459200" cy="466344"/>
            <a:chOff x="0" y="0"/>
            <a:chExt cx="21945600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621792"/>
            </a:xfrm>
            <a:custGeom>
              <a:avLst/>
              <a:gdLst/>
              <a:ahLst/>
              <a:cxnLst/>
              <a:rect r="r" b="b" t="t" l="l"/>
              <a:pathLst>
                <a:path h="621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707" r="0" b="-6377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Dual-Brain Architecture &amp; Workflow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3360" y="1864804"/>
            <a:ext cx="6526380" cy="7393496"/>
            <a:chOff x="0" y="0"/>
            <a:chExt cx="8701839" cy="98579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01839" cy="9857994"/>
            </a:xfrm>
            <a:custGeom>
              <a:avLst/>
              <a:gdLst/>
              <a:ahLst/>
              <a:cxnLst/>
              <a:rect r="r" b="b" t="t" l="l"/>
              <a:pathLst>
                <a:path h="9857994" w="8701839">
                  <a:moveTo>
                    <a:pt x="0" y="256540"/>
                  </a:moveTo>
                  <a:cubicBezTo>
                    <a:pt x="0" y="114808"/>
                    <a:pt x="82640" y="0"/>
                    <a:pt x="184659" y="0"/>
                  </a:cubicBezTo>
                  <a:lnTo>
                    <a:pt x="8517180" y="0"/>
                  </a:lnTo>
                  <a:cubicBezTo>
                    <a:pt x="8619109" y="0"/>
                    <a:pt x="8701839" y="114808"/>
                    <a:pt x="8701839" y="256540"/>
                  </a:cubicBezTo>
                  <a:lnTo>
                    <a:pt x="8701839" y="9601454"/>
                  </a:lnTo>
                  <a:cubicBezTo>
                    <a:pt x="8701839" y="9743060"/>
                    <a:pt x="8619199" y="9857994"/>
                    <a:pt x="8517180" y="9857994"/>
                  </a:cubicBezTo>
                  <a:lnTo>
                    <a:pt x="184659" y="9857994"/>
                  </a:lnTo>
                  <a:cubicBezTo>
                    <a:pt x="82731" y="9857994"/>
                    <a:pt x="0" y="9743186"/>
                    <a:pt x="0" y="9601454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83404" y="2118836"/>
            <a:ext cx="3689737" cy="411480"/>
            <a:chOff x="0" y="0"/>
            <a:chExt cx="491965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19599" cy="548640"/>
            </a:xfrm>
            <a:custGeom>
              <a:avLst/>
              <a:gdLst/>
              <a:ahLst/>
              <a:cxnLst/>
              <a:rect r="r" b="b" t="t" l="l"/>
              <a:pathLst>
                <a:path h="548640" w="491959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645279" y="0"/>
                  </a:lnTo>
                  <a:cubicBezTo>
                    <a:pt x="4796790" y="0"/>
                    <a:pt x="4919599" y="122809"/>
                    <a:pt x="4919599" y="274320"/>
                  </a:cubicBezTo>
                  <a:cubicBezTo>
                    <a:pt x="4919599" y="425831"/>
                    <a:pt x="4796790" y="548640"/>
                    <a:pt x="4645279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E1EEF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3404" y="2118836"/>
            <a:ext cx="3689737" cy="411480"/>
            <a:chOff x="0" y="0"/>
            <a:chExt cx="491965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19654" cy="548640"/>
            </a:xfrm>
            <a:custGeom>
              <a:avLst/>
              <a:gdLst/>
              <a:ahLst/>
              <a:cxnLst/>
              <a:rect r="r" b="b" t="t" l="l"/>
              <a:pathLst>
                <a:path h="548640" w="4919654">
                  <a:moveTo>
                    <a:pt x="0" y="0"/>
                  </a:moveTo>
                  <a:lnTo>
                    <a:pt x="4919654" y="0"/>
                  </a:lnTo>
                  <a:lnTo>
                    <a:pt x="491965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722" r="0" b="-12472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91965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 WORKFLOW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944008" y="3380708"/>
            <a:ext cx="0" cy="534924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28" id="28"/>
          <p:cNvGrpSpPr/>
          <p:nvPr/>
        </p:nvGrpSpPr>
        <p:grpSpPr>
          <a:xfrm rot="0">
            <a:off x="683404" y="2859500"/>
            <a:ext cx="521208" cy="521208"/>
            <a:chOff x="0" y="0"/>
            <a:chExt cx="694944" cy="6949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83404" y="2859500"/>
            <a:ext cx="521208" cy="521208"/>
            <a:chOff x="0" y="0"/>
            <a:chExt cx="694944" cy="6949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06364" y="2818352"/>
            <a:ext cx="7543800" cy="384048"/>
            <a:chOff x="0" y="0"/>
            <a:chExt cx="10058400" cy="5120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05840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Sector Partition &amp; Launch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506364" y="3178016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5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Operator selects 2 km² search polygon on offline tablet; UAV launches in &lt; 3 minutes.</a:t>
            </a:r>
          </a:p>
        </p:txBody>
      </p:sp>
      <p:sp>
        <p:nvSpPr>
          <p:cNvPr name="AutoShape 37" id="37"/>
          <p:cNvSpPr/>
          <p:nvPr/>
        </p:nvSpPr>
        <p:spPr>
          <a:xfrm>
            <a:off x="944008" y="4395692"/>
            <a:ext cx="0" cy="576072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38" id="38"/>
          <p:cNvGrpSpPr/>
          <p:nvPr/>
        </p:nvGrpSpPr>
        <p:grpSpPr>
          <a:xfrm rot="0">
            <a:off x="683404" y="3915632"/>
            <a:ext cx="521208" cy="521208"/>
            <a:chOff x="0" y="0"/>
            <a:chExt cx="694944" cy="6949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83404" y="3915632"/>
            <a:ext cx="521208" cy="521208"/>
            <a:chOff x="0" y="0"/>
            <a:chExt cx="694944" cy="694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06364" y="3874484"/>
            <a:ext cx="7543800" cy="384048"/>
            <a:chOff x="0" y="0"/>
            <a:chExt cx="10058400" cy="5120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05840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Autonomous Grid Sweep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506364" y="4234148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sz="1525">
                <a:solidFill>
                  <a:srgbClr val="1E2638"/>
                </a:solidFill>
                <a:latin typeface="Calibri"/>
              </a:rPr>
              <a:t>Boustrophedon decomposition with 60% sidelap &amp; 70% overlap; ToF altimeter maintains constant GSD over sloped terrain.</a:t>
            </a:r>
          </a:p>
        </p:txBody>
      </p:sp>
      <p:sp>
        <p:nvSpPr>
          <p:cNvPr name="AutoShape 47" id="47"/>
          <p:cNvSpPr/>
          <p:nvPr/>
        </p:nvSpPr>
        <p:spPr>
          <a:xfrm>
            <a:off x="944008" y="5492972"/>
            <a:ext cx="0" cy="534924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48" id="48"/>
          <p:cNvGrpSpPr/>
          <p:nvPr/>
        </p:nvGrpSpPr>
        <p:grpSpPr>
          <a:xfrm rot="0">
            <a:off x="683404" y="4971764"/>
            <a:ext cx="521208" cy="521208"/>
            <a:chOff x="0" y="0"/>
            <a:chExt cx="694944" cy="6949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83404" y="4971764"/>
            <a:ext cx="521208" cy="521208"/>
            <a:chOff x="0" y="0"/>
            <a:chExt cx="694944" cy="69494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06364" y="4930616"/>
            <a:ext cx="7543800" cy="384048"/>
            <a:chOff x="0" y="0"/>
            <a:chExt cx="10058400" cy="5120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05840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Multi-Spectral Perception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506364" y="5290280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sz="1525">
                <a:solidFill>
                  <a:srgbClr val="1E2638"/>
                </a:solidFill>
                <a:latin typeface="Calibri"/>
              </a:rPr>
              <a:t>Dual 4K RGB + LWIR Thermal fusion; edge YOLO identifies survivor heat contours (37°C) &amp; flags obstacles for flight avoidance.</a:t>
            </a:r>
          </a:p>
        </p:txBody>
      </p:sp>
      <p:sp>
        <p:nvSpPr>
          <p:cNvPr name="AutoShape 57" id="57"/>
          <p:cNvSpPr/>
          <p:nvPr/>
        </p:nvSpPr>
        <p:spPr>
          <a:xfrm>
            <a:off x="944008" y="6549104"/>
            <a:ext cx="0" cy="534924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58" id="58"/>
          <p:cNvGrpSpPr/>
          <p:nvPr/>
        </p:nvGrpSpPr>
        <p:grpSpPr>
          <a:xfrm rot="0">
            <a:off x="683404" y="6027896"/>
            <a:ext cx="521208" cy="521208"/>
            <a:chOff x="0" y="0"/>
            <a:chExt cx="694944" cy="6949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83404" y="6027896"/>
            <a:ext cx="521208" cy="521208"/>
            <a:chOff x="0" y="0"/>
            <a:chExt cx="694944" cy="69494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506364" y="5986748"/>
            <a:ext cx="7543800" cy="384048"/>
            <a:chOff x="0" y="0"/>
            <a:chExt cx="10058400" cy="5120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005840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Ray-Cast Geolocation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506364" y="6346412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sz="1525">
                <a:solidFill>
                  <a:srgbClr val="1E2638"/>
                </a:solidFill>
                <a:latin typeface="Calibri"/>
              </a:rPr>
              <a:t>Transforms 2D bbox offset via 3D Tait-Bryan DCM matrix &amp; ToF altitude (ΔP = H_AGL · R·v) to pin GPS on the fly.</a:t>
            </a:r>
          </a:p>
        </p:txBody>
      </p:sp>
      <p:sp>
        <p:nvSpPr>
          <p:cNvPr name="AutoShape 67" id="67"/>
          <p:cNvSpPr/>
          <p:nvPr/>
        </p:nvSpPr>
        <p:spPr>
          <a:xfrm>
            <a:off x="944008" y="7605236"/>
            <a:ext cx="0" cy="534924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68" id="68"/>
          <p:cNvGrpSpPr/>
          <p:nvPr/>
        </p:nvGrpSpPr>
        <p:grpSpPr>
          <a:xfrm rot="0">
            <a:off x="683404" y="7084028"/>
            <a:ext cx="521208" cy="521208"/>
            <a:chOff x="0" y="0"/>
            <a:chExt cx="694944" cy="69494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87998" y="7132034"/>
            <a:ext cx="521208" cy="521208"/>
            <a:chOff x="0" y="0"/>
            <a:chExt cx="694944" cy="69494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506364" y="7039219"/>
            <a:ext cx="4782072" cy="391371"/>
            <a:chOff x="0" y="0"/>
            <a:chExt cx="6376096" cy="52182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376096" cy="521829"/>
            </a:xfrm>
            <a:custGeom>
              <a:avLst/>
              <a:gdLst/>
              <a:ahLst/>
              <a:cxnLst/>
              <a:rect r="r" b="b" t="t" l="l"/>
              <a:pathLst>
                <a:path h="521829" w="6376096">
                  <a:moveTo>
                    <a:pt x="0" y="0"/>
                  </a:moveTo>
                  <a:lnTo>
                    <a:pt x="6376096" y="0"/>
                  </a:lnTo>
                  <a:lnTo>
                    <a:pt x="6376096" y="521829"/>
                  </a:lnTo>
                  <a:lnTo>
                    <a:pt x="0" y="5218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515" r="-57751" b="-32464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6376096" cy="569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Binary LoRa Packet Burst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506364" y="7402544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5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Souli et al. (2024) protocol packs survivor coordinates into 17-byte binary frame; broadcasts over 5+ km.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683404" y="8140160"/>
            <a:ext cx="521208" cy="521208"/>
            <a:chOff x="0" y="0"/>
            <a:chExt cx="694944" cy="69494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83404" y="8140160"/>
            <a:ext cx="521208" cy="521208"/>
            <a:chOff x="0" y="0"/>
            <a:chExt cx="694944" cy="69494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506364" y="8095351"/>
            <a:ext cx="4782072" cy="391371"/>
            <a:chOff x="0" y="0"/>
            <a:chExt cx="6376096" cy="52182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376096" cy="521829"/>
            </a:xfrm>
            <a:custGeom>
              <a:avLst/>
              <a:gdLst/>
              <a:ahLst/>
              <a:cxnLst/>
              <a:rect r="r" b="b" t="t" l="l"/>
              <a:pathLst>
                <a:path h="521829" w="6376096">
                  <a:moveTo>
                    <a:pt x="0" y="0"/>
                  </a:moveTo>
                  <a:lnTo>
                    <a:pt x="6376096" y="0"/>
                  </a:lnTo>
                  <a:lnTo>
                    <a:pt x="6376096" y="521829"/>
                  </a:lnTo>
                  <a:lnTo>
                    <a:pt x="0" y="5218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515" r="-57751" b="-32464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6376096" cy="569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GCS Triage &amp; Route Planning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506364" y="8458676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sz="1650">
                <a:solidFill>
                  <a:srgbClr val="1E2638"/>
                </a:solidFill>
                <a:latin typeface="Calibri"/>
              </a:rPr>
              <a:t>Offline GCS computes priority triage queue and charts a hazard-aware Dijkstra safe walking corridor avoiding live wires directly to casualty.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7065745" y="1947100"/>
            <a:ext cx="4851199" cy="4458272"/>
            <a:chOff x="0" y="0"/>
            <a:chExt cx="6468265" cy="594436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468248" cy="5944362"/>
            </a:xfrm>
            <a:custGeom>
              <a:avLst/>
              <a:gdLst/>
              <a:ahLst/>
              <a:cxnLst/>
              <a:rect r="r" b="b" t="t" l="l"/>
              <a:pathLst>
                <a:path h="5944362" w="6468248">
                  <a:moveTo>
                    <a:pt x="0" y="256794"/>
                  </a:moveTo>
                  <a:cubicBezTo>
                    <a:pt x="0" y="114935"/>
                    <a:pt x="76077" y="0"/>
                    <a:pt x="169976" y="0"/>
                  </a:cubicBezTo>
                  <a:lnTo>
                    <a:pt x="6298272" y="0"/>
                  </a:lnTo>
                  <a:cubicBezTo>
                    <a:pt x="6392171" y="0"/>
                    <a:pt x="6468248" y="114935"/>
                    <a:pt x="6468248" y="256794"/>
                  </a:cubicBezTo>
                  <a:lnTo>
                    <a:pt x="6468248" y="5687568"/>
                  </a:lnTo>
                  <a:cubicBezTo>
                    <a:pt x="6468248" y="5829427"/>
                    <a:pt x="6392171" y="5944362"/>
                    <a:pt x="6298272" y="5944362"/>
                  </a:cubicBezTo>
                  <a:lnTo>
                    <a:pt x="169976" y="5944362"/>
                  </a:lnTo>
                  <a:cubicBezTo>
                    <a:pt x="76077" y="5944362"/>
                    <a:pt x="0" y="5829427"/>
                    <a:pt x="0" y="5687568"/>
                  </a:cubicBezTo>
                  <a:close/>
                </a:path>
              </a:pathLst>
            </a:custGeom>
            <a:solidFill>
              <a:srgbClr val="14345C"/>
            </a:solidFill>
            <a:ln w="14288" cap="sq">
              <a:solidFill>
                <a:srgbClr val="14345C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7286365" y="2125075"/>
            <a:ext cx="3148232" cy="384048"/>
            <a:chOff x="0" y="0"/>
            <a:chExt cx="4197642" cy="51206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197604" cy="512064"/>
            </a:xfrm>
            <a:custGeom>
              <a:avLst/>
              <a:gdLst/>
              <a:ahLst/>
              <a:cxnLst/>
              <a:rect r="r" b="b" t="t" l="l"/>
              <a:pathLst>
                <a:path h="512064" w="419760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3941572" y="0"/>
                  </a:lnTo>
                  <a:cubicBezTo>
                    <a:pt x="4082923" y="0"/>
                    <a:pt x="4197604" y="114681"/>
                    <a:pt x="4197604" y="256032"/>
                  </a:cubicBezTo>
                  <a:cubicBezTo>
                    <a:pt x="4197604" y="397383"/>
                    <a:pt x="4082923" y="512064"/>
                    <a:pt x="3941572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F08418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7286365" y="2125075"/>
            <a:ext cx="3148232" cy="384048"/>
            <a:chOff x="0" y="0"/>
            <a:chExt cx="4197642" cy="51206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197644" cy="512064"/>
            </a:xfrm>
            <a:custGeom>
              <a:avLst/>
              <a:gdLst/>
              <a:ahLst/>
              <a:cxnLst/>
              <a:rect r="r" b="b" t="t" l="l"/>
              <a:pathLst>
                <a:path h="512064" w="4197644">
                  <a:moveTo>
                    <a:pt x="0" y="0"/>
                  </a:moveTo>
                  <a:lnTo>
                    <a:pt x="4197644" y="0"/>
                  </a:lnTo>
                  <a:lnTo>
                    <a:pt x="419764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28" r="0" b="-109728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4197642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1434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7286365" y="2618851"/>
            <a:ext cx="6628943" cy="356616"/>
            <a:chOff x="0" y="0"/>
            <a:chExt cx="8838590" cy="47548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838590" cy="475488"/>
            </a:xfrm>
            <a:custGeom>
              <a:avLst/>
              <a:gdLst/>
              <a:ahLst/>
              <a:cxnLst/>
              <a:rect r="r" b="b" t="t" l="l"/>
              <a:pathLst>
                <a:path h="475488" w="8838590">
                  <a:moveTo>
                    <a:pt x="0" y="0"/>
                  </a:moveTo>
                  <a:lnTo>
                    <a:pt x="8838590" y="0"/>
                  </a:lnTo>
                  <a:lnTo>
                    <a:pt x="883859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196" r="0" b="-312196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883859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Dual-Brain Hardware Split (Arduino UNO Q):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7238074" y="3078051"/>
            <a:ext cx="4485044" cy="1066324"/>
            <a:chOff x="0" y="0"/>
            <a:chExt cx="8967368" cy="213200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967470" cy="2132001"/>
            </a:xfrm>
            <a:custGeom>
              <a:avLst/>
              <a:gdLst/>
              <a:ahLst/>
              <a:cxnLst/>
              <a:rect r="r" b="b" t="t" l="l"/>
              <a:pathLst>
                <a:path h="2132001" w="8967470">
                  <a:moveTo>
                    <a:pt x="0" y="209062"/>
                  </a:moveTo>
                  <a:cubicBezTo>
                    <a:pt x="0" y="93539"/>
                    <a:pt x="82677" y="0"/>
                    <a:pt x="184785" y="0"/>
                  </a:cubicBezTo>
                  <a:lnTo>
                    <a:pt x="8782685" y="0"/>
                  </a:lnTo>
                  <a:cubicBezTo>
                    <a:pt x="8884666" y="0"/>
                    <a:pt x="8967470" y="93539"/>
                    <a:pt x="8967470" y="209062"/>
                  </a:cubicBezTo>
                  <a:lnTo>
                    <a:pt x="8967470" y="1922939"/>
                  </a:lnTo>
                  <a:cubicBezTo>
                    <a:pt x="8967470" y="2038318"/>
                    <a:pt x="8884793" y="2132001"/>
                    <a:pt x="8782685" y="2132001"/>
                  </a:cubicBezTo>
                  <a:lnTo>
                    <a:pt x="184785" y="2132001"/>
                  </a:lnTo>
                  <a:cubicBezTo>
                    <a:pt x="82677" y="2132001"/>
                    <a:pt x="0" y="2038462"/>
                    <a:pt x="0" y="1922939"/>
                  </a:cubicBezTo>
                  <a:close/>
                </a:path>
              </a:pathLst>
            </a:custGeom>
            <a:solidFill>
              <a:srgbClr val="1E4A7E"/>
            </a:solidFill>
            <a:ln w="14288" cap="sq">
              <a:solidFill>
                <a:srgbClr val="1E4A7E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7492105" y="3174682"/>
            <a:ext cx="4202544" cy="342235"/>
            <a:chOff x="0" y="0"/>
            <a:chExt cx="5603392" cy="45631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603392" cy="456313"/>
            </a:xfrm>
            <a:custGeom>
              <a:avLst/>
              <a:gdLst/>
              <a:ahLst/>
              <a:cxnLst/>
              <a:rect r="r" b="b" t="t" l="l"/>
              <a:pathLst>
                <a:path h="456313" w="5603392">
                  <a:moveTo>
                    <a:pt x="0" y="0"/>
                  </a:moveTo>
                  <a:lnTo>
                    <a:pt x="5603392" y="0"/>
                  </a:lnTo>
                  <a:lnTo>
                    <a:pt x="5603392" y="456313"/>
                  </a:lnTo>
                  <a:lnTo>
                    <a:pt x="0" y="4563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896" r="-47945" b="-30208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5603392" cy="4944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MCU (STM32U585 / Zephyr RTOS):</a:t>
              </a:r>
            </a:p>
          </p:txBody>
        </p:sp>
      </p:grpSp>
      <p:sp>
        <p:nvSpPr>
          <p:cNvPr name="TextBox 101" id="101"/>
          <p:cNvSpPr txBox="true"/>
          <p:nvPr/>
        </p:nvSpPr>
        <p:spPr>
          <a:xfrm rot="0">
            <a:off x="7492105" y="3522964"/>
            <a:ext cx="4202544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1837" indent="-100919" lvl="1">
              <a:lnSpc>
                <a:spcPts val="1338"/>
              </a:lnSpc>
              <a:buFont typeface="Arial"/>
              <a:buChar char="•"/>
            </a:pPr>
            <a:r>
              <a:rPr lang="en-US" sz="1115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250 Hz (4ms) deterministic flight stabilization loop</a:t>
            </a:r>
          </a:p>
          <a:p>
            <a:pPr algn="l" marL="201837" indent="-100919" lvl="1">
              <a:lnSpc>
                <a:spcPts val="1338"/>
              </a:lnSpc>
              <a:buFont typeface="Arial"/>
              <a:buChar char="•"/>
            </a:pPr>
            <a:r>
              <a:rPr lang="en-US" sz="1115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350 Hz PWM direct brushless motor control</a:t>
            </a:r>
          </a:p>
          <a:p>
            <a:pPr algn="l" marL="201837" indent="-100919" lvl="1">
              <a:lnSpc>
                <a:spcPts val="1338"/>
              </a:lnSpc>
              <a:buFont typeface="Arial"/>
              <a:buChar char="•"/>
            </a:pPr>
            <a:r>
              <a:rPr lang="en-US" sz="1115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IMU (MPU6050) + Barometer (MS5611) + Downward LiDAR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7455203" y="4395692"/>
            <a:ext cx="143899" cy="370332"/>
            <a:chOff x="0" y="0"/>
            <a:chExt cx="191866" cy="49377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91866" cy="493776"/>
            </a:xfrm>
            <a:custGeom>
              <a:avLst/>
              <a:gdLst/>
              <a:ahLst/>
              <a:cxnLst/>
              <a:rect r="r" b="b" t="t" l="l"/>
              <a:pathLst>
                <a:path h="493776" w="191866">
                  <a:moveTo>
                    <a:pt x="0" y="137160"/>
                  </a:moveTo>
                  <a:lnTo>
                    <a:pt x="95933" y="0"/>
                  </a:lnTo>
                  <a:lnTo>
                    <a:pt x="191866" y="137160"/>
                  </a:lnTo>
                  <a:lnTo>
                    <a:pt x="143899" y="137160"/>
                  </a:lnTo>
                  <a:lnTo>
                    <a:pt x="143899" y="356616"/>
                  </a:lnTo>
                  <a:lnTo>
                    <a:pt x="191866" y="356616"/>
                  </a:lnTo>
                  <a:lnTo>
                    <a:pt x="95933" y="493776"/>
                  </a:lnTo>
                  <a:lnTo>
                    <a:pt x="0" y="356616"/>
                  </a:lnTo>
                  <a:lnTo>
                    <a:pt x="47966" y="356616"/>
                  </a:lnTo>
                  <a:lnTo>
                    <a:pt x="47966" y="137160"/>
                  </a:lnTo>
                  <a:close/>
                </a:path>
              </a:pathLst>
            </a:custGeom>
            <a:solidFill>
              <a:srgbClr val="FFB35C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7707496" y="4375404"/>
            <a:ext cx="3771764" cy="438912"/>
            <a:chOff x="0" y="0"/>
            <a:chExt cx="5029019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029018" cy="585216"/>
            </a:xfrm>
            <a:custGeom>
              <a:avLst/>
              <a:gdLst/>
              <a:ahLst/>
              <a:cxnLst/>
              <a:rect r="r" b="b" t="t" l="l"/>
              <a:pathLst>
                <a:path h="585216" w="5029018">
                  <a:moveTo>
                    <a:pt x="0" y="0"/>
                  </a:moveTo>
                  <a:lnTo>
                    <a:pt x="5029018" y="0"/>
                  </a:lnTo>
                  <a:lnTo>
                    <a:pt x="502901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839" r="-57569" b="-213839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5029019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Asynchronous non-blocking RPC bridge 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238074" y="4998291"/>
            <a:ext cx="4456576" cy="1174242"/>
            <a:chOff x="0" y="0"/>
            <a:chExt cx="8967368" cy="236276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8967343" cy="2362769"/>
            </a:xfrm>
            <a:custGeom>
              <a:avLst/>
              <a:gdLst/>
              <a:ahLst/>
              <a:cxnLst/>
              <a:rect r="r" b="b" t="t" l="l"/>
              <a:pathLst>
                <a:path h="2362769" w="8967343">
                  <a:moveTo>
                    <a:pt x="0" y="281310"/>
                  </a:moveTo>
                  <a:cubicBezTo>
                    <a:pt x="0" y="125991"/>
                    <a:pt x="82931" y="0"/>
                    <a:pt x="185166" y="0"/>
                  </a:cubicBezTo>
                  <a:lnTo>
                    <a:pt x="8782177" y="0"/>
                  </a:lnTo>
                  <a:cubicBezTo>
                    <a:pt x="8884412" y="0"/>
                    <a:pt x="8967343" y="125991"/>
                    <a:pt x="8967343" y="281310"/>
                  </a:cubicBezTo>
                  <a:lnTo>
                    <a:pt x="8967343" y="2081460"/>
                  </a:lnTo>
                  <a:cubicBezTo>
                    <a:pt x="8967343" y="2236778"/>
                    <a:pt x="8884412" y="2362769"/>
                    <a:pt x="8782177" y="2362769"/>
                  </a:cubicBezTo>
                  <a:lnTo>
                    <a:pt x="185166" y="2362769"/>
                  </a:lnTo>
                  <a:cubicBezTo>
                    <a:pt x="82931" y="2362769"/>
                    <a:pt x="0" y="2236778"/>
                    <a:pt x="0" y="2081460"/>
                  </a:cubicBezTo>
                  <a:close/>
                </a:path>
              </a:pathLst>
            </a:custGeom>
            <a:solidFill>
              <a:srgbClr val="1E4A7E"/>
            </a:solidFill>
            <a:ln w="14288" cap="sq">
              <a:solidFill>
                <a:srgbClr val="1E4A7E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7492105" y="5049240"/>
            <a:ext cx="4077423" cy="599429"/>
            <a:chOff x="0" y="0"/>
            <a:chExt cx="5436564" cy="79923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436564" cy="799238"/>
            </a:xfrm>
            <a:custGeom>
              <a:avLst/>
              <a:gdLst/>
              <a:ahLst/>
              <a:cxnLst/>
              <a:rect r="r" b="b" t="t" l="l"/>
              <a:pathLst>
                <a:path h="799238" w="5436564">
                  <a:moveTo>
                    <a:pt x="0" y="0"/>
                  </a:moveTo>
                  <a:lnTo>
                    <a:pt x="5436564" y="0"/>
                  </a:lnTo>
                  <a:lnTo>
                    <a:pt x="5436564" y="799238"/>
                  </a:lnTo>
                  <a:lnTo>
                    <a:pt x="0" y="7992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646" r="-52485" b="-12956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5436564" cy="837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Mission Computer (Qualcomm Dragonwing QRB2210 / Linux):</a:t>
              </a:r>
            </a:p>
          </p:txBody>
        </p:sp>
      </p:grpSp>
      <p:sp>
        <p:nvSpPr>
          <p:cNvPr name="TextBox 112" id="112"/>
          <p:cNvSpPr txBox="true"/>
          <p:nvPr/>
        </p:nvSpPr>
        <p:spPr>
          <a:xfrm rot="0">
            <a:off x="7469679" y="5556837"/>
            <a:ext cx="4860693" cy="56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3447" indent="-116723" lvl="1">
              <a:lnSpc>
                <a:spcPts val="1547"/>
              </a:lnSpc>
              <a:buFont typeface="Arial"/>
              <a:buChar char="•"/>
            </a:pPr>
            <a:r>
              <a:rPr sz="1289">
                <a:solidFill>
                  <a:srgbClr val="E4ECF7"/>
                </a:solidFill>
                <a:latin typeface="Calibri"/>
              </a:rPr>
              <a:t>Dual-Task INT8 YOLO (Survivor Triage + Flight Obstacle Avoidance) // Ray-Caster</a:t>
            </a:r>
          </a:p>
          <a:p>
            <a:r>
              <a:rPr sz="1289">
                <a:solidFill>
                  <a:srgbClr val="E4ECF7"/>
                </a:solidFill>
                <a:latin typeface="Calibri"/>
              </a:rPr>
              <a:t>Semtech SX1262 LoRa Telemetry Driver (868 MHz)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11331905" y="6605397"/>
            <a:ext cx="6631879" cy="2652903"/>
            <a:chOff x="0" y="0"/>
            <a:chExt cx="8842505" cy="353720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8842482" cy="3537204"/>
            </a:xfrm>
            <a:custGeom>
              <a:avLst/>
              <a:gdLst/>
              <a:ahLst/>
              <a:cxnLst/>
              <a:rect r="r" b="b" t="t" l="l"/>
              <a:pathLst>
                <a:path h="3537204" w="8842482">
                  <a:moveTo>
                    <a:pt x="0" y="245105"/>
                  </a:moveTo>
                  <a:cubicBezTo>
                    <a:pt x="0" y="109729"/>
                    <a:pt x="104232" y="0"/>
                    <a:pt x="232827" y="0"/>
                  </a:cubicBezTo>
                  <a:lnTo>
                    <a:pt x="8609655" y="0"/>
                  </a:lnTo>
                  <a:cubicBezTo>
                    <a:pt x="8738250" y="0"/>
                    <a:pt x="8842482" y="109729"/>
                    <a:pt x="8842482" y="245105"/>
                  </a:cubicBezTo>
                  <a:lnTo>
                    <a:pt x="8842482" y="3292099"/>
                  </a:lnTo>
                  <a:cubicBezTo>
                    <a:pt x="8842482" y="3427475"/>
                    <a:pt x="8738250" y="3537204"/>
                    <a:pt x="8609655" y="3537204"/>
                  </a:cubicBezTo>
                  <a:lnTo>
                    <a:pt x="232827" y="3537204"/>
                  </a:lnTo>
                  <a:cubicBezTo>
                    <a:pt x="104232" y="3537204"/>
                    <a:pt x="0" y="3427475"/>
                    <a:pt x="0" y="3292099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11648652" y="6763417"/>
            <a:ext cx="1746271" cy="370332"/>
            <a:chOff x="0" y="0"/>
            <a:chExt cx="2328361" cy="49377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328387" cy="493776"/>
            </a:xfrm>
            <a:custGeom>
              <a:avLst/>
              <a:gdLst/>
              <a:ahLst/>
              <a:cxnLst/>
              <a:rect r="r" b="b" t="t" l="l"/>
              <a:pathLst>
                <a:path h="493776" w="2328387">
                  <a:moveTo>
                    <a:pt x="0" y="246888"/>
                  </a:moveTo>
                  <a:cubicBezTo>
                    <a:pt x="0" y="110490"/>
                    <a:pt x="99980" y="0"/>
                    <a:pt x="223404" y="0"/>
                  </a:cubicBezTo>
                  <a:lnTo>
                    <a:pt x="2104981" y="0"/>
                  </a:lnTo>
                  <a:cubicBezTo>
                    <a:pt x="2228404" y="0"/>
                    <a:pt x="2328387" y="110490"/>
                    <a:pt x="2328387" y="246888"/>
                  </a:cubicBezTo>
                  <a:cubicBezTo>
                    <a:pt x="2328387" y="383286"/>
                    <a:pt x="2228404" y="493776"/>
                    <a:pt x="2104981" y="493776"/>
                  </a:cubicBezTo>
                  <a:lnTo>
                    <a:pt x="223404" y="493776"/>
                  </a:lnTo>
                  <a:cubicBezTo>
                    <a:pt x="99980" y="493776"/>
                    <a:pt x="0" y="383286"/>
                    <a:pt x="0" y="246888"/>
                  </a:cubicBezTo>
                  <a:close/>
                </a:path>
              </a:pathLst>
            </a:custGeom>
            <a:solidFill>
              <a:srgbClr val="E1EEF9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1648652" y="6763417"/>
            <a:ext cx="1746271" cy="370332"/>
            <a:chOff x="0" y="0"/>
            <a:chExt cx="2328361" cy="49377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328360" cy="493776"/>
            </a:xfrm>
            <a:custGeom>
              <a:avLst/>
              <a:gdLst/>
              <a:ahLst/>
              <a:cxnLst/>
              <a:rect r="r" b="b" t="t" l="l"/>
              <a:pathLst>
                <a:path h="493776" w="2328360">
                  <a:moveTo>
                    <a:pt x="0" y="0"/>
                  </a:moveTo>
                  <a:lnTo>
                    <a:pt x="2328360" y="0"/>
                  </a:lnTo>
                  <a:lnTo>
                    <a:pt x="232836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538" r="-10512" b="-5153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28575"/>
              <a:ext cx="2328361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50"/>
                </a:lnSpc>
              </a:pPr>
              <a:r>
                <a:rPr lang="en-US" b="true" sz="1375" spc="196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1648652" y="7243477"/>
            <a:ext cx="2234035" cy="290541"/>
            <a:chOff x="0" y="0"/>
            <a:chExt cx="2978714" cy="38738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Flight Stack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3882687" y="7243477"/>
            <a:ext cx="3764350" cy="290541"/>
            <a:chOff x="0" y="0"/>
            <a:chExt cx="5019133" cy="38738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Zephyr RTOS, YMFC-32 Core, PX4 Autopilot</a:t>
              </a:r>
            </a:p>
          </p:txBody>
        </p:sp>
      </p:grpSp>
      <p:sp>
        <p:nvSpPr>
          <p:cNvPr name="AutoShape 126" id="126"/>
          <p:cNvSpPr/>
          <p:nvPr/>
        </p:nvSpPr>
        <p:spPr>
          <a:xfrm>
            <a:off x="11642186" y="7544956"/>
            <a:ext cx="6011317" cy="14261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7" id="127"/>
          <p:cNvGrpSpPr/>
          <p:nvPr/>
        </p:nvGrpSpPr>
        <p:grpSpPr>
          <a:xfrm rot="0">
            <a:off x="11648652" y="7565803"/>
            <a:ext cx="2234035" cy="290541"/>
            <a:chOff x="0" y="0"/>
            <a:chExt cx="2978714" cy="38738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Edge AI &amp; Vision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3882687" y="7565803"/>
            <a:ext cx="3764350" cy="290541"/>
            <a:chOff x="0" y="0"/>
            <a:chExt cx="5019133" cy="38738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sz="1400">
                  <a:solidFill>
                    <a:srgbClr val="1E2638"/>
                  </a:solidFill>
                  <a:latin typeface="Calibri"/>
                </a:rPr>
                <a:t>YOLOv8n INT8 (Detection &amp; Avoidance), SNPE, OpenCV</a:t>
              </a:r>
            </a:p>
          </p:txBody>
        </p:sp>
      </p:grpSp>
      <p:sp>
        <p:nvSpPr>
          <p:cNvPr name="AutoShape 133" id="133"/>
          <p:cNvSpPr/>
          <p:nvPr/>
        </p:nvSpPr>
        <p:spPr>
          <a:xfrm>
            <a:off x="11642186" y="7867282"/>
            <a:ext cx="6011317" cy="14261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4" id="134"/>
          <p:cNvGrpSpPr/>
          <p:nvPr/>
        </p:nvGrpSpPr>
        <p:grpSpPr>
          <a:xfrm rot="0">
            <a:off x="11648652" y="7888129"/>
            <a:ext cx="2234035" cy="290541"/>
            <a:chOff x="0" y="0"/>
            <a:chExt cx="2978714" cy="38738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Robotics Middleware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3882687" y="7888129"/>
            <a:ext cx="3764350" cy="290541"/>
            <a:chOff x="0" y="0"/>
            <a:chExt cx="5019133" cy="38738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ROS2 Humble, MAVLink v2, micro-ROS</a:t>
              </a:r>
            </a:p>
          </p:txBody>
        </p:sp>
      </p:grpSp>
      <p:sp>
        <p:nvSpPr>
          <p:cNvPr name="AutoShape 140" id="140"/>
          <p:cNvSpPr/>
          <p:nvPr/>
        </p:nvSpPr>
        <p:spPr>
          <a:xfrm>
            <a:off x="11642186" y="8189608"/>
            <a:ext cx="6011317" cy="14261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1" id="141"/>
          <p:cNvGrpSpPr/>
          <p:nvPr/>
        </p:nvGrpSpPr>
        <p:grpSpPr>
          <a:xfrm rot="0">
            <a:off x="11648652" y="8210455"/>
            <a:ext cx="2234035" cy="290541"/>
            <a:chOff x="0" y="0"/>
            <a:chExt cx="2978714" cy="38738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Long-Range RF Comms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3882687" y="8210455"/>
            <a:ext cx="3764350" cy="290541"/>
            <a:chOff x="0" y="0"/>
            <a:chExt cx="5019133" cy="387388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Semtech SX1262 LoRa P2P (868 MHz)</a:t>
              </a:r>
            </a:p>
          </p:txBody>
        </p:sp>
      </p:grpSp>
      <p:sp>
        <p:nvSpPr>
          <p:cNvPr name="AutoShape 147" id="147"/>
          <p:cNvSpPr/>
          <p:nvPr/>
        </p:nvSpPr>
        <p:spPr>
          <a:xfrm>
            <a:off x="11642186" y="8511934"/>
            <a:ext cx="6011317" cy="14261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8" id="148"/>
          <p:cNvGrpSpPr/>
          <p:nvPr/>
        </p:nvGrpSpPr>
        <p:grpSpPr>
          <a:xfrm rot="0">
            <a:off x="11648652" y="8532781"/>
            <a:ext cx="2234035" cy="290541"/>
            <a:chOff x="0" y="0"/>
            <a:chExt cx="2978714" cy="38738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Tactical GCS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3882687" y="8532781"/>
            <a:ext cx="3764350" cy="290541"/>
            <a:chOff x="0" y="0"/>
            <a:chExt cx="5019133" cy="387388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React, Leaflet, Tailwind CSS, WebSockets</a:t>
              </a:r>
            </a:p>
          </p:txBody>
        </p:sp>
      </p:grpSp>
      <p:sp>
        <p:nvSpPr>
          <p:cNvPr name="AutoShape 154" id="154"/>
          <p:cNvSpPr/>
          <p:nvPr/>
        </p:nvSpPr>
        <p:spPr>
          <a:xfrm>
            <a:off x="11642186" y="8834260"/>
            <a:ext cx="6011317" cy="14261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5" id="155"/>
          <p:cNvGrpSpPr/>
          <p:nvPr/>
        </p:nvGrpSpPr>
        <p:grpSpPr>
          <a:xfrm rot="0">
            <a:off x="11648652" y="8855107"/>
            <a:ext cx="2234035" cy="290541"/>
            <a:chOff x="0" y="0"/>
            <a:chExt cx="2978714" cy="38738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882687" y="8855107"/>
            <a:ext cx="3764350" cy="290541"/>
            <a:chOff x="0" y="0"/>
            <a:chExt cx="5019133" cy="38738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HMAC-SHA256 Telemetry Packet Signatures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2126494" y="1947100"/>
            <a:ext cx="5837290" cy="4437412"/>
            <a:chOff x="0" y="0"/>
            <a:chExt cx="11493922" cy="8737490"/>
          </a:xfrm>
        </p:grpSpPr>
        <p:sp>
          <p:nvSpPr>
            <p:cNvPr name="Freeform 162" id="162" descr="phoenix_tactical_drone_render.jpg"/>
            <p:cNvSpPr/>
            <p:nvPr/>
          </p:nvSpPr>
          <p:spPr>
            <a:xfrm flipH="false" flipV="false" rot="0">
              <a:off x="0" y="0"/>
              <a:ext cx="11493973" cy="8737529"/>
            </a:xfrm>
            <a:custGeom>
              <a:avLst/>
              <a:gdLst/>
              <a:ahLst/>
              <a:cxnLst/>
              <a:rect r="r" b="b" t="t" l="l"/>
              <a:pathLst>
                <a:path h="8737529" w="11493973">
                  <a:moveTo>
                    <a:pt x="662999" y="0"/>
                  </a:moveTo>
                  <a:lnTo>
                    <a:pt x="10830975" y="0"/>
                  </a:lnTo>
                  <a:cubicBezTo>
                    <a:pt x="11006813" y="0"/>
                    <a:pt x="11175449" y="69851"/>
                    <a:pt x="11299785" y="194188"/>
                  </a:cubicBezTo>
                  <a:cubicBezTo>
                    <a:pt x="11424121" y="318524"/>
                    <a:pt x="11493973" y="487160"/>
                    <a:pt x="11493973" y="662999"/>
                  </a:cubicBezTo>
                  <a:lnTo>
                    <a:pt x="11493973" y="8074530"/>
                  </a:lnTo>
                  <a:cubicBezTo>
                    <a:pt x="11493973" y="8250368"/>
                    <a:pt x="11424121" y="8419005"/>
                    <a:pt x="11299785" y="8543341"/>
                  </a:cubicBezTo>
                  <a:cubicBezTo>
                    <a:pt x="11175449" y="8667677"/>
                    <a:pt x="11006813" y="8737529"/>
                    <a:pt x="10830975" y="8737529"/>
                  </a:cubicBezTo>
                  <a:lnTo>
                    <a:pt x="662999" y="8737529"/>
                  </a:lnTo>
                  <a:cubicBezTo>
                    <a:pt x="296835" y="8737529"/>
                    <a:pt x="0" y="8440694"/>
                    <a:pt x="0" y="8074530"/>
                  </a:cubicBezTo>
                  <a:lnTo>
                    <a:pt x="0" y="662999"/>
                  </a:lnTo>
                  <a:cubicBezTo>
                    <a:pt x="0" y="487160"/>
                    <a:pt x="69851" y="318524"/>
                    <a:pt x="194188" y="194188"/>
                  </a:cubicBezTo>
                  <a:cubicBezTo>
                    <a:pt x="318524" y="69851"/>
                    <a:pt x="487160" y="0"/>
                    <a:pt x="662999" y="0"/>
                  </a:cubicBezTo>
                  <a:close/>
                </a:path>
              </a:pathLst>
            </a:custGeom>
            <a:blipFill>
              <a:blip r:embed="rId6"/>
              <a:stretch>
                <a:fillRect l="-18100" t="0" r="-18099" b="0"/>
              </a:stretch>
            </a:blipFill>
            <a:ln w="19050" cap="rnd">
              <a:solidFill>
                <a:srgbClr val="1E4A7E"/>
              </a:solidFill>
              <a:prstDash val="solid"/>
              <a:round/>
            </a:ln>
          </p:spPr>
        </p:sp>
      </p:grpSp>
      <p:grpSp>
        <p:nvGrpSpPr>
          <p:cNvPr name="Group 163" id="163"/>
          <p:cNvGrpSpPr/>
          <p:nvPr/>
        </p:nvGrpSpPr>
        <p:grpSpPr>
          <a:xfrm rot="0">
            <a:off x="7065745" y="6567297"/>
            <a:ext cx="4097573" cy="2691003"/>
            <a:chOff x="0" y="0"/>
            <a:chExt cx="10981385" cy="7211815"/>
          </a:xfrm>
        </p:grpSpPr>
        <p:sp>
          <p:nvSpPr>
            <p:cNvPr name="Freeform 164" id="164" descr="gimbal_sensor_macro_render.jpg"/>
            <p:cNvSpPr/>
            <p:nvPr/>
          </p:nvSpPr>
          <p:spPr>
            <a:xfrm flipH="false" flipV="false" rot="0">
              <a:off x="0" y="0"/>
              <a:ext cx="10981436" cy="7211853"/>
            </a:xfrm>
            <a:custGeom>
              <a:avLst/>
              <a:gdLst/>
              <a:ahLst/>
              <a:cxnLst/>
              <a:rect r="r" b="b" t="t" l="l"/>
              <a:pathLst>
                <a:path h="7211853" w="10981436">
                  <a:moveTo>
                    <a:pt x="382901" y="0"/>
                  </a:moveTo>
                  <a:lnTo>
                    <a:pt x="10598534" y="0"/>
                  </a:lnTo>
                  <a:cubicBezTo>
                    <a:pt x="10700086" y="0"/>
                    <a:pt x="10797479" y="40341"/>
                    <a:pt x="10869287" y="112149"/>
                  </a:cubicBezTo>
                  <a:cubicBezTo>
                    <a:pt x="10941095" y="183957"/>
                    <a:pt x="10981436" y="281349"/>
                    <a:pt x="10981436" y="382901"/>
                  </a:cubicBezTo>
                  <a:lnTo>
                    <a:pt x="10981436" y="6828951"/>
                  </a:lnTo>
                  <a:cubicBezTo>
                    <a:pt x="10981436" y="6930503"/>
                    <a:pt x="10941095" y="7027896"/>
                    <a:pt x="10869287" y="7099704"/>
                  </a:cubicBezTo>
                  <a:cubicBezTo>
                    <a:pt x="10797479" y="7171512"/>
                    <a:pt x="10700086" y="7211853"/>
                    <a:pt x="10598534" y="7211853"/>
                  </a:cubicBezTo>
                  <a:lnTo>
                    <a:pt x="382901" y="7211853"/>
                  </a:lnTo>
                  <a:cubicBezTo>
                    <a:pt x="281349" y="7211853"/>
                    <a:pt x="183957" y="7171512"/>
                    <a:pt x="112149" y="7099704"/>
                  </a:cubicBezTo>
                  <a:cubicBezTo>
                    <a:pt x="40341" y="7027896"/>
                    <a:pt x="0" y="6930503"/>
                    <a:pt x="0" y="6828951"/>
                  </a:cubicBezTo>
                  <a:lnTo>
                    <a:pt x="0" y="382901"/>
                  </a:lnTo>
                  <a:cubicBezTo>
                    <a:pt x="0" y="281349"/>
                    <a:pt x="40341" y="183957"/>
                    <a:pt x="112149" y="112149"/>
                  </a:cubicBezTo>
                  <a:cubicBezTo>
                    <a:pt x="183957" y="40341"/>
                    <a:pt x="281349" y="0"/>
                    <a:pt x="382901" y="0"/>
                  </a:cubicBezTo>
                  <a:close/>
                </a:path>
              </a:pathLst>
            </a:custGeom>
            <a:blipFill>
              <a:blip r:embed="rId7"/>
              <a:stretch>
                <a:fillRect l="-8832" t="0" r="-8832" b="0"/>
              </a:stretch>
            </a:blipFill>
            <a:ln w="19050" cap="sq">
              <a:solidFill>
                <a:srgbClr val="1E4A7E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3" id="13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" t="0" r="-3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86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8972" y="1275588"/>
            <a:ext cx="16459200" cy="466344"/>
            <a:chOff x="0" y="0"/>
            <a:chExt cx="21945600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621792"/>
            </a:xfrm>
            <a:custGeom>
              <a:avLst/>
              <a:gdLst/>
              <a:ahLst/>
              <a:cxnLst/>
              <a:rect r="r" b="b" t="t" l="l"/>
              <a:pathLst>
                <a:path h="621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707" r="0" b="-6377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Feasibility, Challenges-to-Strategies &amp; Market Viability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5816" y="1940528"/>
            <a:ext cx="4952047" cy="7393496"/>
            <a:chOff x="0" y="0"/>
            <a:chExt cx="6602730" cy="98579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2730" cy="9857994"/>
            </a:xfrm>
            <a:custGeom>
              <a:avLst/>
              <a:gdLst/>
              <a:ahLst/>
              <a:cxnLst/>
              <a:rect r="r" b="b" t="t" l="l"/>
              <a:pathLst>
                <a:path h="9857994" w="6602730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6346063" y="0"/>
                  </a:lnTo>
                  <a:cubicBezTo>
                    <a:pt x="6487795" y="0"/>
                    <a:pt x="6602730" y="114935"/>
                    <a:pt x="6602730" y="256667"/>
                  </a:cubicBezTo>
                  <a:lnTo>
                    <a:pt x="6602730" y="9601327"/>
                  </a:lnTo>
                  <a:cubicBezTo>
                    <a:pt x="6602730" y="9743059"/>
                    <a:pt x="6487795" y="9857994"/>
                    <a:pt x="6346063" y="9857994"/>
                  </a:cubicBezTo>
                  <a:lnTo>
                    <a:pt x="256667" y="9857994"/>
                  </a:lnTo>
                  <a:cubicBezTo>
                    <a:pt x="114935" y="9857994"/>
                    <a:pt x="0" y="9743059"/>
                    <a:pt x="0" y="9601327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987701" y="1940528"/>
            <a:ext cx="5569268" cy="7393496"/>
            <a:chOff x="0" y="0"/>
            <a:chExt cx="7425690" cy="98579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25690" cy="9857994"/>
            </a:xfrm>
            <a:custGeom>
              <a:avLst/>
              <a:gdLst/>
              <a:ahLst/>
              <a:cxnLst/>
              <a:rect r="r" b="b" t="t" l="l"/>
              <a:pathLst>
                <a:path h="9857994" w="7425690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7169023" y="0"/>
                  </a:lnTo>
                  <a:cubicBezTo>
                    <a:pt x="7310755" y="0"/>
                    <a:pt x="7425690" y="114935"/>
                    <a:pt x="7425690" y="256667"/>
                  </a:cubicBezTo>
                  <a:lnTo>
                    <a:pt x="7425690" y="9601327"/>
                  </a:lnTo>
                  <a:cubicBezTo>
                    <a:pt x="7425690" y="9743059"/>
                    <a:pt x="7310755" y="9857994"/>
                    <a:pt x="7169023" y="9857994"/>
                  </a:cubicBezTo>
                  <a:lnTo>
                    <a:pt x="256667" y="9857994"/>
                  </a:lnTo>
                  <a:cubicBezTo>
                    <a:pt x="114935" y="9857994"/>
                    <a:pt x="0" y="9743059"/>
                    <a:pt x="0" y="9601327"/>
                  </a:cubicBezTo>
                  <a:close/>
                </a:path>
              </a:pathLst>
            </a:custGeom>
            <a:solidFill>
              <a:srgbClr val="14345C"/>
            </a:solidFill>
            <a:ln w="14288" cap="sq">
              <a:solidFill>
                <a:srgbClr val="14345C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747468" y="1940528"/>
            <a:ext cx="5720144" cy="7393496"/>
            <a:chOff x="0" y="0"/>
            <a:chExt cx="7626858" cy="98579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26858" cy="9857994"/>
            </a:xfrm>
            <a:custGeom>
              <a:avLst/>
              <a:gdLst/>
              <a:ahLst/>
              <a:cxnLst/>
              <a:rect r="r" b="b" t="t" l="l"/>
              <a:pathLst>
                <a:path h="9857994" w="7626858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7370191" y="0"/>
                  </a:lnTo>
                  <a:cubicBezTo>
                    <a:pt x="7511923" y="0"/>
                    <a:pt x="7626858" y="114935"/>
                    <a:pt x="7626858" y="256667"/>
                  </a:cubicBezTo>
                  <a:lnTo>
                    <a:pt x="7626858" y="9601327"/>
                  </a:lnTo>
                  <a:cubicBezTo>
                    <a:pt x="7626858" y="9743059"/>
                    <a:pt x="7511923" y="9857994"/>
                    <a:pt x="7370191" y="9857994"/>
                  </a:cubicBezTo>
                  <a:lnTo>
                    <a:pt x="256667" y="9857994"/>
                  </a:lnTo>
                  <a:cubicBezTo>
                    <a:pt x="114935" y="9857994"/>
                    <a:pt x="0" y="9743059"/>
                    <a:pt x="0" y="9601327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24712" y="2194560"/>
            <a:ext cx="2065220" cy="411480"/>
            <a:chOff x="0" y="0"/>
            <a:chExt cx="2753627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53614" cy="548640"/>
            </a:xfrm>
            <a:custGeom>
              <a:avLst/>
              <a:gdLst/>
              <a:ahLst/>
              <a:cxnLst/>
              <a:rect r="r" b="b" t="t" l="l"/>
              <a:pathLst>
                <a:path h="548640" w="2753614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479294" y="0"/>
                  </a:lnTo>
                  <a:cubicBezTo>
                    <a:pt x="2630805" y="0"/>
                    <a:pt x="2753614" y="122809"/>
                    <a:pt x="2753614" y="274320"/>
                  </a:cubicBezTo>
                  <a:cubicBezTo>
                    <a:pt x="2753614" y="425831"/>
                    <a:pt x="2630805" y="548640"/>
                    <a:pt x="2479294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E1EEF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24712" y="2194560"/>
            <a:ext cx="2065220" cy="411480"/>
            <a:chOff x="0" y="0"/>
            <a:chExt cx="2753627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53624" cy="548640"/>
            </a:xfrm>
            <a:custGeom>
              <a:avLst/>
              <a:gdLst/>
              <a:ahLst/>
              <a:cxnLst/>
              <a:rect r="r" b="b" t="t" l="l"/>
              <a:pathLst>
                <a:path h="548640" w="2753624">
                  <a:moveTo>
                    <a:pt x="0" y="0"/>
                  </a:moveTo>
                  <a:lnTo>
                    <a:pt x="2753624" y="0"/>
                  </a:lnTo>
                  <a:lnTo>
                    <a:pt x="275362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95" r="0" b="-4779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753627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24712" y="2880360"/>
            <a:ext cx="411480" cy="411480"/>
            <a:chOff x="0" y="0"/>
            <a:chExt cx="54864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27582" y="2983230"/>
            <a:ext cx="205740" cy="205740"/>
            <a:chOff x="0" y="0"/>
            <a:chExt cx="274320" cy="274320"/>
          </a:xfrm>
        </p:grpSpPr>
        <p:sp>
          <p:nvSpPr>
            <p:cNvPr name="Freeform 34" id="34" descr="Technical Feasibili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673352" y="2880360"/>
            <a:ext cx="4114800" cy="411480"/>
            <a:chOff x="0" y="0"/>
            <a:chExt cx="548640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FEASIBILITY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24712" y="3349752"/>
            <a:ext cx="4334256" cy="158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b="true" sz="1725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Bouabdallah Sizing Laws: </a:t>
            </a: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38% battery mass fraction, β ≥ 2.0 thrust-to-weight ratio.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b="true" sz="1725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Total All-Up-Weight: </a:t>
            </a: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1.58 kg (Comfortably under DGCA 2.0 kg Micro Category).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b="true" sz="1725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Sub-5W Compute: </a:t>
            </a: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Qualcomm NPU preserves 90% power for rotor propulsion.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86136" y="5317046"/>
            <a:ext cx="411480" cy="411480"/>
            <a:chOff x="0" y="0"/>
            <a:chExt cx="54864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89006" y="5419916"/>
            <a:ext cx="205740" cy="205740"/>
            <a:chOff x="0" y="0"/>
            <a:chExt cx="274320" cy="274320"/>
          </a:xfrm>
        </p:grpSpPr>
        <p:sp>
          <p:nvSpPr>
            <p:cNvPr name="Freeform 42" id="42" descr="Operational Feasibili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34776" y="5317046"/>
            <a:ext cx="4114800" cy="411480"/>
            <a:chOff x="0" y="0"/>
            <a:chExt cx="548640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OPERATIONAL FEASIBILITY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86136" y="5786438"/>
            <a:ext cx="4334256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b="true" sz="1725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Setup Time: </a:t>
            </a: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&lt; 3 minutes from rugged backpack unboxing to flight.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b="true" sz="1725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Quick-Swap Battery: </a:t>
            </a: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Dual 4S LiPo tray for continuous sortie coverage.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86136" y="7264718"/>
            <a:ext cx="411480" cy="411480"/>
            <a:chOff x="0" y="0"/>
            <a:chExt cx="54864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89006" y="7367588"/>
            <a:ext cx="205740" cy="205740"/>
            <a:chOff x="0" y="0"/>
            <a:chExt cx="274320" cy="274320"/>
          </a:xfrm>
        </p:grpSpPr>
        <p:sp>
          <p:nvSpPr>
            <p:cNvPr name="Freeform 50" id="50" descr="Financial Feasibili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634776" y="7264718"/>
            <a:ext cx="4114800" cy="411480"/>
            <a:chOff x="0" y="0"/>
            <a:chExt cx="54864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FINANCIAL FEASIBILITY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086136" y="7734110"/>
            <a:ext cx="4334256" cy="127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sz="1650">
                <a:solidFill>
                  <a:srgbClr val="1E2638"/>
                </a:solidFill>
                <a:latin typeface="Calibri"/>
              </a:rPr>
              <a:t>Prototype Build: ₹35,800 (Calibrated Functional Prototype).</a:t>
            </a:r>
          </a:p>
          <a:p>
            <a:r>
              <a:rPr sz="1650">
                <a:solidFill>
                  <a:srgbClr val="1E2638"/>
                </a:solidFill>
                <a:latin typeface="Calibri"/>
              </a:rPr>
              <a:t>Production BOM: ₹85,000 – ₹1,20,000 per unit (10x cheaper than commercial enterprise drones).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6227307" y="2194560"/>
            <a:ext cx="1794462" cy="411480"/>
            <a:chOff x="0" y="0"/>
            <a:chExt cx="2392616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92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39268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118360" y="0"/>
                  </a:lnTo>
                  <a:cubicBezTo>
                    <a:pt x="2269871" y="0"/>
                    <a:pt x="2392680" y="122809"/>
                    <a:pt x="2392680" y="274320"/>
                  </a:cubicBezTo>
                  <a:cubicBezTo>
                    <a:pt x="2392680" y="425831"/>
                    <a:pt x="2269871" y="548640"/>
                    <a:pt x="211836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08418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227307" y="2194560"/>
            <a:ext cx="1794462" cy="411480"/>
            <a:chOff x="0" y="0"/>
            <a:chExt cx="2392616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392618" cy="548640"/>
            </a:xfrm>
            <a:custGeom>
              <a:avLst/>
              <a:gdLst/>
              <a:ahLst/>
              <a:cxnLst/>
              <a:rect r="r" b="b" t="t" l="l"/>
              <a:pathLst>
                <a:path h="548640" w="2392618">
                  <a:moveTo>
                    <a:pt x="0" y="0"/>
                  </a:moveTo>
                  <a:lnTo>
                    <a:pt x="2392618" y="0"/>
                  </a:lnTo>
                  <a:lnTo>
                    <a:pt x="239261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74" r="0" b="-3497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2392616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1434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VIABILITY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227307" y="2688336"/>
            <a:ext cx="411480" cy="411480"/>
            <a:chOff x="0" y="0"/>
            <a:chExt cx="54864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330177" y="2791206"/>
            <a:ext cx="205740" cy="205740"/>
            <a:chOff x="0" y="0"/>
            <a:chExt cx="274320" cy="274320"/>
          </a:xfrm>
        </p:grpSpPr>
        <p:sp>
          <p:nvSpPr>
            <p:cNvPr name="Freeform 63" id="63" descr="Economic Viabili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775947" y="2688336"/>
            <a:ext cx="4114800" cy="411480"/>
            <a:chOff x="0" y="0"/>
            <a:chExt cx="548640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ECONOMIC VIABILITY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117617" y="4072953"/>
            <a:ext cx="5309435" cy="1022541"/>
            <a:chOff x="0" y="0"/>
            <a:chExt cx="7079247" cy="1363388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4161803" y="515112"/>
              <a:ext cx="2917443" cy="804867"/>
              <a:chOff x="0" y="0"/>
              <a:chExt cx="576285" cy="158986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576285" cy="158986"/>
              </a:xfrm>
              <a:custGeom>
                <a:avLst/>
                <a:gdLst/>
                <a:ahLst/>
                <a:cxnLst/>
                <a:rect r="r" b="b" t="t" l="l"/>
                <a:pathLst>
                  <a:path h="158986" w="576285">
                    <a:moveTo>
                      <a:pt x="60150" y="0"/>
                    </a:moveTo>
                    <a:lnTo>
                      <a:pt x="516135" y="0"/>
                    </a:lnTo>
                    <a:cubicBezTo>
                      <a:pt x="532088" y="0"/>
                      <a:pt x="547387" y="6337"/>
                      <a:pt x="558668" y="17617"/>
                    </a:cubicBezTo>
                    <a:cubicBezTo>
                      <a:pt x="569948" y="28898"/>
                      <a:pt x="576285" y="44197"/>
                      <a:pt x="576285" y="60150"/>
                    </a:cubicBezTo>
                    <a:lnTo>
                      <a:pt x="576285" y="98836"/>
                    </a:lnTo>
                    <a:cubicBezTo>
                      <a:pt x="576285" y="114789"/>
                      <a:pt x="569948" y="130088"/>
                      <a:pt x="558668" y="141369"/>
                    </a:cubicBezTo>
                    <a:cubicBezTo>
                      <a:pt x="547387" y="152649"/>
                      <a:pt x="532088" y="158986"/>
                      <a:pt x="516135" y="158986"/>
                    </a:cubicBezTo>
                    <a:lnTo>
                      <a:pt x="60150" y="158986"/>
                    </a:lnTo>
                    <a:cubicBezTo>
                      <a:pt x="44197" y="158986"/>
                      <a:pt x="28898" y="152649"/>
                      <a:pt x="17617" y="141369"/>
                    </a:cubicBezTo>
                    <a:cubicBezTo>
                      <a:pt x="6337" y="130088"/>
                      <a:pt x="0" y="114789"/>
                      <a:pt x="0" y="98836"/>
                    </a:cubicBezTo>
                    <a:lnTo>
                      <a:pt x="0" y="60150"/>
                    </a:lnTo>
                    <a:cubicBezTo>
                      <a:pt x="0" y="44197"/>
                      <a:pt x="6337" y="28898"/>
                      <a:pt x="17617" y="17617"/>
                    </a:cubicBezTo>
                    <a:cubicBezTo>
                      <a:pt x="28898" y="6337"/>
                      <a:pt x="44197" y="0"/>
                      <a:pt x="60150" y="0"/>
                    </a:cubicBezTo>
                    <a:close/>
                  </a:path>
                </a:pathLst>
              </a:custGeom>
              <a:solidFill>
                <a:srgbClr val="DCFFE0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38100"/>
                <a:ext cx="576285" cy="1970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134887" y="0"/>
              <a:ext cx="6528816" cy="456313"/>
              <a:chOff x="0" y="0"/>
              <a:chExt cx="6528816" cy="456313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6528816" cy="456313"/>
              </a:xfrm>
              <a:custGeom>
                <a:avLst/>
                <a:gdLst/>
                <a:ahLst/>
                <a:cxnLst/>
                <a:rect r="r" b="b" t="t" l="l"/>
                <a:pathLst>
                  <a:path h="456313" w="6528816">
                    <a:moveTo>
                      <a:pt x="0" y="0"/>
                    </a:moveTo>
                    <a:lnTo>
                      <a:pt x="6528816" y="0"/>
                    </a:lnTo>
                    <a:lnTo>
                      <a:pt x="6528816" y="456313"/>
                    </a:lnTo>
                    <a:lnTo>
                      <a:pt x="0" y="45631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0693" r="0" b="-226880"/>
                </a:stretch>
              </a:blip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38100"/>
                <a:ext cx="6528816" cy="49441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70"/>
                  </a:lnSpc>
                </a:pPr>
                <a:r>
                  <a:rPr lang="en-US" sz="1725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Enterprise Drone Disruption costs:</a:t>
                </a: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0" y="517524"/>
              <a:ext cx="3987978" cy="845864"/>
              <a:chOff x="0" y="0"/>
              <a:chExt cx="787749" cy="167084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787749" cy="167084"/>
              </a:xfrm>
              <a:custGeom>
                <a:avLst/>
                <a:gdLst/>
                <a:ahLst/>
                <a:cxnLst/>
                <a:rect r="r" b="b" t="t" l="l"/>
                <a:pathLst>
                  <a:path h="167084" w="787749">
                    <a:moveTo>
                      <a:pt x="44003" y="0"/>
                    </a:moveTo>
                    <a:lnTo>
                      <a:pt x="743746" y="0"/>
                    </a:lnTo>
                    <a:cubicBezTo>
                      <a:pt x="755416" y="0"/>
                      <a:pt x="766608" y="4636"/>
                      <a:pt x="774861" y="12888"/>
                    </a:cubicBezTo>
                    <a:cubicBezTo>
                      <a:pt x="783113" y="21140"/>
                      <a:pt x="787749" y="32333"/>
                      <a:pt x="787749" y="44003"/>
                    </a:cubicBezTo>
                    <a:lnTo>
                      <a:pt x="787749" y="123081"/>
                    </a:lnTo>
                    <a:cubicBezTo>
                      <a:pt x="787749" y="147383"/>
                      <a:pt x="768048" y="167084"/>
                      <a:pt x="743746" y="167084"/>
                    </a:cubicBezTo>
                    <a:lnTo>
                      <a:pt x="44003" y="167084"/>
                    </a:lnTo>
                    <a:cubicBezTo>
                      <a:pt x="19701" y="167084"/>
                      <a:pt x="0" y="147383"/>
                      <a:pt x="0" y="123081"/>
                    </a:cubicBezTo>
                    <a:lnTo>
                      <a:pt x="0" y="44003"/>
                    </a:lnTo>
                    <a:cubicBezTo>
                      <a:pt x="0" y="19701"/>
                      <a:pt x="19701" y="0"/>
                      <a:pt x="44003" y="0"/>
                    </a:cubicBezTo>
                    <a:close/>
                  </a:path>
                </a:pathLst>
              </a:custGeom>
              <a:solidFill>
                <a:srgbClr val="FFDCDC"/>
              </a:solid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38100"/>
                <a:ext cx="787749" cy="205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</a:p>
            </p:txBody>
          </p:sp>
        </p:grpSp>
        <p:grpSp>
          <p:nvGrpSpPr>
            <p:cNvPr name="Group 77" id="77"/>
            <p:cNvGrpSpPr/>
            <p:nvPr/>
          </p:nvGrpSpPr>
          <p:grpSpPr>
            <a:xfrm rot="0">
              <a:off x="103413" y="697613"/>
              <a:ext cx="2455565" cy="523143"/>
              <a:chOff x="0" y="0"/>
              <a:chExt cx="2479353" cy="528211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2479353" cy="528211"/>
              </a:xfrm>
              <a:custGeom>
                <a:avLst/>
                <a:gdLst/>
                <a:ahLst/>
                <a:cxnLst/>
                <a:rect r="r" b="b" t="t" l="l"/>
                <a:pathLst>
                  <a:path h="528211" w="2479353">
                    <a:moveTo>
                      <a:pt x="0" y="0"/>
                    </a:moveTo>
                    <a:lnTo>
                      <a:pt x="2479353" y="0"/>
                    </a:lnTo>
                    <a:lnTo>
                      <a:pt x="2479353" y="528211"/>
                    </a:lnTo>
                    <a:lnTo>
                      <a:pt x="0" y="52821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8485" r="-10641" b="-73900"/>
                </a:stretch>
              </a:blipFill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47625"/>
                <a:ext cx="2479353" cy="57583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364"/>
                  </a:lnSpc>
                </a:pPr>
                <a:r>
                  <a:rPr lang="en-US" sz="197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DJI Matrice 30T </a:t>
                </a:r>
              </a:p>
            </p:txBody>
          </p:sp>
        </p:grpSp>
        <p:grpSp>
          <p:nvGrpSpPr>
            <p:cNvPr name="Group 80" id="80"/>
            <p:cNvGrpSpPr/>
            <p:nvPr/>
          </p:nvGrpSpPr>
          <p:grpSpPr>
            <a:xfrm rot="0">
              <a:off x="2361713" y="652800"/>
              <a:ext cx="1495291" cy="571752"/>
              <a:chOff x="0" y="0"/>
              <a:chExt cx="1770833" cy="677111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1770832" cy="677111"/>
              </a:xfrm>
              <a:custGeom>
                <a:avLst/>
                <a:gdLst/>
                <a:ahLst/>
                <a:cxnLst/>
                <a:rect r="r" b="b" t="t" l="l"/>
                <a:pathLst>
                  <a:path h="677111" w="1770832">
                    <a:moveTo>
                      <a:pt x="0" y="0"/>
                    </a:moveTo>
                    <a:lnTo>
                      <a:pt x="1770832" y="0"/>
                    </a:lnTo>
                    <a:lnTo>
                      <a:pt x="1770832" y="677111"/>
                    </a:lnTo>
                    <a:lnTo>
                      <a:pt x="0" y="67711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1166" r="-111710" b="-64603"/>
                </a:stretch>
              </a:blipFill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38100"/>
                <a:ext cx="1770833" cy="71521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280"/>
                  </a:lnSpc>
                </a:pPr>
                <a:r>
                  <a:rPr lang="en-US" sz="1900" b="true">
                    <a:solidFill>
                      <a:srgbClr val="B42318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₹10+ Lakhs</a:t>
                </a:r>
              </a:p>
            </p:txBody>
          </p:sp>
        </p:grpSp>
        <p:grpSp>
          <p:nvGrpSpPr>
            <p:cNvPr name="Group 83" id="83"/>
            <p:cNvGrpSpPr/>
            <p:nvPr/>
          </p:nvGrpSpPr>
          <p:grpSpPr>
            <a:xfrm rot="0">
              <a:off x="4332535" y="652800"/>
              <a:ext cx="1589199" cy="606691"/>
              <a:chOff x="0" y="0"/>
              <a:chExt cx="2841207" cy="1084656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2841207" cy="1084656"/>
              </a:xfrm>
              <a:custGeom>
                <a:avLst/>
                <a:gdLst/>
                <a:ahLst/>
                <a:cxnLst/>
                <a:rect r="r" b="b" t="t" l="l"/>
                <a:pathLst>
                  <a:path h="1084656" w="2841207">
                    <a:moveTo>
                      <a:pt x="0" y="0"/>
                    </a:moveTo>
                    <a:lnTo>
                      <a:pt x="2841207" y="0"/>
                    </a:lnTo>
                    <a:lnTo>
                      <a:pt x="2841207" y="1084656"/>
                    </a:lnTo>
                    <a:lnTo>
                      <a:pt x="0" y="108465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872" r="3449" b="15313"/>
                </a:stretch>
              </a:blipFill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0" y="-47625"/>
                <a:ext cx="2841207" cy="113228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29"/>
                  </a:lnSpc>
                </a:pPr>
                <a:r>
                  <a:rPr lang="en-US" sz="2274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Phoenix </a:t>
                </a:r>
              </a:p>
            </p:txBody>
          </p:sp>
        </p:grpSp>
        <p:grpSp>
          <p:nvGrpSpPr>
            <p:cNvPr name="Group 86" id="86"/>
            <p:cNvGrpSpPr/>
            <p:nvPr/>
          </p:nvGrpSpPr>
          <p:grpSpPr>
            <a:xfrm rot="0">
              <a:off x="5223134" y="633999"/>
              <a:ext cx="1766707" cy="644292"/>
              <a:chOff x="0" y="0"/>
              <a:chExt cx="1766707" cy="644292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1766706" cy="644292"/>
              </a:xfrm>
              <a:custGeom>
                <a:avLst/>
                <a:gdLst/>
                <a:ahLst/>
                <a:cxnLst/>
                <a:rect r="r" b="b" t="t" l="l"/>
                <a:pathLst>
                  <a:path h="644292" w="1766706">
                    <a:moveTo>
                      <a:pt x="0" y="0"/>
                    </a:moveTo>
                    <a:lnTo>
                      <a:pt x="1766706" y="0"/>
                    </a:lnTo>
                    <a:lnTo>
                      <a:pt x="1766706" y="644292"/>
                    </a:lnTo>
                    <a:lnTo>
                      <a:pt x="0" y="6442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3772" r="-112205" b="-72988"/>
                </a:stretch>
              </a:blipFill>
            </p:spPr>
          </p:sp>
          <p:sp>
            <p:nvSpPr>
              <p:cNvPr name="TextBox 88" id="88"/>
              <p:cNvSpPr txBox="true"/>
              <p:nvPr/>
            </p:nvSpPr>
            <p:spPr>
              <a:xfrm>
                <a:off x="0" y="-38100"/>
                <a:ext cx="1766707" cy="6823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280"/>
                  </a:lnSpc>
                </a:pPr>
                <a:r>
                  <a:rPr lang="en-US" sz="1900" b="true">
                    <a:solidFill>
                      <a:srgbClr val="0A7A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₹1.2 Lakh</a:t>
                </a:r>
              </a:p>
            </p:txBody>
          </p:sp>
        </p:grpSp>
      </p:grpSp>
      <p:grpSp>
        <p:nvGrpSpPr>
          <p:cNvPr name="Group 89" id="89"/>
          <p:cNvGrpSpPr/>
          <p:nvPr/>
        </p:nvGrpSpPr>
        <p:grpSpPr>
          <a:xfrm rot="0">
            <a:off x="6117617" y="3172150"/>
            <a:ext cx="5309435" cy="828470"/>
            <a:chOff x="0" y="0"/>
            <a:chExt cx="7079247" cy="1104626"/>
          </a:xfrm>
        </p:grpSpPr>
        <p:grpSp>
          <p:nvGrpSpPr>
            <p:cNvPr name="Group 90" id="90"/>
            <p:cNvGrpSpPr/>
            <p:nvPr/>
          </p:nvGrpSpPr>
          <p:grpSpPr>
            <a:xfrm rot="0">
              <a:off x="0" y="148836"/>
              <a:ext cx="7079247" cy="806955"/>
              <a:chOff x="0" y="0"/>
              <a:chExt cx="1072027" cy="122199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1072027" cy="122199"/>
              </a:xfrm>
              <a:custGeom>
                <a:avLst/>
                <a:gdLst/>
                <a:ahLst/>
                <a:cxnLst/>
                <a:rect r="r" b="b" t="t" l="l"/>
                <a:pathLst>
                  <a:path h="122199" w="1072027">
                    <a:moveTo>
                      <a:pt x="24788" y="0"/>
                    </a:moveTo>
                    <a:lnTo>
                      <a:pt x="1047239" y="0"/>
                    </a:lnTo>
                    <a:cubicBezTo>
                      <a:pt x="1060929" y="0"/>
                      <a:pt x="1072027" y="11098"/>
                      <a:pt x="1072027" y="24788"/>
                    </a:cubicBezTo>
                    <a:lnTo>
                      <a:pt x="1072027" y="97411"/>
                    </a:lnTo>
                    <a:cubicBezTo>
                      <a:pt x="1072027" y="111101"/>
                      <a:pt x="1060929" y="122199"/>
                      <a:pt x="1047239" y="122199"/>
                    </a:cubicBezTo>
                    <a:lnTo>
                      <a:pt x="24788" y="122199"/>
                    </a:lnTo>
                    <a:cubicBezTo>
                      <a:pt x="11098" y="122199"/>
                      <a:pt x="0" y="111101"/>
                      <a:pt x="0" y="97411"/>
                    </a:cubicBezTo>
                    <a:lnTo>
                      <a:pt x="0" y="24788"/>
                    </a:lnTo>
                    <a:cubicBezTo>
                      <a:pt x="0" y="11098"/>
                      <a:pt x="11098" y="0"/>
                      <a:pt x="24788" y="0"/>
                    </a:cubicBezTo>
                    <a:close/>
                  </a:path>
                </a:pathLst>
              </a:custGeom>
              <a:solidFill>
                <a:srgbClr val="FC9223"/>
              </a:solidFill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0" y="-38100"/>
                <a:ext cx="1072027" cy="1602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</a:p>
            </p:txBody>
          </p:sp>
        </p:grpSp>
        <p:grpSp>
          <p:nvGrpSpPr>
            <p:cNvPr name="Group 93" id="93"/>
            <p:cNvGrpSpPr/>
            <p:nvPr/>
          </p:nvGrpSpPr>
          <p:grpSpPr>
            <a:xfrm rot="0">
              <a:off x="201618" y="0"/>
              <a:ext cx="6727618" cy="1104626"/>
              <a:chOff x="0" y="0"/>
              <a:chExt cx="5157571" cy="846836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5157571" cy="846836"/>
              </a:xfrm>
              <a:custGeom>
                <a:avLst/>
                <a:gdLst/>
                <a:ahLst/>
                <a:cxnLst/>
                <a:rect r="r" b="b" t="t" l="l"/>
                <a:pathLst>
                  <a:path h="846836" w="5157571">
                    <a:moveTo>
                      <a:pt x="0" y="0"/>
                    </a:moveTo>
                    <a:lnTo>
                      <a:pt x="5157571" y="0"/>
                    </a:lnTo>
                    <a:lnTo>
                      <a:pt x="5157571" y="846836"/>
                    </a:lnTo>
                    <a:lnTo>
                      <a:pt x="0" y="84683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4872" r="-26587" b="-95573"/>
                </a:stretch>
              </a:blipFill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0" y="-57150"/>
                <a:ext cx="5157571" cy="90398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419"/>
                  </a:lnSpc>
                </a:pPr>
                <a:r>
                  <a:rPr lang="en-US" sz="2850" b="true">
                    <a:solidFill>
                      <a:srgbClr val="14345C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Prototype cost:</a:t>
                </a:r>
                <a:r>
                  <a:rPr lang="en-US" sz="2850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 </a:t>
                </a:r>
                <a:r>
                  <a:rPr lang="en-US" b="true" sz="285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&lt;40,000₹</a:t>
                </a:r>
              </a:p>
            </p:txBody>
          </p:sp>
        </p:grpSp>
      </p:grpSp>
      <p:sp>
        <p:nvSpPr>
          <p:cNvPr name="TextBox 96" id="96"/>
          <p:cNvSpPr txBox="true"/>
          <p:nvPr/>
        </p:nvSpPr>
        <p:spPr>
          <a:xfrm rot="0">
            <a:off x="6237451" y="5405057"/>
            <a:ext cx="489661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b="true" sz="16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Fleet Scalability: </a:t>
            </a:r>
            <a:r>
              <a:rPr lang="en-US" sz="1650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NDRF battalions can deploy a swarm of 5 Phoenix UAVs for the price of 1 commercial drone.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6237451" y="6290882"/>
            <a:ext cx="411480" cy="411480"/>
            <a:chOff x="0" y="0"/>
            <a:chExt cx="54864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6340321" y="6393752"/>
            <a:ext cx="205740" cy="205740"/>
            <a:chOff x="0" y="0"/>
            <a:chExt cx="274320" cy="274320"/>
          </a:xfrm>
        </p:grpSpPr>
        <p:sp>
          <p:nvSpPr>
            <p:cNvPr name="Freeform 100" id="100" descr="National Data Sovereign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6786091" y="6290882"/>
            <a:ext cx="4114800" cy="411480"/>
            <a:chOff x="0" y="0"/>
            <a:chExt cx="5486400" cy="5486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NATIONAL DATA SOVEREIGNTY</a:t>
              </a:r>
            </a:p>
          </p:txBody>
        </p:sp>
      </p:grpSp>
      <p:sp>
        <p:nvSpPr>
          <p:cNvPr name="TextBox 104" id="104"/>
          <p:cNvSpPr txBox="true"/>
          <p:nvPr/>
        </p:nvSpPr>
        <p:spPr>
          <a:xfrm rot="0">
            <a:off x="6237451" y="6756083"/>
            <a:ext cx="4896612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b="true" sz="16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 Air-Gapped: </a:t>
            </a:r>
            <a:r>
              <a:rPr lang="en-US" sz="1650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Zero telemetry leaked to foreign cloud servers; adheres to Indian Defense &amp; Home Ministry cyber norms.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6237451" y="7662482"/>
            <a:ext cx="411480" cy="411480"/>
            <a:chOff x="0" y="0"/>
            <a:chExt cx="548640" cy="54864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6340321" y="7765352"/>
            <a:ext cx="205740" cy="205740"/>
            <a:chOff x="0" y="0"/>
            <a:chExt cx="274320" cy="274320"/>
          </a:xfrm>
        </p:grpSpPr>
        <p:sp>
          <p:nvSpPr>
            <p:cNvPr name="Freeform 108" id="108" descr="Deployment Ecosystem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6786091" y="7662482"/>
            <a:ext cx="4114800" cy="411480"/>
            <a:chOff x="0" y="0"/>
            <a:chExt cx="5486400" cy="5486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DEPLOYMENT ECOSYSTEM</a:t>
              </a:r>
            </a:p>
          </p:txBody>
        </p:sp>
      </p:grpSp>
      <p:sp>
        <p:nvSpPr>
          <p:cNvPr name="TextBox 112" id="112"/>
          <p:cNvSpPr txBox="true"/>
          <p:nvPr/>
        </p:nvSpPr>
        <p:spPr>
          <a:xfrm rot="0">
            <a:off x="6237451" y="8127683"/>
            <a:ext cx="4896612" cy="87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Seamless integration into state disaster management authorities (NDRF, SDRF, Indian Army disaster columns).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12056364" y="2194560"/>
            <a:ext cx="3689737" cy="411480"/>
            <a:chOff x="0" y="0"/>
            <a:chExt cx="4919650" cy="5486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919599" cy="548640"/>
            </a:xfrm>
            <a:custGeom>
              <a:avLst/>
              <a:gdLst/>
              <a:ahLst/>
              <a:cxnLst/>
              <a:rect r="r" b="b" t="t" l="l"/>
              <a:pathLst>
                <a:path h="548640" w="491959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645279" y="0"/>
                  </a:lnTo>
                  <a:cubicBezTo>
                    <a:pt x="4796790" y="0"/>
                    <a:pt x="4919599" y="122809"/>
                    <a:pt x="4919599" y="274320"/>
                  </a:cubicBezTo>
                  <a:cubicBezTo>
                    <a:pt x="4919599" y="425831"/>
                    <a:pt x="4796790" y="548640"/>
                    <a:pt x="4645279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E1EEF9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2056364" y="2194560"/>
            <a:ext cx="3689737" cy="411480"/>
            <a:chOff x="0" y="0"/>
            <a:chExt cx="4919650" cy="5486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919654" cy="548640"/>
            </a:xfrm>
            <a:custGeom>
              <a:avLst/>
              <a:gdLst/>
              <a:ahLst/>
              <a:cxnLst/>
              <a:rect r="r" b="b" t="t" l="l"/>
              <a:pathLst>
                <a:path h="548640" w="4919654">
                  <a:moveTo>
                    <a:pt x="0" y="0"/>
                  </a:moveTo>
                  <a:lnTo>
                    <a:pt x="4919654" y="0"/>
                  </a:lnTo>
                  <a:lnTo>
                    <a:pt x="491965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722" r="0" b="-124722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491965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→ STRATEGIES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2056364" y="2962656"/>
            <a:ext cx="438912" cy="438912"/>
            <a:chOff x="0" y="0"/>
            <a:chExt cx="585216" cy="58521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2056364" y="2962656"/>
            <a:ext cx="438912" cy="438912"/>
            <a:chOff x="0" y="0"/>
            <a:chExt cx="585216" cy="585216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2687300" y="2948940"/>
            <a:ext cx="4471416" cy="466344"/>
            <a:chOff x="0" y="0"/>
            <a:chExt cx="5961888" cy="62179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27" r="0" b="-136827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5961888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Comms Blackout in Canyons</a:t>
              </a:r>
            </a:p>
          </p:txBody>
        </p:sp>
      </p:grpSp>
      <p:sp>
        <p:nvSpPr>
          <p:cNvPr name="TextBox 126" id="126"/>
          <p:cNvSpPr txBox="true"/>
          <p:nvPr/>
        </p:nvSpPr>
        <p:spPr>
          <a:xfrm rot="0">
            <a:off x="12687300" y="3414141"/>
            <a:ext cx="4471416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sz="1600" b="1">
                <a:solidFill>
                  <a:srgbClr val="B35A00"/>
                </a:solidFill>
                <a:latin typeface="Calibri"/>
              </a:rPr>
              <a:t>→ Strategy: </a:t>
            </a:r>
            <a:r>
              <a:rPr sz="1600">
                <a:solidFill>
                  <a:srgbClr val="1E2638"/>
                </a:solidFill>
                <a:latin typeface="Calibri"/>
              </a:rPr>
              <a:t>868MHz LoRa packet bridge in NLoS canyons (Pérez-Díaz-de-Cerio et al., IEEE Access 2026).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12056364" y="4238244"/>
            <a:ext cx="438912" cy="438912"/>
            <a:chOff x="0" y="0"/>
            <a:chExt cx="585216" cy="58521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2056364" y="4238244"/>
            <a:ext cx="438912" cy="438912"/>
            <a:chOff x="0" y="0"/>
            <a:chExt cx="585216" cy="585216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2687300" y="4224528"/>
            <a:ext cx="4471416" cy="466344"/>
            <a:chOff x="0" y="0"/>
            <a:chExt cx="5961888" cy="621792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27" r="0" b="-136827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5961888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Smoke, Mud Slush &amp; Darkness</a:t>
              </a:r>
            </a:p>
          </p:txBody>
        </p:sp>
      </p:grpSp>
      <p:sp>
        <p:nvSpPr>
          <p:cNvPr name="TextBox 135" id="135"/>
          <p:cNvSpPr txBox="true"/>
          <p:nvPr/>
        </p:nvSpPr>
        <p:spPr>
          <a:xfrm rot="0">
            <a:off x="12687300" y="4689729"/>
            <a:ext cx="4471416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sz="1600" b="1">
                <a:solidFill>
                  <a:srgbClr val="B35A00"/>
                </a:solidFill>
                <a:latin typeface="Calibri"/>
              </a:rPr>
              <a:t>→ Strategy: </a:t>
            </a:r>
            <a:r>
              <a:rPr sz="1600">
                <a:solidFill>
                  <a:srgbClr val="1E2638"/>
                </a:solidFill>
                <a:latin typeface="Calibri"/>
              </a:rPr>
              <a:t>8-14μm LWIR thermal fusion in dense smoke &amp; fire (Siotia et al., IEEE Access 2026).</a:t>
            </a:r>
          </a:p>
        </p:txBody>
      </p:sp>
      <p:grpSp>
        <p:nvGrpSpPr>
          <p:cNvPr name="Group 136" id="136"/>
          <p:cNvGrpSpPr/>
          <p:nvPr/>
        </p:nvGrpSpPr>
        <p:grpSpPr>
          <a:xfrm rot="0">
            <a:off x="12056364" y="5513832"/>
            <a:ext cx="438912" cy="438912"/>
            <a:chOff x="0" y="0"/>
            <a:chExt cx="585216" cy="585216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12056364" y="5513832"/>
            <a:ext cx="438912" cy="438912"/>
            <a:chOff x="0" y="0"/>
            <a:chExt cx="585216" cy="58521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2687300" y="5500116"/>
            <a:ext cx="4471416" cy="466344"/>
            <a:chOff x="0" y="0"/>
            <a:chExt cx="5961888" cy="621792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27" r="0" b="-136827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5961888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Rubble Steel Magnetometer Distortion</a:t>
              </a:r>
            </a:p>
          </p:txBody>
        </p:sp>
      </p:grpSp>
      <p:sp>
        <p:nvSpPr>
          <p:cNvPr name="TextBox 144" id="144"/>
          <p:cNvSpPr txBox="true"/>
          <p:nvPr/>
        </p:nvSpPr>
        <p:spPr>
          <a:xfrm rot="0">
            <a:off x="12687300" y="5965317"/>
            <a:ext cx="4471416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sz="1600" b="1">
                <a:solidFill>
                  <a:srgbClr val="B35A00"/>
                </a:solidFill>
                <a:latin typeface="Calibri"/>
              </a:rPr>
              <a:t>→ Strategy: </a:t>
            </a:r>
            <a:r>
              <a:rPr sz="1600">
                <a:solidFill>
                  <a:srgbClr val="1E2638"/>
                </a:solidFill>
                <a:latin typeface="Calibri"/>
              </a:rPr>
              <a:t>Visual-Inertial Odometry overrides magnetometer in collapsed rebar (IEEE).</a:t>
            </a:r>
          </a:p>
        </p:txBody>
      </p:sp>
      <p:grpSp>
        <p:nvGrpSpPr>
          <p:cNvPr name="Group 145" id="145"/>
          <p:cNvGrpSpPr/>
          <p:nvPr/>
        </p:nvGrpSpPr>
        <p:grpSpPr>
          <a:xfrm rot="0">
            <a:off x="12056364" y="6789420"/>
            <a:ext cx="438912" cy="438912"/>
            <a:chOff x="0" y="0"/>
            <a:chExt cx="585216" cy="585216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2056364" y="6789420"/>
            <a:ext cx="438912" cy="438912"/>
            <a:chOff x="0" y="0"/>
            <a:chExt cx="585216" cy="58521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2687300" y="6775704"/>
            <a:ext cx="4471416" cy="466344"/>
            <a:chOff x="0" y="0"/>
            <a:chExt cx="5961888" cy="621792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27" r="0" b="-136827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5961888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Propeller Vibration Sensor Noise</a:t>
              </a:r>
            </a:p>
          </p:txBody>
        </p:sp>
      </p:grpSp>
      <p:sp>
        <p:nvSpPr>
          <p:cNvPr name="TextBox 153" id="153"/>
          <p:cNvSpPr txBox="true"/>
          <p:nvPr/>
        </p:nvSpPr>
        <p:spPr>
          <a:xfrm rot="0">
            <a:off x="12687300" y="7240905"/>
            <a:ext cx="4471416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sz="1600" b="1">
                <a:solidFill>
                  <a:srgbClr val="B35A00"/>
                </a:solidFill>
                <a:latin typeface="Calibri"/>
              </a:rPr>
              <a:t>→ Strategy: </a:t>
            </a:r>
            <a:r>
              <a:rPr sz="1600">
                <a:solidFill>
                  <a:srgbClr val="1E2638"/>
                </a:solidFill>
                <a:latin typeface="Calibri"/>
              </a:rPr>
              <a:t>Notch-filtered EKF &amp; harmonic vibration dampening (Bouabdallah, IEEE IROS).</a:t>
            </a:r>
          </a:p>
        </p:txBody>
      </p:sp>
      <p:grpSp>
        <p:nvGrpSpPr>
          <p:cNvPr name="Group 154" id="154"/>
          <p:cNvGrpSpPr/>
          <p:nvPr/>
        </p:nvGrpSpPr>
        <p:grpSpPr>
          <a:xfrm rot="0">
            <a:off x="12056364" y="8065008"/>
            <a:ext cx="438912" cy="438912"/>
            <a:chOff x="0" y="0"/>
            <a:chExt cx="585216" cy="585216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2056364" y="8065008"/>
            <a:ext cx="438912" cy="438912"/>
            <a:chOff x="0" y="0"/>
            <a:chExt cx="585216" cy="58521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2687300" y="8051292"/>
            <a:ext cx="4471416" cy="466344"/>
            <a:chOff x="0" y="0"/>
            <a:chExt cx="5961888" cy="621792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27" r="0" b="-136827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5961888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Actuator Saturation in Gusts</a:t>
              </a:r>
            </a:p>
          </p:txBody>
        </p:sp>
      </p:grpSp>
      <p:sp>
        <p:nvSpPr>
          <p:cNvPr name="TextBox 162" id="162"/>
          <p:cNvSpPr txBox="true"/>
          <p:nvPr/>
        </p:nvSpPr>
        <p:spPr>
          <a:xfrm rot="0">
            <a:off x="12687300" y="8516493"/>
            <a:ext cx="4471416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sz="1600" b="1">
                <a:solidFill>
                  <a:srgbClr val="B35A00"/>
                </a:solidFill>
                <a:latin typeface="Calibri"/>
              </a:rPr>
              <a:t>→ Strategy: </a:t>
            </a:r>
            <a:r>
              <a:rPr sz="1600">
                <a:solidFill>
                  <a:srgbClr val="1E2638"/>
                </a:solidFill>
                <a:latin typeface="Calibri"/>
              </a:rPr>
              <a:t>Anti-windup integrator clamping on 400Hz PID loop (Bouabdallah, IEEE ICRA).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3" id="13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" t="0" r="-3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86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8972" y="1275588"/>
            <a:ext cx="16459200" cy="466344"/>
            <a:chOff x="0" y="0"/>
            <a:chExt cx="21945600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621792"/>
            </a:xfrm>
            <a:custGeom>
              <a:avLst/>
              <a:gdLst/>
              <a:ahLst/>
              <a:cxnLst/>
              <a:rect r="r" b="b" t="t" l="l"/>
              <a:pathLst>
                <a:path h="621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707" r="0" b="-6377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Mission Impact &amp; Multi-Stakeholder Benefits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0617" y="2126859"/>
            <a:ext cx="3927805" cy="2885174"/>
            <a:chOff x="0" y="0"/>
            <a:chExt cx="5237074" cy="38468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37099" cy="3846899"/>
            </a:xfrm>
            <a:custGeom>
              <a:avLst/>
              <a:gdLst/>
              <a:ahLst/>
              <a:cxnLst/>
              <a:rect r="r" b="b" t="t" l="l"/>
              <a:pathLst>
                <a:path h="3846899" w="5237099">
                  <a:moveTo>
                    <a:pt x="0" y="224430"/>
                  </a:moveTo>
                  <a:cubicBezTo>
                    <a:pt x="0" y="100412"/>
                    <a:pt x="115062" y="0"/>
                    <a:pt x="257175" y="0"/>
                  </a:cubicBezTo>
                  <a:lnTo>
                    <a:pt x="4979924" y="0"/>
                  </a:lnTo>
                  <a:cubicBezTo>
                    <a:pt x="5121910" y="0"/>
                    <a:pt x="5237099" y="100412"/>
                    <a:pt x="5237099" y="224430"/>
                  </a:cubicBezTo>
                  <a:lnTo>
                    <a:pt x="5237099" y="3622468"/>
                  </a:lnTo>
                  <a:cubicBezTo>
                    <a:pt x="5237099" y="3746376"/>
                    <a:pt x="5122037" y="3846899"/>
                    <a:pt x="4979924" y="3846899"/>
                  </a:cubicBezTo>
                  <a:lnTo>
                    <a:pt x="257175" y="3846899"/>
                  </a:lnTo>
                  <a:cubicBezTo>
                    <a:pt x="115062" y="3846899"/>
                    <a:pt x="0" y="3746487"/>
                    <a:pt x="0" y="362246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29513" y="2353459"/>
            <a:ext cx="630936" cy="630936"/>
            <a:chOff x="0" y="0"/>
            <a:chExt cx="841248" cy="8412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87247" y="2511193"/>
            <a:ext cx="315468" cy="315468"/>
            <a:chOff x="0" y="0"/>
            <a:chExt cx="420624" cy="420624"/>
          </a:xfrm>
        </p:grpSpPr>
        <p:sp>
          <p:nvSpPr>
            <p:cNvPr name="Freeform 25" id="25" descr="TRAPPED VICTIMS icon"/>
            <p:cNvSpPr/>
            <p:nvPr/>
          </p:nvSpPr>
          <p:spPr>
            <a:xfrm flipH="false" flipV="false" rot="0">
              <a:off x="0" y="0"/>
              <a:ext cx="420624" cy="420624"/>
            </a:xfrm>
            <a:custGeom>
              <a:avLst/>
              <a:gdLst/>
              <a:ahLst/>
              <a:cxnLst/>
              <a:rect r="r" b="b" t="t" l="l"/>
              <a:pathLst>
                <a:path h="420624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925041" y="2353459"/>
            <a:ext cx="2679078" cy="630936"/>
            <a:chOff x="0" y="0"/>
            <a:chExt cx="3572104" cy="8412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72102" cy="841248"/>
            </a:xfrm>
            <a:custGeom>
              <a:avLst/>
              <a:gdLst/>
              <a:ahLst/>
              <a:cxnLst/>
              <a:rect r="r" b="b" t="t" l="l"/>
              <a:pathLst>
                <a:path h="841248" w="3572102">
                  <a:moveTo>
                    <a:pt x="0" y="0"/>
                  </a:moveTo>
                  <a:lnTo>
                    <a:pt x="3572102" y="0"/>
                  </a:lnTo>
                  <a:lnTo>
                    <a:pt x="357210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37" r="0" b="-327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57210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60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TRAPPED VICTIMS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29513" y="3127270"/>
            <a:ext cx="3364878" cy="169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Located in Golden 72h window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Discovered through mud &amp; debris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Rapid medical triage prioritization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Maximized chances of survival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063319" y="2126859"/>
            <a:ext cx="3927805" cy="2885174"/>
            <a:chOff x="0" y="0"/>
            <a:chExt cx="5237074" cy="384689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37099" cy="3846899"/>
            </a:xfrm>
            <a:custGeom>
              <a:avLst/>
              <a:gdLst/>
              <a:ahLst/>
              <a:cxnLst/>
              <a:rect r="r" b="b" t="t" l="l"/>
              <a:pathLst>
                <a:path h="3846899" w="5237099">
                  <a:moveTo>
                    <a:pt x="0" y="224430"/>
                  </a:moveTo>
                  <a:cubicBezTo>
                    <a:pt x="0" y="100412"/>
                    <a:pt x="115062" y="0"/>
                    <a:pt x="257175" y="0"/>
                  </a:cubicBezTo>
                  <a:lnTo>
                    <a:pt x="4979924" y="0"/>
                  </a:lnTo>
                  <a:cubicBezTo>
                    <a:pt x="5121910" y="0"/>
                    <a:pt x="5237099" y="100412"/>
                    <a:pt x="5237099" y="224430"/>
                  </a:cubicBezTo>
                  <a:lnTo>
                    <a:pt x="5237099" y="3622468"/>
                  </a:lnTo>
                  <a:cubicBezTo>
                    <a:pt x="5237099" y="3746376"/>
                    <a:pt x="5122037" y="3846899"/>
                    <a:pt x="4979924" y="3846899"/>
                  </a:cubicBezTo>
                  <a:lnTo>
                    <a:pt x="257175" y="3846899"/>
                  </a:lnTo>
                  <a:cubicBezTo>
                    <a:pt x="115062" y="3846899"/>
                    <a:pt x="0" y="3746487"/>
                    <a:pt x="0" y="362246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372214" y="2353459"/>
            <a:ext cx="630936" cy="630936"/>
            <a:chOff x="0" y="0"/>
            <a:chExt cx="841248" cy="8412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529948" y="2511193"/>
            <a:ext cx="315468" cy="315468"/>
            <a:chOff x="0" y="0"/>
            <a:chExt cx="420624" cy="420624"/>
          </a:xfrm>
        </p:grpSpPr>
        <p:sp>
          <p:nvSpPr>
            <p:cNvPr name="Freeform 35" id="35" descr="NDRF / SDRF TEAMS icon"/>
            <p:cNvSpPr/>
            <p:nvPr/>
          </p:nvSpPr>
          <p:spPr>
            <a:xfrm flipH="false" flipV="false" rot="0">
              <a:off x="0" y="0"/>
              <a:ext cx="420624" cy="420624"/>
            </a:xfrm>
            <a:custGeom>
              <a:avLst/>
              <a:gdLst/>
              <a:ahLst/>
              <a:cxnLst/>
              <a:rect r="r" b="b" t="t" l="l"/>
              <a:pathLst>
                <a:path h="420624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167742" y="2353459"/>
            <a:ext cx="2679078" cy="630936"/>
            <a:chOff x="0" y="0"/>
            <a:chExt cx="3572104" cy="8412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72102" cy="841248"/>
            </a:xfrm>
            <a:custGeom>
              <a:avLst/>
              <a:gdLst/>
              <a:ahLst/>
              <a:cxnLst/>
              <a:rect r="r" b="b" t="t" l="l"/>
              <a:pathLst>
                <a:path h="841248" w="3572102">
                  <a:moveTo>
                    <a:pt x="0" y="0"/>
                  </a:moveTo>
                  <a:lnTo>
                    <a:pt x="3572102" y="0"/>
                  </a:lnTo>
                  <a:lnTo>
                    <a:pt x="357210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37" r="0" b="-3273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57210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60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NDRF / SDRF TEAMS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5372214" y="3127270"/>
            <a:ext cx="3364878" cy="169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Advance hazard mapping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Avoid live cables &amp; gas leaks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safe-route navigation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Reduced physical rescuer fatigue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306020" y="2126859"/>
            <a:ext cx="3927805" cy="2885174"/>
            <a:chOff x="0" y="0"/>
            <a:chExt cx="5237074" cy="384689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37099" cy="3846899"/>
            </a:xfrm>
            <a:custGeom>
              <a:avLst/>
              <a:gdLst/>
              <a:ahLst/>
              <a:cxnLst/>
              <a:rect r="r" b="b" t="t" l="l"/>
              <a:pathLst>
                <a:path h="3846899" w="5237099">
                  <a:moveTo>
                    <a:pt x="0" y="224430"/>
                  </a:moveTo>
                  <a:cubicBezTo>
                    <a:pt x="0" y="100412"/>
                    <a:pt x="115062" y="0"/>
                    <a:pt x="257175" y="0"/>
                  </a:cubicBezTo>
                  <a:lnTo>
                    <a:pt x="4979924" y="0"/>
                  </a:lnTo>
                  <a:cubicBezTo>
                    <a:pt x="5121910" y="0"/>
                    <a:pt x="5237099" y="100412"/>
                    <a:pt x="5237099" y="224430"/>
                  </a:cubicBezTo>
                  <a:lnTo>
                    <a:pt x="5237099" y="3622468"/>
                  </a:lnTo>
                  <a:cubicBezTo>
                    <a:pt x="5237099" y="3746376"/>
                    <a:pt x="5122037" y="3846899"/>
                    <a:pt x="4979924" y="3846899"/>
                  </a:cubicBezTo>
                  <a:lnTo>
                    <a:pt x="257175" y="3846899"/>
                  </a:lnTo>
                  <a:cubicBezTo>
                    <a:pt x="115062" y="3846899"/>
                    <a:pt x="0" y="3746487"/>
                    <a:pt x="0" y="362246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614916" y="2353459"/>
            <a:ext cx="630936" cy="630936"/>
            <a:chOff x="0" y="0"/>
            <a:chExt cx="841248" cy="8412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72650" y="2511193"/>
            <a:ext cx="315468" cy="315468"/>
            <a:chOff x="0" y="0"/>
            <a:chExt cx="420624" cy="420624"/>
          </a:xfrm>
        </p:grpSpPr>
        <p:sp>
          <p:nvSpPr>
            <p:cNvPr name="Freeform 45" id="45" descr="DISASTER AUTHORITIES icon"/>
            <p:cNvSpPr/>
            <p:nvPr/>
          </p:nvSpPr>
          <p:spPr>
            <a:xfrm flipH="false" flipV="false" rot="0">
              <a:off x="0" y="0"/>
              <a:ext cx="420624" cy="420624"/>
            </a:xfrm>
            <a:custGeom>
              <a:avLst/>
              <a:gdLst/>
              <a:ahLst/>
              <a:cxnLst/>
              <a:rect r="r" b="b" t="t" l="l"/>
              <a:pathLst>
                <a:path h="420624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410444" y="2353459"/>
            <a:ext cx="2679078" cy="630936"/>
            <a:chOff x="0" y="0"/>
            <a:chExt cx="3572104" cy="8412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572102" cy="841248"/>
            </a:xfrm>
            <a:custGeom>
              <a:avLst/>
              <a:gdLst/>
              <a:ahLst/>
              <a:cxnLst/>
              <a:rect r="r" b="b" t="t" l="l"/>
              <a:pathLst>
                <a:path h="841248" w="3572102">
                  <a:moveTo>
                    <a:pt x="0" y="0"/>
                  </a:moveTo>
                  <a:lnTo>
                    <a:pt x="3572102" y="0"/>
                  </a:lnTo>
                  <a:lnTo>
                    <a:pt x="357210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37" r="0" b="-3273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57210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60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DISASTER AUTHORITIES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614916" y="3127270"/>
            <a:ext cx="3364878" cy="141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Unified local tactical map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survivor count &amp; coords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Zero dependency on cell towers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Dynamic search sector logging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548722" y="2126859"/>
            <a:ext cx="3927805" cy="2885174"/>
            <a:chOff x="0" y="0"/>
            <a:chExt cx="5237074" cy="384689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37099" cy="3846899"/>
            </a:xfrm>
            <a:custGeom>
              <a:avLst/>
              <a:gdLst/>
              <a:ahLst/>
              <a:cxnLst/>
              <a:rect r="r" b="b" t="t" l="l"/>
              <a:pathLst>
                <a:path h="3846899" w="5237099">
                  <a:moveTo>
                    <a:pt x="0" y="224430"/>
                  </a:moveTo>
                  <a:cubicBezTo>
                    <a:pt x="0" y="100412"/>
                    <a:pt x="115062" y="0"/>
                    <a:pt x="257175" y="0"/>
                  </a:cubicBezTo>
                  <a:lnTo>
                    <a:pt x="4979924" y="0"/>
                  </a:lnTo>
                  <a:cubicBezTo>
                    <a:pt x="5121910" y="0"/>
                    <a:pt x="5237099" y="100412"/>
                    <a:pt x="5237099" y="224430"/>
                  </a:cubicBezTo>
                  <a:lnTo>
                    <a:pt x="5237099" y="3622468"/>
                  </a:lnTo>
                  <a:cubicBezTo>
                    <a:pt x="5237099" y="3746376"/>
                    <a:pt x="5122037" y="3846899"/>
                    <a:pt x="4979924" y="3846899"/>
                  </a:cubicBezTo>
                  <a:lnTo>
                    <a:pt x="257175" y="3846899"/>
                  </a:lnTo>
                  <a:cubicBezTo>
                    <a:pt x="115062" y="3846899"/>
                    <a:pt x="0" y="3746487"/>
                    <a:pt x="0" y="362246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857618" y="2353459"/>
            <a:ext cx="630936" cy="630936"/>
            <a:chOff x="0" y="0"/>
            <a:chExt cx="841248" cy="8412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015352" y="2511193"/>
            <a:ext cx="315468" cy="315468"/>
            <a:chOff x="0" y="0"/>
            <a:chExt cx="420624" cy="420624"/>
          </a:xfrm>
        </p:grpSpPr>
        <p:sp>
          <p:nvSpPr>
            <p:cNvPr name="Freeform 55" id="55" descr="DISTRICT GOVERNANCE icon"/>
            <p:cNvSpPr/>
            <p:nvPr/>
          </p:nvSpPr>
          <p:spPr>
            <a:xfrm flipH="false" flipV="false" rot="0">
              <a:off x="0" y="0"/>
              <a:ext cx="420624" cy="420624"/>
            </a:xfrm>
            <a:custGeom>
              <a:avLst/>
              <a:gdLst/>
              <a:ahLst/>
              <a:cxnLst/>
              <a:rect r="r" b="b" t="t" l="l"/>
              <a:pathLst>
                <a:path h="420624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653146" y="2353459"/>
            <a:ext cx="2679078" cy="630936"/>
            <a:chOff x="0" y="0"/>
            <a:chExt cx="3572104" cy="8412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572102" cy="841248"/>
            </a:xfrm>
            <a:custGeom>
              <a:avLst/>
              <a:gdLst/>
              <a:ahLst/>
              <a:cxnLst/>
              <a:rect r="r" b="b" t="t" l="l"/>
              <a:pathLst>
                <a:path h="841248" w="3572102">
                  <a:moveTo>
                    <a:pt x="0" y="0"/>
                  </a:moveTo>
                  <a:lnTo>
                    <a:pt x="3572102" y="0"/>
                  </a:lnTo>
                  <a:lnTo>
                    <a:pt x="357210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37" r="0" b="-3273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57210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60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DISTRICT GOVERNANCE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3857618" y="3127270"/>
            <a:ext cx="3364878" cy="141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Efficient resource allocation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Targeted airlift &amp; medical drops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Post-disaster audit trails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Affordable procurement at scale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815816" y="5396960"/>
            <a:ext cx="16655910" cy="3937064"/>
            <a:chOff x="0" y="0"/>
            <a:chExt cx="22207880" cy="524941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207855" cy="5249418"/>
            </a:xfrm>
            <a:custGeom>
              <a:avLst/>
              <a:gdLst/>
              <a:ahLst/>
              <a:cxnLst/>
              <a:rect r="r" b="b" t="t" l="l"/>
              <a:pathLst>
                <a:path h="5249418" w="22207855">
                  <a:moveTo>
                    <a:pt x="0" y="256921"/>
                  </a:moveTo>
                  <a:cubicBezTo>
                    <a:pt x="0" y="115062"/>
                    <a:pt x="115062" y="0"/>
                    <a:pt x="256921" y="0"/>
                  </a:cubicBezTo>
                  <a:lnTo>
                    <a:pt x="21950935" y="0"/>
                  </a:lnTo>
                  <a:cubicBezTo>
                    <a:pt x="22092794" y="0"/>
                    <a:pt x="22207855" y="115062"/>
                    <a:pt x="22207855" y="256921"/>
                  </a:cubicBezTo>
                  <a:lnTo>
                    <a:pt x="22207855" y="4992497"/>
                  </a:lnTo>
                  <a:cubicBezTo>
                    <a:pt x="22207855" y="5134356"/>
                    <a:pt x="22092794" y="5249418"/>
                    <a:pt x="21950935" y="5249418"/>
                  </a:cubicBezTo>
                  <a:lnTo>
                    <a:pt x="256921" y="5249418"/>
                  </a:lnTo>
                  <a:cubicBezTo>
                    <a:pt x="115062" y="5249418"/>
                    <a:pt x="0" y="5134356"/>
                    <a:pt x="0" y="4992497"/>
                  </a:cubicBezTo>
                  <a:close/>
                </a:path>
              </a:pathLst>
            </a:custGeom>
            <a:solidFill>
              <a:srgbClr val="FFB35C">
                <a:alpha val="7843"/>
              </a:srgbClr>
            </a:solidFill>
            <a:ln w="14288" cap="sq">
              <a:solidFill>
                <a:srgbClr val="D6E1EE">
                  <a:alpha val="7843"/>
                </a:srgbClr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124712" y="5568696"/>
            <a:ext cx="2606726" cy="384048"/>
            <a:chOff x="0" y="0"/>
            <a:chExt cx="3475634" cy="5120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75609" cy="512064"/>
            </a:xfrm>
            <a:custGeom>
              <a:avLst/>
              <a:gdLst/>
              <a:ahLst/>
              <a:cxnLst/>
              <a:rect r="r" b="b" t="t" l="l"/>
              <a:pathLst>
                <a:path h="512064" w="3475609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3219577" y="0"/>
                  </a:lnTo>
                  <a:cubicBezTo>
                    <a:pt x="3360928" y="0"/>
                    <a:pt x="3475609" y="114681"/>
                    <a:pt x="3475609" y="256032"/>
                  </a:cubicBezTo>
                  <a:cubicBezTo>
                    <a:pt x="3475609" y="397383"/>
                    <a:pt x="3360928" y="512064"/>
                    <a:pt x="3219577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24712" y="5568696"/>
            <a:ext cx="2606726" cy="384048"/>
            <a:chOff x="0" y="0"/>
            <a:chExt cx="3475634" cy="51206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475634" cy="512064"/>
            </a:xfrm>
            <a:custGeom>
              <a:avLst/>
              <a:gdLst/>
              <a:ahLst/>
              <a:cxnLst/>
              <a:rect r="r" b="b" t="t" l="l"/>
              <a:pathLst>
                <a:path h="512064" w="3475634">
                  <a:moveTo>
                    <a:pt x="0" y="0"/>
                  </a:moveTo>
                  <a:lnTo>
                    <a:pt x="3475634" y="0"/>
                  </a:lnTo>
                  <a:lnTo>
                    <a:pt x="347563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54" r="0" b="-8225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3475634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 PIPELINE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24712" y="6830568"/>
            <a:ext cx="1645920" cy="740664"/>
            <a:chOff x="0" y="0"/>
            <a:chExt cx="2194560" cy="9875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94560" cy="987552"/>
            </a:xfrm>
            <a:custGeom>
              <a:avLst/>
              <a:gdLst/>
              <a:ahLst/>
              <a:cxnLst/>
              <a:rect r="r" b="b" t="t" l="l"/>
              <a:pathLst>
                <a:path h="98755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2194560" cy="1025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PHOENIX DOES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24712" y="7626096"/>
            <a:ext cx="1645920" cy="740664"/>
            <a:chOff x="0" y="0"/>
            <a:chExt cx="2194560" cy="9875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94560" cy="987552"/>
            </a:xfrm>
            <a:custGeom>
              <a:avLst/>
              <a:gdLst/>
              <a:ahLst/>
              <a:cxnLst/>
              <a:rect r="r" b="b" t="t" l="l"/>
              <a:pathLst>
                <a:path h="98755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194560" cy="1025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24712" y="8421624"/>
            <a:ext cx="1645920" cy="795528"/>
            <a:chOff x="0" y="0"/>
            <a:chExt cx="2194560" cy="106070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945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013" t="0" r="-1201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2194560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MEASURE</a:t>
              </a:r>
            </a:p>
          </p:txBody>
        </p:sp>
      </p:grpSp>
      <p:sp>
        <p:nvSpPr>
          <p:cNvPr name="AutoShape 76" id="76"/>
          <p:cNvSpPr/>
          <p:nvPr/>
        </p:nvSpPr>
        <p:spPr>
          <a:xfrm rot="3060">
            <a:off x="1117568" y="6784657"/>
            <a:ext cx="16079848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rot="3060">
            <a:off x="1117568" y="7580186"/>
            <a:ext cx="16079848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rot="3060">
            <a:off x="1117568" y="8375714"/>
            <a:ext cx="16079848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9" id="79"/>
          <p:cNvGrpSpPr/>
          <p:nvPr/>
        </p:nvGrpSpPr>
        <p:grpSpPr>
          <a:xfrm rot="0">
            <a:off x="2880360" y="6089904"/>
            <a:ext cx="2796140" cy="603504"/>
            <a:chOff x="0" y="0"/>
            <a:chExt cx="3728187" cy="80467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3044952" y="6089904"/>
            <a:ext cx="2247500" cy="603504"/>
            <a:chOff x="0" y="0"/>
            <a:chExt cx="2996667" cy="80467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996670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70">
                  <a:moveTo>
                    <a:pt x="0" y="0"/>
                  </a:moveTo>
                  <a:lnTo>
                    <a:pt x="2996670" y="0"/>
                  </a:lnTo>
                  <a:lnTo>
                    <a:pt x="299667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63" r="0" b="-2256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2996667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 DEPLOY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2962656" y="6792468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Backpack to flight with no infrastructure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962656" y="7587996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Search starts within minutes of arrival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2880360" y="8421624"/>
            <a:ext cx="2713844" cy="795528"/>
            <a:chOff x="0" y="0"/>
            <a:chExt cx="3618459" cy="106070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2880360" y="8458581"/>
            <a:ext cx="2713844" cy="411480"/>
            <a:chOff x="0" y="0"/>
            <a:chExt cx="3618459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618462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510" r="0" b="-7851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3618459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 3 min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2880360" y="8860536"/>
            <a:ext cx="2713844" cy="329184"/>
            <a:chOff x="0" y="0"/>
            <a:chExt cx="3618459" cy="43891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618462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37" r="0" b="-11063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3618459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unboxing to flight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5758796" y="6089904"/>
            <a:ext cx="2796140" cy="603504"/>
            <a:chOff x="0" y="0"/>
            <a:chExt cx="3728187" cy="80467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5923388" y="6089904"/>
            <a:ext cx="2247500" cy="603504"/>
            <a:chOff x="0" y="0"/>
            <a:chExt cx="2996667" cy="80467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996670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70">
                  <a:moveTo>
                    <a:pt x="0" y="0"/>
                  </a:moveTo>
                  <a:lnTo>
                    <a:pt x="2996670" y="0"/>
                  </a:lnTo>
                  <a:lnTo>
                    <a:pt x="299667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63" r="0" b="-22563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2996667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 SEARCH</a:t>
              </a: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5841092" y="6792468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Flies an autonomous sweep with RGB + thermal vision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5841092" y="7587996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Search continues at night and in smoke or fog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5758796" y="8421624"/>
            <a:ext cx="2713844" cy="795528"/>
            <a:chOff x="0" y="0"/>
            <a:chExt cx="3618459" cy="106070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5758796" y="8449056"/>
            <a:ext cx="2713844" cy="411480"/>
            <a:chOff x="0" y="0"/>
            <a:chExt cx="3618459" cy="5486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618462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510" r="0" b="-7851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57150"/>
              <a:ext cx="3618459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km²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5758796" y="8860536"/>
            <a:ext cx="2713844" cy="329184"/>
            <a:chOff x="0" y="0"/>
            <a:chExt cx="3618459" cy="43891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618462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37" r="0" b="-110637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3618459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 sector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8637241" y="6089904"/>
            <a:ext cx="2796140" cy="603504"/>
            <a:chOff x="0" y="0"/>
            <a:chExt cx="3728187" cy="80467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8801833" y="6089904"/>
            <a:ext cx="2247500" cy="603504"/>
            <a:chOff x="0" y="0"/>
            <a:chExt cx="2996667" cy="80467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996670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70">
                  <a:moveTo>
                    <a:pt x="0" y="0"/>
                  </a:moveTo>
                  <a:lnTo>
                    <a:pt x="2996670" y="0"/>
                  </a:lnTo>
                  <a:lnTo>
                    <a:pt x="299667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63" r="0" b="-22563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2996667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 LOCATE</a:t>
              </a:r>
            </a:p>
          </p:txBody>
        </p:sp>
      </p:grpSp>
      <p:sp>
        <p:nvSpPr>
          <p:cNvPr name="TextBox 114" id="114"/>
          <p:cNvSpPr txBox="true"/>
          <p:nvPr/>
        </p:nvSpPr>
        <p:spPr>
          <a:xfrm rot="0">
            <a:off x="8719537" y="6792468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Pins each detected survivor with GPS coordinates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8719537" y="7587996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Rescuers go straight to survivors, not digging blind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8637241" y="8421624"/>
            <a:ext cx="2713844" cy="795528"/>
            <a:chOff x="0" y="0"/>
            <a:chExt cx="3618459" cy="106070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8637241" y="8468106"/>
            <a:ext cx="2713844" cy="411480"/>
            <a:chOff x="0" y="0"/>
            <a:chExt cx="3618459" cy="5486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618462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510" r="0" b="-7851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57150"/>
              <a:ext cx="3618459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 cell towers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8637241" y="8860536"/>
            <a:ext cx="2713844" cy="329184"/>
            <a:chOff x="0" y="0"/>
            <a:chExt cx="3618459" cy="43891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618462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37" r="0" b="-110637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3618459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needed to report locations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1515677" y="6089904"/>
            <a:ext cx="2796140" cy="603504"/>
            <a:chOff x="0" y="0"/>
            <a:chExt cx="3728187" cy="80467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1680269" y="6089904"/>
            <a:ext cx="2247500" cy="603504"/>
            <a:chOff x="0" y="0"/>
            <a:chExt cx="2996667" cy="80467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996670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70">
                  <a:moveTo>
                    <a:pt x="0" y="0"/>
                  </a:moveTo>
                  <a:lnTo>
                    <a:pt x="2996670" y="0"/>
                  </a:lnTo>
                  <a:lnTo>
                    <a:pt x="299667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63" r="0" b="-22563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2996667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 RESPOND</a:t>
              </a:r>
            </a:p>
          </p:txBody>
        </p:sp>
      </p:grpSp>
      <p:sp>
        <p:nvSpPr>
          <p:cNvPr name="TextBox 129" id="129"/>
          <p:cNvSpPr txBox="true"/>
          <p:nvPr/>
        </p:nvSpPr>
        <p:spPr>
          <a:xfrm rot="0">
            <a:off x="11597973" y="6792468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Ranks survivors and plots a hazard-free route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1597973" y="7587996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Crews avoid cave-ins, gas leaks and live cables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11515677" y="8421624"/>
            <a:ext cx="2713844" cy="795528"/>
            <a:chOff x="0" y="0"/>
            <a:chExt cx="3618459" cy="106070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1515677" y="8458581"/>
            <a:ext cx="2713844" cy="411480"/>
            <a:chOff x="0" y="0"/>
            <a:chExt cx="3618459" cy="54864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618462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510" r="0" b="-78510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57150"/>
              <a:ext cx="3618459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Ranked queue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1515677" y="8860536"/>
            <a:ext cx="2713844" cy="329184"/>
            <a:chOff x="0" y="0"/>
            <a:chExt cx="3618459" cy="438912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618462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37" r="0" b="-110637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3618459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safe rescue route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4394123" y="6089904"/>
            <a:ext cx="2796140" cy="603504"/>
            <a:chOff x="0" y="0"/>
            <a:chExt cx="3728187" cy="80467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4558715" y="6089904"/>
            <a:ext cx="2247500" cy="603504"/>
            <a:chOff x="0" y="0"/>
            <a:chExt cx="2996667" cy="804672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996670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70">
                  <a:moveTo>
                    <a:pt x="0" y="0"/>
                  </a:moveTo>
                  <a:lnTo>
                    <a:pt x="2996670" y="0"/>
                  </a:lnTo>
                  <a:lnTo>
                    <a:pt x="299667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63" r="0" b="-22563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2996667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 OUTCOME</a:t>
              </a:r>
            </a:p>
          </p:txBody>
        </p:sp>
      </p:grpSp>
      <p:sp>
        <p:nvSpPr>
          <p:cNvPr name="TextBox 144" id="144"/>
          <p:cNvSpPr txBox="true"/>
          <p:nvPr/>
        </p:nvSpPr>
        <p:spPr>
          <a:xfrm rot="0">
            <a:off x="14476419" y="6792468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Delivers all this at a fraction of enterprise-drone cost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4476419" y="7587996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More survivors reached in the Golden 72 hours</a:t>
            </a:r>
          </a:p>
        </p:txBody>
      </p:sp>
      <p:grpSp>
        <p:nvGrpSpPr>
          <p:cNvPr name="Group 146" id="146"/>
          <p:cNvGrpSpPr/>
          <p:nvPr/>
        </p:nvGrpSpPr>
        <p:grpSpPr>
          <a:xfrm rot="0">
            <a:off x="14394123" y="8421624"/>
            <a:ext cx="2713844" cy="795528"/>
            <a:chOff x="0" y="0"/>
            <a:chExt cx="3618459" cy="106070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14394123" y="8458581"/>
            <a:ext cx="2713844" cy="411480"/>
            <a:chOff x="0" y="0"/>
            <a:chExt cx="3618459" cy="54864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618462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510" r="0" b="-78510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57150"/>
              <a:ext cx="3618459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₹1.2 Lakh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4394123" y="8860536"/>
            <a:ext cx="2713844" cy="329184"/>
            <a:chOff x="0" y="0"/>
            <a:chExt cx="3618459" cy="438912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3618462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37" r="0" b="-110637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3618459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 ₹12-14 Lakhs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3" id="13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" t="0" r="-3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86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8972" y="1275588"/>
            <a:ext cx="16459200" cy="466344"/>
            <a:chOff x="0" y="0"/>
            <a:chExt cx="21945600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621792"/>
            </a:xfrm>
            <a:custGeom>
              <a:avLst/>
              <a:gdLst/>
              <a:ahLst/>
              <a:cxnLst/>
              <a:rect r="r" b="b" t="t" l="l"/>
              <a:pathLst>
                <a:path h="621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707" r="0" b="-6377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Academic Research Foundations &amp; Prototype Verification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1892808"/>
            <a:ext cx="3418989" cy="411480"/>
            <a:chOff x="0" y="0"/>
            <a:chExt cx="4558652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58665" cy="548640"/>
            </a:xfrm>
            <a:custGeom>
              <a:avLst/>
              <a:gdLst/>
              <a:ahLst/>
              <a:cxnLst/>
              <a:rect r="r" b="b" t="t" l="l"/>
              <a:pathLst>
                <a:path h="548640" w="4558665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284345" y="0"/>
                  </a:lnTo>
                  <a:cubicBezTo>
                    <a:pt x="4435856" y="0"/>
                    <a:pt x="4558665" y="122809"/>
                    <a:pt x="4558665" y="274320"/>
                  </a:cubicBezTo>
                  <a:cubicBezTo>
                    <a:pt x="4558665" y="425831"/>
                    <a:pt x="4435856" y="548640"/>
                    <a:pt x="4284345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0841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15816" y="1892808"/>
            <a:ext cx="3418989" cy="411480"/>
            <a:chOff x="0" y="0"/>
            <a:chExt cx="4558652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58648" cy="548640"/>
            </a:xfrm>
            <a:custGeom>
              <a:avLst/>
              <a:gdLst/>
              <a:ahLst/>
              <a:cxnLst/>
              <a:rect r="r" b="b" t="t" l="l"/>
              <a:pathLst>
                <a:path h="548640" w="4558648">
                  <a:moveTo>
                    <a:pt x="0" y="0"/>
                  </a:moveTo>
                  <a:lnTo>
                    <a:pt x="4558648" y="0"/>
                  </a:lnTo>
                  <a:lnTo>
                    <a:pt x="455864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901" r="0" b="-11190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558652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1434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&amp; REFERENCES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424160" y="1892808"/>
            <a:ext cx="2606726" cy="411480"/>
            <a:chOff x="0" y="0"/>
            <a:chExt cx="3475634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75609" cy="548640"/>
            </a:xfrm>
            <a:custGeom>
              <a:avLst/>
              <a:gdLst/>
              <a:ahLst/>
              <a:cxnLst/>
              <a:rect r="r" b="b" t="t" l="l"/>
              <a:pathLst>
                <a:path h="548640" w="347560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3201289" y="0"/>
                  </a:lnTo>
                  <a:cubicBezTo>
                    <a:pt x="3352800" y="0"/>
                    <a:pt x="3475609" y="122809"/>
                    <a:pt x="3475609" y="274320"/>
                  </a:cubicBezTo>
                  <a:cubicBezTo>
                    <a:pt x="3475609" y="425831"/>
                    <a:pt x="3352800" y="548640"/>
                    <a:pt x="3201289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0841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424160" y="1924145"/>
            <a:ext cx="2606726" cy="411480"/>
            <a:chOff x="0" y="0"/>
            <a:chExt cx="3475634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75634" cy="548640"/>
            </a:xfrm>
            <a:custGeom>
              <a:avLst/>
              <a:gdLst/>
              <a:ahLst/>
              <a:cxnLst/>
              <a:rect r="r" b="b" t="t" l="l"/>
              <a:pathLst>
                <a:path h="548640" w="3475634">
                  <a:moveTo>
                    <a:pt x="0" y="0"/>
                  </a:moveTo>
                  <a:lnTo>
                    <a:pt x="3475634" y="0"/>
                  </a:lnTo>
                  <a:lnTo>
                    <a:pt x="347563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37" r="0" b="-7343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475634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1434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 PROOF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15816" y="2516600"/>
            <a:ext cx="9272588" cy="1550480"/>
            <a:chOff x="0" y="0"/>
            <a:chExt cx="12363450" cy="20673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363450" cy="2067306"/>
            </a:xfrm>
            <a:custGeom>
              <a:avLst/>
              <a:gdLst/>
              <a:ahLst/>
              <a:cxnLst/>
              <a:rect r="r" b="b" t="t" l="l"/>
              <a:pathLst>
                <a:path h="2067306" w="1236345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12141962" y="0"/>
                  </a:lnTo>
                  <a:cubicBezTo>
                    <a:pt x="12264263" y="0"/>
                    <a:pt x="12363450" y="99187"/>
                    <a:pt x="12363450" y="221488"/>
                  </a:cubicBezTo>
                  <a:lnTo>
                    <a:pt x="12363450" y="1845818"/>
                  </a:lnTo>
                  <a:cubicBezTo>
                    <a:pt x="12363450" y="1968119"/>
                    <a:pt x="12264263" y="2067306"/>
                    <a:pt x="12141962" y="2067306"/>
                  </a:cubicBezTo>
                  <a:lnTo>
                    <a:pt x="221488" y="2067306"/>
                  </a:lnTo>
                  <a:cubicBezTo>
                    <a:pt x="99187" y="2067306"/>
                    <a:pt x="0" y="1968119"/>
                    <a:pt x="0" y="184581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24712" y="2660904"/>
            <a:ext cx="822960" cy="411480"/>
            <a:chOff x="0" y="0"/>
            <a:chExt cx="109728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9700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57400" y="2633472"/>
            <a:ext cx="7749540" cy="431113"/>
            <a:chOff x="0" y="0"/>
            <a:chExt cx="10332720" cy="57481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332720" cy="574817"/>
            </a:xfrm>
            <a:custGeom>
              <a:avLst/>
              <a:gdLst/>
              <a:ahLst/>
              <a:cxnLst/>
              <a:rect r="r" b="b" t="t" l="l"/>
              <a:pathLst>
                <a:path h="574817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4817"/>
                  </a:lnTo>
                  <a:lnTo>
                    <a:pt x="0" y="574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715" r="0" b="-29479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332720" cy="622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sz="2174" b="1">
                  <a:solidFill>
                    <a:srgbClr val="1F497D"/>
                  </a:solidFill>
                  <a:latin typeface="Calibri"/>
                </a:rPr>
                <a:t>IIT Jodhpur &amp; Manipal (IEEE Access, Sept 2026)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057400" y="3016377"/>
            <a:ext cx="774954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sz="1550" i="1">
                <a:solidFill>
                  <a:srgbClr val="566074"/>
                </a:solidFill>
                <a:latin typeface="Calibri"/>
              </a:rPr>
              <a:t>• 'SwarmSAR-FW: Drone-Based Swarm Search and Rescue in Fire and Water Disasters'</a:t>
            </a:r>
          </a:p>
          <a:p>
            <a:r>
              <a:rPr sz="1550">
                <a:solidFill>
                  <a:srgbClr val="1E2638"/>
                </a:solidFill>
                <a:latin typeface="Calibri"/>
              </a:rPr>
              <a:t>• Sourced &amp; validated Hazard-Aware Safe Access Ingress Routing for ground crews &amp; 98.7% triage.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15816" y="4217384"/>
            <a:ext cx="9272588" cy="1550480"/>
            <a:chOff x="0" y="0"/>
            <a:chExt cx="12363450" cy="206730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363450" cy="2067306"/>
            </a:xfrm>
            <a:custGeom>
              <a:avLst/>
              <a:gdLst/>
              <a:ahLst/>
              <a:cxnLst/>
              <a:rect r="r" b="b" t="t" l="l"/>
              <a:pathLst>
                <a:path h="2067306" w="1236345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12141962" y="0"/>
                  </a:lnTo>
                  <a:cubicBezTo>
                    <a:pt x="12264263" y="0"/>
                    <a:pt x="12363450" y="99187"/>
                    <a:pt x="12363450" y="221488"/>
                  </a:cubicBezTo>
                  <a:lnTo>
                    <a:pt x="12363450" y="1845818"/>
                  </a:lnTo>
                  <a:cubicBezTo>
                    <a:pt x="12363450" y="1968119"/>
                    <a:pt x="12264263" y="2067306"/>
                    <a:pt x="12141962" y="2067306"/>
                  </a:cubicBezTo>
                  <a:lnTo>
                    <a:pt x="221488" y="2067306"/>
                  </a:lnTo>
                  <a:cubicBezTo>
                    <a:pt x="99187" y="2067306"/>
                    <a:pt x="0" y="1968119"/>
                    <a:pt x="0" y="184581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24712" y="4361688"/>
            <a:ext cx="822960" cy="411480"/>
            <a:chOff x="0" y="0"/>
            <a:chExt cx="109728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9700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057400" y="4334256"/>
            <a:ext cx="7749540" cy="431113"/>
            <a:chOff x="0" y="0"/>
            <a:chExt cx="10332720" cy="57481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332720" cy="574817"/>
            </a:xfrm>
            <a:custGeom>
              <a:avLst/>
              <a:gdLst/>
              <a:ahLst/>
              <a:cxnLst/>
              <a:rect r="r" b="b" t="t" l="l"/>
              <a:pathLst>
                <a:path h="574817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4817"/>
                  </a:lnTo>
                  <a:lnTo>
                    <a:pt x="0" y="574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715" r="0" b="-29479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332720" cy="622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sz="2174" b="1">
                  <a:solidFill>
                    <a:srgbClr val="1F497D"/>
                  </a:solidFill>
                  <a:latin typeface="Calibri"/>
                </a:rPr>
                <a:t>UPC Spain &amp; Souli et al. (IEEE Access 2026 / Elsevier 2024)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057400" y="4717161"/>
            <a:ext cx="774954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sz="1550" i="1">
                <a:solidFill>
                  <a:srgbClr val="566074"/>
                </a:solidFill>
                <a:latin typeface="Calibri"/>
              </a:rPr>
              <a:t>• 'Long-Range BLE Detection via Drone LoRa Relays' &amp; 'Mission-Critical ROS-LoRa Architecture'</a:t>
            </a:r>
          </a:p>
          <a:p>
            <a:r>
              <a:rPr sz="1550">
                <a:solidFill>
                  <a:srgbClr val="1E2638"/>
                </a:solidFill>
                <a:latin typeface="Calibri"/>
              </a:rPr>
              <a:t>• Sourced 868 MHz LoRa off-grid data bridge &amp; 17-byte binary telemetry in cellular blackout zones.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15816" y="5918168"/>
            <a:ext cx="9272588" cy="1550480"/>
            <a:chOff x="0" y="0"/>
            <a:chExt cx="12363450" cy="206730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363450" cy="2067306"/>
            </a:xfrm>
            <a:custGeom>
              <a:avLst/>
              <a:gdLst/>
              <a:ahLst/>
              <a:cxnLst/>
              <a:rect r="r" b="b" t="t" l="l"/>
              <a:pathLst>
                <a:path h="2067306" w="1236345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12141962" y="0"/>
                  </a:lnTo>
                  <a:cubicBezTo>
                    <a:pt x="12264263" y="0"/>
                    <a:pt x="12363450" y="99187"/>
                    <a:pt x="12363450" y="221488"/>
                  </a:cubicBezTo>
                  <a:lnTo>
                    <a:pt x="12363450" y="1845818"/>
                  </a:lnTo>
                  <a:cubicBezTo>
                    <a:pt x="12363450" y="1968119"/>
                    <a:pt x="12264263" y="2067306"/>
                    <a:pt x="12141962" y="2067306"/>
                  </a:cubicBezTo>
                  <a:lnTo>
                    <a:pt x="221488" y="2067306"/>
                  </a:lnTo>
                  <a:cubicBezTo>
                    <a:pt x="99187" y="2067306"/>
                    <a:pt x="0" y="1968119"/>
                    <a:pt x="0" y="184581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24712" y="6062472"/>
            <a:ext cx="822960" cy="411480"/>
            <a:chOff x="0" y="0"/>
            <a:chExt cx="109728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9700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057400" y="6035040"/>
            <a:ext cx="7749540" cy="431113"/>
            <a:chOff x="0" y="0"/>
            <a:chExt cx="10332720" cy="57481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332720" cy="574817"/>
            </a:xfrm>
            <a:custGeom>
              <a:avLst/>
              <a:gdLst/>
              <a:ahLst/>
              <a:cxnLst/>
              <a:rect r="r" b="b" t="t" l="l"/>
              <a:pathLst>
                <a:path h="574817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4817"/>
                  </a:lnTo>
                  <a:lnTo>
                    <a:pt x="0" y="574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715" r="0" b="-29479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332720" cy="622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sz="2174" b="1">
                  <a:solidFill>
                    <a:srgbClr val="1F497D"/>
                  </a:solidFill>
                  <a:latin typeface="Calibri"/>
                </a:rPr>
                <a:t>TalTech Estonia (IEEE Access, 2023)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2057400" y="6417945"/>
            <a:ext cx="774954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sz="1550" i="1">
                <a:solidFill>
                  <a:srgbClr val="566074"/>
                </a:solidFill>
                <a:latin typeface="Calibri"/>
              </a:rPr>
              <a:t>• 'Applying RIS-Based Communication for Collaborative Computing in a Swarm of Drones'</a:t>
            </a:r>
          </a:p>
          <a:p>
            <a:r>
              <a:rPr sz="1550" i="0">
                <a:solidFill>
                  <a:srgbClr val="1E2638"/>
                </a:solidFill>
                <a:latin typeface="Calibri"/>
              </a:rPr>
              <a:t>• Validated decentralized swarm edge-computing without cloud servers (-32% energy, -18% latency).</a:t>
            </a:r>
          </a:p>
          <a:p>
            <a:r>
              <a:rPr sz="1200" b="1">
                <a:solidFill>
                  <a:srgbClr val="B35A00"/>
                </a:solidFill>
                <a:latin typeface="Calibri"/>
              </a:rPr>
              <a:t>Also cited: </a:t>
            </a:r>
            <a:r>
              <a:rPr sz="1200" i="1">
                <a:solidFill>
                  <a:srgbClr val="566074"/>
                </a:solidFill>
                <a:latin typeface="Calibri"/>
              </a:rPr>
              <a:t>Albanese et al., SARDO — SDR victim localization baseline (IEEE TMC, 2022). Phoenix X: equivalent accuracy at 1/8th payload.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815816" y="7618952"/>
            <a:ext cx="9272588" cy="1550480"/>
            <a:chOff x="0" y="0"/>
            <a:chExt cx="12363450" cy="206730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363450" cy="2067306"/>
            </a:xfrm>
            <a:custGeom>
              <a:avLst/>
              <a:gdLst/>
              <a:ahLst/>
              <a:cxnLst/>
              <a:rect r="r" b="b" t="t" l="l"/>
              <a:pathLst>
                <a:path h="2067306" w="1236345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12141962" y="0"/>
                  </a:lnTo>
                  <a:cubicBezTo>
                    <a:pt x="12264263" y="0"/>
                    <a:pt x="12363450" y="99187"/>
                    <a:pt x="12363450" y="221488"/>
                  </a:cubicBezTo>
                  <a:lnTo>
                    <a:pt x="12363450" y="1845818"/>
                  </a:lnTo>
                  <a:cubicBezTo>
                    <a:pt x="12363450" y="1968119"/>
                    <a:pt x="12264263" y="2067306"/>
                    <a:pt x="12141962" y="2067306"/>
                  </a:cubicBezTo>
                  <a:lnTo>
                    <a:pt x="221488" y="2067306"/>
                  </a:lnTo>
                  <a:cubicBezTo>
                    <a:pt x="99187" y="2067306"/>
                    <a:pt x="0" y="1968119"/>
                    <a:pt x="0" y="184581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124712" y="7763256"/>
            <a:ext cx="822960" cy="411480"/>
            <a:chOff x="0" y="0"/>
            <a:chExt cx="109728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9700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057400" y="7735824"/>
            <a:ext cx="7749540" cy="431113"/>
            <a:chOff x="0" y="0"/>
            <a:chExt cx="10332720" cy="57481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332720" cy="574817"/>
            </a:xfrm>
            <a:custGeom>
              <a:avLst/>
              <a:gdLst/>
              <a:ahLst/>
              <a:cxnLst/>
              <a:rect r="r" b="b" t="t" l="l"/>
              <a:pathLst>
                <a:path h="574817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4817"/>
                  </a:lnTo>
                  <a:lnTo>
                    <a:pt x="0" y="574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715" r="0" b="-29479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332720" cy="622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sz="2174" b="1">
                  <a:solidFill>
                    <a:srgbClr val="1F497D"/>
                  </a:solidFill>
                  <a:latin typeface="Calibri"/>
                </a:rPr>
                <a:t>Dr. Samir Bouabdallah (EPFL Thesis 3727 / IEEE ICRA, 2007)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2057400" y="8118729"/>
            <a:ext cx="774954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sz="1550" i="1">
                <a:solidFill>
                  <a:srgbClr val="566074"/>
                </a:solidFill>
                <a:latin typeface="Calibri"/>
              </a:rPr>
              <a:t>• 'Design and Control of Quadrotors with Application to Autonomous Flying'</a:t>
            </a:r>
          </a:p>
          <a:p>
            <a:r>
              <a:rPr sz="1550" i="0">
                <a:solidFill>
                  <a:srgbClr val="1E2638"/>
                </a:solidFill>
                <a:latin typeface="Calibri"/>
              </a:rPr>
              <a:t>• Sourced 12-state rigid-body dynamics, 90/10 electrical propulsion ratio, and anti-windup integrator.</a:t>
            </a:r>
          </a:p>
          <a:p>
            <a:r>
              <a:rPr sz="1200" b="1">
                <a:solidFill>
                  <a:srgbClr val="B35A00"/>
                </a:solidFill>
                <a:latin typeface="Calibri"/>
              </a:rPr>
              <a:t>Also cited: </a:t>
            </a:r>
            <a:r>
              <a:rPr sz="1200" i="1">
                <a:solidFill>
                  <a:srgbClr val="566074"/>
                </a:solidFill>
                <a:latin typeface="Calibri"/>
              </a:rPr>
              <a:t>Mishra et al. (BITS Pilani &amp; Bennett Univ.) — CNN aerial detection dataset (Elsevier Comp. Comm., 2020).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0417016" y="2516600"/>
            <a:ext cx="7054710" cy="6652832"/>
            <a:chOff x="0" y="0"/>
            <a:chExt cx="9406280" cy="887044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406255" cy="8870442"/>
            </a:xfrm>
            <a:custGeom>
              <a:avLst/>
              <a:gdLst/>
              <a:ahLst/>
              <a:cxnLst/>
              <a:rect r="r" b="b" t="t" l="l"/>
              <a:pathLst>
                <a:path h="8870442" w="9406255">
                  <a:moveTo>
                    <a:pt x="0" y="250346"/>
                  </a:moveTo>
                  <a:cubicBezTo>
                    <a:pt x="0" y="112036"/>
                    <a:pt x="114808" y="0"/>
                    <a:pt x="256540" y="0"/>
                  </a:cubicBezTo>
                  <a:lnTo>
                    <a:pt x="9149715" y="0"/>
                  </a:lnTo>
                  <a:cubicBezTo>
                    <a:pt x="9291447" y="0"/>
                    <a:pt x="9406255" y="112036"/>
                    <a:pt x="9406255" y="250346"/>
                  </a:cubicBezTo>
                  <a:lnTo>
                    <a:pt x="9406255" y="8620096"/>
                  </a:lnTo>
                  <a:cubicBezTo>
                    <a:pt x="9406255" y="8758405"/>
                    <a:pt x="9291447" y="8870442"/>
                    <a:pt x="9149715" y="8870442"/>
                  </a:cubicBezTo>
                  <a:lnTo>
                    <a:pt x="256540" y="8870442"/>
                  </a:lnTo>
                  <a:cubicBezTo>
                    <a:pt x="114808" y="8870442"/>
                    <a:pt x="0" y="8758406"/>
                    <a:pt x="0" y="8620096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0767060" y="2688336"/>
            <a:ext cx="6354623" cy="411480"/>
            <a:chOff x="0" y="0"/>
            <a:chExt cx="847283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472830" cy="548640"/>
            </a:xfrm>
            <a:custGeom>
              <a:avLst/>
              <a:gdLst/>
              <a:ahLst/>
              <a:cxnLst/>
              <a:rect r="r" b="b" t="t" l="l"/>
              <a:pathLst>
                <a:path h="548640" w="8472830">
                  <a:moveTo>
                    <a:pt x="0" y="0"/>
                  </a:moveTo>
                  <a:lnTo>
                    <a:pt x="8472830" y="0"/>
                  </a:lnTo>
                  <a:lnTo>
                    <a:pt x="847283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913" r="0" b="-25091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847283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19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OPEN-SOURCE REPOSITORY &amp; VERIFICATION ASSETS</a:t>
              </a:r>
            </a:p>
          </p:txBody>
        </p:sp>
      </p:grpSp>
      <p:sp>
        <p:nvSpPr>
          <p:cNvPr name="AutoShape 71" id="71"/>
          <p:cNvSpPr/>
          <p:nvPr/>
        </p:nvSpPr>
        <p:spPr>
          <a:xfrm rot="10260">
            <a:off x="10757525" y="3204781"/>
            <a:ext cx="6373701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  <p:txBody>
          <a:bodyPr/>
          <a:p>
            <a:r>
              <a:rPr sz="1300" i="1">
                <a:solidFill>
                  <a:srgbClr val="788296"/>
                </a:solidFill>
                <a:latin typeface="Calibri"/>
              </a:rPr>
              <a:t>Video link: SIH Grand Finale Submission Portal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0767060" y="3374136"/>
            <a:ext cx="356616" cy="356616"/>
            <a:chOff x="0" y="0"/>
            <a:chExt cx="475488" cy="475488"/>
          </a:xfrm>
        </p:grpSpPr>
        <p:sp>
          <p:nvSpPr>
            <p:cNvPr name="Freeform 73" id="73" descr="YouTube logo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233404" y="3360420"/>
            <a:ext cx="6354623" cy="329184"/>
            <a:chOff x="0" y="0"/>
            <a:chExt cx="8472830" cy="43891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472830" cy="438912"/>
            </a:xfrm>
            <a:custGeom>
              <a:avLst/>
              <a:gdLst/>
              <a:ahLst/>
              <a:cxnLst/>
              <a:rect r="r" b="b" t="t" l="l"/>
              <a:pathLst>
                <a:path h="438912" w="8472830">
                  <a:moveTo>
                    <a:pt x="0" y="0"/>
                  </a:moveTo>
                  <a:lnTo>
                    <a:pt x="8472830" y="0"/>
                  </a:lnTo>
                  <a:lnTo>
                    <a:pt x="847283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142" r="0" b="-32614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847283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Presentation Video: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759916" y="3778472"/>
            <a:ext cx="6368910" cy="508064"/>
            <a:chOff x="0" y="0"/>
            <a:chExt cx="8491880" cy="67741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491855" cy="677418"/>
            </a:xfrm>
            <a:custGeom>
              <a:avLst/>
              <a:gdLst/>
              <a:ahLst/>
              <a:cxnLst/>
              <a:rect r="r" b="b" t="t" l="l"/>
              <a:pathLst>
                <a:path h="677418" w="8491855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8341360" y="0"/>
                  </a:lnTo>
                  <a:cubicBezTo>
                    <a:pt x="8424545" y="0"/>
                    <a:pt x="8491855" y="67437"/>
                    <a:pt x="8491855" y="150495"/>
                  </a:cubicBezTo>
                  <a:lnTo>
                    <a:pt x="8491855" y="526923"/>
                  </a:lnTo>
                  <a:cubicBezTo>
                    <a:pt x="8491855" y="610108"/>
                    <a:pt x="8424418" y="677418"/>
                    <a:pt x="8341360" y="677418"/>
                  </a:cubicBezTo>
                  <a:lnTo>
                    <a:pt x="150495" y="677418"/>
                  </a:lnTo>
                  <a:cubicBezTo>
                    <a:pt x="67437" y="677418"/>
                    <a:pt x="0" y="609981"/>
                    <a:pt x="0" y="5269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0767060" y="4443984"/>
            <a:ext cx="301752" cy="301752"/>
            <a:chOff x="0" y="0"/>
            <a:chExt cx="402336" cy="402336"/>
          </a:xfrm>
        </p:grpSpPr>
        <p:sp>
          <p:nvSpPr>
            <p:cNvPr name="Freeform 80" id="80" descr="Globe icon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1178540" y="4430268"/>
            <a:ext cx="2662961" cy="329184"/>
            <a:chOff x="0" y="0"/>
            <a:chExt cx="3550615" cy="43891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550614" cy="438912"/>
            </a:xfrm>
            <a:custGeom>
              <a:avLst/>
              <a:gdLst/>
              <a:ahLst/>
              <a:cxnLst/>
              <a:rect r="r" b="b" t="t" l="l"/>
              <a:pathLst>
                <a:path h="438912" w="3550614">
                  <a:moveTo>
                    <a:pt x="0" y="0"/>
                  </a:moveTo>
                  <a:lnTo>
                    <a:pt x="3550614" y="0"/>
                  </a:lnTo>
                  <a:lnTo>
                    <a:pt x="355061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25" r="0" b="-10762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3550615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Demo: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047241" y="4443984"/>
            <a:ext cx="301752" cy="301752"/>
            <a:chOff x="0" y="0"/>
            <a:chExt cx="402336" cy="402336"/>
          </a:xfrm>
        </p:grpSpPr>
        <p:sp>
          <p:nvSpPr>
            <p:cNvPr name="Freeform 85" id="85" descr="GitHub logo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4458721" y="4430268"/>
            <a:ext cx="2662961" cy="329184"/>
            <a:chOff x="0" y="0"/>
            <a:chExt cx="3550615" cy="43891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550614" cy="438912"/>
            </a:xfrm>
            <a:custGeom>
              <a:avLst/>
              <a:gdLst/>
              <a:ahLst/>
              <a:cxnLst/>
              <a:rect r="r" b="b" t="t" l="l"/>
              <a:pathLst>
                <a:path h="438912" w="3550614">
                  <a:moveTo>
                    <a:pt x="0" y="0"/>
                  </a:moveTo>
                  <a:lnTo>
                    <a:pt x="3550614" y="0"/>
                  </a:lnTo>
                  <a:lnTo>
                    <a:pt x="355061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25" r="0" b="-10762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3550615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 Repo: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759916" y="4848320"/>
            <a:ext cx="3088729" cy="508064"/>
            <a:chOff x="0" y="0"/>
            <a:chExt cx="4118305" cy="67741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118229" cy="677418"/>
            </a:xfrm>
            <a:custGeom>
              <a:avLst/>
              <a:gdLst/>
              <a:ahLst/>
              <a:cxnLst/>
              <a:rect r="r" b="b" t="t" l="l"/>
              <a:pathLst>
                <a:path h="677418" w="4118229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3967734" y="0"/>
                  </a:lnTo>
                  <a:cubicBezTo>
                    <a:pt x="4050919" y="0"/>
                    <a:pt x="4118229" y="67437"/>
                    <a:pt x="4118229" y="150495"/>
                  </a:cubicBezTo>
                  <a:lnTo>
                    <a:pt x="4118229" y="526923"/>
                  </a:lnTo>
                  <a:cubicBezTo>
                    <a:pt x="4118229" y="610108"/>
                    <a:pt x="4050792" y="677418"/>
                    <a:pt x="3967734" y="677418"/>
                  </a:cubicBezTo>
                  <a:lnTo>
                    <a:pt x="150495" y="677418"/>
                  </a:lnTo>
                  <a:cubicBezTo>
                    <a:pt x="67437" y="677418"/>
                    <a:pt x="0" y="609981"/>
                    <a:pt x="0" y="5269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0904220" y="4855464"/>
            <a:ext cx="2800121" cy="493776"/>
            <a:chOff x="0" y="0"/>
            <a:chExt cx="3733495" cy="65836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733494" cy="658368"/>
            </a:xfrm>
            <a:custGeom>
              <a:avLst/>
              <a:gdLst/>
              <a:ahLst/>
              <a:cxnLst/>
              <a:rect r="r" b="b" t="t" l="l"/>
              <a:pathLst>
                <a:path h="658368" w="3733494">
                  <a:moveTo>
                    <a:pt x="0" y="0"/>
                  </a:moveTo>
                  <a:lnTo>
                    <a:pt x="3733494" y="0"/>
                  </a:lnTo>
                  <a:lnTo>
                    <a:pt x="3733494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96" r="0" b="-60496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3733495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u="sng">
                  <a:solidFill>
                    <a:srgbClr val="0000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9" tooltip="https://phoenix-sar-uav.vercel.app"/>
                </a:rPr>
                <a:t>phoenix-sar-uav.vercel.app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040098" y="4848320"/>
            <a:ext cx="3088729" cy="508064"/>
            <a:chOff x="0" y="0"/>
            <a:chExt cx="4118305" cy="67741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118229" cy="677418"/>
            </a:xfrm>
            <a:custGeom>
              <a:avLst/>
              <a:gdLst/>
              <a:ahLst/>
              <a:cxnLst/>
              <a:rect r="r" b="b" t="t" l="l"/>
              <a:pathLst>
                <a:path h="677418" w="4118229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3967734" y="0"/>
                  </a:lnTo>
                  <a:cubicBezTo>
                    <a:pt x="4050919" y="0"/>
                    <a:pt x="4118229" y="67437"/>
                    <a:pt x="4118229" y="150495"/>
                  </a:cubicBezTo>
                  <a:lnTo>
                    <a:pt x="4118229" y="526923"/>
                  </a:lnTo>
                  <a:cubicBezTo>
                    <a:pt x="4118229" y="610108"/>
                    <a:pt x="4050792" y="677418"/>
                    <a:pt x="3967734" y="677418"/>
                  </a:cubicBezTo>
                  <a:lnTo>
                    <a:pt x="150495" y="677418"/>
                  </a:lnTo>
                  <a:cubicBezTo>
                    <a:pt x="67437" y="677418"/>
                    <a:pt x="0" y="609981"/>
                    <a:pt x="0" y="5269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4184401" y="4855464"/>
            <a:ext cx="2800121" cy="493776"/>
            <a:chOff x="0" y="0"/>
            <a:chExt cx="3733495" cy="65836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733494" cy="658368"/>
            </a:xfrm>
            <a:custGeom>
              <a:avLst/>
              <a:gdLst/>
              <a:ahLst/>
              <a:cxnLst/>
              <a:rect r="r" b="b" t="t" l="l"/>
              <a:pathLst>
                <a:path h="658368" w="3733494">
                  <a:moveTo>
                    <a:pt x="0" y="0"/>
                  </a:moveTo>
                  <a:lnTo>
                    <a:pt x="3733494" y="0"/>
                  </a:lnTo>
                  <a:lnTo>
                    <a:pt x="3733494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96" r="0" b="-60496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3733495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sz="1400">
                  <a:solidFill>
                    <a:srgbClr val="1B55E2"/>
                  </a:solidFill>
                  <a:latin typeface="Calibri"/>
                </a:rPr>
                <a:t>github.com/jvstin47/Phoenix-SIH26177-SAR-UAV</a:t>
              </a:r>
            </a:p>
          </p:txBody>
        </p:sp>
      </p:grpSp>
      <p:sp>
        <p:nvSpPr>
          <p:cNvPr name="AutoShape 99" id="99"/>
          <p:cNvSpPr/>
          <p:nvPr/>
        </p:nvSpPr>
        <p:spPr>
          <a:xfrm rot="10260">
            <a:off x="10757525" y="5509070"/>
            <a:ext cx="6373701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0" id="100"/>
          <p:cNvGrpSpPr/>
          <p:nvPr/>
        </p:nvGrpSpPr>
        <p:grpSpPr>
          <a:xfrm rot="0">
            <a:off x="10767060" y="5613831"/>
            <a:ext cx="6354623" cy="367466"/>
            <a:chOff x="0" y="0"/>
            <a:chExt cx="8472830" cy="48995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472830" cy="489954"/>
            </a:xfrm>
            <a:custGeom>
              <a:avLst/>
              <a:gdLst/>
              <a:ahLst/>
              <a:cxnLst/>
              <a:rect r="r" b="b" t="t" l="l"/>
              <a:pathLst>
                <a:path h="489954" w="8472830">
                  <a:moveTo>
                    <a:pt x="0" y="0"/>
                  </a:moveTo>
                  <a:lnTo>
                    <a:pt x="8472830" y="0"/>
                  </a:lnTo>
                  <a:lnTo>
                    <a:pt x="8472830" y="489954"/>
                  </a:lnTo>
                  <a:lnTo>
                    <a:pt x="0" y="4899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65" r="0" b="-28174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8472830" cy="537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Documented Subsystems: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0767060" y="5988354"/>
            <a:ext cx="6354623" cy="10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"/>
              </a:lnSpc>
            </a:pPr>
            <a:r>
              <a:rPr sz="1650" b="1">
                <a:solidFill>
                  <a:srgbClr val="1E2638"/>
                </a:solidFill>
                <a:latin typeface="Calibri"/>
              </a:rPr>
              <a:t>1. docs/research_papers_synthesis_2026.md</a:t>
            </a:r>
          </a:p>
          <a:p>
            <a:r>
              <a:rPr sz="1650" b="1">
                <a:solidFill>
                  <a:srgbClr val="1E2638"/>
                </a:solidFill>
                <a:latin typeface="Calibri"/>
              </a:rPr>
              <a:t>2. docs/prototype_bom_and_financial_viability.md</a:t>
            </a:r>
          </a:p>
          <a:p>
            <a:r>
              <a:rPr sz="1650" b="1">
                <a:solidFill>
                  <a:srgbClr val="1E2638"/>
                </a:solidFill>
                <a:latin typeface="Calibri"/>
              </a:rPr>
              <a:t>3. docs/ros_lora_mission_critical_uav_swarm_research.md</a:t>
            </a:r>
          </a:p>
          <a:p>
            <a:r>
              <a:rPr sz="1650" b="1">
                <a:solidFill>
                  <a:srgbClr val="1E2638"/>
                </a:solidFill>
                <a:latin typeface="Calibri"/>
              </a:rPr>
              <a:t>4. docs/bouabdallah_quadrotor_research_findings.md</a:t>
            </a:r>
          </a:p>
        </p:txBody>
      </p:sp>
      <p:sp>
        <p:nvSpPr>
          <p:cNvPr name="AutoShape 104" id="104"/>
          <p:cNvSpPr/>
          <p:nvPr/>
        </p:nvSpPr>
        <p:spPr>
          <a:xfrm>
            <a:off x="10767074" y="7088723"/>
            <a:ext cx="6373673" cy="19022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5" id="105"/>
          <p:cNvGrpSpPr/>
          <p:nvPr/>
        </p:nvGrpSpPr>
        <p:grpSpPr>
          <a:xfrm rot="0">
            <a:off x="10757540" y="7160133"/>
            <a:ext cx="6354623" cy="367466"/>
            <a:chOff x="0" y="0"/>
            <a:chExt cx="8472830" cy="48995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472830" cy="489954"/>
            </a:xfrm>
            <a:custGeom>
              <a:avLst/>
              <a:gdLst/>
              <a:ahLst/>
              <a:cxnLst/>
              <a:rect r="r" b="b" t="t" l="l"/>
              <a:pathLst>
                <a:path h="489954" w="8472830">
                  <a:moveTo>
                    <a:pt x="0" y="0"/>
                  </a:moveTo>
                  <a:lnTo>
                    <a:pt x="8472830" y="0"/>
                  </a:lnTo>
                  <a:lnTo>
                    <a:pt x="8472830" y="489954"/>
                  </a:lnTo>
                  <a:lnTo>
                    <a:pt x="0" y="4899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65" r="0" b="-281747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8472830" cy="537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 Architecture Deliverables: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757540" y="7612761"/>
            <a:ext cx="274320" cy="274320"/>
            <a:chOff x="0" y="0"/>
            <a:chExt cx="365760" cy="36576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819262" y="7674483"/>
            <a:ext cx="150876" cy="150876"/>
            <a:chOff x="0" y="0"/>
            <a:chExt cx="201168" cy="201168"/>
          </a:xfrm>
        </p:grpSpPr>
        <p:sp>
          <p:nvSpPr>
            <p:cNvPr name="Freeform 111" id="111" descr="Check mark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0"/>
                  </a:moveTo>
                  <a:lnTo>
                    <a:pt x="201168" y="0"/>
                  </a:lnTo>
                  <a:lnTo>
                    <a:pt x="201168" y="201168"/>
                  </a:lnTo>
                  <a:lnTo>
                    <a:pt x="0" y="20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1196452" y="7571613"/>
            <a:ext cx="5915711" cy="356616"/>
            <a:chOff x="0" y="0"/>
            <a:chExt cx="7887614" cy="47548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7887614" cy="475488"/>
            </a:xfrm>
            <a:custGeom>
              <a:avLst/>
              <a:gdLst/>
              <a:ahLst/>
              <a:cxnLst/>
              <a:rect r="r" b="b" t="t" l="l"/>
              <a:pathLst>
                <a:path h="475488" w="7887614">
                  <a:moveTo>
                    <a:pt x="0" y="0"/>
                  </a:moveTo>
                  <a:lnTo>
                    <a:pt x="7887614" y="0"/>
                  </a:lnTo>
                  <a:lnTo>
                    <a:pt x="788761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226" r="0" b="-273226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28575"/>
              <a:ext cx="7887614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Web GCS Tactical Dashboard (React + Leaflet)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757540" y="7983093"/>
            <a:ext cx="274320" cy="274320"/>
            <a:chOff x="0" y="0"/>
            <a:chExt cx="365760" cy="36576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819262" y="8044815"/>
            <a:ext cx="150876" cy="150876"/>
            <a:chOff x="0" y="0"/>
            <a:chExt cx="201168" cy="201168"/>
          </a:xfrm>
        </p:grpSpPr>
        <p:sp>
          <p:nvSpPr>
            <p:cNvPr name="Freeform 118" id="118" descr="Check mark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0"/>
                  </a:moveTo>
                  <a:lnTo>
                    <a:pt x="201168" y="0"/>
                  </a:lnTo>
                  <a:lnTo>
                    <a:pt x="201168" y="201168"/>
                  </a:lnTo>
                  <a:lnTo>
                    <a:pt x="0" y="20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1196452" y="7941945"/>
            <a:ext cx="5915711" cy="356616"/>
            <a:chOff x="0" y="0"/>
            <a:chExt cx="7887614" cy="47548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887614" cy="475488"/>
            </a:xfrm>
            <a:custGeom>
              <a:avLst/>
              <a:gdLst/>
              <a:ahLst/>
              <a:cxnLst/>
              <a:rect r="r" b="b" t="t" l="l"/>
              <a:pathLst>
                <a:path h="475488" w="7887614">
                  <a:moveTo>
                    <a:pt x="0" y="0"/>
                  </a:moveTo>
                  <a:lnTo>
                    <a:pt x="7887614" y="0"/>
                  </a:lnTo>
                  <a:lnTo>
                    <a:pt x="788761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226" r="0" b="-27322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28575"/>
              <a:ext cx="7887614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Multi-Spectral Dual Stream (RGB + LWIR Thermal HUD)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757540" y="8353425"/>
            <a:ext cx="274320" cy="274320"/>
            <a:chOff x="0" y="0"/>
            <a:chExt cx="365760" cy="3657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0819262" y="8415147"/>
            <a:ext cx="150876" cy="150876"/>
            <a:chOff x="0" y="0"/>
            <a:chExt cx="201168" cy="201168"/>
          </a:xfrm>
        </p:grpSpPr>
        <p:sp>
          <p:nvSpPr>
            <p:cNvPr name="Freeform 125" id="125" descr="Check mark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0"/>
                  </a:moveTo>
                  <a:lnTo>
                    <a:pt x="201168" y="0"/>
                  </a:lnTo>
                  <a:lnTo>
                    <a:pt x="201168" y="201168"/>
                  </a:lnTo>
                  <a:lnTo>
                    <a:pt x="0" y="20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1196452" y="8312277"/>
            <a:ext cx="5915711" cy="356616"/>
            <a:chOff x="0" y="0"/>
            <a:chExt cx="7887614" cy="47548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7887614" cy="475488"/>
            </a:xfrm>
            <a:custGeom>
              <a:avLst/>
              <a:gdLst/>
              <a:ahLst/>
              <a:cxnLst/>
              <a:rect r="r" b="b" t="t" l="l"/>
              <a:pathLst>
                <a:path h="475488" w="7887614">
                  <a:moveTo>
                    <a:pt x="0" y="0"/>
                  </a:moveTo>
                  <a:lnTo>
                    <a:pt x="7887614" y="0"/>
                  </a:lnTo>
                  <a:lnTo>
                    <a:pt x="788761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226" r="0" b="-273226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7887614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LoRa 17-Byte Binary Bit-Packing Serialization Module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0757540" y="8723757"/>
            <a:ext cx="274320" cy="274320"/>
            <a:chOff x="0" y="0"/>
            <a:chExt cx="365760" cy="36576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0819262" y="8843153"/>
            <a:ext cx="150876" cy="150876"/>
            <a:chOff x="0" y="0"/>
            <a:chExt cx="201168" cy="201168"/>
          </a:xfrm>
        </p:grpSpPr>
        <p:sp>
          <p:nvSpPr>
            <p:cNvPr name="Freeform 132" id="132" descr="Check mark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0"/>
                  </a:moveTo>
                  <a:lnTo>
                    <a:pt x="201168" y="0"/>
                  </a:lnTo>
                  <a:lnTo>
                    <a:pt x="201168" y="201168"/>
                  </a:lnTo>
                  <a:lnTo>
                    <a:pt x="0" y="20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1196452" y="8682609"/>
            <a:ext cx="5915711" cy="356616"/>
            <a:chOff x="0" y="0"/>
            <a:chExt cx="7887614" cy="47548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887614" cy="475488"/>
            </a:xfrm>
            <a:custGeom>
              <a:avLst/>
              <a:gdLst/>
              <a:ahLst/>
              <a:cxnLst/>
              <a:rect r="r" b="b" t="t" l="l"/>
              <a:pathLst>
                <a:path h="475488" w="7887614">
                  <a:moveTo>
                    <a:pt x="0" y="0"/>
                  </a:moveTo>
                  <a:lnTo>
                    <a:pt x="7887614" y="0"/>
                  </a:lnTo>
                  <a:lnTo>
                    <a:pt x="788761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226" r="0" b="-273226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28575"/>
              <a:ext cx="7887614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Ray-Casting Geolocation Python Engine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DAHWIHPl_Lg</dc:identifier>
  <dcterms:modified xsi:type="dcterms:W3CDTF">2011-08-01T06:04:30Z</dcterms:modified>
  <cp:revision>1</cp:revision>
  <dc:title>Copy of SIH26177_v6.pptx</dc:title>
</cp:coreProperties>
</file>