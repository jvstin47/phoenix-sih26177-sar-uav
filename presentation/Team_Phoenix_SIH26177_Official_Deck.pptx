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F172A"/>
                </a:solidFill>
              </a:defRPr>
            </a:pPr>
            <a:r>
              <a:t>SMART INDIA HACKATHON 2026</a:t>
            </a:r>
          </a:p>
          <a:p>
            <a:pPr algn="ctr">
              <a:defRPr sz="1100" b="1">
                <a:solidFill>
                  <a:srgbClr val="D97706"/>
                </a:solidFill>
              </a:defRPr>
            </a:pPr>
            <a:r>
              <a:t>HARDWARE EDITION  |  MINISTRY OF EDUCATION &amp; QUALCOMM INC.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448495" cy="4389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737360" y="192024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Problem Statement ID: </a:t>
            </a:r>
            <a:r>
              <a:rPr sz="1100">
                <a:solidFill>
                  <a:srgbClr val="1E293B"/>
                </a:solidFill>
              </a:rPr>
              <a:t>SIH26177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Problem Statement Title: </a:t>
            </a:r>
            <a:r>
              <a:rPr sz="1100">
                <a:solidFill>
                  <a:srgbClr val="1E293B"/>
                </a:solidFill>
              </a:rPr>
              <a:t>A deployable AI-powered autonomous drone that aids search-and-rescue operations by detecting people and hazards, thereby improving responder safety and reducing victim discovery time.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Sponsoring Organization: </a:t>
            </a:r>
            <a:r>
              <a:rPr sz="1100">
                <a:solidFill>
                  <a:srgbClr val="1E293B"/>
                </a:solidFill>
              </a:rPr>
              <a:t>Qualcomm Inc.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Theme: </a:t>
            </a:r>
            <a:r>
              <a:rPr sz="1100">
                <a:solidFill>
                  <a:srgbClr val="1E293B"/>
                </a:solidFill>
              </a:rPr>
              <a:t>Robotics and Drones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Category: </a:t>
            </a:r>
            <a:r>
              <a:rPr sz="1100">
                <a:solidFill>
                  <a:srgbClr val="1E293B"/>
                </a:solidFill>
              </a:rPr>
              <a:t>Hardware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Team Name: </a:t>
            </a:r>
            <a:r>
              <a:rPr sz="1100">
                <a:solidFill>
                  <a:srgbClr val="1E293B"/>
                </a:solidFill>
              </a:rPr>
              <a:t>Team Phoenix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F172A"/>
                </a:solidFill>
              </a:rPr>
              <a:t>• Team Specialization: </a:t>
            </a:r>
            <a:r>
              <a:rPr sz="1100">
                <a:solidFill>
                  <a:srgbClr val="1E293B"/>
                </a:solidFill>
              </a:rPr>
              <a:t>CSE + AI &amp; Data Science + Cyber Security (2nd Year Undergrads)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920240"/>
            <a:ext cx="2926080" cy="384048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2194560"/>
            <a:ext cx="2560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0284C7"/>
                </a:solidFill>
              </a:defRPr>
            </a:pPr>
            <a:r>
              <a:t>PROJECT PHOENIX</a:t>
            </a:r>
            <a:br/>
            <a:r>
              <a:t>SAR UAV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Dual-Brain Edge-AI Scout for Zero-Infrastructure Disaster Reconnaissance</a:t>
            </a:r>
            <a:br/>
            <a:br/>
            <a:r>
              <a:t>✓ Qualcomm Dragonwing QRB2210</a:t>
            </a:r>
            <a:br/>
            <a:r>
              <a:t>✓ STM32U5 Zephyr RTOS Flight</a:t>
            </a:r>
            <a:br/>
            <a:r>
              <a:t>✓ Dual RGB + Thermal Fusion</a:t>
            </a:r>
            <a:br/>
            <a:r>
              <a:t>✓ 3-5 km LoRa Telemetry</a:t>
            </a:r>
            <a:br/>
            <a:r>
              <a:t>✓ Tait-Bryan Ray-Casting GPS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926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Disaster Reconnaissance &amp; Emergency Survivor Triage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74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PROJECT PHOENIX: Autonomous Multi-Spectral Edge-AI UAV  |  SIH26177 (Qualcomm Inc.)                                                                   Slide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53949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645920" cy="292608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E11D48"/>
                </a:solidFill>
              </a:defRPr>
            </a:pPr>
            <a: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During catastrophic events (e.g. Wayanad landslides, earthquakes), first responders encounter critical operational bottlenecks: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Comms Blackout: Cellular towers &amp; power grids severed; cloud-AI drones are 100% inoperable.</a:t>
            </a:r>
            <a:br/>
            <a:r>
              <a:t>• Environmental Blindness: Mud slush, fog, and darkness camouflage trapped survivors.</a:t>
            </a:r>
            <a:br/>
            <a:r>
              <a:t>• High Mortality Curve: The 'Golden 72 Hours' expire before slow manual foot sweeps cover rubble.</a:t>
            </a:r>
            <a:br/>
            <a:r>
              <a:t>• Responder Hazards: Crews walk blindly into secondary cave-ins, gas leaks, and live cables.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005840"/>
            <a:ext cx="539496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164592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PROPOSED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08760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50" b="1">
                <a:solidFill>
                  <a:srgbClr val="0F172A"/>
                </a:solidFill>
              </a:defRPr>
            </a:pPr>
            <a:r>
              <a:t>Project Phoenix: An autonomous, field-deployable multirotor scout engineered for offline disaster zones: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100% On-Device Edge AI: Executes real-time vision on Qualcomm silicon without internet.</a:t>
            </a:r>
            <a:br/>
            <a:r>
              <a:t>• Multi-Spectral Vision: Fuses 4K RGB with LWIR Thermal (8-14μm) to spot living body heat (37°C).</a:t>
            </a:r>
            <a:br/>
            <a:r>
              <a:t>• Tait-Bryan Ray-Casting: Calculates victim Lat/Long GPS coordinates instantly from altitude.</a:t>
            </a:r>
            <a:br/>
            <a:r>
              <a:t>• Offline Tactical GCS: Streams priority triage queues and safe rescue routes to local tablets.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429000"/>
            <a:ext cx="2011680" cy="274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INNOVATION / UNIQUENESS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947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4048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</a:defRPr>
            </a:pPr>
            <a:r>
              <a:t>Dual-Brain Architecture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Arduino UNO Q combining Qualcomm QRB2210 MPU + STM32U5 MCU in 40g.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37947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62072" y="384048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</a:defRPr>
            </a:pPr>
            <a:r>
              <a:t>Sub-5W Edge YOLO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INT8 quantized neural model running on NPU; preserves 90% power for flight.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37947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02352" y="384048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</a:defRPr>
            </a:pPr>
            <a:r>
              <a:t>Ray-Cast Geolocation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Tait-Bryan rotation matrix projects bounding boxes to ground GPS pins.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7947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42632" y="384048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</a:defRPr>
            </a:pPr>
            <a:r>
              <a:t>ROS-LoRa P2P Bridge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17-byte bit-packed telemetry stream over 5+ km (Souli et al., Elsevier 2024).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0" y="3794760"/>
            <a:ext cx="210312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82912" y="3840480"/>
            <a:ext cx="195681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7C3AED"/>
                </a:solidFill>
              </a:defRPr>
            </a:pPr>
            <a:r>
              <a:t>Anti-Compass Drift VIO</a:t>
            </a:r>
          </a:p>
          <a:p>
            <a:pPr>
              <a:defRPr sz="850">
                <a:solidFill>
                  <a:srgbClr val="1E293B"/>
                </a:solidFill>
              </a:defRPr>
            </a:pPr>
            <a:r>
              <a:t>Visual Odometry heading overrides magnetometer in steel rubble (Bouabdallah 2007).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120640"/>
            <a:ext cx="5394960" cy="128016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66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E11D48"/>
                </a:solidFill>
              </a:defRPr>
            </a:pPr>
            <a:r>
              <a:t>TRADITIONAL DISASTER SEARCH (Current Approach)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Manual Foot Sweeps ➔ Blind Rubble Digging ➔ Stalled at Sunset (Darkness) ➔ High Responder Casualty Risk ➔ Critical Hours Lost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5120640"/>
            <a:ext cx="5394960" cy="1280160"/>
          </a:xfrm>
          <a:prstGeom prst="roundRect">
            <a:avLst/>
          </a:prstGeom>
          <a:solidFill>
            <a:srgbClr val="F0FDFA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516636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D9488"/>
                </a:solidFill>
              </a:defRPr>
            </a:pPr>
            <a:r>
              <a:t>PHOENIX AUTONOMOUS SAR (Our Approach)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Autonomous Aerial Sweep ➔ 24/7 Thermal Night Vision ➔ Instant Survivor GPS Raycasting ➔ Zero-Drop LoRa Telemetry ➔ Safe Responder Path Routing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926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Technical Approach: Dual-Brain Architecture &amp;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74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PROJECT PHOENIX: Autonomous Multi-Spectral Edge-AI UAV  |  SIH26177 (Qualcomm Inc.)                                                                   Slide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62179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19456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IMPLEMENTATION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1. Sector Partition &amp; Launch
</a:t>
            </a:r>
            <a:r>
              <a:rPr sz="900">
                <a:solidFill>
                  <a:srgbClr val="1E293B"/>
                </a:solidFill>
              </a:rPr>
              <a:t>Operator selects 2 km² search polygon on offline tablet; UAV launches in &lt; 3 minutes.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2. Autonomous Grid Sweep
</a:t>
            </a:r>
            <a:r>
              <a:rPr sz="900">
                <a:solidFill>
                  <a:srgbClr val="1E293B"/>
                </a:solidFill>
              </a:rPr>
              <a:t>Executes Boustrophedon lawnmower coverage flight powered by STM32U5 / Zephyr RTOS at 250 Hz.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3. Multi-Spectral Perception
</a:t>
            </a:r>
            <a:r>
              <a:rPr sz="900">
                <a:solidFill>
                  <a:srgbClr val="1E293B"/>
                </a:solidFill>
              </a:rPr>
              <a:t>Dual 4K RGB + LWIR Thermal cameras co-register frames; edge YOLO extracts human heat contours.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4. Ray-Cast Geolocation
</a:t>
            </a:r>
            <a:r>
              <a:rPr sz="900">
                <a:solidFill>
                  <a:srgbClr val="1E293B"/>
                </a:solidFill>
              </a:rPr>
              <a:t>Tait-Bryan DCM matrix converts bounding box center + LiDAR altitude into real-world Lat/Long.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5. Binary LoRa Packet Burst
</a:t>
            </a:r>
            <a:r>
              <a:rPr sz="900">
                <a:solidFill>
                  <a:srgbClr val="1E293B"/>
                </a:solidFill>
              </a:rPr>
              <a:t>Souli et al. (2024) protocol packs survivor coordinates into 17-byte binary frame; broadcasts over 5+ km.
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6. GCS Triage &amp; Route Planning
</a:t>
            </a:r>
            <a:r>
              <a:rPr sz="900">
                <a:solidFill>
                  <a:srgbClr val="1E293B"/>
                </a:solidFill>
              </a:rPr>
              <a:t>Ground station ranks victims by body temperature urgency; Dijkstra algorithm charts hazard-free ground route.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1005840"/>
            <a:ext cx="466344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132320" y="1143000"/>
            <a:ext cx="1828800" cy="2926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508760"/>
            <a:ext cx="4297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Dual-Brain Hardware Split (Arduino UNO Q):</a:t>
            </a:r>
            <a:br/>
            <a:r>
              <a:t>• Real-Time MCU (STM32U585 / Zephyr RTOS):</a:t>
            </a:r>
            <a:br/>
            <a:r>
              <a:t>  - 250 Hz (4ms) deterministic flight stabilization loop</a:t>
            </a:r>
            <a:br/>
            <a:r>
              <a:t>  - 350 Hz PWM direct brushless motor control</a:t>
            </a:r>
            <a:br/>
            <a:r>
              <a:t>  - IMU (MPU6050) + Barometer (MS5611) + Downward LiDAR</a:t>
            </a:r>
            <a:br/>
            <a:br/>
            <a:r>
              <a:t>• Mission Computer (Qualcomm Dragonwing QRB2210 / Linux):</a:t>
            </a:r>
            <a:br/>
            <a:r>
              <a:t>  - Asynchronous non-blocking RPC bridge (zero flight jitter)</a:t>
            </a:r>
            <a:br/>
            <a:r>
              <a:t>  - INT8 YOLO Edge AI + Optical-to-Ground Ray-Caster</a:t>
            </a:r>
            <a:br/>
            <a:r>
              <a:t>  - Semtech SX1262 LoRa Telemetry Driver (868 MHz)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114800"/>
            <a:ext cx="466344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32320" y="4251960"/>
            <a:ext cx="128016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617720"/>
            <a:ext cx="4297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• Flight Stack: Zephyr RTOS, YMFC-32 Core, PX4 Autopilot</a:t>
            </a:r>
            <a:br/>
            <a:r>
              <a:t>• Edge AI &amp; Vision: Qualcomm SNPE, ONNX Runtime INT8, OpenCV</a:t>
            </a:r>
            <a:br/>
            <a:r>
              <a:t>• Robotics Middleware: ROS2 Humble, MAVLink v2, micro-ROS</a:t>
            </a:r>
            <a:br/>
            <a:r>
              <a:t>• Long-Range RF Comms: Semtech SX1262 LoRa P2P (868 MHz)</a:t>
            </a:r>
            <a:br/>
            <a:r>
              <a:t>• Tactical GCS: React, Leaflet, Tailwind CSS, WebSockets</a:t>
            </a:r>
            <a:br/>
            <a:r>
              <a:t>• Security: HMAC-SHA256 Telemetry Packet Signatures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926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Feasibility, Challenges-to-Strategies &amp; Market Viability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74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PROJECT PHOENIX: Autonomous Multi-Spectral Edge-AI UAV  |  SIH26177 (Qualcomm Inc.)                                                                   Slide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352044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137160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TECHNICAL FEASIBILITY</a:t>
            </a:r>
            <a:br/>
            <a:r>
              <a:t>• Bouabdallah Sizing Laws: 38% battery mass fraction, β ≥ 2.0 thrust-to-weight ratio.</a:t>
            </a:r>
            <a:br/>
            <a:r>
              <a:t>• Total All-Up-Weight: 1.58 kg (Comfortably under DGCA 2.0 kg Micro Category).</a:t>
            </a:r>
            <a:br/>
            <a:r>
              <a:t>• Sub-5W Compute: Qualcomm NPU preserves 90% power for rotor propulsion.</a:t>
            </a:r>
            <a:br/>
            <a:br/>
            <a:r>
              <a:t>OPERATIONAL FEASIBILITY</a:t>
            </a:r>
            <a:br/>
            <a:r>
              <a:t>• Setup Time: &lt; 3 minutes from rugged backpack unboxing to flight.</a:t>
            </a:r>
            <a:br/>
            <a:r>
              <a:t>• Quick-Swap Battery: Dual 4S LiPo tray for continuous sortie coverage.</a:t>
            </a:r>
            <a:br/>
            <a:br/>
            <a:r>
              <a:t>FINANCIAL FEASIBILITY</a:t>
            </a:r>
            <a:br/>
            <a:r>
              <a:t>• Bill of Materials: ₹85,000 – ₹1,40,000 per operational unit (1/8th of commercial enterprise drones).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005840"/>
            <a:ext cx="352044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26280" y="1143000"/>
            <a:ext cx="2011680" cy="2926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CHALLENGES ➔ STRATEGIES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1. Comms Blackout in Canyons</a:t>
            </a:r>
            <a:br/>
            <a:r>
              <a:t>   ➔ Strategy: Raw LoRa P2P 868MHz packet burst (Souli et al., Elsevier 2024).</a:t>
            </a:r>
            <a:br/>
            <a:br/>
            <a:r>
              <a:t>2. Smoke, Mud Slush &amp; Darkness</a:t>
            </a:r>
            <a:br/>
            <a:r>
              <a:t>   ➔ Strategy: Dual-band 8-14μm LWIR Thermal fusion spots living 37°C body heat.</a:t>
            </a:r>
            <a:br/>
            <a:br/>
            <a:r>
              <a:t>3. Rubble Steel Magnetometer Distortion</a:t>
            </a:r>
            <a:br/>
            <a:r>
              <a:t>   ➔ Strategy: Visual Inertial Odometry (VIO) overrides compass in magnetic fields.</a:t>
            </a:r>
            <a:br/>
            <a:br/>
            <a:r>
              <a:t>4. Propeller Vibration Sensor Noise</a:t>
            </a:r>
            <a:br/>
            <a:r>
              <a:t>   ➔ Strategy: Zero-pitching-moment airfoils (NASA TM-4741) + silicone mounts.</a:t>
            </a:r>
            <a:br/>
            <a:br/>
            <a:r>
              <a:t>5. Actuator Saturation in Gusts</a:t>
            </a:r>
            <a:br/>
            <a:r>
              <a:t>   ➔ Strategy: Anti-windup integrator clamping (Bouabdallah Algorithm 2).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05840"/>
            <a:ext cx="352044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21040" y="1143000"/>
            <a:ext cx="128016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VIABILITY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1E293B"/>
                </a:solidFill>
              </a:defRPr>
            </a:pPr>
            <a:r>
              <a:t>ECONOMIC VIABILITY</a:t>
            </a:r>
            <a:br/>
            <a:r>
              <a:t>• Enterprise Drone Disruption: DJI Matrice 30T costs ₹12-14 Lakhs. Phoenix costs ₹1.2 Lakh.</a:t>
            </a:r>
            <a:br/>
            <a:r>
              <a:t>• Fleet Scalability: 1 NDRF battalion can deploy a swarm of 5 Phoenix UAVs for the price of 1 commercial drone.</a:t>
            </a:r>
            <a:br/>
            <a:br/>
            <a:r>
              <a:t>NATIONAL DATA SOVEREIGNTY</a:t>
            </a:r>
            <a:br/>
            <a:r>
              <a:t>• 100% Air-Gapped: Zero telemetry leaked to foreign cloud servers; adheres to Indian Defense &amp; Home Ministry cyber norms.</a:t>
            </a:r>
            <a:br/>
            <a:br/>
            <a:r>
              <a:t>DEPLOYMENT ECOSYSTEM</a:t>
            </a:r>
            <a:br/>
            <a:r>
              <a:t>• Seamless integration into state disaster management authorities (NDRF, SDRF, Indian Army disaster columns).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926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Mission Impact &amp; Multi-Stakeholder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74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PROJECT PHOENIX: Autonomous Multi-Spectral Edge-AI UAV  |  SIH26177 (Qualcomm Inc.)                                                                   Slide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2560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143000"/>
            <a:ext cx="228600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TRAPPED VICTIMS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22860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Located in Golden 72h window</a:t>
            </a:r>
            <a:br/>
            <a:r>
              <a:t>• Discovered through mud &amp; debris</a:t>
            </a:r>
            <a:br/>
            <a:r>
              <a:t>• Rapid medical triage prioritization</a:t>
            </a:r>
            <a:br/>
            <a:r>
              <a:t>• Maximized chances of survival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005840"/>
            <a:ext cx="2560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143000"/>
            <a:ext cx="228600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NDRF / SDRF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600200"/>
            <a:ext cx="22860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Advance hazard mapping</a:t>
            </a:r>
            <a:br/>
            <a:r>
              <a:t>• Avoid live cables &amp; gas leaks</a:t>
            </a:r>
            <a:br/>
            <a:r>
              <a:t>• Automated safe-route navigation</a:t>
            </a:r>
            <a:br/>
            <a:r>
              <a:t>• Reduced physical rescuer fatigue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79" y="1005840"/>
            <a:ext cx="2560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63639" y="1143000"/>
            <a:ext cx="2286000" cy="292608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7C3AED"/>
                </a:solidFill>
              </a:defRPr>
            </a:pPr>
            <a:r>
              <a:t>DISASTER AUTHORITIES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39" y="1600200"/>
            <a:ext cx="22860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Unified local tactical map</a:t>
            </a:r>
            <a:br/>
            <a:r>
              <a:t>• Real-time survivor count &amp; coords</a:t>
            </a:r>
            <a:br/>
            <a:r>
              <a:t>• Zero dependency on cell towers</a:t>
            </a:r>
            <a:br/>
            <a:r>
              <a:t>• Dynamic search sector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15399" y="1005840"/>
            <a:ext cx="2560320" cy="3749039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52559" y="1143000"/>
            <a:ext cx="2286000" cy="292608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D97706"/>
                </a:solidFill>
              </a:defRPr>
            </a:pPr>
            <a:r>
              <a:t>DISTRICT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59" y="1600200"/>
            <a:ext cx="2286000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• Efficient resource allocation</a:t>
            </a:r>
            <a:br/>
            <a:r>
              <a:t>• Targeted airlift &amp; medical drops</a:t>
            </a:r>
            <a:br/>
            <a:r>
              <a:t>• Post-disaster audit trails</a:t>
            </a:r>
            <a:br/>
            <a:r>
              <a:t>• Affordable procurement at scale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37760"/>
            <a:ext cx="11094415" cy="1371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5074920"/>
            <a:ext cx="1645920" cy="256032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IMPACT PIPELINE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10698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RAPID UNBOXING (&lt;3 min)   ➔   AUTONOMOUS THERMAL SWEEP   ➔   EXACT GPS RAY-CASTING   ➔   ZERO-DROP LORA BEACON   ➔   MAXIMIZED LIVES SAVED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320040"/>
            <a:ext cx="1645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9260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Academic Research Foundations &amp; Prototype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74320"/>
            <a:ext cx="1828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0F172A"/>
                </a:solidFill>
              </a:defRPr>
            </a:pPr>
            <a:r>
              <a:t>SMART INDIA</a:t>
            </a:r>
            <a:br/>
            <a:r>
              <a:t>HACKATHON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FFFFFF"/>
                </a:solidFill>
              </a:defRPr>
            </a:pPr>
            <a:r>
              <a:t>PROJECT PHOENIX: Autonomous Multi-Spectral Edge-AI UAV  |  SIH26177 (Qualcomm Inc.)                                                                   Slide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548640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143000"/>
            <a:ext cx="2011680" cy="29260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284C7"/>
                </a:solidFill>
              </a:defRPr>
            </a:pPr>
            <a:r>
              <a:t>RESEARCH &amp;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087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1. Dr. Samir Bouabdallah (EPFL Thesis 3727, 2007)
</a:t>
            </a:r>
            <a:r>
              <a:rPr sz="850">
                <a:solidFill>
                  <a:srgbClr val="1E293B"/>
                </a:solidFill>
              </a:rPr>
              <a:t>• 'Design and Control of Quadrotors with Application to Autonomous Flying'
• Sourced 12-state rigid-body dynamics, 90/10 electrical power rule, and anti-windup integrator.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2. Souli, Karatzia, Kolios, Ellinas (Elsevier, 2024)
</a:t>
            </a:r>
            <a:r>
              <a:rPr sz="850">
                <a:solidFill>
                  <a:srgbClr val="1E293B"/>
                </a:solidFill>
              </a:rPr>
              <a:t>• 'Mission-critical UAV swarm coordination using integrated ROS-LoRa architecture' (Computer Communications, Vol. 225)
• Sourced 17-byte binary bit-packing &amp; P2P LoRa telemetry.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3. NASA Technical Memorandum 4741 (NASA Langley, 1996)
</a:t>
            </a:r>
            <a:r>
              <a:rPr sz="850">
                <a:solidFill>
                  <a:srgbClr val="1E293B"/>
                </a:solidFill>
              </a:rPr>
              <a:t>• 'Computer Program To Obtain Ordinates for NACA Airfoils'
• Sourced zero-pitching-moment (Cm=0) reflexed airfoil theory to eliminate blade flutter and IMU noise.
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</a:rPr>
              <a:t>4. JRFCQAI Dual-Brain Platform (Ravi Butani, 2024)
</a:t>
            </a:r>
            <a:r>
              <a:rPr sz="850">
                <a:solidFill>
                  <a:srgbClr val="1E293B"/>
                </a:solidFill>
              </a:rPr>
              <a:t>• 'Dual-Brain Physical AI Flight Controller on Arduino UNO Q'
• Established Zephyr RTOS + Debian Linux on Qualcomm QRB2210.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005840"/>
            <a:ext cx="5303520" cy="5394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1143000"/>
            <a:ext cx="1463040" cy="29260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PROTOTYPE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08760"/>
            <a:ext cx="4937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OPEN-SOURCE REPOSITORY &amp; VERIFICATION ASSETS</a:t>
            </a:r>
          </a:p>
          <a:p>
            <a:pPr>
              <a:defRPr sz="950">
                <a:solidFill>
                  <a:srgbClr val="1E293B"/>
                </a:solidFill>
              </a:defRPr>
            </a:pPr>
            <a:r>
              <a:t>• Official GitHub Repository:</a:t>
            </a:r>
            <a:br/>
            <a:r>
              <a:t>  https://github.com/jvstin47/Phoenix-SIH26177-SAR-UAV</a:t>
            </a:r>
            <a:br/>
            <a:br/>
            <a:r>
              <a:t>• Documented Subsystems:</a:t>
            </a:r>
            <a:br/>
            <a:r>
              <a:t>  1. docs/bouabdallah_quadrotor_research_findings.md</a:t>
            </a:r>
            <a:br/>
            <a:r>
              <a:t>  2. docs/ros_lora_mission_critical_uav_swarm_research.md</a:t>
            </a:r>
            <a:br/>
            <a:r>
              <a:t>  3. docs/aerodynamic_airfoil_considerations.md</a:t>
            </a:r>
            <a:br/>
            <a:r>
              <a:t>  4. presentation/sih_presentation_outline.md</a:t>
            </a:r>
            <a:br/>
            <a:br/>
            <a:r>
              <a:t>• Prototype Architecture Deliverables:</a:t>
            </a:r>
            <a:br/>
            <a:r>
              <a:t>  - Live Web GCS Tactical Dashboard (React + Leaflet)</a:t>
            </a:r>
            <a:br/>
            <a:r>
              <a:t>  - Multi-Spectral Dual Stream (RGB + LWIR Thermal HUD)</a:t>
            </a:r>
            <a:br/>
            <a:r>
              <a:t>  - LoRa 17-Byte Binary Bit-Packing Serialization Module</a:t>
            </a:r>
            <a:br/>
            <a:r>
              <a:t>  - Ray-Casting Geolocation Python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