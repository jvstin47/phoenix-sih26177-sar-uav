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100">
                <a:solidFill>
                  <a:srgbClr val="EA580C"/>
                </a:solidFill>
              </a:rPr>
              <a:t>PHOENIX X · HARDWARE PRESENTATION ASSET PACK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6012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FFFFFF"/>
                </a:solidFill>
              </a:rPr>
              <a:t>High-Resolution Airframe Graphics &amp; Callouts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2E8F0"/>
                </a:solidFill>
              </a:rPr>
              <a:t>Studio 3D tactical renders with interactive numbered beacons, aligned 1:1 with SIH26177 Deck v2.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377440"/>
            <a:ext cx="3337560" cy="347472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74320" rIns="274320" tIns="274320"/>
          <a:lstStyle/>
          <a:p>
            <a:pPr algn="ctr"/>
            <a:r>
              <a:rPr b="1" sz="1200">
                <a:solidFill>
                  <a:srgbClr val="0284C7"/>
                </a:solidFill>
              </a:rPr>
              <a:t>SLIDE 2: TECHNICAL APPROACH
</a:t>
            </a:r>
          </a:p>
          <a:p>
            <a:r>
              <a:rPr b="1" sz="1500">
                <a:solidFill>
                  <a:srgbClr val="FFFFFF"/>
                </a:solidFill>
              </a:rPr>
              <a:t>Avionics &amp; Compute Partition
</a:t>
            </a:r>
          </a:p>
          <a:p>
            <a:r>
              <a:rPr sz="1100">
                <a:solidFill>
                  <a:srgbClr val="E2E8F0"/>
                </a:solidFill>
              </a:rPr>
              <a:t>Dual-stream EO/IR, QRB2210 Linux MPU, STM32U5 Zephyr RTOS, 17-byte LoRa packet, ToF altimeter.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377440"/>
            <a:ext cx="3337560" cy="73152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297680" y="2377440"/>
            <a:ext cx="3337560" cy="347472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74320" rIns="274320" tIns="274320"/>
          <a:lstStyle/>
          <a:p>
            <a:pPr algn="ctr"/>
            <a:r>
              <a:rPr b="1" sz="1200">
                <a:solidFill>
                  <a:srgbClr val="0D9488"/>
                </a:solidFill>
              </a:rPr>
              <a:t>SLIDE 3: FEASIBILITY &amp; SIZING
</a:t>
            </a:r>
          </a:p>
          <a:p>
            <a:r>
              <a:rPr b="1" sz="1500">
                <a:solidFill>
                  <a:srgbClr val="FFFFFF"/>
                </a:solidFill>
              </a:rPr>
              <a:t>Buildability &amp; Legal Viability
</a:t>
            </a:r>
          </a:p>
          <a:p>
            <a:r>
              <a:rPr sz="1100">
                <a:solidFill>
                  <a:srgbClr val="E2E8F0"/>
                </a:solidFill>
              </a:rPr>
              <a:t>DGCA 1.58 kg AUW, Bouabdallah β ≥ 2.0 sizing laws, WPC 868 MHz compliance, sub-5W compute.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2377440"/>
            <a:ext cx="3337560" cy="73152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863840" y="2377440"/>
            <a:ext cx="3337560" cy="347472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74320" rIns="274320" tIns="274320"/>
          <a:lstStyle/>
          <a:p>
            <a:pPr algn="ctr"/>
            <a:r>
              <a:rPr b="1" sz="1200">
                <a:solidFill>
                  <a:srgbClr val="EA580C"/>
                </a:solidFill>
              </a:rPr>
              <a:t>SLIDE 4: MISSION IMPACT
</a:t>
            </a:r>
          </a:p>
          <a:p>
            <a:r>
              <a:rPr b="1" sz="1500">
                <a:solidFill>
                  <a:srgbClr val="FFFFFF"/>
                </a:solidFill>
              </a:rPr>
              <a:t>Golden 72h Search Deliverables
</a:t>
            </a:r>
          </a:p>
          <a:p>
            <a:r>
              <a:rPr sz="1100">
                <a:solidFill>
                  <a:srgbClr val="E2E8F0"/>
                </a:solidFill>
              </a:rPr>
              <a:t>Smoke penetration, Dijkstra safe pedestrian routing, WGS-84 ray-casting, sub-5 min response.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2377440"/>
            <a:ext cx="3337560" cy="73152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92608"/>
            <a:ext cx="1691640" cy="40233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1E293B"/>
                </a:solidFill>
                <a:latin typeface="Calibri"/>
              </a:rPr>
              <a:t>PHOENIX X · SIH26177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256032"/>
            <a:ext cx="6858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EA580C"/>
                </a:solidFill>
                <a:latin typeface="Calibri"/>
              </a:rPr>
              <a:t>TECHNICAL APPROACH · DUAL-BRAIN AVIONICS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475488"/>
            <a:ext cx="6858000" cy="438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Calibri"/>
              </a:rPr>
              <a:t>Hardware Subsystem Mapping on the Phoenix X Airframe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320040"/>
            <a:ext cx="2194560" cy="384048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0284C7"/>
                </a:solidFill>
                <a:latin typeface="Calibri"/>
              </a:rPr>
              <a:t>AVIONICS &amp; PAYLOAD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5943600" cy="5349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101600" dist="25400" dir="5400000" algn="t" rotWithShape="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216152"/>
            <a:ext cx="1463040" cy="54864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25880"/>
            <a:ext cx="4114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050">
                <a:solidFill>
                  <a:srgbClr val="0F172A"/>
                </a:solidFill>
              </a:rPr>
              <a:t>TACTICAL RECONNAISSANCE AIRFRAME </a:t>
            </a:r>
            <a:r>
              <a:rPr sz="1050">
                <a:solidFill>
                  <a:srgbClr val="64748B"/>
                </a:solidFill>
              </a:rPr>
              <a:t>· 3D PRODUCT SCHEMATIC</a:t>
            </a:r>
          </a:p>
        </p:txBody>
      </p:sp>
      <p:pic>
        <p:nvPicPr>
          <p:cNvPr id="10" name="Picture 9" descr="phoenix_tactical_drone_rend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5486400" cy="306324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2529804" y="3695866"/>
            <a:ext cx="402336" cy="402336"/>
          </a:xfrm>
          <a:prstGeom prst="ellipse">
            <a:avLst/>
          </a:prstGeom>
          <a:solidFill>
            <a:srgbClr val="EA580C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584668" y="3750730"/>
            <a:ext cx="292608" cy="292608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4284176" y="2140315"/>
            <a:ext cx="402336" cy="402336"/>
          </a:xfrm>
          <a:prstGeom prst="ellipse">
            <a:avLst/>
          </a:prstGeom>
          <a:solidFill>
            <a:srgbClr val="0284C7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339040" y="2195179"/>
            <a:ext cx="292608" cy="292608"/>
          </a:xfrm>
          <a:prstGeom prst="ellipse">
            <a:avLst/>
          </a:prstGeom>
          <a:solidFill>
            <a:srgbClr val="0284C7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3127885" y="2898147"/>
            <a:ext cx="402336" cy="402336"/>
          </a:xfrm>
          <a:prstGeom prst="ellipse">
            <a:avLst/>
          </a:prstGeom>
          <a:solidFill>
            <a:srgbClr val="0D9488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182749" y="2953011"/>
            <a:ext cx="292608" cy="292608"/>
          </a:xfrm>
          <a:prstGeom prst="ellipse">
            <a:avLst/>
          </a:prstGeom>
          <a:solidFill>
            <a:srgbClr val="0D9488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Oval 16"/>
          <p:cNvSpPr/>
          <p:nvPr/>
        </p:nvSpPr>
        <p:spPr>
          <a:xfrm>
            <a:off x="3686095" y="2539174"/>
            <a:ext cx="402336" cy="402336"/>
          </a:xfrm>
          <a:prstGeom prst="ellipse">
            <a:avLst/>
          </a:prstGeom>
          <a:solidFill>
            <a:srgbClr val="7C3AED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740959" y="2594038"/>
            <a:ext cx="292608" cy="292608"/>
          </a:xfrm>
          <a:prstGeom prst="ellipse">
            <a:avLst/>
          </a:prstGeom>
          <a:solidFill>
            <a:srgbClr val="7C3AED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Oval 18"/>
          <p:cNvSpPr/>
          <p:nvPr/>
        </p:nvSpPr>
        <p:spPr>
          <a:xfrm>
            <a:off x="3526606" y="3416665"/>
            <a:ext cx="402336" cy="402336"/>
          </a:xfrm>
          <a:prstGeom prst="ellipse">
            <a:avLst/>
          </a:prstGeom>
          <a:solidFill>
            <a:srgbClr val="EA580C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581470" y="3471529"/>
            <a:ext cx="292608" cy="292608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Oval 20"/>
          <p:cNvSpPr/>
          <p:nvPr/>
        </p:nvSpPr>
        <p:spPr>
          <a:xfrm>
            <a:off x="4124688" y="3735752"/>
            <a:ext cx="402336" cy="402336"/>
          </a:xfrm>
          <a:prstGeom prst="ellipse">
            <a:avLst/>
          </a:prstGeom>
          <a:solidFill>
            <a:srgbClr val="0284C7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179552" y="3790616"/>
            <a:ext cx="292608" cy="292608"/>
          </a:xfrm>
          <a:prstGeom prst="ellipse">
            <a:avLst/>
          </a:prstGeom>
          <a:solidFill>
            <a:srgbClr val="0284C7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5029199"/>
            <a:ext cx="1737360" cy="1143000"/>
          </a:xfrm>
          <a:prstGeom prst="roundRect">
            <a:avLst/>
          </a:prstGeom>
          <a:solidFill>
            <a:srgbClr val="F0FDFA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109728"/>
          <a:lstStyle/>
          <a:p>
            <a:pPr algn="ctr"/>
            <a:r>
              <a:rPr sz="850" b="1">
                <a:solidFill>
                  <a:srgbClr val="64748B"/>
                </a:solidFill>
              </a:rPr>
              <a:t>AUW MASS BUDGET
</a:t>
            </a:r>
          </a:p>
          <a:p>
            <a:r>
              <a:rPr sz="1350" b="1">
                <a:solidFill>
                  <a:srgbClr val="0D9488"/>
                </a:solidFill>
              </a:rPr>
              <a:t>1.58 kg
</a:t>
            </a:r>
          </a:p>
          <a:p>
            <a:r>
              <a:rPr sz="850">
                <a:solidFill>
                  <a:srgbClr val="334155"/>
                </a:solidFill>
              </a:rPr>
              <a:t>DGCA Micro Category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15184" y="5029199"/>
            <a:ext cx="1737360" cy="1143000"/>
          </a:xfrm>
          <a:prstGeom prst="roundRect">
            <a:avLst/>
          </a:prstGeom>
          <a:solidFill>
            <a:srgbClr val="F5F3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109728"/>
          <a:lstStyle/>
          <a:p>
            <a:pPr algn="ctr"/>
            <a:r>
              <a:rPr sz="850" b="1">
                <a:solidFill>
                  <a:srgbClr val="64748B"/>
                </a:solidFill>
              </a:rPr>
              <a:t>DUAL-BRAIN CHIPS
</a:t>
            </a:r>
          </a:p>
          <a:p>
            <a:r>
              <a:rPr sz="1350" b="1">
                <a:solidFill>
                  <a:srgbClr val="7C3AED"/>
                </a:solidFill>
              </a:rPr>
              <a:t>QRB2210 + STM32
</a:t>
            </a:r>
          </a:p>
          <a:p>
            <a:r>
              <a:rPr sz="850">
                <a:solidFill>
                  <a:srgbClr val="334155"/>
                </a:solidFill>
              </a:rPr>
              <a:t>Linux NPU + Zephyr RTOS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80560" y="5029199"/>
            <a:ext cx="1737360" cy="1143000"/>
          </a:xfrm>
          <a:prstGeom prst="roundRect">
            <a:avLst/>
          </a:prstGeom>
          <a:solidFill>
            <a:srgbClr val="F0F9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109728"/>
          <a:lstStyle/>
          <a:p>
            <a:pPr algn="ctr"/>
            <a:r>
              <a:rPr sz="850" b="1">
                <a:solidFill>
                  <a:srgbClr val="64748B"/>
                </a:solidFill>
              </a:rPr>
              <a:t>OFF-GRID TELEMETRY
</a:t>
            </a:r>
          </a:p>
          <a:p>
            <a:r>
              <a:rPr sz="1350" b="1">
                <a:solidFill>
                  <a:srgbClr val="0284C7"/>
                </a:solidFill>
              </a:rPr>
              <a:t>868 MHz LoRa
</a:t>
            </a:r>
          </a:p>
          <a:p>
            <a:r>
              <a:rPr sz="850">
                <a:solidFill>
                  <a:srgbClr val="334155"/>
                </a:solidFill>
              </a:rPr>
              <a:t>17-byte P2P (3–5 km)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20840" y="1051560"/>
            <a:ext cx="242316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01600" dist="25400" dir="5400000" algn="t" rotWithShape="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720840" y="1051560"/>
            <a:ext cx="73152" cy="166420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867144" y="1179576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51192" y="1161288"/>
            <a:ext cx="1801368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100">
                <a:solidFill>
                  <a:srgbClr val="0F172A"/>
                </a:solidFill>
              </a:rPr>
              <a:t>Dual-Spectral Vision Gimbal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67144" y="1554480"/>
            <a:ext cx="2130552" cy="237744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b="1" sz="850">
                <a:solidFill>
                  <a:srgbClr val="334155"/>
                </a:solidFill>
              </a:rPr>
              <a:t>1080p Optical + 8-14μm Radiometric LWIR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67144" y="1856232"/>
            <a:ext cx="213055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334155"/>
                </a:solidFill>
              </a:rPr>
              <a:t>Fuses daylight contours with thermal core-emissivity (37.0°C biological lock). Rejects solar heat false positives.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326880" y="1051560"/>
            <a:ext cx="242316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01600" dist="25400" dir="5400000" algn="t" rotWithShape="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326880" y="1051560"/>
            <a:ext cx="73152" cy="16642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473184" y="1179576"/>
            <a:ext cx="310896" cy="310896"/>
          </a:xfrm>
          <a:prstGeom prst="ellipse">
            <a:avLst/>
          </a:prstGeom>
          <a:solidFill>
            <a:srgbClr val="0284C7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57232" y="1161288"/>
            <a:ext cx="1801368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100">
                <a:solidFill>
                  <a:srgbClr val="0F172A"/>
                </a:solidFill>
              </a:rPr>
              <a:t>SX1262 LoRa RF Telemetry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73184" y="1554480"/>
            <a:ext cx="2130552" cy="237744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b="1" sz="850">
                <a:solidFill>
                  <a:srgbClr val="334155"/>
                </a:solidFill>
              </a:rPr>
              <a:t>868 MHz P2P Sub-GHz Link · +22 dBm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73184" y="1856232"/>
            <a:ext cx="213055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334155"/>
                </a:solidFill>
              </a:rPr>
              <a:t>Transmits Souli et al. (Elsevier 2024) 17-byte encrypted binary packets over 3–5 km without cellular towers.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720840" y="2880360"/>
            <a:ext cx="242316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01600" dist="25400" dir="5400000" algn="t" rotWithShape="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720840" y="2880360"/>
            <a:ext cx="73152" cy="1664208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867144" y="3008376"/>
            <a:ext cx="310896" cy="31089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51192" y="2990088"/>
            <a:ext cx="1801368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100">
                <a:solidFill>
                  <a:srgbClr val="0F172A"/>
                </a:solidFill>
              </a:rPr>
              <a:t>STM32U585 Flight Core (MCU)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867144" y="3383280"/>
            <a:ext cx="2130552" cy="237744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b="1" sz="850">
                <a:solidFill>
                  <a:srgbClr val="334155"/>
                </a:solidFill>
              </a:rPr>
              <a:t>Zephyr RTOS @ 250 Hz Loop · 350 Hz PWM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67144" y="3685032"/>
            <a:ext cx="213055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334155"/>
                </a:solidFill>
              </a:rPr>
              <a:t>Deterministic 4ms PID motor loop. Completely isolated from AI workload to guarantee zero flight jitter.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326880" y="2880360"/>
            <a:ext cx="242316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01600" dist="25400" dir="5400000" algn="t" rotWithShape="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326880" y="2880360"/>
            <a:ext cx="73152" cy="166420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473184" y="3008376"/>
            <a:ext cx="310896" cy="3108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857232" y="2990088"/>
            <a:ext cx="1801368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100">
                <a:solidFill>
                  <a:srgbClr val="0F172A"/>
                </a:solidFill>
              </a:rPr>
              <a:t>Qualcomm QRB2210 Mission MPU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473184" y="3383280"/>
            <a:ext cx="2130552" cy="237744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b="1" sz="850">
                <a:solidFill>
                  <a:srgbClr val="334155"/>
                </a:solidFill>
              </a:rPr>
              <a:t>Quad-Core Linux + Hexagon NPU (&lt; 5W)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73184" y="3685032"/>
            <a:ext cx="213055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334155"/>
                </a:solidFill>
              </a:rPr>
              <a:t>Runs INT8-quantized YOLO object detection and 6-DOF Tait-Bryan ray-casting geodetics in under 60 ms.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720840" y="4709160"/>
            <a:ext cx="242316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01600" dist="25400" dir="5400000" algn="t" rotWithShape="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720840" y="4709160"/>
            <a:ext cx="73152" cy="166420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867144" y="4837176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251192" y="4818888"/>
            <a:ext cx="1801368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100">
                <a:solidFill>
                  <a:srgbClr val="0F172A"/>
                </a:solidFill>
              </a:rPr>
              <a:t>1D ToF Laser + 3S Power Tray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867144" y="5212080"/>
            <a:ext cx="2130552" cy="237744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b="1" sz="850">
                <a:solidFill>
                  <a:srgbClr val="334155"/>
                </a:solidFill>
              </a:rPr>
              <a:t>VL53L1X Laser Ranging + 4500mAh LiPo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67144" y="5513832"/>
            <a:ext cx="213055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334155"/>
                </a:solidFill>
              </a:rPr>
              <a:t>Measures true AGL ground clearance for terrain-following and ray-casting. Quick-swap battery rail.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326880" y="4709160"/>
            <a:ext cx="242316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01600" dist="25400" dir="5400000" algn="t" rotWithShape="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326880" y="4709160"/>
            <a:ext cx="73152" cy="16642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473184" y="4837176"/>
            <a:ext cx="310896" cy="310896"/>
          </a:xfrm>
          <a:prstGeom prst="ellipse">
            <a:avLst/>
          </a:prstGeom>
          <a:solidFill>
            <a:srgbClr val="0284C7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57232" y="4818888"/>
            <a:ext cx="1801368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100">
                <a:solidFill>
                  <a:srgbClr val="0F172A"/>
                </a:solidFill>
              </a:rPr>
              <a:t>Propulsion &amp; Power Dynamics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473184" y="5212080"/>
            <a:ext cx="2130552" cy="237744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b="1" sz="850">
                <a:solidFill>
                  <a:srgbClr val="334155"/>
                </a:solidFill>
              </a:rPr>
              <a:t>4× 2212/2216 BLDC + 1045 Carbon Props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473184" y="5513832"/>
            <a:ext cx="213055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334155"/>
                </a:solidFill>
              </a:rPr>
              <a:t>Delivers 2.4 kg peak thrust. Adheres to Bouabdallah sizing laws for stable hover in gusty disaster winds.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92608"/>
            <a:ext cx="1691640" cy="40233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1E293B"/>
                </a:solidFill>
                <a:latin typeface="Calibri"/>
              </a:rPr>
              <a:t>PHOENIX X · SIH26177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256032"/>
            <a:ext cx="6858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EA580C"/>
                </a:solidFill>
                <a:latin typeface="Calibri"/>
              </a:rPr>
              <a:t>FEASIBILITY &amp; VIABILITY · COMPLIANCE &amp; SIZING LAWS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475488"/>
            <a:ext cx="6858000" cy="438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Calibri"/>
              </a:rPr>
              <a:t>Why the Airframe Is Structurally Sized, Legal &amp; Scalable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320040"/>
            <a:ext cx="2194560" cy="384048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0D9488"/>
                </a:solidFill>
                <a:latin typeface="Calibri"/>
              </a:rPr>
              <a:t>DGCA MICRO-DRONE CLASS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5943600" cy="5349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101600" dist="25400" dir="5400000" algn="t" rotWithShape="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216152"/>
            <a:ext cx="1463040" cy="54864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25880"/>
            <a:ext cx="4114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050">
                <a:solidFill>
                  <a:srgbClr val="0F172A"/>
                </a:solidFill>
              </a:rPr>
              <a:t>TACTICAL RECONNAISSANCE AIRFRAME </a:t>
            </a:r>
            <a:r>
              <a:rPr sz="1050">
                <a:solidFill>
                  <a:srgbClr val="64748B"/>
                </a:solidFill>
              </a:rPr>
              <a:t>· 3D PRODUCT SCHEMATIC</a:t>
            </a:r>
          </a:p>
        </p:txBody>
      </p:sp>
      <p:pic>
        <p:nvPicPr>
          <p:cNvPr id="10" name="Picture 9" descr="phoenix_tactical_drone_rend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5486400" cy="306324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2529804" y="3695866"/>
            <a:ext cx="402336" cy="402336"/>
          </a:xfrm>
          <a:prstGeom prst="ellipse">
            <a:avLst/>
          </a:prstGeom>
          <a:solidFill>
            <a:srgbClr val="EA580C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584668" y="3750730"/>
            <a:ext cx="292608" cy="292608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4284176" y="2140315"/>
            <a:ext cx="402336" cy="402336"/>
          </a:xfrm>
          <a:prstGeom prst="ellipse">
            <a:avLst/>
          </a:prstGeom>
          <a:solidFill>
            <a:srgbClr val="0284C7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339040" y="2195179"/>
            <a:ext cx="292608" cy="292608"/>
          </a:xfrm>
          <a:prstGeom prst="ellipse">
            <a:avLst/>
          </a:prstGeom>
          <a:solidFill>
            <a:srgbClr val="0284C7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3127885" y="2898147"/>
            <a:ext cx="402336" cy="402336"/>
          </a:xfrm>
          <a:prstGeom prst="ellipse">
            <a:avLst/>
          </a:prstGeom>
          <a:solidFill>
            <a:srgbClr val="0D9488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182749" y="2953011"/>
            <a:ext cx="292608" cy="292608"/>
          </a:xfrm>
          <a:prstGeom prst="ellipse">
            <a:avLst/>
          </a:prstGeom>
          <a:solidFill>
            <a:srgbClr val="0D9488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Oval 16"/>
          <p:cNvSpPr/>
          <p:nvPr/>
        </p:nvSpPr>
        <p:spPr>
          <a:xfrm>
            <a:off x="3686095" y="2539174"/>
            <a:ext cx="402336" cy="402336"/>
          </a:xfrm>
          <a:prstGeom prst="ellipse">
            <a:avLst/>
          </a:prstGeom>
          <a:solidFill>
            <a:srgbClr val="7C3AED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740959" y="2594038"/>
            <a:ext cx="292608" cy="292608"/>
          </a:xfrm>
          <a:prstGeom prst="ellipse">
            <a:avLst/>
          </a:prstGeom>
          <a:solidFill>
            <a:srgbClr val="7C3AED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Oval 18"/>
          <p:cNvSpPr/>
          <p:nvPr/>
        </p:nvSpPr>
        <p:spPr>
          <a:xfrm>
            <a:off x="3526606" y="3416665"/>
            <a:ext cx="402336" cy="402336"/>
          </a:xfrm>
          <a:prstGeom prst="ellipse">
            <a:avLst/>
          </a:prstGeom>
          <a:solidFill>
            <a:srgbClr val="EA580C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581470" y="3471529"/>
            <a:ext cx="292608" cy="292608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Oval 20"/>
          <p:cNvSpPr/>
          <p:nvPr/>
        </p:nvSpPr>
        <p:spPr>
          <a:xfrm>
            <a:off x="4124688" y="3735752"/>
            <a:ext cx="402336" cy="402336"/>
          </a:xfrm>
          <a:prstGeom prst="ellipse">
            <a:avLst/>
          </a:prstGeom>
          <a:solidFill>
            <a:srgbClr val="0284C7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179552" y="3790616"/>
            <a:ext cx="292608" cy="292608"/>
          </a:xfrm>
          <a:prstGeom prst="ellipse">
            <a:avLst/>
          </a:prstGeom>
          <a:solidFill>
            <a:srgbClr val="0284C7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5029199"/>
            <a:ext cx="1737360" cy="1143000"/>
          </a:xfrm>
          <a:prstGeom prst="roundRect">
            <a:avLst/>
          </a:prstGeom>
          <a:solidFill>
            <a:srgbClr val="F0FDFA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109728"/>
          <a:lstStyle/>
          <a:p>
            <a:pPr algn="ctr"/>
            <a:r>
              <a:rPr sz="850" b="1">
                <a:solidFill>
                  <a:srgbClr val="64748B"/>
                </a:solidFill>
              </a:rPr>
              <a:t>AUW MASS BUDGET
</a:t>
            </a:r>
          </a:p>
          <a:p>
            <a:r>
              <a:rPr sz="1350" b="1">
                <a:solidFill>
                  <a:srgbClr val="0D9488"/>
                </a:solidFill>
              </a:rPr>
              <a:t>1.58 kg
</a:t>
            </a:r>
          </a:p>
          <a:p>
            <a:r>
              <a:rPr sz="850">
                <a:solidFill>
                  <a:srgbClr val="334155"/>
                </a:solidFill>
              </a:rPr>
              <a:t>DGCA Micro Category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15184" y="5029199"/>
            <a:ext cx="1737360" cy="1143000"/>
          </a:xfrm>
          <a:prstGeom prst="roundRect">
            <a:avLst/>
          </a:prstGeom>
          <a:solidFill>
            <a:srgbClr val="F5F3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109728"/>
          <a:lstStyle/>
          <a:p>
            <a:pPr algn="ctr"/>
            <a:r>
              <a:rPr sz="850" b="1">
                <a:solidFill>
                  <a:srgbClr val="64748B"/>
                </a:solidFill>
              </a:rPr>
              <a:t>DUAL-BRAIN CHIPS
</a:t>
            </a:r>
          </a:p>
          <a:p>
            <a:r>
              <a:rPr sz="1350" b="1">
                <a:solidFill>
                  <a:srgbClr val="7C3AED"/>
                </a:solidFill>
              </a:rPr>
              <a:t>QRB2210 + STM32
</a:t>
            </a:r>
          </a:p>
          <a:p>
            <a:r>
              <a:rPr sz="850">
                <a:solidFill>
                  <a:srgbClr val="334155"/>
                </a:solidFill>
              </a:rPr>
              <a:t>Linux NPU + Zephyr RTOS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80560" y="5029199"/>
            <a:ext cx="1737360" cy="1143000"/>
          </a:xfrm>
          <a:prstGeom prst="roundRect">
            <a:avLst/>
          </a:prstGeom>
          <a:solidFill>
            <a:srgbClr val="F0F9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109728"/>
          <a:lstStyle/>
          <a:p>
            <a:pPr algn="ctr"/>
            <a:r>
              <a:rPr sz="850" b="1">
                <a:solidFill>
                  <a:srgbClr val="64748B"/>
                </a:solidFill>
              </a:rPr>
              <a:t>OFF-GRID TELEMETRY
</a:t>
            </a:r>
          </a:p>
          <a:p>
            <a:r>
              <a:rPr sz="1350" b="1">
                <a:solidFill>
                  <a:srgbClr val="0284C7"/>
                </a:solidFill>
              </a:rPr>
              <a:t>868 MHz LoRa
</a:t>
            </a:r>
          </a:p>
          <a:p>
            <a:r>
              <a:rPr sz="850">
                <a:solidFill>
                  <a:srgbClr val="334155"/>
                </a:solidFill>
              </a:rPr>
              <a:t>17-byte P2P (3–5 km)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20840" y="1051560"/>
            <a:ext cx="242316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01600" dist="25400" dir="5400000" algn="t" rotWithShape="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720840" y="1051560"/>
            <a:ext cx="73152" cy="166420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867144" y="1179576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51192" y="1161288"/>
            <a:ext cx="1801368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100">
                <a:solidFill>
                  <a:srgbClr val="0F172A"/>
                </a:solidFill>
              </a:rPr>
              <a:t>Modular Quick-Release Gimbal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67144" y="1554480"/>
            <a:ext cx="2130552" cy="237744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b="1" sz="850">
                <a:solidFill>
                  <a:srgbClr val="334155"/>
                </a:solidFill>
              </a:rPr>
              <a:t>Vibration-Damped Payload Bay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67144" y="1856232"/>
            <a:ext cx="213055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334155"/>
                </a:solidFill>
              </a:rPr>
              <a:t>Houses dual sensors inside strict weight limits. Silicone dampers eliminate high-frequency motor vibration.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326880" y="1051560"/>
            <a:ext cx="242316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01600" dist="25400" dir="5400000" algn="t" rotWithShape="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326880" y="1051560"/>
            <a:ext cx="73152" cy="16642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473184" y="1179576"/>
            <a:ext cx="310896" cy="310896"/>
          </a:xfrm>
          <a:prstGeom prst="ellipse">
            <a:avLst/>
          </a:prstGeom>
          <a:solidFill>
            <a:srgbClr val="0284C7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57232" y="1161288"/>
            <a:ext cx="1801368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100">
                <a:solidFill>
                  <a:srgbClr val="0F172A"/>
                </a:solidFill>
              </a:rPr>
              <a:t>Indian WPC De-Licensed Band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73184" y="1554480"/>
            <a:ext cx="2130552" cy="237744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b="1" sz="850">
                <a:solidFill>
                  <a:srgbClr val="334155"/>
                </a:solidFill>
              </a:rPr>
              <a:t>865–867 MHz Compliant (GSR 564(E))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73184" y="1856232"/>
            <a:ext cx="213055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334155"/>
                </a:solidFill>
              </a:rPr>
              <a:t>100% legal for disaster operations in India. Bypasses jammed 433 MHz and severed 4G/5G mobile towers.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720840" y="2880360"/>
            <a:ext cx="242316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01600" dist="25400" dir="5400000" algn="t" rotWithShape="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720840" y="2880360"/>
            <a:ext cx="73152" cy="1664208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867144" y="3008376"/>
            <a:ext cx="310896" cy="31089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51192" y="2990088"/>
            <a:ext cx="1801368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100">
                <a:solidFill>
                  <a:srgbClr val="0F172A"/>
                </a:solidFill>
              </a:rPr>
              <a:t>Sub-5W Ultra-Low Power Draw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867144" y="3383280"/>
            <a:ext cx="2130552" cy="237744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b="1" sz="850">
                <a:solidFill>
                  <a:srgbClr val="334155"/>
                </a:solidFill>
              </a:rPr>
              <a:t>Qualcomm Dragonwing Energy Budget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67144" y="3685032"/>
            <a:ext cx="213055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334155"/>
                </a:solidFill>
              </a:rPr>
              <a:t>Preserves &gt;90% of total electrical power for rotor lift, achieving 28–32 minutes search sortie endurance.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326880" y="2880360"/>
            <a:ext cx="242316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01600" dist="25400" dir="5400000" algn="t" rotWithShape="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326880" y="2880360"/>
            <a:ext cx="73152" cy="166420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473184" y="3008376"/>
            <a:ext cx="310896" cy="3108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857232" y="2990088"/>
            <a:ext cx="1801368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100">
                <a:solidFill>
                  <a:srgbClr val="0F172A"/>
                </a:solidFill>
              </a:rPr>
              <a:t>Bouabdallah Dynamic Stability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473184" y="3383280"/>
            <a:ext cx="2130552" cy="237744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b="1" sz="850">
                <a:solidFill>
                  <a:srgbClr val="334155"/>
                </a:solidFill>
              </a:rPr>
              <a:t>Thrust-to-Weight Ratio β ≥ 1.65 – 2.0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73184" y="3685032"/>
            <a:ext cx="213055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334155"/>
                </a:solidFill>
              </a:rPr>
              <a:t>Sized via EPFL thesis laws. Anti-windup integrator clamping prevents motor saturation during heavy wind gusts.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720840" y="4709160"/>
            <a:ext cx="242316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01600" dist="25400" dir="5400000" algn="t" rotWithShape="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720840" y="4709160"/>
            <a:ext cx="73152" cy="166420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867144" y="4837176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251192" y="4818888"/>
            <a:ext cx="1801368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100">
                <a:solidFill>
                  <a:srgbClr val="0F172A"/>
                </a:solidFill>
              </a:rPr>
              <a:t>All-Up-Weight: 1.58 kg Total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867144" y="5212080"/>
            <a:ext cx="2130552" cy="237744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b="1" sz="850">
                <a:solidFill>
                  <a:srgbClr val="334155"/>
                </a:solidFill>
              </a:rPr>
              <a:t>Safely under DGCA 2.0 kg Micro Limit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67144" y="5513832"/>
            <a:ext cx="213055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334155"/>
                </a:solidFill>
              </a:rPr>
              <a:t>Requires no complex enterprise flight licensing for disaster response drills. Deploys from backpack in &lt;3 minutes.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326880" y="4709160"/>
            <a:ext cx="242316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01600" dist="25400" dir="5400000" algn="t" rotWithShape="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326880" y="4709160"/>
            <a:ext cx="73152" cy="16642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473184" y="4837176"/>
            <a:ext cx="310896" cy="310896"/>
          </a:xfrm>
          <a:prstGeom prst="ellipse">
            <a:avLst/>
          </a:prstGeom>
          <a:solidFill>
            <a:srgbClr val="0284C7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57232" y="4818888"/>
            <a:ext cx="1801368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100">
                <a:solidFill>
                  <a:srgbClr val="0F172A"/>
                </a:solidFill>
              </a:rPr>
              <a:t>Disruptive Unit Economics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473184" y="5212080"/>
            <a:ext cx="2130552" cy="237744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b="1" sz="850">
                <a:solidFill>
                  <a:srgbClr val="334155"/>
                </a:solidFill>
              </a:rPr>
              <a:t>₹35.8k Prototype ➔ ₹1.2L Production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473184" y="5513832"/>
            <a:ext cx="213055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334155"/>
                </a:solidFill>
              </a:rPr>
              <a:t>Delivers tactical thermal SAR at 1/10th the cost of commercial enterprise imports (₹14 Lakh DJI Matrice 30T).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92608"/>
            <a:ext cx="1691640" cy="40233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1E293B"/>
                </a:solidFill>
                <a:latin typeface="Calibri"/>
              </a:rPr>
              <a:t>PHOENIX X · SIH26177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256032"/>
            <a:ext cx="6858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000" b="1">
                <a:solidFill>
                  <a:srgbClr val="EA580C"/>
                </a:solidFill>
                <a:latin typeface="Calibri"/>
              </a:rPr>
              <a:t>MISSION IMPACT · DISASTER TRIAGE &amp; EXTRACTION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475488"/>
            <a:ext cx="6858000" cy="438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Calibri"/>
              </a:rPr>
              <a:t>How Aerial Intelligence Compresses the Golden 72 Hours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320040"/>
            <a:ext cx="2194560" cy="384048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EA580C"/>
                </a:solidFill>
                <a:latin typeface="Calibri"/>
              </a:rPr>
              <a:t>FIRST RESPONDER ADVANTAGE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5943600" cy="5349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101600" dist="25400" dir="5400000" algn="t" rotWithShape="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216152"/>
            <a:ext cx="1463040" cy="54864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25880"/>
            <a:ext cx="4114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050">
                <a:solidFill>
                  <a:srgbClr val="0F172A"/>
                </a:solidFill>
              </a:rPr>
              <a:t>TACTICAL RECONNAISSANCE AIRFRAME </a:t>
            </a:r>
            <a:r>
              <a:rPr sz="1050">
                <a:solidFill>
                  <a:srgbClr val="64748B"/>
                </a:solidFill>
              </a:rPr>
              <a:t>· 3D PRODUCT SCHEMATIC</a:t>
            </a:r>
          </a:p>
        </p:txBody>
      </p:sp>
      <p:pic>
        <p:nvPicPr>
          <p:cNvPr id="10" name="Picture 9" descr="phoenix_tactical_drone_rend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5486400" cy="306324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2529804" y="3695866"/>
            <a:ext cx="402336" cy="402336"/>
          </a:xfrm>
          <a:prstGeom prst="ellipse">
            <a:avLst/>
          </a:prstGeom>
          <a:solidFill>
            <a:srgbClr val="EA580C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584668" y="3750730"/>
            <a:ext cx="292608" cy="292608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4284176" y="2140315"/>
            <a:ext cx="402336" cy="402336"/>
          </a:xfrm>
          <a:prstGeom prst="ellipse">
            <a:avLst/>
          </a:prstGeom>
          <a:solidFill>
            <a:srgbClr val="0284C7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339040" y="2195179"/>
            <a:ext cx="292608" cy="292608"/>
          </a:xfrm>
          <a:prstGeom prst="ellipse">
            <a:avLst/>
          </a:prstGeom>
          <a:solidFill>
            <a:srgbClr val="0284C7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3127885" y="2898147"/>
            <a:ext cx="402336" cy="402336"/>
          </a:xfrm>
          <a:prstGeom prst="ellipse">
            <a:avLst/>
          </a:prstGeom>
          <a:solidFill>
            <a:srgbClr val="0D9488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182749" y="2953011"/>
            <a:ext cx="292608" cy="292608"/>
          </a:xfrm>
          <a:prstGeom prst="ellipse">
            <a:avLst/>
          </a:prstGeom>
          <a:solidFill>
            <a:srgbClr val="0D9488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Oval 16"/>
          <p:cNvSpPr/>
          <p:nvPr/>
        </p:nvSpPr>
        <p:spPr>
          <a:xfrm>
            <a:off x="3686095" y="2539174"/>
            <a:ext cx="402336" cy="402336"/>
          </a:xfrm>
          <a:prstGeom prst="ellipse">
            <a:avLst/>
          </a:prstGeom>
          <a:solidFill>
            <a:srgbClr val="7C3AED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740959" y="2594038"/>
            <a:ext cx="292608" cy="292608"/>
          </a:xfrm>
          <a:prstGeom prst="ellipse">
            <a:avLst/>
          </a:prstGeom>
          <a:solidFill>
            <a:srgbClr val="7C3AED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Oval 18"/>
          <p:cNvSpPr/>
          <p:nvPr/>
        </p:nvSpPr>
        <p:spPr>
          <a:xfrm>
            <a:off x="3526606" y="3416665"/>
            <a:ext cx="402336" cy="402336"/>
          </a:xfrm>
          <a:prstGeom prst="ellipse">
            <a:avLst/>
          </a:prstGeom>
          <a:solidFill>
            <a:srgbClr val="EA580C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581470" y="3471529"/>
            <a:ext cx="292608" cy="292608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Oval 20"/>
          <p:cNvSpPr/>
          <p:nvPr/>
        </p:nvSpPr>
        <p:spPr>
          <a:xfrm>
            <a:off x="4124688" y="3735752"/>
            <a:ext cx="402336" cy="402336"/>
          </a:xfrm>
          <a:prstGeom prst="ellipse">
            <a:avLst/>
          </a:prstGeom>
          <a:solidFill>
            <a:srgbClr val="0284C7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179552" y="3790616"/>
            <a:ext cx="292608" cy="292608"/>
          </a:xfrm>
          <a:prstGeom prst="ellipse">
            <a:avLst/>
          </a:prstGeom>
          <a:solidFill>
            <a:srgbClr val="0284C7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5029199"/>
            <a:ext cx="1737360" cy="1143000"/>
          </a:xfrm>
          <a:prstGeom prst="roundRect">
            <a:avLst/>
          </a:prstGeom>
          <a:solidFill>
            <a:srgbClr val="F0FDFA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109728"/>
          <a:lstStyle/>
          <a:p>
            <a:pPr algn="ctr"/>
            <a:r>
              <a:rPr sz="850" b="1">
                <a:solidFill>
                  <a:srgbClr val="64748B"/>
                </a:solidFill>
              </a:rPr>
              <a:t>AUW MASS BUDGET
</a:t>
            </a:r>
          </a:p>
          <a:p>
            <a:r>
              <a:rPr sz="1350" b="1">
                <a:solidFill>
                  <a:srgbClr val="0D9488"/>
                </a:solidFill>
              </a:rPr>
              <a:t>1.58 kg
</a:t>
            </a:r>
          </a:p>
          <a:p>
            <a:r>
              <a:rPr sz="850">
                <a:solidFill>
                  <a:srgbClr val="334155"/>
                </a:solidFill>
              </a:rPr>
              <a:t>DGCA Micro Category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15184" y="5029199"/>
            <a:ext cx="1737360" cy="1143000"/>
          </a:xfrm>
          <a:prstGeom prst="roundRect">
            <a:avLst/>
          </a:prstGeom>
          <a:solidFill>
            <a:srgbClr val="F5F3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109728"/>
          <a:lstStyle/>
          <a:p>
            <a:pPr algn="ctr"/>
            <a:r>
              <a:rPr sz="850" b="1">
                <a:solidFill>
                  <a:srgbClr val="64748B"/>
                </a:solidFill>
              </a:rPr>
              <a:t>DUAL-BRAIN CHIPS
</a:t>
            </a:r>
          </a:p>
          <a:p>
            <a:r>
              <a:rPr sz="1350" b="1">
                <a:solidFill>
                  <a:srgbClr val="7C3AED"/>
                </a:solidFill>
              </a:rPr>
              <a:t>QRB2210 + STM32
</a:t>
            </a:r>
          </a:p>
          <a:p>
            <a:r>
              <a:rPr sz="850">
                <a:solidFill>
                  <a:srgbClr val="334155"/>
                </a:solidFill>
              </a:rPr>
              <a:t>Linux NPU + Zephyr RTOS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80560" y="5029199"/>
            <a:ext cx="1737360" cy="1143000"/>
          </a:xfrm>
          <a:prstGeom prst="roundRect">
            <a:avLst/>
          </a:prstGeom>
          <a:solidFill>
            <a:srgbClr val="F0F9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109728"/>
          <a:lstStyle/>
          <a:p>
            <a:pPr algn="ctr"/>
            <a:r>
              <a:rPr sz="850" b="1">
                <a:solidFill>
                  <a:srgbClr val="64748B"/>
                </a:solidFill>
              </a:rPr>
              <a:t>OFF-GRID TELEMETRY
</a:t>
            </a:r>
          </a:p>
          <a:p>
            <a:r>
              <a:rPr sz="1350" b="1">
                <a:solidFill>
                  <a:srgbClr val="0284C7"/>
                </a:solidFill>
              </a:rPr>
              <a:t>868 MHz LoRa
</a:t>
            </a:r>
          </a:p>
          <a:p>
            <a:r>
              <a:rPr sz="850">
                <a:solidFill>
                  <a:srgbClr val="334155"/>
                </a:solidFill>
              </a:rPr>
              <a:t>17-byte P2P (3–5 km)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20840" y="1051560"/>
            <a:ext cx="242316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01600" dist="25400" dir="5400000" algn="t" rotWithShape="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720840" y="1051560"/>
            <a:ext cx="73152" cy="166420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867144" y="1179576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51192" y="1161288"/>
            <a:ext cx="1801368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100">
                <a:solidFill>
                  <a:srgbClr val="0F172A"/>
                </a:solidFill>
              </a:rPr>
              <a:t>Zero-Visibility Human Lock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67144" y="1554480"/>
            <a:ext cx="2130552" cy="237744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b="1" sz="850">
                <a:solidFill>
                  <a:srgbClr val="334155"/>
                </a:solidFill>
              </a:rPr>
              <a:t>Penetrates Smoke, Fog &amp; Dust Plumes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67144" y="1856232"/>
            <a:ext cx="213055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334155"/>
                </a:solidFill>
              </a:rPr>
              <a:t>Spots living survivors obscured under tree canopies and light sheet rubble where RGB cameras fail completely.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326880" y="1051560"/>
            <a:ext cx="242316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01600" dist="25400" dir="5400000" algn="t" rotWithShape="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326880" y="1051560"/>
            <a:ext cx="73152" cy="16642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473184" y="1179576"/>
            <a:ext cx="310896" cy="310896"/>
          </a:xfrm>
          <a:prstGeom prst="ellipse">
            <a:avLst/>
          </a:prstGeom>
          <a:solidFill>
            <a:srgbClr val="0284C7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57232" y="1161288"/>
            <a:ext cx="1801368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100">
                <a:solidFill>
                  <a:srgbClr val="0F172A"/>
                </a:solidFill>
              </a:rPr>
              <a:t>Instant Ground Command Sync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73184" y="1554480"/>
            <a:ext cx="2130552" cy="237744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b="1" sz="850">
                <a:solidFill>
                  <a:srgbClr val="334155"/>
                </a:solidFill>
              </a:rPr>
              <a:t>Zero-Drop Telemetry Broadcast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73184" y="1856232"/>
            <a:ext cx="213055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334155"/>
                </a:solidFill>
              </a:rPr>
              <a:t>Instantly beams casualty coordinates to portable tactical tablets up to 5 km away across debris hills.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720840" y="2880360"/>
            <a:ext cx="242316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01600" dist="25400" dir="5400000" algn="t" rotWithShape="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720840" y="2880360"/>
            <a:ext cx="73152" cy="1664208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867144" y="3008376"/>
            <a:ext cx="310896" cy="31089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51192" y="2990088"/>
            <a:ext cx="1801368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100">
                <a:solidFill>
                  <a:srgbClr val="0F172A"/>
                </a:solidFill>
              </a:rPr>
              <a:t>Autonomous Boustrophedon Sweep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867144" y="3383280"/>
            <a:ext cx="2130552" cy="237744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b="1" sz="850">
                <a:solidFill>
                  <a:srgbClr val="334155"/>
                </a:solidFill>
              </a:rPr>
              <a:t>2.0 km² Coverage in &lt; 15 Minutes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67144" y="3685032"/>
            <a:ext cx="213055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334155"/>
                </a:solidFill>
              </a:rPr>
              <a:t>Replaces exhausting, hazardous foot search patrols with systematic, automated aerial lawnmower sweep grids.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326880" y="2880360"/>
            <a:ext cx="242316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01600" dist="25400" dir="5400000" algn="t" rotWithShape="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326880" y="2880360"/>
            <a:ext cx="73152" cy="166420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473184" y="3008376"/>
            <a:ext cx="310896" cy="3108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857232" y="2990088"/>
            <a:ext cx="1801368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100">
                <a:solidFill>
                  <a:srgbClr val="0F172A"/>
                </a:solidFill>
              </a:rPr>
              <a:t>Millimeter Ray-Casting Geodetics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473184" y="3383280"/>
            <a:ext cx="2130552" cy="237744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b="1" sz="850">
                <a:solidFill>
                  <a:srgbClr val="334155"/>
                </a:solidFill>
              </a:rPr>
              <a:t>WGS-84 Coordinate Output (SEP ±2.1m)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73184" y="3685032"/>
            <a:ext cx="213055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334155"/>
                </a:solidFill>
              </a:rPr>
              <a:t>Eliminates dangerous overhead hovering. Converts oblique camera pixels into exact GPS coordinates in real time.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720840" y="4709160"/>
            <a:ext cx="242316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01600" dist="25400" dir="5400000" algn="t" rotWithShape="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720840" y="4709160"/>
            <a:ext cx="73152" cy="166420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867144" y="4837176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251192" y="4818888"/>
            <a:ext cx="1801368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100">
                <a:solidFill>
                  <a:srgbClr val="0F172A"/>
                </a:solidFill>
              </a:rPr>
              <a:t>Hazard-Aware Dijkstra Routing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867144" y="5212080"/>
            <a:ext cx="2130552" cy="237744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b="1" sz="850">
                <a:solidFill>
                  <a:srgbClr val="334155"/>
                </a:solidFill>
              </a:rPr>
              <a:t>Safe Pedestrian Rescue Corridors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67144" y="5513832"/>
            <a:ext cx="213055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334155"/>
                </a:solidFill>
              </a:rPr>
              <a:t>Charts safe walking paths for NDRF teams that actively route around live 11kV wires, landslides, and fire lines.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326880" y="4709160"/>
            <a:ext cx="242316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01600" dist="25400" dir="5400000" algn="t" rotWithShape="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326880" y="4709160"/>
            <a:ext cx="73152" cy="16642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473184" y="4837176"/>
            <a:ext cx="310896" cy="310896"/>
          </a:xfrm>
          <a:prstGeom prst="ellipse">
            <a:avLst/>
          </a:prstGeom>
          <a:solidFill>
            <a:srgbClr val="0284C7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57232" y="4818888"/>
            <a:ext cx="1801368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100">
                <a:solidFill>
                  <a:srgbClr val="0F172A"/>
                </a:solidFill>
              </a:rPr>
              <a:t>Sub-5-Minute Response Cycle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473184" y="5212080"/>
            <a:ext cx="2130552" cy="237744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b="1" sz="850">
                <a:solidFill>
                  <a:srgbClr val="334155"/>
                </a:solidFill>
              </a:rPr>
              <a:t>Instant Launch to Boots-on-Ground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473184" y="5513832"/>
            <a:ext cx="213055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334155"/>
                </a:solidFill>
              </a:rPr>
              <a:t>Compresses hours of manual searching into minutes—delivering urgent medical triage within the Golden 72 Hours.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