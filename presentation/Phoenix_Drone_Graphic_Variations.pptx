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100">
                <a:solidFill>
                  <a:srgbClr val="EA580C"/>
                </a:solidFill>
              </a:rPr>
              <a:t>PHOENIX X · HARDWARE PRESENTATION GRAPHIC MASTER PACK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600">
                <a:solidFill>
                  <a:srgbClr val="FFFFFF"/>
                </a:solidFill>
              </a:rPr>
              <a:t>Self-Explanatory Aerospace Infographics &amp; Drone Renders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0020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>
                <a:solidFill>
                  <a:srgbClr val="E2E8F0"/>
                </a:solidFill>
              </a:rPr>
              <a:t>A complete visual asset library for SIH26177: 3D product callouts, in-flight dual-beam perception, and NDRF tactical tablet routing.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3364992" cy="2011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28600" rIns="228600" tIns="201168"/>
          <a:lstStyle/>
          <a:p>
            <a:pPr algn="ctr"/>
            <a:r>
              <a:rPr b="1" sz="1050">
                <a:solidFill>
                  <a:srgbClr val="0284C7"/>
                </a:solidFill>
              </a:rPr>
              <a:t>SLIDE 2: HARDWARE SCHEMATIC
</a:t>
            </a:r>
          </a:p>
          <a:p>
            <a:r>
              <a:rPr b="1" sz="1250">
                <a:solidFill>
                  <a:srgbClr val="FFFFFF"/>
                </a:solidFill>
              </a:rPr>
              <a:t>Avionics &amp; Compute Partition
</a:t>
            </a:r>
          </a:p>
          <a:p>
            <a:r>
              <a:rPr sz="950">
                <a:solidFill>
                  <a:srgbClr val="E2E8F0"/>
                </a:solidFill>
              </a:rPr>
              <a:t>3D Studio render with 6 interactive numbered beacon pins.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240280"/>
            <a:ext cx="3364992" cy="54864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315968" y="2240280"/>
            <a:ext cx="3364992" cy="2011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28600" rIns="228600" tIns="201168"/>
          <a:lstStyle/>
          <a:p>
            <a:pPr algn="ctr"/>
            <a:r>
              <a:rPr b="1" sz="1050">
                <a:solidFill>
                  <a:srgbClr val="0D9488"/>
                </a:solidFill>
              </a:rPr>
              <a:t>SLIDE 3: FEASIBILITY &amp; SIZING
</a:t>
            </a:r>
          </a:p>
          <a:p>
            <a:r>
              <a:rPr b="1" sz="1250">
                <a:solidFill>
                  <a:srgbClr val="FFFFFF"/>
                </a:solidFill>
              </a:rPr>
              <a:t>Buildability &amp; Legal Viability
</a:t>
            </a:r>
          </a:p>
          <a:p>
            <a:r>
              <a:rPr sz="950">
                <a:solidFill>
                  <a:srgbClr val="E2E8F0"/>
                </a:solidFill>
              </a:rPr>
              <a:t>DGCA 1.58 kg AUW, Bouabdallah β ≥ 2.0 sizing, sub-5W compute.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15968" y="2240280"/>
            <a:ext cx="3364992" cy="54864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900416" y="2240280"/>
            <a:ext cx="3364992" cy="2011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28600" rIns="228600" tIns="201168"/>
          <a:lstStyle/>
          <a:p>
            <a:pPr algn="ctr"/>
            <a:r>
              <a:rPr b="1" sz="1050">
                <a:solidFill>
                  <a:srgbClr val="EA580C"/>
                </a:solidFill>
              </a:rPr>
              <a:t>SLIDE 4: IN-FLIGHT DUAL-BEAM
</a:t>
            </a:r>
          </a:p>
          <a:p>
            <a:r>
              <a:rPr b="1" sz="1250">
                <a:solidFill>
                  <a:srgbClr val="FFFFFF"/>
                </a:solidFill>
              </a:rPr>
              <a:t>Optical + Radiometric LWIR
</a:t>
            </a:r>
          </a:p>
          <a:p>
            <a:r>
              <a:rPr sz="950">
                <a:solidFill>
                  <a:srgbClr val="E2E8F0"/>
                </a:solidFill>
              </a:rPr>
              <a:t>Hero in-action render: Cyan optical + orange 37°C thermal lock.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00416" y="2240280"/>
            <a:ext cx="3364992" cy="54864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31520" y="4434840"/>
            <a:ext cx="3364992" cy="2011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28600" rIns="228600" tIns="201168"/>
          <a:lstStyle/>
          <a:p>
            <a:pPr algn="ctr"/>
            <a:r>
              <a:rPr b="1" sz="1050">
                <a:solidFill>
                  <a:srgbClr val="7C3AED"/>
                </a:solidFill>
              </a:rPr>
              <a:t>SLIDE 5: 5-MINUTE SORTIE PIPELINE
</a:t>
            </a:r>
          </a:p>
          <a:p>
            <a:r>
              <a:rPr b="1" sz="1250">
                <a:solidFill>
                  <a:srgbClr val="FFFFFF"/>
                </a:solidFill>
              </a:rPr>
              <a:t>Autonomous Mission Flow
</a:t>
            </a:r>
          </a:p>
          <a:p>
            <a:r>
              <a:rPr sz="950">
                <a:solidFill>
                  <a:srgbClr val="E2E8F0"/>
                </a:solidFill>
              </a:rPr>
              <a:t>Horizontal 5-step chevron from unboxing to safe route.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434840"/>
            <a:ext cx="3364992" cy="54864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15968" y="4434840"/>
            <a:ext cx="3364992" cy="2011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28600" rIns="228600" tIns="201168"/>
          <a:lstStyle/>
          <a:p>
            <a:pPr algn="ctr"/>
            <a:r>
              <a:rPr b="1" sz="1050">
                <a:solidFill>
                  <a:srgbClr val="0D9488"/>
                </a:solidFill>
              </a:rPr>
              <a:t>SLIDE 6: FIRST RESPONDER GCS
</a:t>
            </a:r>
          </a:p>
          <a:p>
            <a:r>
              <a:rPr b="1" sz="1250">
                <a:solidFill>
                  <a:srgbClr val="FFFFFF"/>
                </a:solidFill>
              </a:rPr>
              <a:t>NDRF Tactical Tablet Field Action
</a:t>
            </a:r>
          </a:p>
          <a:p>
            <a:r>
              <a:rPr sz="950">
                <a:solidFill>
                  <a:srgbClr val="E2E8F0"/>
                </a:solidFill>
              </a:rPr>
              <a:t>Hazard-aware Dijkstra safe rescue route around 11kV wires.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15968" y="4434840"/>
            <a:ext cx="3364992" cy="54864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900416" y="4434840"/>
            <a:ext cx="3364992" cy="20116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28600" rIns="228600" tIns="201168"/>
          <a:lstStyle/>
          <a:p>
            <a:pPr algn="ctr"/>
            <a:r>
              <a:rPr b="1" sz="1050">
                <a:solidFill>
                  <a:srgbClr val="E11D48"/>
                </a:solidFill>
              </a:rPr>
              <a:t>SLIDE 7: PARADIGM COMPARISON
</a:t>
            </a:r>
          </a:p>
          <a:p>
            <a:r>
              <a:rPr b="1" sz="1250">
                <a:solidFill>
                  <a:srgbClr val="FFFFFF"/>
                </a:solidFill>
              </a:rPr>
              <a:t>Foot Search vs. Phoenix X
</a:t>
            </a:r>
          </a:p>
          <a:p>
            <a:r>
              <a:rPr sz="950">
                <a:solidFill>
                  <a:srgbClr val="E2E8F0"/>
                </a:solidFill>
              </a:rPr>
              <a:t>High-contrast split comparison proving operational disruption.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00416" y="4434840"/>
            <a:ext cx="3364992" cy="54864"/>
          </a:xfrm>
          <a:prstGeom prst="round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274320"/>
            <a:ext cx="169164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1E293B"/>
                </a:solidFill>
                <a:latin typeface="Calibri"/>
              </a:rPr>
              <a:t>PHOENIX X · SIH26177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77440" y="219456"/>
            <a:ext cx="694944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50" b="1">
                <a:solidFill>
                  <a:srgbClr val="EA580C"/>
                </a:solidFill>
                <a:latin typeface="Calibri"/>
              </a:rPr>
              <a:t>TECHNICAL APPROACH · DUAL-BRAIN AVIONICS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77440" y="438912"/>
            <a:ext cx="69494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700" b="1">
                <a:solidFill>
                  <a:srgbClr val="0F172A"/>
                </a:solidFill>
                <a:latin typeface="Calibri"/>
              </a:rPr>
              <a:t>Hardware Subsystem Mapping on the Phoenix X Airframe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74320"/>
            <a:ext cx="2194560" cy="384048"/>
          </a:xfrm>
          <a:prstGeom prst="roundRect">
            <a:avLst/>
          </a:prstGeom>
          <a:solidFill>
            <a:srgbClr val="F0F9FF"/>
          </a:solidFill>
          <a:ln w="12700">
            <a:solidFill>
              <a:srgbClr val="BAE6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0284C7"/>
                </a:solidFill>
                <a:latin typeface="Calibri"/>
              </a:rPr>
              <a:t>AVIONICS &amp; PAYLOAD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051560"/>
            <a:ext cx="5943600" cy="5349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  <a:effectLst>
            <a:outerShdw blurRad="101600" dist="25400" dir="5400000" algn="t" rotWithShape="0">
              <a:srgbClr val="0F172A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216152"/>
            <a:ext cx="1463040" cy="54864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325880"/>
            <a:ext cx="41148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sz="1000">
                <a:solidFill>
                  <a:srgbClr val="0F172A"/>
                </a:solidFill>
              </a:rPr>
              <a:t>TACTICAL RECONNAISSANCE AIRFRAME </a:t>
            </a:r>
            <a:r>
              <a:rPr sz="1000">
                <a:solidFill>
                  <a:srgbClr val="64748B"/>
                </a:solidFill>
              </a:rPr>
              <a:t>· 3D PRODUCT SCHEMATIC</a:t>
            </a:r>
          </a:p>
        </p:txBody>
      </p:sp>
      <p:pic>
        <p:nvPicPr>
          <p:cNvPr id="10" name="Picture 9" descr="phoenix_tactical_drone_rend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783080"/>
            <a:ext cx="5486400" cy="3063240"/>
          </a:xfrm>
          <a:prstGeom prst="rect">
            <a:avLst/>
          </a:prstGeom>
        </p:spPr>
      </p:pic>
      <p:sp>
        <p:nvSpPr>
          <p:cNvPr id="11" name="Oval 10"/>
          <p:cNvSpPr/>
          <p:nvPr/>
        </p:nvSpPr>
        <p:spPr>
          <a:xfrm>
            <a:off x="2529804" y="3695866"/>
            <a:ext cx="402336" cy="402336"/>
          </a:xfrm>
          <a:prstGeom prst="ellipse">
            <a:avLst/>
          </a:prstGeom>
          <a:solidFill>
            <a:srgbClr val="EA580C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584668" y="3750730"/>
            <a:ext cx="292608" cy="292608"/>
          </a:xfrm>
          <a:prstGeom prst="ellipse">
            <a:avLst/>
          </a:prstGeom>
          <a:solidFill>
            <a:srgbClr val="EA580C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3" name="Oval 12"/>
          <p:cNvSpPr/>
          <p:nvPr/>
        </p:nvSpPr>
        <p:spPr>
          <a:xfrm>
            <a:off x="4284176" y="2140315"/>
            <a:ext cx="402336" cy="402336"/>
          </a:xfrm>
          <a:prstGeom prst="ellipse">
            <a:avLst/>
          </a:prstGeom>
          <a:solidFill>
            <a:srgbClr val="0284C7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339040" y="2195179"/>
            <a:ext cx="292608" cy="292608"/>
          </a:xfrm>
          <a:prstGeom prst="ellipse">
            <a:avLst/>
          </a:prstGeom>
          <a:solidFill>
            <a:srgbClr val="0284C7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Oval 14"/>
          <p:cNvSpPr/>
          <p:nvPr/>
        </p:nvSpPr>
        <p:spPr>
          <a:xfrm>
            <a:off x="3127885" y="2898147"/>
            <a:ext cx="402336" cy="402336"/>
          </a:xfrm>
          <a:prstGeom prst="ellipse">
            <a:avLst/>
          </a:prstGeom>
          <a:solidFill>
            <a:srgbClr val="0D94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182749" y="2953011"/>
            <a:ext cx="292608" cy="292608"/>
          </a:xfrm>
          <a:prstGeom prst="ellipse">
            <a:avLst/>
          </a:prstGeom>
          <a:solidFill>
            <a:srgbClr val="0D9488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Oval 16"/>
          <p:cNvSpPr/>
          <p:nvPr/>
        </p:nvSpPr>
        <p:spPr>
          <a:xfrm>
            <a:off x="3686095" y="2539174"/>
            <a:ext cx="402336" cy="402336"/>
          </a:xfrm>
          <a:prstGeom prst="ellipse">
            <a:avLst/>
          </a:prstGeom>
          <a:solidFill>
            <a:srgbClr val="7C3AED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740959" y="2594038"/>
            <a:ext cx="292608" cy="292608"/>
          </a:xfrm>
          <a:prstGeom prst="ellipse">
            <a:avLst/>
          </a:prstGeom>
          <a:solidFill>
            <a:srgbClr val="7C3AED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9" name="Oval 18"/>
          <p:cNvSpPr/>
          <p:nvPr/>
        </p:nvSpPr>
        <p:spPr>
          <a:xfrm>
            <a:off x="3526606" y="3416665"/>
            <a:ext cx="402336" cy="402336"/>
          </a:xfrm>
          <a:prstGeom prst="ellipse">
            <a:avLst/>
          </a:prstGeom>
          <a:solidFill>
            <a:srgbClr val="EA580C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581470" y="3471529"/>
            <a:ext cx="292608" cy="292608"/>
          </a:xfrm>
          <a:prstGeom prst="ellipse">
            <a:avLst/>
          </a:prstGeom>
          <a:solidFill>
            <a:srgbClr val="EA580C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1" name="Oval 20"/>
          <p:cNvSpPr/>
          <p:nvPr/>
        </p:nvSpPr>
        <p:spPr>
          <a:xfrm>
            <a:off x="4124688" y="3735752"/>
            <a:ext cx="402336" cy="402336"/>
          </a:xfrm>
          <a:prstGeom prst="ellipse">
            <a:avLst/>
          </a:prstGeom>
          <a:solidFill>
            <a:srgbClr val="0284C7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179552" y="3790616"/>
            <a:ext cx="292608" cy="292608"/>
          </a:xfrm>
          <a:prstGeom prst="ellipse">
            <a:avLst/>
          </a:prstGeom>
          <a:solidFill>
            <a:srgbClr val="0284C7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9808" y="5029199"/>
            <a:ext cx="1737360" cy="1143000"/>
          </a:xfrm>
          <a:prstGeom prst="roundRect">
            <a:avLst/>
          </a:prstGeom>
          <a:solidFill>
            <a:srgbClr val="F0FDFA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09728" rIns="109728" tIns="109728"/>
          <a:lstStyle/>
          <a:p>
            <a:pPr algn="ctr"/>
            <a:r>
              <a:rPr sz="850" b="1">
                <a:solidFill>
                  <a:srgbClr val="64748B"/>
                </a:solidFill>
              </a:rPr>
              <a:t>AUW MASS BUDGET
</a:t>
            </a:r>
          </a:p>
          <a:p>
            <a:r>
              <a:rPr sz="1300" b="1">
                <a:solidFill>
                  <a:srgbClr val="0D9488"/>
                </a:solidFill>
              </a:rPr>
              <a:t>1.58 kg
</a:t>
            </a:r>
          </a:p>
          <a:p>
            <a:r>
              <a:rPr sz="850">
                <a:solidFill>
                  <a:srgbClr val="334155"/>
                </a:solidFill>
              </a:rPr>
              <a:t>DGCA Micro Category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615184" y="5029199"/>
            <a:ext cx="1737360" cy="1143000"/>
          </a:xfrm>
          <a:prstGeom prst="roundRect">
            <a:avLst/>
          </a:prstGeom>
          <a:solidFill>
            <a:srgbClr val="F5F3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09728" rIns="109728" tIns="109728"/>
          <a:lstStyle/>
          <a:p>
            <a:pPr algn="ctr"/>
            <a:r>
              <a:rPr sz="850" b="1">
                <a:solidFill>
                  <a:srgbClr val="64748B"/>
                </a:solidFill>
              </a:rPr>
              <a:t>DUAL-BRAIN CHIPS
</a:t>
            </a:r>
          </a:p>
          <a:p>
            <a:r>
              <a:rPr sz="1300" b="1">
                <a:solidFill>
                  <a:srgbClr val="7C3AED"/>
                </a:solidFill>
              </a:rPr>
              <a:t>QRB2210 + STM32
</a:t>
            </a:r>
          </a:p>
          <a:p>
            <a:r>
              <a:rPr sz="850">
                <a:solidFill>
                  <a:srgbClr val="334155"/>
                </a:solidFill>
              </a:rPr>
              <a:t>Linux NPU + Zephyr RTOS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80560" y="5029199"/>
            <a:ext cx="1737360" cy="1143000"/>
          </a:xfrm>
          <a:prstGeom prst="roundRect">
            <a:avLst/>
          </a:prstGeom>
          <a:solidFill>
            <a:srgbClr val="F0F9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09728" rIns="109728" tIns="109728"/>
          <a:lstStyle/>
          <a:p>
            <a:pPr algn="ctr"/>
            <a:r>
              <a:rPr sz="850" b="1">
                <a:solidFill>
                  <a:srgbClr val="64748B"/>
                </a:solidFill>
              </a:rPr>
              <a:t>OFF-GRID TELEMETRY
</a:t>
            </a:r>
          </a:p>
          <a:p>
            <a:r>
              <a:rPr sz="1300" b="1">
                <a:solidFill>
                  <a:srgbClr val="0284C7"/>
                </a:solidFill>
              </a:rPr>
              <a:t>868 MHz LoRa
</a:t>
            </a:r>
          </a:p>
          <a:p>
            <a:r>
              <a:rPr sz="850">
                <a:solidFill>
                  <a:srgbClr val="334155"/>
                </a:solidFill>
              </a:rPr>
              <a:t>17-byte P2P (3–5 km)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720840" y="1051560"/>
            <a:ext cx="242316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101600" dist="25400" dir="5400000" algn="t" rotWithShape="0">
              <a:srgbClr val="0F172A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720840" y="1051560"/>
            <a:ext cx="73152" cy="1664208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867144" y="1179576"/>
            <a:ext cx="310896" cy="310896"/>
          </a:xfrm>
          <a:prstGeom prst="ellipse">
            <a:avLst/>
          </a:prstGeom>
          <a:solidFill>
            <a:srgbClr val="EA580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10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51192" y="1161288"/>
            <a:ext cx="1801368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sz="1100">
                <a:solidFill>
                  <a:srgbClr val="0F172A"/>
                </a:solidFill>
              </a:rPr>
              <a:t>Dual-Spectral Vision Gimbal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67144" y="1554480"/>
            <a:ext cx="2130552" cy="237744"/>
          </a:xfrm>
          <a:prstGeom prst="round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/>
          <a:lstStyle/>
          <a:p>
            <a:pPr algn="ctr"/>
            <a:r>
              <a:rPr b="1" sz="850">
                <a:solidFill>
                  <a:srgbClr val="334155"/>
                </a:solidFill>
              </a:rPr>
              <a:t>1080p Optical + 8-14μm Radiometric LWIR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67144" y="1856232"/>
            <a:ext cx="2130552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>
                <a:solidFill>
                  <a:srgbClr val="334155"/>
                </a:solidFill>
              </a:rPr>
              <a:t>Fuses visual contours with thermal emissivity (37.0°C biological lock). Rejects solar heat false positives.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326880" y="1051560"/>
            <a:ext cx="242316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101600" dist="25400" dir="5400000" algn="t" rotWithShape="0">
              <a:srgbClr val="0F172A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9326880" y="1051560"/>
            <a:ext cx="73152" cy="1664208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473184" y="1179576"/>
            <a:ext cx="310896" cy="310896"/>
          </a:xfrm>
          <a:prstGeom prst="ellipse">
            <a:avLst/>
          </a:prstGeom>
          <a:solidFill>
            <a:srgbClr val="0284C7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10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57232" y="1161288"/>
            <a:ext cx="1801368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sz="1100">
                <a:solidFill>
                  <a:srgbClr val="0F172A"/>
                </a:solidFill>
              </a:rPr>
              <a:t>SX1262 LoRa RF Telemetry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473184" y="1554480"/>
            <a:ext cx="2130552" cy="237744"/>
          </a:xfrm>
          <a:prstGeom prst="round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/>
          <a:lstStyle/>
          <a:p>
            <a:pPr algn="ctr"/>
            <a:r>
              <a:rPr b="1" sz="850">
                <a:solidFill>
                  <a:srgbClr val="334155"/>
                </a:solidFill>
              </a:rPr>
              <a:t>868 MHz P2P Sub-GHz Link · +22 dBm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473184" y="1856232"/>
            <a:ext cx="2130552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>
                <a:solidFill>
                  <a:srgbClr val="334155"/>
                </a:solidFill>
              </a:rPr>
              <a:t>Transmits Souli et al. (Elsevier 2024) 17-byte encrypted binary packets over 3–5 km without cellular towers.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720840" y="2880360"/>
            <a:ext cx="242316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101600" dist="25400" dir="5400000" algn="t" rotWithShape="0">
              <a:srgbClr val="0F172A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6720840" y="2880360"/>
            <a:ext cx="73152" cy="1664208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867144" y="3008376"/>
            <a:ext cx="310896" cy="31089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10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51192" y="2990088"/>
            <a:ext cx="1801368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sz="1100">
                <a:solidFill>
                  <a:srgbClr val="0F172A"/>
                </a:solidFill>
              </a:rPr>
              <a:t>STM32U585 Flight Core (MCU)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867144" y="3383280"/>
            <a:ext cx="2130552" cy="237744"/>
          </a:xfrm>
          <a:prstGeom prst="round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/>
          <a:lstStyle/>
          <a:p>
            <a:pPr algn="ctr"/>
            <a:r>
              <a:rPr b="1" sz="850">
                <a:solidFill>
                  <a:srgbClr val="334155"/>
                </a:solidFill>
              </a:rPr>
              <a:t>Zephyr RTOS @ 250 Hz Loop · 350 Hz PWM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67144" y="3685032"/>
            <a:ext cx="2130552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>
                <a:solidFill>
                  <a:srgbClr val="334155"/>
                </a:solidFill>
              </a:rPr>
              <a:t>Deterministic 4ms PID motor loop. Completely isolated from AI workload to guarantee zero flight jitter.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326880" y="2880360"/>
            <a:ext cx="242316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101600" dist="25400" dir="5400000" algn="t" rotWithShape="0">
              <a:srgbClr val="0F172A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9326880" y="2880360"/>
            <a:ext cx="73152" cy="1664208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9473184" y="3008376"/>
            <a:ext cx="310896" cy="31089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10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857232" y="2990088"/>
            <a:ext cx="1801368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sz="1100">
                <a:solidFill>
                  <a:srgbClr val="0F172A"/>
                </a:solidFill>
              </a:rPr>
              <a:t>Qualcomm QRB2210 Mission MPU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473184" y="3383280"/>
            <a:ext cx="2130552" cy="237744"/>
          </a:xfrm>
          <a:prstGeom prst="round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/>
          <a:lstStyle/>
          <a:p>
            <a:pPr algn="ctr"/>
            <a:r>
              <a:rPr b="1" sz="850">
                <a:solidFill>
                  <a:srgbClr val="334155"/>
                </a:solidFill>
              </a:rPr>
              <a:t>Quad-Core Linux + Hexagon NPU (&lt; 5W)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473184" y="3685032"/>
            <a:ext cx="2130552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>
                <a:solidFill>
                  <a:srgbClr val="334155"/>
                </a:solidFill>
              </a:rPr>
              <a:t>Runs INT8-quantized YOLO object detection and 6-DOF Tait-Bryan ray-casting geodetics in under 60 ms.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720840" y="4709160"/>
            <a:ext cx="242316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101600" dist="25400" dir="5400000" algn="t" rotWithShape="0">
              <a:srgbClr val="0F172A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6720840" y="4709160"/>
            <a:ext cx="73152" cy="1664208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6867144" y="4837176"/>
            <a:ext cx="310896" cy="310896"/>
          </a:xfrm>
          <a:prstGeom prst="ellipse">
            <a:avLst/>
          </a:prstGeom>
          <a:solidFill>
            <a:srgbClr val="EA580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10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251192" y="4818888"/>
            <a:ext cx="1801368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sz="1100">
                <a:solidFill>
                  <a:srgbClr val="0F172A"/>
                </a:solidFill>
              </a:rPr>
              <a:t>1D ToF Laser + 3S Power Tray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867144" y="5212080"/>
            <a:ext cx="2130552" cy="237744"/>
          </a:xfrm>
          <a:prstGeom prst="round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/>
          <a:lstStyle/>
          <a:p>
            <a:pPr algn="ctr"/>
            <a:r>
              <a:rPr b="1" sz="850">
                <a:solidFill>
                  <a:srgbClr val="334155"/>
                </a:solidFill>
              </a:rPr>
              <a:t>VL53L1X Laser Ranging + 4500mAh LiPo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867144" y="5513832"/>
            <a:ext cx="2130552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>
                <a:solidFill>
                  <a:srgbClr val="334155"/>
                </a:solidFill>
              </a:rPr>
              <a:t>Measures true AGL ground clearance for terrain-following and ray-casting. Quick-swap battery rail.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9326880" y="4709160"/>
            <a:ext cx="242316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101600" dist="25400" dir="5400000" algn="t" rotWithShape="0">
              <a:srgbClr val="0F172A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9326880" y="4709160"/>
            <a:ext cx="73152" cy="1664208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9473184" y="4837176"/>
            <a:ext cx="310896" cy="310896"/>
          </a:xfrm>
          <a:prstGeom prst="ellipse">
            <a:avLst/>
          </a:prstGeom>
          <a:solidFill>
            <a:srgbClr val="0284C7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10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857232" y="4818888"/>
            <a:ext cx="1801368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sz="1100">
                <a:solidFill>
                  <a:srgbClr val="0F172A"/>
                </a:solidFill>
              </a:rPr>
              <a:t>Propulsion &amp; Power Dynamics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9473184" y="5212080"/>
            <a:ext cx="2130552" cy="237744"/>
          </a:xfrm>
          <a:prstGeom prst="round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/>
          <a:lstStyle/>
          <a:p>
            <a:pPr algn="ctr"/>
            <a:r>
              <a:rPr b="1" sz="850">
                <a:solidFill>
                  <a:srgbClr val="334155"/>
                </a:solidFill>
              </a:rPr>
              <a:t>4× 2212/2216 BLDC + 1045 Carbon Props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473184" y="5513832"/>
            <a:ext cx="2130552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>
                <a:solidFill>
                  <a:srgbClr val="334155"/>
                </a:solidFill>
              </a:rPr>
              <a:t>Delivers 2.4 kg peak thrust. Adheres to Bouabdallah sizing laws for stable hover in gusty disaster winds.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274320"/>
            <a:ext cx="169164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1E293B"/>
                </a:solidFill>
                <a:latin typeface="Calibri"/>
              </a:rPr>
              <a:t>PHOENIX X · SIH26177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77440" y="219456"/>
            <a:ext cx="694944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50" b="1">
                <a:solidFill>
                  <a:srgbClr val="EA580C"/>
                </a:solidFill>
                <a:latin typeface="Calibri"/>
              </a:rPr>
              <a:t>FEASIBILITY &amp; VIABILITY · COMPLIANCE &amp; SIZING LAWS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77440" y="438912"/>
            <a:ext cx="69494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700" b="1">
                <a:solidFill>
                  <a:srgbClr val="0F172A"/>
                </a:solidFill>
                <a:latin typeface="Calibri"/>
              </a:rPr>
              <a:t>Why the Airframe Is Structurally Sized, Legal &amp; Scalable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74320"/>
            <a:ext cx="2194560" cy="384048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0D9488"/>
                </a:solidFill>
                <a:latin typeface="Calibri"/>
              </a:rPr>
              <a:t>DGCA MICRO-DRONE CLASS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051560"/>
            <a:ext cx="5943600" cy="5349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  <a:effectLst>
            <a:outerShdw blurRad="101600" dist="25400" dir="5400000" algn="t" rotWithShape="0">
              <a:srgbClr val="0F172A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216152"/>
            <a:ext cx="1463040" cy="54864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325880"/>
            <a:ext cx="411480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sz="1000">
                <a:solidFill>
                  <a:srgbClr val="0F172A"/>
                </a:solidFill>
              </a:rPr>
              <a:t>TACTICAL RECONNAISSANCE AIRFRAME </a:t>
            </a:r>
            <a:r>
              <a:rPr sz="1000">
                <a:solidFill>
                  <a:srgbClr val="64748B"/>
                </a:solidFill>
              </a:rPr>
              <a:t>· 3D PRODUCT SCHEMATIC</a:t>
            </a:r>
          </a:p>
        </p:txBody>
      </p:sp>
      <p:pic>
        <p:nvPicPr>
          <p:cNvPr id="10" name="Picture 9" descr="phoenix_tactical_drone_rend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783080"/>
            <a:ext cx="5486400" cy="3063240"/>
          </a:xfrm>
          <a:prstGeom prst="rect">
            <a:avLst/>
          </a:prstGeom>
        </p:spPr>
      </p:pic>
      <p:sp>
        <p:nvSpPr>
          <p:cNvPr id="11" name="Oval 10"/>
          <p:cNvSpPr/>
          <p:nvPr/>
        </p:nvSpPr>
        <p:spPr>
          <a:xfrm>
            <a:off x="2529804" y="3695866"/>
            <a:ext cx="402336" cy="402336"/>
          </a:xfrm>
          <a:prstGeom prst="ellipse">
            <a:avLst/>
          </a:prstGeom>
          <a:solidFill>
            <a:srgbClr val="EA580C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584668" y="3750730"/>
            <a:ext cx="292608" cy="292608"/>
          </a:xfrm>
          <a:prstGeom prst="ellipse">
            <a:avLst/>
          </a:prstGeom>
          <a:solidFill>
            <a:srgbClr val="EA580C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3" name="Oval 12"/>
          <p:cNvSpPr/>
          <p:nvPr/>
        </p:nvSpPr>
        <p:spPr>
          <a:xfrm>
            <a:off x="4284176" y="2140315"/>
            <a:ext cx="402336" cy="402336"/>
          </a:xfrm>
          <a:prstGeom prst="ellipse">
            <a:avLst/>
          </a:prstGeom>
          <a:solidFill>
            <a:srgbClr val="0284C7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339040" y="2195179"/>
            <a:ext cx="292608" cy="292608"/>
          </a:xfrm>
          <a:prstGeom prst="ellipse">
            <a:avLst/>
          </a:prstGeom>
          <a:solidFill>
            <a:srgbClr val="0284C7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Oval 14"/>
          <p:cNvSpPr/>
          <p:nvPr/>
        </p:nvSpPr>
        <p:spPr>
          <a:xfrm>
            <a:off x="3127885" y="2898147"/>
            <a:ext cx="402336" cy="402336"/>
          </a:xfrm>
          <a:prstGeom prst="ellipse">
            <a:avLst/>
          </a:prstGeom>
          <a:solidFill>
            <a:srgbClr val="0D9488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182749" y="2953011"/>
            <a:ext cx="292608" cy="292608"/>
          </a:xfrm>
          <a:prstGeom prst="ellipse">
            <a:avLst/>
          </a:prstGeom>
          <a:solidFill>
            <a:srgbClr val="0D9488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Oval 16"/>
          <p:cNvSpPr/>
          <p:nvPr/>
        </p:nvSpPr>
        <p:spPr>
          <a:xfrm>
            <a:off x="3686095" y="2539174"/>
            <a:ext cx="402336" cy="402336"/>
          </a:xfrm>
          <a:prstGeom prst="ellipse">
            <a:avLst/>
          </a:prstGeom>
          <a:solidFill>
            <a:srgbClr val="7C3AED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740959" y="2594038"/>
            <a:ext cx="292608" cy="292608"/>
          </a:xfrm>
          <a:prstGeom prst="ellipse">
            <a:avLst/>
          </a:prstGeom>
          <a:solidFill>
            <a:srgbClr val="7C3AED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9" name="Oval 18"/>
          <p:cNvSpPr/>
          <p:nvPr/>
        </p:nvSpPr>
        <p:spPr>
          <a:xfrm>
            <a:off x="3526606" y="3416665"/>
            <a:ext cx="402336" cy="402336"/>
          </a:xfrm>
          <a:prstGeom prst="ellipse">
            <a:avLst/>
          </a:prstGeom>
          <a:solidFill>
            <a:srgbClr val="EA580C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581470" y="3471529"/>
            <a:ext cx="292608" cy="292608"/>
          </a:xfrm>
          <a:prstGeom prst="ellipse">
            <a:avLst/>
          </a:prstGeom>
          <a:solidFill>
            <a:srgbClr val="EA580C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1" name="Oval 20"/>
          <p:cNvSpPr/>
          <p:nvPr/>
        </p:nvSpPr>
        <p:spPr>
          <a:xfrm>
            <a:off x="4124688" y="3735752"/>
            <a:ext cx="402336" cy="402336"/>
          </a:xfrm>
          <a:prstGeom prst="ellipse">
            <a:avLst/>
          </a:prstGeom>
          <a:solidFill>
            <a:srgbClr val="0284C7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179552" y="3790616"/>
            <a:ext cx="292608" cy="292608"/>
          </a:xfrm>
          <a:prstGeom prst="ellipse">
            <a:avLst/>
          </a:prstGeom>
          <a:solidFill>
            <a:srgbClr val="0284C7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9808" y="5029199"/>
            <a:ext cx="1737360" cy="1143000"/>
          </a:xfrm>
          <a:prstGeom prst="roundRect">
            <a:avLst/>
          </a:prstGeom>
          <a:solidFill>
            <a:srgbClr val="F0FDFA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09728" rIns="109728" tIns="109728"/>
          <a:lstStyle/>
          <a:p>
            <a:pPr algn="ctr"/>
            <a:r>
              <a:rPr sz="850" b="1">
                <a:solidFill>
                  <a:srgbClr val="64748B"/>
                </a:solidFill>
              </a:rPr>
              <a:t>AUW MASS BUDGET
</a:t>
            </a:r>
          </a:p>
          <a:p>
            <a:r>
              <a:rPr sz="1300" b="1">
                <a:solidFill>
                  <a:srgbClr val="0D9488"/>
                </a:solidFill>
              </a:rPr>
              <a:t>1.58 kg
</a:t>
            </a:r>
          </a:p>
          <a:p>
            <a:r>
              <a:rPr sz="850">
                <a:solidFill>
                  <a:srgbClr val="334155"/>
                </a:solidFill>
              </a:rPr>
              <a:t>DGCA Micro Category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615184" y="5029199"/>
            <a:ext cx="1737360" cy="1143000"/>
          </a:xfrm>
          <a:prstGeom prst="roundRect">
            <a:avLst/>
          </a:prstGeom>
          <a:solidFill>
            <a:srgbClr val="F5F3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09728" rIns="109728" tIns="109728"/>
          <a:lstStyle/>
          <a:p>
            <a:pPr algn="ctr"/>
            <a:r>
              <a:rPr sz="850" b="1">
                <a:solidFill>
                  <a:srgbClr val="64748B"/>
                </a:solidFill>
              </a:rPr>
              <a:t>DUAL-BRAIN CHIPS
</a:t>
            </a:r>
          </a:p>
          <a:p>
            <a:r>
              <a:rPr sz="1300" b="1">
                <a:solidFill>
                  <a:srgbClr val="7C3AED"/>
                </a:solidFill>
              </a:rPr>
              <a:t>QRB2210 + STM32
</a:t>
            </a:r>
          </a:p>
          <a:p>
            <a:r>
              <a:rPr sz="850">
                <a:solidFill>
                  <a:srgbClr val="334155"/>
                </a:solidFill>
              </a:rPr>
              <a:t>Linux NPU + Zephyr RTOS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80560" y="5029199"/>
            <a:ext cx="1737360" cy="1143000"/>
          </a:xfrm>
          <a:prstGeom prst="roundRect">
            <a:avLst/>
          </a:prstGeom>
          <a:solidFill>
            <a:srgbClr val="F0F9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09728" rIns="109728" tIns="109728"/>
          <a:lstStyle/>
          <a:p>
            <a:pPr algn="ctr"/>
            <a:r>
              <a:rPr sz="850" b="1">
                <a:solidFill>
                  <a:srgbClr val="64748B"/>
                </a:solidFill>
              </a:rPr>
              <a:t>OFF-GRID TELEMETRY
</a:t>
            </a:r>
          </a:p>
          <a:p>
            <a:r>
              <a:rPr sz="1300" b="1">
                <a:solidFill>
                  <a:srgbClr val="0284C7"/>
                </a:solidFill>
              </a:rPr>
              <a:t>868 MHz LoRa
</a:t>
            </a:r>
          </a:p>
          <a:p>
            <a:r>
              <a:rPr sz="850">
                <a:solidFill>
                  <a:srgbClr val="334155"/>
                </a:solidFill>
              </a:rPr>
              <a:t>17-byte P2P (3–5 km)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720840" y="1051560"/>
            <a:ext cx="242316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101600" dist="25400" dir="5400000" algn="t" rotWithShape="0">
              <a:srgbClr val="0F172A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720840" y="1051560"/>
            <a:ext cx="73152" cy="1664208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867144" y="1179576"/>
            <a:ext cx="310896" cy="310896"/>
          </a:xfrm>
          <a:prstGeom prst="ellipse">
            <a:avLst/>
          </a:prstGeom>
          <a:solidFill>
            <a:srgbClr val="EA580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10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51192" y="1161288"/>
            <a:ext cx="1801368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sz="1100">
                <a:solidFill>
                  <a:srgbClr val="0F172A"/>
                </a:solidFill>
              </a:rPr>
              <a:t>Modular Quick-Release Gimbal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67144" y="1554480"/>
            <a:ext cx="2130552" cy="237744"/>
          </a:xfrm>
          <a:prstGeom prst="round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/>
          <a:lstStyle/>
          <a:p>
            <a:pPr algn="ctr"/>
            <a:r>
              <a:rPr b="1" sz="850">
                <a:solidFill>
                  <a:srgbClr val="334155"/>
                </a:solidFill>
              </a:rPr>
              <a:t>Vibration-Damped Payload Bay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67144" y="1856232"/>
            <a:ext cx="2130552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>
                <a:solidFill>
                  <a:srgbClr val="334155"/>
                </a:solidFill>
              </a:rPr>
              <a:t>Houses dual sensors inside strict weight limits. Silicone dampers eliminate high-frequency motor vibration.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326880" y="1051560"/>
            <a:ext cx="242316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101600" dist="25400" dir="5400000" algn="t" rotWithShape="0">
              <a:srgbClr val="0F172A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9326880" y="1051560"/>
            <a:ext cx="73152" cy="1664208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473184" y="1179576"/>
            <a:ext cx="310896" cy="310896"/>
          </a:xfrm>
          <a:prstGeom prst="ellipse">
            <a:avLst/>
          </a:prstGeom>
          <a:solidFill>
            <a:srgbClr val="0284C7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10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57232" y="1161288"/>
            <a:ext cx="1801368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sz="1100">
                <a:solidFill>
                  <a:srgbClr val="0F172A"/>
                </a:solidFill>
              </a:rPr>
              <a:t>Indian WPC De-Licensed Band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473184" y="1554480"/>
            <a:ext cx="2130552" cy="237744"/>
          </a:xfrm>
          <a:prstGeom prst="round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/>
          <a:lstStyle/>
          <a:p>
            <a:pPr algn="ctr"/>
            <a:r>
              <a:rPr b="1" sz="850">
                <a:solidFill>
                  <a:srgbClr val="334155"/>
                </a:solidFill>
              </a:rPr>
              <a:t>865–867 MHz Compliant (GSR 564(E))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473184" y="1856232"/>
            <a:ext cx="2130552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>
                <a:solidFill>
                  <a:srgbClr val="334155"/>
                </a:solidFill>
              </a:rPr>
              <a:t>100% legal for disaster operations in India. Bypasses jammed 433 MHz and severed 4G/5G mobile towers.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720840" y="2880360"/>
            <a:ext cx="242316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101600" dist="25400" dir="5400000" algn="t" rotWithShape="0">
              <a:srgbClr val="0F172A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6720840" y="2880360"/>
            <a:ext cx="73152" cy="1664208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6867144" y="3008376"/>
            <a:ext cx="310896" cy="310896"/>
          </a:xfrm>
          <a:prstGeom prst="ellipse">
            <a:avLst/>
          </a:prstGeom>
          <a:solidFill>
            <a:srgbClr val="0D9488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10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51192" y="2990088"/>
            <a:ext cx="1801368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sz="1100">
                <a:solidFill>
                  <a:srgbClr val="0F172A"/>
                </a:solidFill>
              </a:rPr>
              <a:t>Sub-5W Ultra-Low Power Draw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867144" y="3383280"/>
            <a:ext cx="2130552" cy="237744"/>
          </a:xfrm>
          <a:prstGeom prst="round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/>
          <a:lstStyle/>
          <a:p>
            <a:pPr algn="ctr"/>
            <a:r>
              <a:rPr b="1" sz="850">
                <a:solidFill>
                  <a:srgbClr val="334155"/>
                </a:solidFill>
              </a:rPr>
              <a:t>Qualcomm Dragonwing Energy Budget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67144" y="3685032"/>
            <a:ext cx="2130552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>
                <a:solidFill>
                  <a:srgbClr val="334155"/>
                </a:solidFill>
              </a:rPr>
              <a:t>Preserves &gt;90% of total electrical power for rotor lift, achieving 28–32 minutes search sortie endurance.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326880" y="2880360"/>
            <a:ext cx="242316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101600" dist="25400" dir="5400000" algn="t" rotWithShape="0">
              <a:srgbClr val="0F172A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9326880" y="2880360"/>
            <a:ext cx="73152" cy="1664208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9473184" y="3008376"/>
            <a:ext cx="310896" cy="31089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10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857232" y="2990088"/>
            <a:ext cx="1801368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sz="1100">
                <a:solidFill>
                  <a:srgbClr val="0F172A"/>
                </a:solidFill>
              </a:rPr>
              <a:t>Bouabdallah Dynamic Stability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473184" y="3383280"/>
            <a:ext cx="2130552" cy="237744"/>
          </a:xfrm>
          <a:prstGeom prst="round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/>
          <a:lstStyle/>
          <a:p>
            <a:pPr algn="ctr"/>
            <a:r>
              <a:rPr b="1" sz="850">
                <a:solidFill>
                  <a:srgbClr val="334155"/>
                </a:solidFill>
              </a:rPr>
              <a:t>Thrust-to-Weight Ratio β ≥ 1.65 – 2.0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473184" y="3685032"/>
            <a:ext cx="2130552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>
                <a:solidFill>
                  <a:srgbClr val="334155"/>
                </a:solidFill>
              </a:rPr>
              <a:t>Sized via EPFL thesis laws. Anti-windup integrator clamping prevents motor saturation during heavy wind gusts.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720840" y="4709160"/>
            <a:ext cx="242316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101600" dist="25400" dir="5400000" algn="t" rotWithShape="0">
              <a:srgbClr val="0F172A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6720840" y="4709160"/>
            <a:ext cx="73152" cy="1664208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6867144" y="4837176"/>
            <a:ext cx="310896" cy="310896"/>
          </a:xfrm>
          <a:prstGeom prst="ellipse">
            <a:avLst/>
          </a:prstGeom>
          <a:solidFill>
            <a:srgbClr val="EA580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10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251192" y="4818888"/>
            <a:ext cx="1801368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sz="1100">
                <a:solidFill>
                  <a:srgbClr val="0F172A"/>
                </a:solidFill>
              </a:rPr>
              <a:t>All-Up-Weight: 1.58 kg Total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867144" y="5212080"/>
            <a:ext cx="2130552" cy="237744"/>
          </a:xfrm>
          <a:prstGeom prst="round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/>
          <a:lstStyle/>
          <a:p>
            <a:pPr algn="ctr"/>
            <a:r>
              <a:rPr b="1" sz="850">
                <a:solidFill>
                  <a:srgbClr val="334155"/>
                </a:solidFill>
              </a:rPr>
              <a:t>Safely under DGCA 2.0 kg Micro Limit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867144" y="5513832"/>
            <a:ext cx="2130552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>
                <a:solidFill>
                  <a:srgbClr val="334155"/>
                </a:solidFill>
              </a:rPr>
              <a:t>Requires no complex enterprise flight licensing for disaster response drills. Deploys from backpack in &lt;3 minutes.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9326880" y="4709160"/>
            <a:ext cx="2423160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101600" dist="25400" dir="5400000" algn="t" rotWithShape="0">
              <a:srgbClr val="0F172A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9326880" y="4709160"/>
            <a:ext cx="73152" cy="1664208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9473184" y="4837176"/>
            <a:ext cx="310896" cy="310896"/>
          </a:xfrm>
          <a:prstGeom prst="ellipse">
            <a:avLst/>
          </a:prstGeom>
          <a:solidFill>
            <a:srgbClr val="0284C7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10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857232" y="4818888"/>
            <a:ext cx="1801368" cy="3474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sz="1100">
                <a:solidFill>
                  <a:srgbClr val="0F172A"/>
                </a:solidFill>
              </a:rPr>
              <a:t>Disruptive Unit Economics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9473184" y="5212080"/>
            <a:ext cx="2130552" cy="237744"/>
          </a:xfrm>
          <a:prstGeom prst="roundRect">
            <a:avLst/>
          </a:prstGeom>
          <a:solidFill>
            <a:srgbClr val="F1F5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/>
          <a:lstStyle/>
          <a:p>
            <a:pPr algn="ctr"/>
            <a:r>
              <a:rPr b="1" sz="850">
                <a:solidFill>
                  <a:srgbClr val="334155"/>
                </a:solidFill>
              </a:rPr>
              <a:t>₹35.8k Prototype ➔ ₹1.2L Production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473184" y="5513832"/>
            <a:ext cx="2130552" cy="795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50">
                <a:solidFill>
                  <a:srgbClr val="334155"/>
                </a:solidFill>
              </a:rPr>
              <a:t>Delivers tactical thermal SAR at 1/10th the cost of commercial enterprise imports (₹14 Lakh DJI Matrice 30T).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274320"/>
            <a:ext cx="169164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1E293B"/>
                </a:solidFill>
                <a:latin typeface="Calibri"/>
              </a:rPr>
              <a:t>PHOENIX X · SIH26177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77440" y="219456"/>
            <a:ext cx="694944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50" b="1">
                <a:solidFill>
                  <a:srgbClr val="EA580C"/>
                </a:solidFill>
                <a:latin typeface="Calibri"/>
              </a:rPr>
              <a:t>MULTI-SPECTRAL PERCEPTION · REAL-TIME TARGET ACQUISITION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77440" y="438912"/>
            <a:ext cx="69494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700" b="1">
                <a:solidFill>
                  <a:srgbClr val="0F172A"/>
                </a:solidFill>
                <a:latin typeface="Calibri"/>
              </a:rPr>
              <a:t>How Phoenix X Detects Living Survivors Through Dense Smoke &amp; Debris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74320"/>
            <a:ext cx="2194560" cy="384048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ED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EA580C"/>
                </a:solidFill>
                <a:latin typeface="Calibri"/>
              </a:rPr>
              <a:t>DUAL-BEAM TACTICAL HUD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051560"/>
            <a:ext cx="7132320" cy="5349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  <a:effectLst>
            <a:outerShdw blurRad="101600" dist="25400" dir="5400000" algn="t" rotWithShape="0">
              <a:srgbClr val="0F172A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phoenix_drone_dual_beam_acti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188720"/>
            <a:ext cx="6858000" cy="507492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909560" y="1051560"/>
            <a:ext cx="3730752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101600" dist="25400" dir="5400000" algn="t" rotWithShape="0">
              <a:srgbClr val="0F172A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01168" rIns="182880" tIns="128016"/>
          <a:lstStyle/>
          <a:p>
            <a:pPr algn="ctr"/>
            <a:r>
              <a:rPr b="1" sz="1100">
                <a:solidFill>
                  <a:srgbClr val="0F172A"/>
                </a:solidFill>
              </a:rPr>
              <a:t>1. DUAL-SPECTRAL CONICAL SENSING
</a:t>
            </a:r>
          </a:p>
          <a:p>
            <a:r>
              <a:rPr b="1" sz="850">
                <a:solidFill>
                  <a:srgbClr val="0284C7"/>
                </a:solidFill>
              </a:rPr>
              <a:t>Cyan Beam: 1080p Optical Geometry
Orange Beam: 8–14μm Radiometric LWIR
</a:t>
            </a:r>
          </a:p>
          <a:p>
            <a:r>
              <a:rPr sz="950">
                <a:solidFill>
                  <a:srgbClr val="475569"/>
                </a:solidFill>
              </a:rPr>
              <a:t>Standard RGB cameras blind at dusk and in smoke plumes. Phoenix X projects co-registered optical and thermal fields-of-view, continuously scanning rubble crevices for human infrared emissions.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09560" y="1051560"/>
            <a:ext cx="73152" cy="1664208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909560" y="2889504"/>
            <a:ext cx="3730752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101600" dist="25400" dir="5400000" algn="t" rotWithShape="0">
              <a:srgbClr val="0F172A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01168" rIns="182880" tIns="128016"/>
          <a:lstStyle/>
          <a:p>
            <a:pPr algn="ctr"/>
            <a:r>
              <a:rPr b="1" sz="1100">
                <a:solidFill>
                  <a:srgbClr val="0F172A"/>
                </a:solidFill>
              </a:rPr>
              <a:t>2. RADIOMETRIC CORE HEAT FILTER
</a:t>
            </a:r>
          </a:p>
          <a:p>
            <a:r>
              <a:rPr b="1" sz="850">
                <a:solidFill>
                  <a:srgbClr val="EA580C"/>
                </a:solidFill>
              </a:rPr>
              <a:t>Gated Detection: 36.5°C to 37.5°C
Noise Equivalent Temp Diff: NETD &lt; 50 mK
</a:t>
            </a:r>
          </a:p>
          <a:p>
            <a:r>
              <a:rPr sz="950">
                <a:solidFill>
                  <a:srgbClr val="475569"/>
                </a:solidFill>
              </a:rPr>
              <a:t>Solar radiation heats tin roofs, wet mud, and rocks to over 45°C. Phoenix X isolates true biological core temperature profiles, instantly discarding thermal false alarms before passing tensors to the NPU.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09560" y="2889504"/>
            <a:ext cx="73152" cy="1664208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909560" y="4727448"/>
            <a:ext cx="3730752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101600" dist="25400" dir="5400000" algn="t" rotWithShape="0">
              <a:srgbClr val="0F172A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01168" rIns="182880" tIns="128016"/>
          <a:lstStyle/>
          <a:p>
            <a:pPr algn="ctr"/>
            <a:r>
              <a:rPr b="1" sz="1100">
                <a:solidFill>
                  <a:srgbClr val="0F172A"/>
                </a:solidFill>
              </a:rPr>
              <a:t>3. 6-DOF TAIT-BRYAN RAY-CASTING
</a:t>
            </a:r>
          </a:p>
          <a:p>
            <a:r>
              <a:rPr b="1" sz="850">
                <a:solidFill>
                  <a:srgbClr val="0D9488"/>
                </a:solidFill>
              </a:rPr>
              <a:t>Optical-to-Ground Vector Projection
Accuracy: WGS-84 within ±2.1m SEP
</a:t>
            </a:r>
          </a:p>
          <a:p>
            <a:r>
              <a:rPr sz="950">
                <a:solidFill>
                  <a:srgbClr val="475569"/>
                </a:solidFill>
              </a:rPr>
              <a:t>Hovering overhead puts drones at risk of collision. The drone flies at an oblique standoff angle; its onboard NPU projects camera bounding-box pixels directly onto a local DEM elevation grid in &lt; 60 ms.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09560" y="4727448"/>
            <a:ext cx="73152" cy="1664208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274320"/>
            <a:ext cx="169164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1E293B"/>
                </a:solidFill>
                <a:latin typeface="Calibri"/>
              </a:rPr>
              <a:t>PHOENIX X · SIH26177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77440" y="219456"/>
            <a:ext cx="694944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50" b="1">
                <a:solidFill>
                  <a:srgbClr val="EA580C"/>
                </a:solidFill>
                <a:latin typeface="Calibri"/>
              </a:rPr>
              <a:t>OPERATIONAL PIPELINE · ZERO-CONNECTIVITY RECONNAISSANCE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77440" y="438912"/>
            <a:ext cx="69494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700" b="1">
                <a:solidFill>
                  <a:srgbClr val="0F172A"/>
                </a:solidFill>
                <a:latin typeface="Calibri"/>
              </a:rPr>
              <a:t>End-to-End Autonomous Reconnaissance &amp; Survivor Extraction Flow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74320"/>
            <a:ext cx="2194560" cy="384048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ED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EA580C"/>
                </a:solidFill>
                <a:latin typeface="Calibri"/>
              </a:rPr>
              <a:t>RAPID SORTIE PIPELINE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143000"/>
            <a:ext cx="2084831" cy="5120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  <a:effectLst>
            <a:outerShdw blurRad="101600" dist="25400" dir="5400000" algn="t" rotWithShape="0">
              <a:srgbClr val="0F172A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82880" rIns="182880" tIns="868680"/>
          <a:lstStyle/>
          <a:p>
            <a:pPr algn="ctr"/>
            <a:r>
              <a:rPr b="1" sz="1100">
                <a:solidFill>
                  <a:srgbClr val="0F172A"/>
                </a:solidFill>
              </a:rPr>
              <a:t>1. RAPID SORTIE LAUNCH
</a:t>
            </a:r>
          </a:p>
          <a:p>
            <a:r>
              <a:rPr b="1" sz="950">
                <a:solidFill>
                  <a:srgbClr val="EA580C"/>
                </a:solidFill>
              </a:rPr>
              <a:t>&lt; 3 Minutes Deployment
</a:t>
            </a:r>
          </a:p>
          <a:p>
            <a:r>
              <a:rPr sz="950">
                <a:solidFill>
                  <a:srgbClr val="475569"/>
                </a:solidFill>
              </a:rPr>
              <a:t>Operator outlines 2 km² search polygon on offline tablet. UAV unboxes from rugged backpack and auto-launches.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143000"/>
            <a:ext cx="2084831" cy="73152"/>
          </a:xfrm>
          <a:prstGeom prst="round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31520" y="1371600"/>
            <a:ext cx="475488" cy="475488"/>
          </a:xfrm>
          <a:prstGeom prst="ellipse">
            <a:avLst/>
          </a:prstGeom>
          <a:solidFill>
            <a:srgbClr val="EA580C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30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98063" y="1143000"/>
            <a:ext cx="2084831" cy="5120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  <a:effectLst>
            <a:outerShdw blurRad="101600" dist="25400" dir="5400000" algn="t" rotWithShape="0">
              <a:srgbClr val="0F172A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82880" rIns="182880" tIns="868680"/>
          <a:lstStyle/>
          <a:p>
            <a:pPr algn="ctr"/>
            <a:r>
              <a:rPr b="1" sz="1100">
                <a:solidFill>
                  <a:srgbClr val="0F172A"/>
                </a:solidFill>
              </a:rPr>
              <a:t>2. BOUSTROPHEDON SWEEP
</a:t>
            </a:r>
          </a:p>
          <a:p>
            <a:r>
              <a:rPr b="1" sz="950">
                <a:solidFill>
                  <a:srgbClr val="0284C7"/>
                </a:solidFill>
              </a:rPr>
              <a:t>STM32U5 @ 250 Hz Loop
</a:t>
            </a:r>
          </a:p>
          <a:p>
            <a:r>
              <a:rPr sz="950">
                <a:solidFill>
                  <a:srgbClr val="475569"/>
                </a:solidFill>
              </a:rPr>
              <a:t>Autonomous lawnmower search trajectory at 25-30m AGL. 1D ToF laser altimeter maintains terrain contour following.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98063" y="1143000"/>
            <a:ext cx="2084831" cy="73152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980943" y="1371600"/>
            <a:ext cx="475488" cy="475488"/>
          </a:xfrm>
          <a:prstGeom prst="ellipse">
            <a:avLst/>
          </a:prstGeom>
          <a:solidFill>
            <a:srgbClr val="0284C7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30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47486" y="1143000"/>
            <a:ext cx="2084831" cy="5120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  <a:effectLst>
            <a:outerShdw blurRad="101600" dist="25400" dir="5400000" algn="t" rotWithShape="0">
              <a:srgbClr val="0F172A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82880" rIns="182880" tIns="868680"/>
          <a:lstStyle/>
          <a:p>
            <a:pPr algn="ctr"/>
            <a:r>
              <a:rPr b="1" sz="1100">
                <a:solidFill>
                  <a:srgbClr val="0F172A"/>
                </a:solidFill>
              </a:rPr>
              <a:t>3. 37°C THERMAL LOCK
</a:t>
            </a:r>
          </a:p>
          <a:p>
            <a:r>
              <a:rPr b="1" sz="950">
                <a:solidFill>
                  <a:srgbClr val="7C3AED"/>
                </a:solidFill>
              </a:rPr>
              <a:t>Qualcomm NPU (&lt; 5W)
</a:t>
            </a:r>
          </a:p>
          <a:p>
            <a:r>
              <a:rPr sz="950">
                <a:solidFill>
                  <a:srgbClr val="475569"/>
                </a:solidFill>
              </a:rPr>
              <a:t>Quantized INT8 YOLO model fuses daylight contours with radiometric 8-14μm body heat, spotting trapped survivors.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47486" y="1143000"/>
            <a:ext cx="2084831" cy="73152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230366" y="1371600"/>
            <a:ext cx="475488" cy="475488"/>
          </a:xfrm>
          <a:prstGeom prst="ellipse">
            <a:avLst/>
          </a:prstGeom>
          <a:solidFill>
            <a:srgbClr val="7C3AED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30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96909" y="1143000"/>
            <a:ext cx="2084831" cy="5120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  <a:effectLst>
            <a:outerShdw blurRad="101600" dist="25400" dir="5400000" algn="t" rotWithShape="0">
              <a:srgbClr val="0F172A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82880" rIns="182880" tIns="868680"/>
          <a:lstStyle/>
          <a:p>
            <a:pPr algn="ctr"/>
            <a:r>
              <a:rPr b="1" sz="1100">
                <a:solidFill>
                  <a:srgbClr val="0F172A"/>
                </a:solidFill>
              </a:rPr>
              <a:t>4. 17-BYTE LORA BURST
</a:t>
            </a:r>
          </a:p>
          <a:p>
            <a:r>
              <a:rPr b="1" sz="950">
                <a:solidFill>
                  <a:srgbClr val="0284C7"/>
                </a:solidFill>
              </a:rPr>
              <a:t>Souli et al. (Elsevier 2024)
</a:t>
            </a:r>
          </a:p>
          <a:p>
            <a:r>
              <a:rPr sz="950">
                <a:solidFill>
                  <a:srgbClr val="475569"/>
                </a:solidFill>
              </a:rPr>
              <a:t>Tait-Bryan ray-caster projects pixel to WGS-84 pin. Lat/Long/Temp compressed into 17-byte HMAC-SHA256 packet.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96909" y="1143000"/>
            <a:ext cx="2084831" cy="73152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479789" y="1371600"/>
            <a:ext cx="475488" cy="475488"/>
          </a:xfrm>
          <a:prstGeom prst="ellipse">
            <a:avLst/>
          </a:prstGeom>
          <a:solidFill>
            <a:srgbClr val="0284C7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30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546332" y="1143000"/>
            <a:ext cx="2084831" cy="5120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  <a:effectLst>
            <a:outerShdw blurRad="101600" dist="25400" dir="5400000" algn="t" rotWithShape="0">
              <a:srgbClr val="0F172A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82880" rIns="182880" tIns="868680"/>
          <a:lstStyle/>
          <a:p>
            <a:pPr algn="ctr"/>
            <a:r>
              <a:rPr b="1" sz="1100">
                <a:solidFill>
                  <a:srgbClr val="0F172A"/>
                </a:solidFill>
              </a:rPr>
              <a:t>5. SAFE ROUTE EXTRACTION
</a:t>
            </a:r>
          </a:p>
          <a:p>
            <a:r>
              <a:rPr b="1" sz="950">
                <a:solidFill>
                  <a:srgbClr val="0D9488"/>
                </a:solidFill>
              </a:rPr>
              <a:t>Hazard-Aware Dijkstra
</a:t>
            </a:r>
          </a:p>
          <a:p>
            <a:r>
              <a:rPr sz="950">
                <a:solidFill>
                  <a:srgbClr val="475569"/>
                </a:solidFill>
              </a:rPr>
              <a:t>Offline Ground Station instantly charts safe walking corridor bypassing 11kV wires directly to casualty.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546332" y="1143000"/>
            <a:ext cx="2084831" cy="73152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729212" y="1371600"/>
            <a:ext cx="475488" cy="475488"/>
          </a:xfrm>
          <a:prstGeom prst="ellipse">
            <a:avLst/>
          </a:prstGeom>
          <a:solidFill>
            <a:srgbClr val="0D9488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300">
                <a:solidFill>
                  <a:srgbClr val="FFFFFF"/>
                </a:solidFill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274320"/>
            <a:ext cx="169164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1E293B"/>
                </a:solidFill>
                <a:latin typeface="Calibri"/>
              </a:rPr>
              <a:t>PHOENIX X · SIH26177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77440" y="219456"/>
            <a:ext cx="694944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50" b="1">
                <a:solidFill>
                  <a:srgbClr val="EA580C"/>
                </a:solidFill>
                <a:latin typeface="Calibri"/>
              </a:rPr>
              <a:t>INCIDENT COMMAND &amp; GIS ROUTING · FIRST RESPONDER INTEGRATION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77440" y="438912"/>
            <a:ext cx="69494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700" b="1">
                <a:solidFill>
                  <a:srgbClr val="0F172A"/>
                </a:solidFill>
                <a:latin typeface="Calibri"/>
              </a:rPr>
              <a:t>From Airborne Detection to Boots-on-Ground Extraction in &lt; 5 Minutes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74320"/>
            <a:ext cx="2194560" cy="384048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0D9488"/>
                </a:solidFill>
                <a:latin typeface="Calibri"/>
              </a:rPr>
              <a:t>TACTICAL RESCUE GCS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051560"/>
            <a:ext cx="7132320" cy="5349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  <a:effectLst>
            <a:outerShdw blurRad="101600" dist="25400" dir="5400000" algn="t" rotWithShape="0">
              <a:srgbClr val="0F172A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tactical_gcs_safe_route_table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188720"/>
            <a:ext cx="6858000" cy="507492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909560" y="1051560"/>
            <a:ext cx="3730752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101600" dist="25400" dir="5400000" algn="t" rotWithShape="0">
              <a:srgbClr val="0F172A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01168" rIns="182880" tIns="128016"/>
          <a:lstStyle/>
          <a:p>
            <a:pPr algn="ctr"/>
            <a:r>
              <a:rPr b="1" sz="1100">
                <a:solidFill>
                  <a:srgbClr val="0F172A"/>
                </a:solidFill>
              </a:rPr>
              <a:t>1. 17-BYTE LORA PACKET INGESTION
</a:t>
            </a:r>
          </a:p>
          <a:p>
            <a:r>
              <a:rPr b="1" sz="850">
                <a:solidFill>
                  <a:srgbClr val="0284C7"/>
                </a:solidFill>
              </a:rPr>
              <a:t>Zero Cloud / Zero Internet Architecture
Air-Gapped Local Tactical Mesh (868 MHz)
</a:t>
            </a:r>
          </a:p>
          <a:p>
            <a:r>
              <a:rPr sz="950">
                <a:solidFill>
                  <a:srgbClr val="475569"/>
                </a:solidFill>
              </a:rPr>
              <a:t>Incoming telemetry packets unpack victim coordinates, biological body temperature (37.0°C), and triage status directly into the offline Leaflet GIS dashboard in milliseconds without commercial cellular service.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09560" y="1051560"/>
            <a:ext cx="73152" cy="1664208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909560" y="2889504"/>
            <a:ext cx="3730752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101600" dist="25400" dir="5400000" algn="t" rotWithShape="0">
              <a:srgbClr val="0F172A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01168" rIns="182880" tIns="128016"/>
          <a:lstStyle/>
          <a:p>
            <a:pPr algn="ctr"/>
            <a:r>
              <a:rPr b="1" sz="1100">
                <a:solidFill>
                  <a:srgbClr val="0F172A"/>
                </a:solidFill>
              </a:rPr>
              <a:t>2. HAZARD-AWARE DIJKSTRA ROUTING
</a:t>
            </a:r>
          </a:p>
          <a:p>
            <a:r>
              <a:rPr b="1" sz="850">
                <a:solidFill>
                  <a:srgbClr val="E11D48"/>
                </a:solidFill>
              </a:rPr>
              <a:t>Dynamic Obstacle &amp; Danger Buffers
Avoids: 11kV Severed Wires, Landslides, Fires
</a:t>
            </a:r>
          </a:p>
          <a:p>
            <a:r>
              <a:rPr sz="950">
                <a:solidFill>
                  <a:srgbClr val="475569"/>
                </a:solidFill>
              </a:rPr>
              <a:t>Rescuers walking blindly into disaster zones suffer secondary casualties. Phoenix X plots an automated, hazard-weighted pedestrian extraction path navigating safely around verified hazards.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09560" y="2889504"/>
            <a:ext cx="73152" cy="1664208"/>
          </a:xfrm>
          <a:prstGeom prst="round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909560" y="4727448"/>
            <a:ext cx="3730752" cy="16642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>
            <a:outerShdw blurRad="101600" dist="25400" dir="5400000" algn="t" rotWithShape="0">
              <a:srgbClr val="0F172A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201168" rIns="182880" tIns="128016"/>
          <a:lstStyle/>
          <a:p>
            <a:pPr algn="ctr"/>
            <a:r>
              <a:rPr b="1" sz="1100">
                <a:solidFill>
                  <a:srgbClr val="0F172A"/>
                </a:solidFill>
              </a:rPr>
              <a:t>3. 5-MINUTE TACTICAL CYCLE
</a:t>
            </a:r>
          </a:p>
          <a:p>
            <a:r>
              <a:rPr b="1" sz="850">
                <a:solidFill>
                  <a:srgbClr val="0D9488"/>
                </a:solidFill>
              </a:rPr>
              <a:t>Golden 72 Hours Response Compression
Instant Triage Priority for NDRF / SDRF
</a:t>
            </a:r>
          </a:p>
          <a:p>
            <a:r>
              <a:rPr sz="950">
                <a:solidFill>
                  <a:srgbClr val="475569"/>
                </a:solidFill>
              </a:rPr>
              <a:t>What traditionally takes hours of agonizing, dangerous foot searches across square kilometers of debris is compressed into a rapid sub-5-minute autonomous sortie from unboxing to casualty recovery.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09560" y="4727448"/>
            <a:ext cx="73152" cy="1664208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274320"/>
            <a:ext cx="1691640" cy="3840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1E293B"/>
                </a:solidFill>
                <a:latin typeface="Calibri"/>
              </a:rPr>
              <a:t>PHOENIX X · SIH26177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77440" y="219456"/>
            <a:ext cx="6949440" cy="219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50" b="1">
                <a:solidFill>
                  <a:srgbClr val="EA580C"/>
                </a:solidFill>
                <a:latin typeface="Calibri"/>
              </a:rPr>
              <a:t>TACTICAL PARADIGM SHIFT · FIRST RESPONDER RESILIENCE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77440" y="438912"/>
            <a:ext cx="6949440" cy="4114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700" b="1">
                <a:solidFill>
                  <a:srgbClr val="0F172A"/>
                </a:solidFill>
                <a:latin typeface="Calibri"/>
              </a:rPr>
              <a:t>Traditional Foot Search vs. Project Phoenix X Autonomous Triage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18320" y="274320"/>
            <a:ext cx="2194560" cy="384048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ED7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b="1">
                <a:solidFill>
                  <a:srgbClr val="EA580C"/>
                </a:solidFill>
                <a:latin typeface="Calibri"/>
              </a:rPr>
              <a:t>OPERATIONAL IMPACT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143000"/>
            <a:ext cx="5349240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FF1F2"/>
            </a:solidFill>
          </a:ln>
          <a:effectLst>
            <a:outerShdw blurRad="101600" dist="25400" dir="5400000" algn="t" rotWithShape="0">
              <a:srgbClr val="0F172A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320040" rIns="320040" tIns="274320"/>
          <a:lstStyle/>
          <a:p>
            <a:pPr algn="ctr"/>
            <a:r>
              <a:rPr b="1" sz="1300">
                <a:solidFill>
                  <a:srgbClr val="E11D48"/>
                </a:solidFill>
              </a:rPr>
              <a:t>TRADITIONAL DISASTER RECONNAISSANCE
</a:t>
            </a:r>
          </a:p>
          <a:p>
            <a:r>
              <a:rPr sz="1000">
                <a:solidFill>
                  <a:srgbClr val="64748B"/>
                </a:solidFill>
              </a:rPr>
              <a:t>Manual Foot Sweeps &amp; Standard Visual Cameras
</a:t>
            </a:r>
          </a:p>
          <a:p>
            <a:r>
              <a:rPr b="1" sz="1000">
                <a:solidFill>
                  <a:srgbClr val="0F172A"/>
                </a:solidFill>
              </a:rPr>
              <a:t>❌ Blind Foot Patrols:</a:t>
            </a:r>
            <a:r>
              <a:rPr sz="1000">
                <a:solidFill>
                  <a:srgbClr val="475569"/>
                </a:solidFill>
              </a:rPr>
              <a:t> Rescuers sweep unstable terrain on foot across square kilometers; takes 4 to 8 hours per sector.
</a:t>
            </a:r>
          </a:p>
          <a:p>
            <a:r>
              <a:rPr b="1" sz="1000">
                <a:solidFill>
                  <a:srgbClr val="0F172A"/>
                </a:solidFill>
              </a:rPr>
              <a:t>❌ Darkness &amp; Smoke Blockade:</a:t>
            </a:r>
            <a:r>
              <a:rPr sz="1000">
                <a:solidFill>
                  <a:srgbClr val="475569"/>
                </a:solidFill>
              </a:rPr>
              <a:t> Operations halt at sunset; dust and thick smoke plumes completely blind standard optical cameras.
</a:t>
            </a:r>
          </a:p>
          <a:p>
            <a:r>
              <a:rPr b="1" sz="1000">
                <a:solidFill>
                  <a:srgbClr val="0F172A"/>
                </a:solidFill>
              </a:rPr>
              <a:t>❌ Rescuer Secondary Casualties:</a:t>
            </a:r>
            <a:r>
              <a:rPr sz="1000">
                <a:solidFill>
                  <a:srgbClr val="475569"/>
                </a:solidFill>
              </a:rPr>
              <a:t> Crews step blindly into severed 11kV live powerlines, gas leaks, and secondary mudslide slip planes.
</a:t>
            </a:r>
          </a:p>
          <a:p>
            <a:r>
              <a:rPr b="1" sz="1000">
                <a:solidFill>
                  <a:srgbClr val="0F172A"/>
                </a:solidFill>
              </a:rPr>
              <a:t>❌ Cellular Infrastructure Collapse:</a:t>
            </a:r>
            <a:r>
              <a:rPr sz="1000">
                <a:solidFill>
                  <a:srgbClr val="475569"/>
                </a:solidFill>
              </a:rPr>
              <a:t> Drones relying on 4G/5G mobile towers or Wi-Fi stream fail instantly when towers collapse.
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143000"/>
            <a:ext cx="5349240" cy="73152"/>
          </a:xfrm>
          <a:prstGeom prst="round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91072" y="1143000"/>
            <a:ext cx="5349240" cy="5120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0FDFA"/>
            </a:solidFill>
          </a:ln>
          <a:effectLst>
            <a:outerShdw blurRad="101600" dist="25400" dir="5400000" algn="t" rotWithShape="0">
              <a:srgbClr val="0F172A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320040" rIns="320040" tIns="274320"/>
          <a:lstStyle/>
          <a:p>
            <a:pPr algn="ctr"/>
            <a:r>
              <a:rPr b="1" sz="1300">
                <a:solidFill>
                  <a:srgbClr val="0D9488"/>
                </a:solidFill>
              </a:rPr>
              <a:t>PROJECT PHOENIX X AUTONOMOUS TRIAGE
</a:t>
            </a:r>
          </a:p>
          <a:p>
            <a:r>
              <a:rPr sz="1000">
                <a:solidFill>
                  <a:srgbClr val="64748B"/>
                </a:solidFill>
              </a:rPr>
              <a:t>Dual-Brain Tactical Edge AI &amp; Long-Range Telemetry
</a:t>
            </a:r>
          </a:p>
          <a:p>
            <a:r>
              <a:rPr b="1" sz="1000">
                <a:solidFill>
                  <a:srgbClr val="0F172A"/>
                </a:solidFill>
              </a:rPr>
              <a:t>✓ Rapid Aerial Grid Sweep:</a:t>
            </a:r>
            <a:r>
              <a:rPr sz="1000">
                <a:solidFill>
                  <a:srgbClr val="475569"/>
                </a:solidFill>
              </a:rPr>
              <a:t> Covers 2.0 km² in &lt;15 minutes. Launches from backpack in under 3 minutes without infrastructure.
</a:t>
            </a:r>
          </a:p>
          <a:p>
            <a:r>
              <a:rPr b="1" sz="1000">
                <a:solidFill>
                  <a:srgbClr val="0F172A"/>
                </a:solidFill>
              </a:rPr>
              <a:t>✓ 24/7 Radiometric Thermal Lock:</a:t>
            </a:r>
            <a:r>
              <a:rPr sz="1000">
                <a:solidFill>
                  <a:srgbClr val="475569"/>
                </a:solidFill>
              </a:rPr>
              <a:t> Penetrates fog and darkness; locks living 37°C body heat through crevices using NETD &lt; 50 mK LWIR.
</a:t>
            </a:r>
          </a:p>
          <a:p>
            <a:r>
              <a:rPr b="1" sz="1000">
                <a:solidFill>
                  <a:srgbClr val="0F172A"/>
                </a:solidFill>
              </a:rPr>
              <a:t>✓ Automated Safe-Path Routing:</a:t>
            </a:r>
            <a:r>
              <a:rPr sz="1000">
                <a:solidFill>
                  <a:srgbClr val="475569"/>
                </a:solidFill>
              </a:rPr>
              <a:t> Hazard-aware Dijkstra pathfinding calculates pedestrian extraction route avoiding live 11kV lines.
</a:t>
            </a:r>
          </a:p>
          <a:p>
            <a:r>
              <a:rPr b="1" sz="1000">
                <a:solidFill>
                  <a:srgbClr val="0F172A"/>
                </a:solidFill>
              </a:rPr>
              <a:t>✓ 100% Offline 868 MHz LoRa Link:</a:t>
            </a:r>
            <a:r>
              <a:rPr sz="1000">
                <a:solidFill>
                  <a:srgbClr val="475569"/>
                </a:solidFill>
              </a:rPr>
              <a:t> Souli et al. (Elsevier 2024) 17-byte binary bit-packing beams coordinates across 3–5 km reliably.
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1143000"/>
            <a:ext cx="5349240" cy="73152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