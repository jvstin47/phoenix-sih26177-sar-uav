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4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 spc="150">
                <a:solidFill>
                  <a:srgbClr val="F08418"/>
                </a:solidFill>
                <a:latin typeface="Calibri"/>
              </a:rPr>
              <a:t>DRONE GRAPHIC VARIATIONS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953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en-US">
                <a:solidFill>
                  <a:srgbClr val="FFFFFF"/>
                </a:solidFill>
                <a:latin typeface="Calibri"/>
              </a:rPr>
              <a:t>Component Callout Assets for the Phoenix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en-US">
                <a:solidFill>
                  <a:srgbClr val="C9D6EA"/>
                </a:solidFill>
                <a:latin typeface="Calibri"/>
              </a:rPr>
              <a:t>Six ready-made graphics — two visual styles × three content sets. Copy whichever slide, or just the drone + a few callouts, into your own deck.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49240" cy="2103120"/>
          </a:xfrm>
          <a:prstGeom prst="roundRect">
            <a:avLst>
              <a:gd name="adj" fmla="val 6086"/>
            </a:avLst>
          </a:prstGeom>
          <a:solidFill>
            <a:srgbClr val="1E4A7E"/>
          </a:solidFill>
          <a:ln w="9525">
            <a:solidFill>
              <a:srgbClr val="2C5C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82296" cy="2103120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0545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 spc="50">
                <a:solidFill>
                  <a:srgbClr val="FFFFFF"/>
                </a:solidFill>
                <a:latin typeface="Calibri"/>
              </a:rPr>
              <a:t>STYLE A — SCHEMATIC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907792"/>
            <a:ext cx="4800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en-US">
                <a:solidFill>
                  <a:srgbClr val="C9D6EA"/>
                </a:solidFill>
                <a:latin typeface="Calibri"/>
              </a:rPr>
              <a:t>Fully native PowerPoint shapes (body, arms, motors, camera, antenna). Fully editable: recolor, resize, or rebuild the pose freely.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349240" cy="2103120"/>
          </a:xfrm>
          <a:prstGeom prst="roundRect">
            <a:avLst>
              <a:gd name="adj" fmla="val 6086"/>
            </a:avLst>
          </a:prstGeom>
          <a:solidFill>
            <a:srgbClr val="1E4A7E"/>
          </a:solidFill>
          <a:ln w="9525">
            <a:solidFill>
              <a:srgbClr val="2C5C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286000"/>
            <a:ext cx="82296" cy="21031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50545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 spc="50">
                <a:solidFill>
                  <a:srgbClr val="FFFFFF"/>
                </a:solidFill>
                <a:latin typeface="Calibri"/>
              </a:rPr>
              <a:t>STYLE B — 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907792"/>
            <a:ext cx="4800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lang="en-US">
                <a:solidFill>
                  <a:srgbClr val="C9D6EA"/>
                </a:solidFill>
                <a:latin typeface="Calibri"/>
              </a:rPr>
              <a:t>A bold flat drone glyph (from your team logo) with callouts around it. Faster to drop in; the drone itself is one image.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70831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F08418"/>
                </a:solidFill>
                <a:latin typeface="Calibri"/>
              </a:rPr>
              <a:t>SLIDES IN THIS PACK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663440"/>
            <a:ext cx="777240" cy="384048"/>
          </a:xfrm>
          <a:prstGeom prst="roundRect">
            <a:avLst>
              <a:gd name="adj" fmla="val 23809"/>
            </a:avLst>
          </a:prstGeom>
          <a:solidFill>
            <a:srgbClr val="2C5C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7772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en-US">
                <a:solidFill>
                  <a:srgbClr val="FFFFFF"/>
                </a:solidFill>
                <a:latin typeface="Calibri"/>
              </a:rPr>
              <a:t>1-2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66344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66344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en-US">
                <a:solidFill>
                  <a:srgbClr val="C9D6EA"/>
                </a:solidFill>
                <a:latin typeface="Calibri"/>
              </a:rPr>
              <a:t>Maps each callout to a real hardware module (camera, MCU, radio, motors).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30368"/>
            <a:ext cx="777240" cy="384048"/>
          </a:xfrm>
          <a:prstGeom prst="roundRect">
            <a:avLst>
              <a:gd name="adj" fmla="val 23809"/>
            </a:avLst>
          </a:prstGeom>
          <a:solidFill>
            <a:srgbClr val="2C5C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30368"/>
            <a:ext cx="7772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en-US">
                <a:solidFill>
                  <a:srgbClr val="FFFFFF"/>
                </a:solidFill>
                <a:latin typeface="Calibri"/>
              </a:rPr>
              <a:t>3-4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23036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FFFFFF"/>
                </a:solidFill>
                <a:latin typeface="Calibri"/>
              </a:rPr>
              <a:t>Feasibility &amp;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30368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en-US">
                <a:solidFill>
                  <a:srgbClr val="C9D6EA"/>
                </a:solidFill>
                <a:latin typeface="Calibri"/>
              </a:rPr>
              <a:t>Points to the specs that make the airframe legal and buildable.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797296"/>
            <a:ext cx="777240" cy="384048"/>
          </a:xfrm>
          <a:prstGeom prst="roundRect">
            <a:avLst>
              <a:gd name="adj" fmla="val 23809"/>
            </a:avLst>
          </a:prstGeom>
          <a:solidFill>
            <a:srgbClr val="2C5C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797296"/>
            <a:ext cx="7772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lang="en-US">
                <a:solidFill>
                  <a:srgbClr val="FFFFFF"/>
                </a:solidFill>
                <a:latin typeface="Calibri"/>
              </a:rPr>
              <a:t>5-6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79729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FFFFFF"/>
                </a:solidFill>
                <a:latin typeface="Calibri"/>
              </a:rPr>
              <a:t>Impact &amp; Benefits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797296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en-US">
                <a:solidFill>
                  <a:srgbClr val="C9D6EA"/>
                </a:solidFill>
                <a:latin typeface="Calibri"/>
              </a:rPr>
              <a:t>Points to what each part contributes to a rescue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B35A00"/>
                </a:solidFill>
                <a:latin typeface="Calibri"/>
              </a:rPr>
              <a:t>FOR THE TECHNICAL APPROACH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en-US">
                <a:solidFill>
                  <a:srgbClr val="14345C"/>
                </a:solidFill>
                <a:latin typeface="Calibri"/>
              </a:rPr>
              <a:t>Dual-Brain Hardware, Mapped to the Airframe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0445" y="310896"/>
            <a:ext cx="2044049" cy="292608"/>
          </a:xfrm>
          <a:prstGeom prst="roundRect">
            <a:avLst>
              <a:gd name="adj" fmla="val 50000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0445" y="310896"/>
            <a:ext cx="2044049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B35A00"/>
                </a:solidFill>
                <a:latin typeface="Calibri"/>
              </a:rPr>
              <a:t>STYLE A · SCHEMATIC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Drone graphic asset — copy the elements you want into your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5379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lang="en-US">
                <a:solidFill>
                  <a:srgbClr val="566074"/>
                </a:solidFill>
                <a:latin typeface="Calibri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1483156" y="2435888"/>
            <a:ext cx="1580084" cy="1358872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3063240" y="2435888"/>
            <a:ext cx="1580083" cy="1358872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1483156" y="3794760"/>
            <a:ext cx="1580084" cy="1358871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063240" y="3794760"/>
            <a:ext cx="1580083" cy="1358871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120322" y="2073054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07592" y="2260323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80489" y="2073054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67758" y="2260323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0322" y="4790797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07592" y="4978066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80489" y="4790797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67758" y="4978066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6155" y="3180283"/>
            <a:ext cx="1814169" cy="1228953"/>
          </a:xfrm>
          <a:prstGeom prst="roundRect">
            <a:avLst>
              <a:gd name="adj" fmla="val 15238"/>
            </a:avLst>
          </a:prstGeom>
          <a:solidFill>
            <a:srgbClr val="1F497D"/>
          </a:solidFill>
          <a:ln>
            <a:noFill/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82264" y="3487521"/>
            <a:ext cx="761951" cy="614476"/>
          </a:xfrm>
          <a:prstGeom prst="roundRect">
            <a:avLst>
              <a:gd name="adj" fmla="val 15238"/>
            </a:avLst>
          </a:prstGeom>
          <a:solidFill>
            <a:srgbClr val="1434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11083" y="2860755"/>
            <a:ext cx="304312" cy="304312"/>
          </a:xfrm>
          <a:prstGeom prst="ellipse">
            <a:avLst/>
          </a:prstGeom>
          <a:solidFill>
            <a:srgbClr val="14345C"/>
          </a:solidFill>
          <a:ln w="22225">
            <a:solidFill>
              <a:srgbClr val="D970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8032" y="2927703"/>
            <a:ext cx="170414" cy="17041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462357" y="3332439"/>
            <a:ext cx="491581" cy="585216"/>
          </a:xfrm>
          <a:prstGeom prst="line">
            <a:avLst/>
          </a:prstGeom>
          <a:ln w="28575">
            <a:solidFill>
              <a:srgbClr val="8494A8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3895417" y="3273917"/>
            <a:ext cx="117043" cy="117043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063240" y="1929384"/>
            <a:ext cx="3474720" cy="931371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28" name="Oval 27"/>
          <p:cNvSpPr/>
          <p:nvPr/>
        </p:nvSpPr>
        <p:spPr>
          <a:xfrm>
            <a:off x="3008376" y="2805891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953938" y="1929384"/>
            <a:ext cx="5574110" cy="1403055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0" name="Oval 29"/>
          <p:cNvSpPr/>
          <p:nvPr/>
        </p:nvSpPr>
        <p:spPr>
          <a:xfrm>
            <a:off x="3899074" y="3277575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2156155" y="3593592"/>
            <a:ext cx="4381805" cy="139720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2101291" y="3678448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3970324" y="3593592"/>
            <a:ext cx="5557724" cy="139720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3915460" y="3678448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063240" y="4409236"/>
            <a:ext cx="3474720" cy="848564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3008376" y="4354372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43323" y="2435888"/>
            <a:ext cx="4884725" cy="2821912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4588459" y="2381024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37960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84264" y="1316736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84264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4888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Dual 4K RGB + LWIR Thermal Camera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Co-registers frames for the edge YOLO detector.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28048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74352" y="1316736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74352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SX1262 LoRa Radio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8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17-byte packet burst over 5+ km, 868 MHz.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84264" y="2980944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84264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04888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STM32U5 Flight MCU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250 Hz deterministic stabilization loop, Zephyr RTOS.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28048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674352" y="2980944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74352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94976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QRB2210 Mission Computer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Runs INT8 YOLO edge AI and the optical-to-ground ray-caster.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84264" y="4645152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84264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04888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IMU + Barometer + LiDAR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State estimation, altitude hold, downward ranging.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28048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674352" y="4645152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74352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94976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Brushless Motors × 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10928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350 Hz PWM direct motor control.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B35A00"/>
                </a:solidFill>
                <a:latin typeface="Calibri"/>
              </a:rPr>
              <a:t>FOR THE TECHNICAL APPROACH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en-US">
                <a:solidFill>
                  <a:srgbClr val="14345C"/>
                </a:solidFill>
                <a:latin typeface="Calibri"/>
              </a:rPr>
              <a:t>Dual-Brain Hardware, Mapped to the Airframe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2100" y="310896"/>
            <a:ext cx="1602394" cy="292608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2100" y="310896"/>
            <a:ext cx="160239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0070C0"/>
                </a:solidFill>
                <a:latin typeface="Calibri"/>
              </a:rPr>
              <a:t>STYLE B · 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Drone graphic asset — copy the elements you want into your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5379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lang="en-US">
                <a:solidFill>
                  <a:srgbClr val="566074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Phoenix drone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51963"/>
            <a:ext cx="4206240" cy="208559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3063240" y="1929384"/>
            <a:ext cx="3474720" cy="822579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1" name="Oval 10"/>
          <p:cNvSpPr/>
          <p:nvPr/>
        </p:nvSpPr>
        <p:spPr>
          <a:xfrm>
            <a:off x="3008376" y="2697099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4325112" y="1929384"/>
            <a:ext cx="5202936" cy="989426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3" name="Oval 12"/>
          <p:cNvSpPr/>
          <p:nvPr/>
        </p:nvSpPr>
        <p:spPr>
          <a:xfrm>
            <a:off x="4270248" y="2863946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2137867" y="3593592"/>
            <a:ext cx="4400093" cy="30544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5" name="Oval 14"/>
          <p:cNvSpPr/>
          <p:nvPr/>
        </p:nvSpPr>
        <p:spPr>
          <a:xfrm>
            <a:off x="2083003" y="3844175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988612" y="3593592"/>
            <a:ext cx="5539436" cy="30544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7" name="Oval 16"/>
          <p:cNvSpPr/>
          <p:nvPr/>
        </p:nvSpPr>
        <p:spPr>
          <a:xfrm>
            <a:off x="3933748" y="3844175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063240" y="4754133"/>
            <a:ext cx="3474720" cy="50366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9" name="Oval 18"/>
          <p:cNvSpPr/>
          <p:nvPr/>
        </p:nvSpPr>
        <p:spPr>
          <a:xfrm>
            <a:off x="3008376" y="4699269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998110" y="2960522"/>
            <a:ext cx="4529938" cy="2297278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21" name="Oval 20"/>
          <p:cNvSpPr/>
          <p:nvPr/>
        </p:nvSpPr>
        <p:spPr>
          <a:xfrm>
            <a:off x="4943246" y="2905658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4264" y="1316736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Dual 4K RGB + LWIR Thermal Camera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Co-registers frames for the edge YOLO detector.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8048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74352" y="1316736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74352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94976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SX1262 LoRa Radio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17-byte packet burst over 5+ km, 868 MHz.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84264" y="2980944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84264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STM32U5 Flight MCU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250 Hz deterministic stabilization loop, Zephyr RTOS.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28048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74352" y="2980944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74352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94976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QRB2210 Mission Computer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0928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Runs INT8 YOLO edge AI and the optical-to-ground ray-caster.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7960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84264" y="4645152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84264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04888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IMU + Barometer + LiDAR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State estimation, altitude hold, downward ranging.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28048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674352" y="4645152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74352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94976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Brushless Motors ×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0928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350 Hz PWM direct motor control.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B35A00"/>
                </a:solidFill>
                <a:latin typeface="Calibri"/>
              </a:rPr>
              <a:t>FOR THE FEASIBILITY &amp; VIABILITY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en-US">
                <a:solidFill>
                  <a:srgbClr val="14345C"/>
                </a:solidFill>
                <a:latin typeface="Calibri"/>
              </a:rPr>
              <a:t>Why the Airframe Is Buildable and Legal to Fly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0445" y="310896"/>
            <a:ext cx="2044049" cy="292608"/>
          </a:xfrm>
          <a:prstGeom prst="roundRect">
            <a:avLst>
              <a:gd name="adj" fmla="val 50000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0445" y="310896"/>
            <a:ext cx="2044049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B35A00"/>
                </a:solidFill>
                <a:latin typeface="Calibri"/>
              </a:rPr>
              <a:t>STYLE A · SCHEMATIC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Drone graphic asset — copy the elements you want into your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5379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lang="en-US">
                <a:solidFill>
                  <a:srgbClr val="566074"/>
                </a:solidFill>
                <a:latin typeface="Calibri"/>
              </a:rPr>
              <a:t>4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1483156" y="2435888"/>
            <a:ext cx="1580084" cy="1358872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3063240" y="2435888"/>
            <a:ext cx="1580083" cy="1358872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1483156" y="3794760"/>
            <a:ext cx="1580084" cy="1358871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063240" y="3794760"/>
            <a:ext cx="1580083" cy="1358871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120322" y="2073054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07592" y="2260323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80489" y="2073054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67758" y="2260323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0322" y="4790797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07592" y="4978066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80489" y="4790797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67758" y="4978066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6155" y="3180283"/>
            <a:ext cx="1814169" cy="1228953"/>
          </a:xfrm>
          <a:prstGeom prst="roundRect">
            <a:avLst>
              <a:gd name="adj" fmla="val 15238"/>
            </a:avLst>
          </a:prstGeom>
          <a:solidFill>
            <a:srgbClr val="1F497D"/>
          </a:solidFill>
          <a:ln>
            <a:noFill/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82264" y="3487521"/>
            <a:ext cx="761951" cy="614476"/>
          </a:xfrm>
          <a:prstGeom prst="roundRect">
            <a:avLst>
              <a:gd name="adj" fmla="val 15238"/>
            </a:avLst>
          </a:prstGeom>
          <a:solidFill>
            <a:srgbClr val="1434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11083" y="2860755"/>
            <a:ext cx="304312" cy="304312"/>
          </a:xfrm>
          <a:prstGeom prst="ellipse">
            <a:avLst/>
          </a:prstGeom>
          <a:solidFill>
            <a:srgbClr val="14345C"/>
          </a:solidFill>
          <a:ln w="22225">
            <a:solidFill>
              <a:srgbClr val="D970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8032" y="2927703"/>
            <a:ext cx="170414" cy="17041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462357" y="3332439"/>
            <a:ext cx="491581" cy="585216"/>
          </a:xfrm>
          <a:prstGeom prst="line">
            <a:avLst/>
          </a:prstGeom>
          <a:ln w="28575">
            <a:solidFill>
              <a:srgbClr val="8494A8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3895417" y="3273917"/>
            <a:ext cx="117043" cy="117043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063240" y="1929384"/>
            <a:ext cx="3474720" cy="931371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28" name="Oval 27"/>
          <p:cNvSpPr/>
          <p:nvPr/>
        </p:nvSpPr>
        <p:spPr>
          <a:xfrm>
            <a:off x="3008376" y="2805891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953938" y="1929384"/>
            <a:ext cx="5574110" cy="1403055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0" name="Oval 29"/>
          <p:cNvSpPr/>
          <p:nvPr/>
        </p:nvSpPr>
        <p:spPr>
          <a:xfrm>
            <a:off x="3899074" y="3277575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2156155" y="3593592"/>
            <a:ext cx="4381805" cy="139720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2101291" y="3678448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3970324" y="3593592"/>
            <a:ext cx="5557724" cy="139720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3915460" y="3678448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063240" y="4409236"/>
            <a:ext cx="3474720" cy="848564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3008376" y="4354372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43323" y="2435888"/>
            <a:ext cx="4884725" cy="2821912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4588459" y="2381024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37960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84264" y="1316736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84264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4888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Compact Payload Bay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Houses the dual-camera and compute stack inside a 1.58 kg AUW.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28048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74352" y="1316736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74352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LoRa Long-Range Link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8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No cell towers required for field operation.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84264" y="2980944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84264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04888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Sub-5W Compute Budget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Qualcomm NPU preserves 90% of power for rotor propulsion.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28048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674352" y="2980944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74352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94976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β ≥ 2.0 Thrust-to-Weight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Meets the Bouabdallah sizing laws for stable hover.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84264" y="4645152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84264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04888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Quick-Swap 4S LiPo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Dual battery tray for continuous sortie coverage.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28048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674352" y="4645152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74352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94976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1.58 kg All-Up-Weight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10928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Comfortably under the DGCA 2.0 kg Micro category.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B35A00"/>
                </a:solidFill>
                <a:latin typeface="Calibri"/>
              </a:rPr>
              <a:t>FOR THE FEASIBILITY &amp; VIABILITY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en-US">
                <a:solidFill>
                  <a:srgbClr val="14345C"/>
                </a:solidFill>
                <a:latin typeface="Calibri"/>
              </a:rPr>
              <a:t>Why the Airframe Is Buildable and Legal to Fly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2100" y="310896"/>
            <a:ext cx="1602394" cy="292608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2100" y="310896"/>
            <a:ext cx="160239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0070C0"/>
                </a:solidFill>
                <a:latin typeface="Calibri"/>
              </a:rPr>
              <a:t>STYLE B · 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Drone graphic asset — copy the elements you want into your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5379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lang="en-US">
                <a:solidFill>
                  <a:srgbClr val="566074"/>
                </a:solidFill>
                <a:latin typeface="Calibri"/>
              </a:rPr>
              <a:t>5</a:t>
            </a:r>
          </a:p>
        </p:txBody>
      </p:sp>
      <p:pic>
        <p:nvPicPr>
          <p:cNvPr id="9" name="Picture 8" descr="Phoenix drone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51963"/>
            <a:ext cx="4206240" cy="208559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3063240" y="1929384"/>
            <a:ext cx="3474720" cy="822579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1" name="Oval 10"/>
          <p:cNvSpPr/>
          <p:nvPr/>
        </p:nvSpPr>
        <p:spPr>
          <a:xfrm>
            <a:off x="3008376" y="2697099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4325112" y="1929384"/>
            <a:ext cx="5202936" cy="989426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3" name="Oval 12"/>
          <p:cNvSpPr/>
          <p:nvPr/>
        </p:nvSpPr>
        <p:spPr>
          <a:xfrm>
            <a:off x="4270248" y="2863946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2137867" y="3593592"/>
            <a:ext cx="4400093" cy="30544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5" name="Oval 14"/>
          <p:cNvSpPr/>
          <p:nvPr/>
        </p:nvSpPr>
        <p:spPr>
          <a:xfrm>
            <a:off x="2083003" y="3844175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988612" y="3593592"/>
            <a:ext cx="5539436" cy="30544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7" name="Oval 16"/>
          <p:cNvSpPr/>
          <p:nvPr/>
        </p:nvSpPr>
        <p:spPr>
          <a:xfrm>
            <a:off x="3933748" y="3844175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063240" y="4754133"/>
            <a:ext cx="3474720" cy="50366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9" name="Oval 18"/>
          <p:cNvSpPr/>
          <p:nvPr/>
        </p:nvSpPr>
        <p:spPr>
          <a:xfrm>
            <a:off x="3008376" y="4699269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998110" y="2960522"/>
            <a:ext cx="4529938" cy="2297278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21" name="Oval 20"/>
          <p:cNvSpPr/>
          <p:nvPr/>
        </p:nvSpPr>
        <p:spPr>
          <a:xfrm>
            <a:off x="4943246" y="2905658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4264" y="1316736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Compact Payload Bay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Houses the dual-camera and compute stack inside a 1.58 kg AUW.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8048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74352" y="1316736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74352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94976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LoRa Long-Range Link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No cell towers required for field operation.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84264" y="2980944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84264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Sub-5W Compute Budget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Qualcomm NPU preserves 90% of power for rotor propulsion.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28048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74352" y="2980944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74352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94976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β ≥ 2.0 Thrust-to-Weight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0928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Meets the Bouabdallah sizing laws for stable hover.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7960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84264" y="4645152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84264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04888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Quick-Swap 4S LiPo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Dual battery tray for continuous sortie coverage.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28048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674352" y="4645152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74352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94976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1.58 kg All-Up-Weight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0928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Comfortably under the DGCA 2.0 kg Micro category.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B35A00"/>
                </a:solidFill>
                <a:latin typeface="Calibri"/>
              </a:rPr>
              <a:t>FOR THE IMPACT &amp; BENEFITS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en-US">
                <a:solidFill>
                  <a:srgbClr val="14345C"/>
                </a:solidFill>
                <a:latin typeface="Calibri"/>
              </a:rPr>
              <a:t>What Each Sortie Delivers in the 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0445" y="310896"/>
            <a:ext cx="2044049" cy="292608"/>
          </a:xfrm>
          <a:prstGeom prst="roundRect">
            <a:avLst>
              <a:gd name="adj" fmla="val 50000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0445" y="310896"/>
            <a:ext cx="2044049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B35A00"/>
                </a:solidFill>
                <a:latin typeface="Calibri"/>
              </a:rPr>
              <a:t>STYLE A · SCHEMATIC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Drone graphic asset — copy the elements you want into your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5379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lang="en-US">
                <a:solidFill>
                  <a:srgbClr val="566074"/>
                </a:solidFill>
                <a:latin typeface="Calibri"/>
              </a:rPr>
              <a:t>6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1483156" y="2435888"/>
            <a:ext cx="1580084" cy="1358872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3063240" y="2435888"/>
            <a:ext cx="1580083" cy="1358872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1483156" y="3794760"/>
            <a:ext cx="1580084" cy="1358871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063240" y="3794760"/>
            <a:ext cx="1580083" cy="1358871"/>
          </a:xfrm>
          <a:prstGeom prst="line">
            <a:avLst/>
          </a:prstGeom>
          <a:ln w="88900">
            <a:solidFill>
              <a:srgbClr val="8494A8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120322" y="2073054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07592" y="2260323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80489" y="2073054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67758" y="2260323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0322" y="4790797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07592" y="4978066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80489" y="4790797"/>
            <a:ext cx="725667" cy="725667"/>
          </a:xfrm>
          <a:prstGeom prst="ellipse">
            <a:avLst/>
          </a:prstGeom>
          <a:solidFill>
            <a:srgbClr val="8494A8">
              <a:alpha val="2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67758" y="4978066"/>
            <a:ext cx="351129" cy="351129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6155" y="3180283"/>
            <a:ext cx="1814169" cy="1228953"/>
          </a:xfrm>
          <a:prstGeom prst="roundRect">
            <a:avLst>
              <a:gd name="adj" fmla="val 15238"/>
            </a:avLst>
          </a:prstGeom>
          <a:solidFill>
            <a:srgbClr val="1F497D"/>
          </a:solidFill>
          <a:ln>
            <a:noFill/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82264" y="3487521"/>
            <a:ext cx="761951" cy="614476"/>
          </a:xfrm>
          <a:prstGeom prst="roundRect">
            <a:avLst>
              <a:gd name="adj" fmla="val 15238"/>
            </a:avLst>
          </a:prstGeom>
          <a:solidFill>
            <a:srgbClr val="1434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11083" y="2860755"/>
            <a:ext cx="304312" cy="304312"/>
          </a:xfrm>
          <a:prstGeom prst="ellipse">
            <a:avLst/>
          </a:prstGeom>
          <a:solidFill>
            <a:srgbClr val="14345C"/>
          </a:solidFill>
          <a:ln w="22225">
            <a:solidFill>
              <a:srgbClr val="D9700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8032" y="2927703"/>
            <a:ext cx="170414" cy="17041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462357" y="3332439"/>
            <a:ext cx="491581" cy="585216"/>
          </a:xfrm>
          <a:prstGeom prst="line">
            <a:avLst/>
          </a:prstGeom>
          <a:ln w="28575">
            <a:solidFill>
              <a:srgbClr val="8494A8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3895417" y="3273917"/>
            <a:ext cx="117043" cy="117043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063240" y="1929384"/>
            <a:ext cx="3474720" cy="931371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28" name="Oval 27"/>
          <p:cNvSpPr/>
          <p:nvPr/>
        </p:nvSpPr>
        <p:spPr>
          <a:xfrm>
            <a:off x="3008376" y="2805891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953938" y="1929384"/>
            <a:ext cx="5574110" cy="1403055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0" name="Oval 29"/>
          <p:cNvSpPr/>
          <p:nvPr/>
        </p:nvSpPr>
        <p:spPr>
          <a:xfrm>
            <a:off x="3899074" y="3277575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2156155" y="3593592"/>
            <a:ext cx="4381805" cy="139720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2101291" y="3678448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3970324" y="3593592"/>
            <a:ext cx="5557724" cy="139720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3915460" y="3678448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063240" y="4409236"/>
            <a:ext cx="3474720" cy="848564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3008376" y="4354372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43323" y="2435888"/>
            <a:ext cx="4884725" cy="2821912"/>
          </a:xfrm>
          <a:prstGeom prst="line">
            <a:avLst/>
          </a:prstGeom>
          <a:ln w="19050">
            <a:solidFill>
              <a:srgbClr val="D9700F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4588459" y="2381024"/>
            <a:ext cx="109728" cy="10972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37960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84264" y="1316736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84264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4888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Thermal Detection Cone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Spots living 37°C body heat through smoke, fog and darkness.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28048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74352" y="1316736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74352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Zero-Tower Telemetry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8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Streams the triage queue to a GCS tablet over 5+ km.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84264" y="2980944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84264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04888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Autonomous Grid Sweep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Covers a 2 km² search polygon in a Boustrophedon pattern.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28048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674352" y="2980944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74352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94976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Ray-Cast GPS Pin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Converts each detection into a Lat/Long survivor marker.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84264" y="4645152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84264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04888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Hazard-Free Routing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Ranks victims and charts a safe ground path via Dijkstra.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28048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FFFFF"/>
          </a:solidFill>
          <a:ln w="9525">
            <a:solidFill>
              <a:srgbClr val="D6E1EE"/>
            </a:solidFill>
          </a:ln>
          <a:effectLst>
            <a:outerShdw blurRad="101600" dist="254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674352" y="4645152"/>
            <a:ext cx="310896" cy="310896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74352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94976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&lt; 3-Minute Deployment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10928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Backpack to airborne search, with no infrastructure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20">
                <a:solidFill>
                  <a:srgbClr val="B35A00"/>
                </a:solidFill>
                <a:latin typeface="Calibri"/>
              </a:rPr>
              <a:t>FOR THE IMPACT &amp; BENEFITS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en-US">
                <a:solidFill>
                  <a:srgbClr val="14345C"/>
                </a:solidFill>
                <a:latin typeface="Calibri"/>
              </a:rPr>
              <a:t>What Each Sortie Delivers in the 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32100" y="310896"/>
            <a:ext cx="1602394" cy="292608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32100" y="310896"/>
            <a:ext cx="160239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0070C0"/>
                </a:solidFill>
                <a:latin typeface="Calibri"/>
              </a:rPr>
              <a:t>STYLE B · 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Drone graphic asset — copy the elements you want into your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5379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lang="en-US">
                <a:solidFill>
                  <a:srgbClr val="566074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Phoenix drone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51963"/>
            <a:ext cx="4206240" cy="208559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 flipV="1">
            <a:off x="3063240" y="1929384"/>
            <a:ext cx="3474720" cy="822579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1" name="Oval 10"/>
          <p:cNvSpPr/>
          <p:nvPr/>
        </p:nvSpPr>
        <p:spPr>
          <a:xfrm>
            <a:off x="3008376" y="2697099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4325112" y="1929384"/>
            <a:ext cx="5202936" cy="989426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3" name="Oval 12"/>
          <p:cNvSpPr/>
          <p:nvPr/>
        </p:nvSpPr>
        <p:spPr>
          <a:xfrm>
            <a:off x="4270248" y="2863946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2137867" y="3593592"/>
            <a:ext cx="4400093" cy="30544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5" name="Oval 14"/>
          <p:cNvSpPr/>
          <p:nvPr/>
        </p:nvSpPr>
        <p:spPr>
          <a:xfrm>
            <a:off x="2083003" y="3844175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988612" y="3593592"/>
            <a:ext cx="5539436" cy="30544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7" name="Oval 16"/>
          <p:cNvSpPr/>
          <p:nvPr/>
        </p:nvSpPr>
        <p:spPr>
          <a:xfrm>
            <a:off x="3933748" y="3844175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063240" y="4754133"/>
            <a:ext cx="3474720" cy="503667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19" name="Oval 18"/>
          <p:cNvSpPr/>
          <p:nvPr/>
        </p:nvSpPr>
        <p:spPr>
          <a:xfrm>
            <a:off x="3008376" y="4699269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998110" y="2960522"/>
            <a:ext cx="4529938" cy="2297278"/>
          </a:xfrm>
          <a:prstGeom prst="line">
            <a:avLst/>
          </a:prstGeom>
          <a:ln w="19050">
            <a:solidFill>
              <a:srgbClr val="1F497D"/>
            </a:solidFill>
            <a:prstDash val="dash"/>
          </a:ln>
        </p:spPr>
      </p:cxnSp>
      <p:sp>
        <p:nvSpPr>
          <p:cNvPr id="21" name="Oval 20"/>
          <p:cNvSpPr/>
          <p:nvPr/>
        </p:nvSpPr>
        <p:spPr>
          <a:xfrm>
            <a:off x="4943246" y="2905658"/>
            <a:ext cx="109728" cy="109728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84264" y="1316736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Thermal Detection Cone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Spots living 37°C body heat through smoke, fog and darkness.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28048" y="1170432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74352" y="1316736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74352" y="13167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94976" y="1298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Zero-Tower Telemetry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1737360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Streams the triage queue to a GCS tablet over 5+ km.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84264" y="2980944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84264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Autonomous Grid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Covers a 2 km² search polygon in a Boustrophedon pattern.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28048" y="2834640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74352" y="2980944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74352" y="29809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94976" y="2962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Ray-Cast GPS Pin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0928" y="3401568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Converts each detection into a Lat/Long survivor marker.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7960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84264" y="4645152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84264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04888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Hazard-Free Routing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Ranks victims and charts a safe ground path via Dijkstra.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28048" y="4498848"/>
            <a:ext cx="2788920" cy="1517904"/>
          </a:xfrm>
          <a:prstGeom prst="roundRect">
            <a:avLst>
              <a:gd name="adj" fmla="val 7228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674352" y="4645152"/>
            <a:ext cx="310896" cy="310896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74352" y="46451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94976" y="462686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4345C"/>
                </a:solidFill>
                <a:latin typeface="Calibri"/>
              </a:rPr>
              <a:t>&lt; 3-Minute Deployment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0928" y="5065776"/>
            <a:ext cx="2423160" cy="822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en-US">
                <a:solidFill>
                  <a:srgbClr val="1E2638"/>
                </a:solidFill>
                <a:latin typeface="Calibri"/>
              </a:rPr>
              <a:t>Backpack to airborne search, with no infrastructure needed.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