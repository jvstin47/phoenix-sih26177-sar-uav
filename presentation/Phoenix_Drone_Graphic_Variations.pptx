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100">
                <a:solidFill>
                  <a:srgbClr val="EA580C"/>
                </a:solidFill>
              </a:rPr>
              <a:t>PHOENIX X · HARDWARE PRESENTATION GRAPHIC MASTER PACK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500">
                <a:solidFill>
                  <a:srgbClr val="FFFFFF"/>
                </a:solidFill>
              </a:rPr>
              <a:t>Self-Explanatory Aerospace Infographics &amp; Drone Renders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E2E8F0"/>
                </a:solidFill>
              </a:rPr>
              <a:t>Comprehensive 3D product callouts, internal dual-brain flight decks, macro gimbal optics, and tactical field maps for SIH26177.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24688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/>
          <a:lstStyle/>
          <a:p>
            <a:pPr algn="ctr"/>
            <a:r>
              <a:rPr b="1" sz="950">
                <a:solidFill>
                  <a:srgbClr val="0284C7"/>
                </a:solidFill>
              </a:rPr>
              <a:t>SLIDE 2: AIRFRAME ARCHITECTURE
</a:t>
            </a:r>
          </a:p>
          <a:p>
            <a:r>
              <a:rPr b="1" sz="1150">
                <a:solidFill>
                  <a:srgbClr val="FFFFFF"/>
                </a:solidFill>
              </a:rPr>
              <a:t>3D Studio Product Callout
</a:t>
            </a:r>
          </a:p>
          <a:p>
            <a:r>
              <a:rPr sz="850">
                <a:solidFill>
                  <a:srgbClr val="E2E8F0"/>
                </a:solidFill>
              </a:rPr>
              <a:t>6 interactive beacon pins pointing to physical avionics and telemetry.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48840"/>
            <a:ext cx="2468880" cy="54864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2148840"/>
            <a:ext cx="24688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/>
          <a:lstStyle/>
          <a:p>
            <a:pPr algn="ctr"/>
            <a:r>
              <a:rPr b="1" sz="950">
                <a:solidFill>
                  <a:srgbClr val="0D9488"/>
                </a:solidFill>
              </a:rPr>
              <a:t>SLIDE 3: FEASIBILITY &amp; SIZING
</a:t>
            </a:r>
          </a:p>
          <a:p>
            <a:r>
              <a:rPr b="1" sz="1150">
                <a:solidFill>
                  <a:srgbClr val="FFFFFF"/>
                </a:solidFill>
              </a:rPr>
              <a:t>Buildability &amp; DGCA Compliance
</a:t>
            </a:r>
          </a:p>
          <a:p>
            <a:r>
              <a:rPr sz="850">
                <a:solidFill>
                  <a:srgbClr val="E2E8F0"/>
                </a:solidFill>
              </a:rPr>
              <a:t>DGCA 1.58 kg AUW, Bouabdallah β ≥ 2.0 sizing, sub-5W compute.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148840"/>
            <a:ext cx="2468880" cy="54864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0" y="2148840"/>
            <a:ext cx="24688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/>
          <a:lstStyle/>
          <a:p>
            <a:pPr algn="ctr"/>
            <a:r>
              <a:rPr b="1" sz="950">
                <a:solidFill>
                  <a:srgbClr val="7C3AED"/>
                </a:solidFill>
              </a:rPr>
              <a:t>SLIDE 4: DUAL-BRAIN FLIGHT DECK
</a:t>
            </a:r>
          </a:p>
          <a:p>
            <a:r>
              <a:rPr b="1" sz="1150">
                <a:solidFill>
                  <a:srgbClr val="FFFFFF"/>
                </a:solidFill>
              </a:rPr>
              <a:t>Arduino UNO Q Compute Core
</a:t>
            </a:r>
          </a:p>
          <a:p>
            <a:r>
              <a:rPr sz="850">
                <a:solidFill>
                  <a:srgbClr val="E2E8F0"/>
                </a:solidFill>
              </a:rPr>
              <a:t>Macro cutaway: Qualcomm QRB2210 Linux MPU + STM32U5 Zephyr RTOS.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148840"/>
            <a:ext cx="2468880" cy="54864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823960" y="2148840"/>
            <a:ext cx="24688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/>
          <a:lstStyle/>
          <a:p>
            <a:pPr algn="ctr"/>
            <a:r>
              <a:rPr b="1" sz="950">
                <a:solidFill>
                  <a:srgbClr val="EA580C"/>
                </a:solidFill>
              </a:rPr>
              <a:t>SLIDE 5: GIMBAL SENSOR MACRO
</a:t>
            </a:r>
          </a:p>
          <a:p>
            <a:r>
              <a:rPr b="1" sz="1150">
                <a:solidFill>
                  <a:srgbClr val="FFFFFF"/>
                </a:solidFill>
              </a:rPr>
              <a:t>Multi-Spectral Optics &amp; ToF
</a:t>
            </a:r>
          </a:p>
          <a:p>
            <a:r>
              <a:rPr sz="850">
                <a:solidFill>
                  <a:srgbClr val="E2E8F0"/>
                </a:solidFill>
              </a:rPr>
              <a:t>Macro gimbal: 1080p optical, 8-14μm thermal, and downward laser altimeter.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2148840"/>
            <a:ext cx="2468880" cy="54864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280160" y="4389120"/>
            <a:ext cx="24688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/>
          <a:lstStyle/>
          <a:p>
            <a:pPr algn="ctr"/>
            <a:r>
              <a:rPr b="1" sz="950">
                <a:solidFill>
                  <a:srgbClr val="EA580C"/>
                </a:solidFill>
              </a:rPr>
              <a:t>SLIDE 6: IN-FLIGHT DUAL BEAM
</a:t>
            </a:r>
          </a:p>
          <a:p>
            <a:r>
              <a:rPr b="1" sz="1150">
                <a:solidFill>
                  <a:srgbClr val="FFFFFF"/>
                </a:solidFill>
              </a:rPr>
              <a:t>Optical + Radiometric LWIR
</a:t>
            </a:r>
          </a:p>
          <a:p>
            <a:r>
              <a:rPr sz="850">
                <a:solidFill>
                  <a:srgbClr val="E2E8F0"/>
                </a:solidFill>
              </a:rPr>
              <a:t>Hero in-action render: Cyan optical + orange 37°C thermal lock.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4389120"/>
            <a:ext cx="2468880" cy="54864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977640" y="4389120"/>
            <a:ext cx="24688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/>
          <a:lstStyle/>
          <a:p>
            <a:pPr algn="ctr"/>
            <a:r>
              <a:rPr b="1" sz="950">
                <a:solidFill>
                  <a:srgbClr val="0D9488"/>
                </a:solidFill>
              </a:rPr>
              <a:t>SLIDE 7: FIRST RESPONDER GCS
</a:t>
            </a:r>
          </a:p>
          <a:p>
            <a:r>
              <a:rPr b="1" sz="1150">
                <a:solidFill>
                  <a:srgbClr val="FFFFFF"/>
                </a:solidFill>
              </a:rPr>
              <a:t>NDRF Tactical Tablet Field Action
</a:t>
            </a:r>
          </a:p>
          <a:p>
            <a:r>
              <a:rPr sz="850">
                <a:solidFill>
                  <a:srgbClr val="E2E8F0"/>
                </a:solidFill>
              </a:rPr>
              <a:t>Hazard-aware Dijkstra safe rescue route around 11kV wires.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40" y="4389120"/>
            <a:ext cx="2468880" cy="54864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75120" y="4389120"/>
            <a:ext cx="246888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/>
          <a:lstStyle/>
          <a:p>
            <a:pPr algn="ctr"/>
            <a:r>
              <a:rPr b="1" sz="950">
                <a:solidFill>
                  <a:srgbClr val="7C3AED"/>
                </a:solidFill>
              </a:rPr>
              <a:t>SLIDE 8: 5-MINUTE SORTIE PIPELINE
</a:t>
            </a:r>
          </a:p>
          <a:p>
            <a:r>
              <a:rPr b="1" sz="1150">
                <a:solidFill>
                  <a:srgbClr val="FFFFFF"/>
                </a:solidFill>
              </a:rPr>
              <a:t>Autonomous Mission Flow
</a:t>
            </a:r>
          </a:p>
          <a:p>
            <a:r>
              <a:rPr sz="850">
                <a:solidFill>
                  <a:srgbClr val="E2E8F0"/>
                </a:solidFill>
              </a:rPr>
              <a:t>Horizontal 5-step chevron from unboxing to safe route extraction.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4389120"/>
            <a:ext cx="2468880" cy="54864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9164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1E293B"/>
                </a:solidFill>
                <a:latin typeface="Calibri"/>
              </a:rPr>
              <a:t>PHOENIX X · SIH26177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19456"/>
            <a:ext cx="6949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EA580C"/>
                </a:solidFill>
                <a:latin typeface="Calibri"/>
              </a:rPr>
              <a:t>TECHNICAL APPROACH · DUAL-BRAIN AVIONICS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38912"/>
            <a:ext cx="69494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00" b="1">
                <a:solidFill>
                  <a:srgbClr val="0F172A"/>
                </a:solidFill>
                <a:latin typeface="Calibri"/>
              </a:rPr>
              <a:t>Hardware Subsystem Mapping on the Phoenix X Airframe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74320"/>
            <a:ext cx="2194560" cy="384048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284C7"/>
                </a:solidFill>
                <a:latin typeface="Calibri"/>
              </a:rPr>
              <a:t>AVIONICS &amp; PAYLOAD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943600" cy="5349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16152"/>
            <a:ext cx="1463040" cy="54864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2588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000">
                <a:solidFill>
                  <a:srgbClr val="0F172A"/>
                </a:solidFill>
              </a:rPr>
              <a:t>TACTICAL RECONNAISSANCE AIRFRAME </a:t>
            </a:r>
            <a:r>
              <a:rPr sz="1000">
                <a:solidFill>
                  <a:srgbClr val="64748B"/>
                </a:solidFill>
              </a:rPr>
              <a:t>· 3D PRODUCT SCHEMATIC</a:t>
            </a:r>
          </a:p>
        </p:txBody>
      </p:sp>
      <p:pic>
        <p:nvPicPr>
          <p:cNvPr id="10" name="Picture 9" descr="phoenix_tactical_drone_r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5486400" cy="306324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2529804" y="3695866"/>
            <a:ext cx="402336" cy="402336"/>
          </a:xfrm>
          <a:prstGeom prst="ellipse">
            <a:avLst/>
          </a:prstGeom>
          <a:solidFill>
            <a:srgbClr val="EA580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84668" y="3750730"/>
            <a:ext cx="292608" cy="292608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4284176" y="2140315"/>
            <a:ext cx="402336" cy="402336"/>
          </a:xfrm>
          <a:prstGeom prst="ellipse">
            <a:avLst/>
          </a:prstGeom>
          <a:solidFill>
            <a:srgbClr val="0284C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39040" y="2195179"/>
            <a:ext cx="292608" cy="29260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3127885" y="2898147"/>
            <a:ext cx="402336" cy="402336"/>
          </a:xfrm>
          <a:prstGeom prst="ellipse">
            <a:avLst/>
          </a:prstGeom>
          <a:solidFill>
            <a:srgbClr val="0D9488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82749" y="2953011"/>
            <a:ext cx="292608" cy="292608"/>
          </a:xfrm>
          <a:prstGeom prst="ellipse">
            <a:avLst/>
          </a:prstGeom>
          <a:solidFill>
            <a:srgbClr val="0D948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3686095" y="2539174"/>
            <a:ext cx="402336" cy="402336"/>
          </a:xfrm>
          <a:prstGeom prst="ellipse">
            <a:avLst/>
          </a:prstGeom>
          <a:solidFill>
            <a:srgbClr val="7C3AED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40959" y="2594038"/>
            <a:ext cx="292608" cy="292608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Oval 18"/>
          <p:cNvSpPr/>
          <p:nvPr/>
        </p:nvSpPr>
        <p:spPr>
          <a:xfrm>
            <a:off x="3526606" y="3416665"/>
            <a:ext cx="402336" cy="402336"/>
          </a:xfrm>
          <a:prstGeom prst="ellipse">
            <a:avLst/>
          </a:prstGeom>
          <a:solidFill>
            <a:srgbClr val="EA580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81470" y="3471529"/>
            <a:ext cx="292608" cy="292608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Oval 20"/>
          <p:cNvSpPr/>
          <p:nvPr/>
        </p:nvSpPr>
        <p:spPr>
          <a:xfrm>
            <a:off x="4124688" y="3735752"/>
            <a:ext cx="402336" cy="402336"/>
          </a:xfrm>
          <a:prstGeom prst="ellipse">
            <a:avLst/>
          </a:prstGeom>
          <a:solidFill>
            <a:srgbClr val="0284C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179552" y="3790616"/>
            <a:ext cx="292608" cy="29260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5029199"/>
            <a:ext cx="1737360" cy="1143000"/>
          </a:xfrm>
          <a:prstGeom prst="roundRect">
            <a:avLst/>
          </a:prstGeom>
          <a:solidFill>
            <a:srgbClr val="F0FD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AUW MASS BUDGET
</a:t>
            </a:r>
          </a:p>
          <a:p>
            <a:r>
              <a:rPr sz="1300" b="1">
                <a:solidFill>
                  <a:srgbClr val="0D9488"/>
                </a:solidFill>
              </a:rPr>
              <a:t>1.58 kg
</a:t>
            </a:r>
          </a:p>
          <a:p>
            <a:r>
              <a:rPr sz="850">
                <a:solidFill>
                  <a:srgbClr val="334155"/>
                </a:solidFill>
              </a:rPr>
              <a:t>DGCA Micro Category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15184" y="5029199"/>
            <a:ext cx="1737360" cy="1143000"/>
          </a:xfrm>
          <a:prstGeom prst="roundRect">
            <a:avLst/>
          </a:prstGeom>
          <a:solidFill>
            <a:srgbClr val="F5F3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DUAL-BRAIN CHIPS
</a:t>
            </a:r>
          </a:p>
          <a:p>
            <a:r>
              <a:rPr sz="1300" b="1">
                <a:solidFill>
                  <a:srgbClr val="7C3AED"/>
                </a:solidFill>
              </a:rPr>
              <a:t>QRB2210 + STM32
</a:t>
            </a:r>
          </a:p>
          <a:p>
            <a:r>
              <a:rPr sz="850">
                <a:solidFill>
                  <a:srgbClr val="334155"/>
                </a:solidFill>
              </a:rPr>
              <a:t>Linux NPU + Zephyr RTOS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5029199"/>
            <a:ext cx="1737360" cy="1143000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OFF-GRID TELEMETRY
</a:t>
            </a:r>
          </a:p>
          <a:p>
            <a:r>
              <a:rPr sz="1300" b="1">
                <a:solidFill>
                  <a:srgbClr val="0284C7"/>
                </a:solidFill>
              </a:rPr>
              <a:t>868 MHz LoRa
</a:t>
            </a:r>
          </a:p>
          <a:p>
            <a:r>
              <a:rPr sz="850">
                <a:solidFill>
                  <a:srgbClr val="334155"/>
                </a:solidFill>
              </a:rPr>
              <a:t>17-byte P2P (3–5 km)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10515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720840" y="1051560"/>
            <a:ext cx="73152" cy="16642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67144" y="117957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1192" y="11612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Dual-Spectral Vision Gimbal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67144" y="15544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1080p Optical + 8-14μm Radiometric LWIR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7144" y="18562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Fuses visual contours with thermal emissivity (37.0°C biological lock). Rejects solar heat false positives.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0" y="10515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326880" y="10515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73184" y="1179576"/>
            <a:ext cx="310896" cy="310896"/>
          </a:xfrm>
          <a:prstGeom prst="ellipse">
            <a:avLst/>
          </a:prstGeom>
          <a:solidFill>
            <a:srgbClr val="0284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232" y="11612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SX1262 LoRa RF Telemetry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73184" y="15544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868 MHz P2P Sub-GHz Link · +22 dBm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73184" y="18562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Transmits Souli et al. (Elsevier 2024) 17-byte encrypted binary packets over 3–5 km without cellular towers.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20840" y="28803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720840" y="2880360"/>
            <a:ext cx="73152" cy="166420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67144" y="3008376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1192" y="29900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STM32U585 Flight Core (MCU)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67144" y="33832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Zephyr RTOS @ 250 Hz Loop · 350 Hz PWM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67144" y="36850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Deterministic 4ms PID motor loop. Completely isolated from AI workload to guarantee zero flight jitter.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26880" y="28803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326880" y="2880360"/>
            <a:ext cx="73152" cy="16642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473184" y="3008376"/>
            <a:ext cx="310896" cy="3108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57232" y="29900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Qualcomm QRB2210 Mission MPU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73184" y="33832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Quad-Core Linux + Hexagon NPU (&lt; 5W)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73184" y="36850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Runs INT8-quantized YOLO object detection and 6-DOF Tait-Bryan ray-casting geodetics in under 60 ms.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720840" y="47091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20840" y="4709160"/>
            <a:ext cx="73152" cy="16642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67144" y="483717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51192" y="48188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1D ToF Laser + 3S Power Tray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67144" y="52120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VL53L1X Laser Ranging + 4500mAh LiPo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67144" y="55138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Measures true AGL ground clearance for terrain-following and ray-casting. Quick-swap battery rail.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7091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326880" y="47091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473184" y="4837176"/>
            <a:ext cx="310896" cy="310896"/>
          </a:xfrm>
          <a:prstGeom prst="ellipse">
            <a:avLst/>
          </a:prstGeom>
          <a:solidFill>
            <a:srgbClr val="0284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57232" y="48188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Propulsion &amp; Power Dynamics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473184" y="52120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4× 2212/2216 BLDC + 1045 Carbon Props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73184" y="55138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Delivers 2.4 kg peak thrust. Adheres to Bouabdallah sizing laws for stable hover in gusty disaster winds.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9164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1E293B"/>
                </a:solidFill>
                <a:latin typeface="Calibri"/>
              </a:rPr>
              <a:t>PHOENIX X · SIH26177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19456"/>
            <a:ext cx="6949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EA580C"/>
                </a:solidFill>
                <a:latin typeface="Calibri"/>
              </a:rPr>
              <a:t>FEASIBILITY &amp; VIABILITY · COMPLIANCE &amp; SIZING LAWS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38912"/>
            <a:ext cx="69494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00" b="1">
                <a:solidFill>
                  <a:srgbClr val="0F172A"/>
                </a:solidFill>
                <a:latin typeface="Calibri"/>
              </a:rPr>
              <a:t>Why the Airframe Is Structurally Sized, Legal &amp; Scalable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74320"/>
            <a:ext cx="2194560" cy="384048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D9488"/>
                </a:solidFill>
                <a:latin typeface="Calibri"/>
              </a:rPr>
              <a:t>DGCA MICRO-DRONE CLASS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943600" cy="5349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16152"/>
            <a:ext cx="1463040" cy="54864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2588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000">
                <a:solidFill>
                  <a:srgbClr val="0F172A"/>
                </a:solidFill>
              </a:rPr>
              <a:t>AIRFRAME SIZING SPECIFICATION </a:t>
            </a:r>
            <a:r>
              <a:rPr sz="1000">
                <a:solidFill>
                  <a:srgbClr val="64748B"/>
                </a:solidFill>
              </a:rPr>
              <a:t>· STATUTORY COMPLIANCE</a:t>
            </a:r>
          </a:p>
        </p:txBody>
      </p:sp>
      <p:pic>
        <p:nvPicPr>
          <p:cNvPr id="10" name="Picture 9" descr="phoenix_tactical_drone_r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5486400" cy="306324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2529804" y="3695866"/>
            <a:ext cx="402336" cy="402336"/>
          </a:xfrm>
          <a:prstGeom prst="ellipse">
            <a:avLst/>
          </a:prstGeom>
          <a:solidFill>
            <a:srgbClr val="EA580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84668" y="3750730"/>
            <a:ext cx="292608" cy="292608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4284176" y="2140315"/>
            <a:ext cx="402336" cy="402336"/>
          </a:xfrm>
          <a:prstGeom prst="ellipse">
            <a:avLst/>
          </a:prstGeom>
          <a:solidFill>
            <a:srgbClr val="0284C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39040" y="2195179"/>
            <a:ext cx="292608" cy="29260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3127885" y="2898147"/>
            <a:ext cx="402336" cy="402336"/>
          </a:xfrm>
          <a:prstGeom prst="ellipse">
            <a:avLst/>
          </a:prstGeom>
          <a:solidFill>
            <a:srgbClr val="0D9488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82749" y="2953011"/>
            <a:ext cx="292608" cy="292608"/>
          </a:xfrm>
          <a:prstGeom prst="ellipse">
            <a:avLst/>
          </a:prstGeom>
          <a:solidFill>
            <a:srgbClr val="0D948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3686095" y="2539174"/>
            <a:ext cx="402336" cy="402336"/>
          </a:xfrm>
          <a:prstGeom prst="ellipse">
            <a:avLst/>
          </a:prstGeom>
          <a:solidFill>
            <a:srgbClr val="7C3AED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40959" y="2594038"/>
            <a:ext cx="292608" cy="292608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Oval 18"/>
          <p:cNvSpPr/>
          <p:nvPr/>
        </p:nvSpPr>
        <p:spPr>
          <a:xfrm>
            <a:off x="3526606" y="3416665"/>
            <a:ext cx="402336" cy="402336"/>
          </a:xfrm>
          <a:prstGeom prst="ellipse">
            <a:avLst/>
          </a:prstGeom>
          <a:solidFill>
            <a:srgbClr val="EA580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81470" y="3471529"/>
            <a:ext cx="292608" cy="292608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Oval 20"/>
          <p:cNvSpPr/>
          <p:nvPr/>
        </p:nvSpPr>
        <p:spPr>
          <a:xfrm>
            <a:off x="4124688" y="3735752"/>
            <a:ext cx="402336" cy="402336"/>
          </a:xfrm>
          <a:prstGeom prst="ellipse">
            <a:avLst/>
          </a:prstGeom>
          <a:solidFill>
            <a:srgbClr val="0284C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179552" y="3790616"/>
            <a:ext cx="292608" cy="29260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5029199"/>
            <a:ext cx="1737360" cy="1143000"/>
          </a:xfrm>
          <a:prstGeom prst="roundRect">
            <a:avLst/>
          </a:prstGeom>
          <a:solidFill>
            <a:srgbClr val="F0FD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TOTAL AIRFRAME WEIGHT
</a:t>
            </a:r>
          </a:p>
          <a:p>
            <a:r>
              <a:rPr sz="1300" b="1">
                <a:solidFill>
                  <a:srgbClr val="0D9488"/>
                </a:solidFill>
              </a:rPr>
              <a:t>1.58 kg
</a:t>
            </a:r>
          </a:p>
          <a:p>
            <a:r>
              <a:rPr sz="850">
                <a:solidFill>
                  <a:srgbClr val="334155"/>
                </a:solidFill>
              </a:rPr>
              <a:t>Bouabdallah 38% Battery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15184" y="5029199"/>
            <a:ext cx="1737360" cy="1143000"/>
          </a:xfrm>
          <a:prstGeom prst="roundRect">
            <a:avLst/>
          </a:prstGeom>
          <a:solidFill>
            <a:srgbClr val="F5F3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POWER ALLOCATION
</a:t>
            </a:r>
          </a:p>
          <a:p>
            <a:r>
              <a:rPr sz="1300" b="1">
                <a:solidFill>
                  <a:srgbClr val="7C3AED"/>
                </a:solidFill>
              </a:rPr>
              <a:t>&lt; 5W AI Compute
</a:t>
            </a:r>
          </a:p>
          <a:p>
            <a:r>
              <a:rPr sz="850">
                <a:solidFill>
                  <a:srgbClr val="334155"/>
                </a:solidFill>
              </a:rPr>
              <a:t>90% Preserved for Lift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5029199"/>
            <a:ext cx="1737360" cy="1143000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PRODUCTION COST
</a:t>
            </a:r>
          </a:p>
          <a:p>
            <a:r>
              <a:rPr sz="1300" b="1">
                <a:solidFill>
                  <a:srgbClr val="0284C7"/>
                </a:solidFill>
              </a:rPr>
              <a:t>₹1.2 Lakh
</a:t>
            </a:r>
          </a:p>
          <a:p>
            <a:r>
              <a:rPr sz="850">
                <a:solidFill>
                  <a:srgbClr val="334155"/>
                </a:solidFill>
              </a:rPr>
              <a:t>1/10th DJI Matrice 30T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10515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720840" y="1051560"/>
            <a:ext cx="73152" cy="16642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67144" y="117957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1192" y="11612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Modular Quick-Release Gimbal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67144" y="15544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Vibration-Damped Payload Bay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7144" y="18562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Houses dual sensors inside strict weight limits. Silicone dampers eliminate high-frequency motor vibration.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0" y="10515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326880" y="10515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73184" y="1179576"/>
            <a:ext cx="310896" cy="310896"/>
          </a:xfrm>
          <a:prstGeom prst="ellipse">
            <a:avLst/>
          </a:prstGeom>
          <a:solidFill>
            <a:srgbClr val="0284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232" y="11612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Indian WPC De-Licensed Band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73184" y="15544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865–867 MHz Compliant (GSR 564(E))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73184" y="18562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100% legal for disaster operations in India. Bypasses jammed 433 MHz and severed 4G/5G mobile towers.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20840" y="28803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720840" y="2880360"/>
            <a:ext cx="73152" cy="166420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67144" y="3008376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1192" y="29900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Sub-5W Ultra-Low Power Draw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67144" y="33832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Qualcomm Dragonwing Energy Budget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67144" y="36850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Preserves &gt;90% of total electrical power for rotor lift, achieving 28–32 minutes search sortie endurance.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26880" y="28803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326880" y="2880360"/>
            <a:ext cx="73152" cy="16642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473184" y="3008376"/>
            <a:ext cx="310896" cy="3108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57232" y="29900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Bouabdallah Dynamic Stability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73184" y="33832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Thrust-to-Weight Ratio β ≥ 1.65 – 2.0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73184" y="36850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Sized via EPFL thesis laws. Anti-windup integrator clamping prevents motor saturation during heavy wind gusts.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720840" y="47091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20840" y="4709160"/>
            <a:ext cx="73152" cy="16642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67144" y="483717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51192" y="48188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All-Up-Weight: 1.58 kg Total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67144" y="52120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Safely under DGCA 2.0 kg Micro Limit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67144" y="55138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Requires no complex enterprise flight licensing for disaster response drills. Deploys from backpack in &lt;3 minutes.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7091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326880" y="47091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473184" y="4837176"/>
            <a:ext cx="310896" cy="310896"/>
          </a:xfrm>
          <a:prstGeom prst="ellipse">
            <a:avLst/>
          </a:prstGeom>
          <a:solidFill>
            <a:srgbClr val="0284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57232" y="48188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Disruptive Unit Economics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473184" y="52120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₹35.8k Prototype ➔ ₹1.2L Production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73184" y="55138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Delivers tactical thermal SAR at 1/10th the cost of commercial enterprise imports (₹14 Lakh DJI Matrice 30T).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9164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1E293B"/>
                </a:solidFill>
                <a:latin typeface="Calibri"/>
              </a:rPr>
              <a:t>PHOENIX X · SIH26177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19456"/>
            <a:ext cx="6949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EA580C"/>
                </a:solidFill>
                <a:latin typeface="Calibri"/>
              </a:rPr>
              <a:t>PHYSICAL AI HARDWARE STACK · ARDUINO UNO Q PARTITION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38912"/>
            <a:ext cx="69494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00" b="1">
                <a:solidFill>
                  <a:srgbClr val="0F172A"/>
                </a:solidFill>
                <a:latin typeface="Calibri"/>
              </a:rPr>
              <a:t>Dual-Brain Real-Time Flight Stabilization &amp; Edge-AI Compute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74320"/>
            <a:ext cx="2194560" cy="38404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7C3AED"/>
                </a:solidFill>
                <a:latin typeface="Calibri"/>
              </a:rPr>
              <a:t>QUALCOMM DRAGONWING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943600" cy="5349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16152"/>
            <a:ext cx="1463040" cy="54864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2588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000">
                <a:solidFill>
                  <a:srgbClr val="0F172A"/>
                </a:solidFill>
              </a:rPr>
              <a:t>DUAL-BRAIN FLIGHT CONTROLLER </a:t>
            </a:r>
            <a:r>
              <a:rPr sz="1000">
                <a:solidFill>
                  <a:srgbClr val="64748B"/>
                </a:solidFill>
              </a:rPr>
              <a:t>· ARDUINO UNO Q ARCHITECTURE</a:t>
            </a:r>
          </a:p>
        </p:txBody>
      </p:sp>
      <p:pic>
        <p:nvPicPr>
          <p:cNvPr id="10" name="Picture 9" descr="uno_q_quadcopter_d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5486400" cy="306324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3127248" y="2617287"/>
            <a:ext cx="402336" cy="402336"/>
          </a:xfrm>
          <a:prstGeom prst="ellipse">
            <a:avLst/>
          </a:prstGeom>
          <a:solidFill>
            <a:srgbClr val="7C3AED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182112" y="2672151"/>
            <a:ext cx="292608" cy="292608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3566160" y="3098215"/>
            <a:ext cx="402336" cy="402336"/>
          </a:xfrm>
          <a:prstGeom prst="ellipse">
            <a:avLst/>
          </a:prstGeom>
          <a:solidFill>
            <a:srgbClr val="0D9488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21024" y="3153079"/>
            <a:ext cx="292608" cy="292608"/>
          </a:xfrm>
          <a:prstGeom prst="ellipse">
            <a:avLst/>
          </a:prstGeom>
          <a:solidFill>
            <a:srgbClr val="0D948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3363163" y="2899105"/>
            <a:ext cx="402336" cy="402336"/>
          </a:xfrm>
          <a:prstGeom prst="ellipse">
            <a:avLst/>
          </a:prstGeom>
          <a:solidFill>
            <a:srgbClr val="EA580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18027" y="2953969"/>
            <a:ext cx="292608" cy="292608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4125772" y="3536259"/>
            <a:ext cx="402336" cy="402336"/>
          </a:xfrm>
          <a:prstGeom prst="ellipse">
            <a:avLst/>
          </a:prstGeom>
          <a:solidFill>
            <a:srgbClr val="0284C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80636" y="3591123"/>
            <a:ext cx="292608" cy="29260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Oval 18"/>
          <p:cNvSpPr/>
          <p:nvPr/>
        </p:nvSpPr>
        <p:spPr>
          <a:xfrm>
            <a:off x="1651406" y="2258888"/>
            <a:ext cx="402336" cy="402336"/>
          </a:xfrm>
          <a:prstGeom prst="ellipse">
            <a:avLst/>
          </a:prstGeom>
          <a:solidFill>
            <a:srgbClr val="EA580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06270" y="2313752"/>
            <a:ext cx="292608" cy="292608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Oval 20"/>
          <p:cNvSpPr/>
          <p:nvPr/>
        </p:nvSpPr>
        <p:spPr>
          <a:xfrm>
            <a:off x="2249424" y="2975686"/>
            <a:ext cx="402336" cy="402336"/>
          </a:xfrm>
          <a:prstGeom prst="ellipse">
            <a:avLst/>
          </a:prstGeom>
          <a:solidFill>
            <a:srgbClr val="0284C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304288" y="3030550"/>
            <a:ext cx="292608" cy="29260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5029199"/>
            <a:ext cx="1737360" cy="1143000"/>
          </a:xfrm>
          <a:prstGeom prst="roundRect">
            <a:avLst/>
          </a:prstGeom>
          <a:solidFill>
            <a:srgbClr val="F5F3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NPU INFERENCE RATE
</a:t>
            </a:r>
          </a:p>
          <a:p>
            <a:r>
              <a:rPr sz="1300" b="1">
                <a:solidFill>
                  <a:srgbClr val="7C3AED"/>
                </a:solidFill>
              </a:rPr>
              <a:t>12–15 FPS
</a:t>
            </a:r>
          </a:p>
          <a:p>
            <a:r>
              <a:rPr sz="850">
                <a:solidFill>
                  <a:srgbClr val="334155"/>
                </a:solidFill>
              </a:rPr>
              <a:t>INT8 YOLOv8 Quantized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15184" y="5029199"/>
            <a:ext cx="1737360" cy="1143000"/>
          </a:xfrm>
          <a:prstGeom prst="roundRect">
            <a:avLst/>
          </a:prstGeom>
          <a:solidFill>
            <a:srgbClr val="F0FD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FLIGHT LOOP PERIOD
</a:t>
            </a:r>
          </a:p>
          <a:p>
            <a:r>
              <a:rPr sz="1300" b="1">
                <a:solidFill>
                  <a:srgbClr val="0D9488"/>
                </a:solidFill>
              </a:rPr>
              <a:t>4.0 ms (250 Hz)
</a:t>
            </a:r>
          </a:p>
          <a:p>
            <a:r>
              <a:rPr sz="850">
                <a:solidFill>
                  <a:srgbClr val="334155"/>
                </a:solidFill>
              </a:rPr>
              <a:t>Deterministic Zephyr Loop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5029199"/>
            <a:ext cx="1737360" cy="1143000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MEMORY FOOTPRINT
</a:t>
            </a:r>
          </a:p>
          <a:p>
            <a:r>
              <a:rPr sz="1300" b="1">
                <a:solidFill>
                  <a:srgbClr val="0284C7"/>
                </a:solidFill>
              </a:rPr>
              <a:t>620 MB / 2 GB
</a:t>
            </a:r>
          </a:p>
          <a:p>
            <a:r>
              <a:rPr sz="850">
                <a:solidFill>
                  <a:srgbClr val="334155"/>
                </a:solidFill>
              </a:rPr>
              <a:t>70% Free Safety Headroom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10515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720840" y="1051560"/>
            <a:ext cx="73152" cy="16642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67144" y="1179576"/>
            <a:ext cx="310896" cy="3108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1192" y="11612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Qualcomm QRB2210 Linux MPU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67144" y="15544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Quad-Core 64-Bit Arm + Hexagon NPU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7144" y="18562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Executes INT8-quantized YOLOv8 object detection on camera stream within a strict 5W envelope. Runs ray-casting geodetics.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0" y="10515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326880" y="1051560"/>
            <a:ext cx="73152" cy="166420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73184" y="1179576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232" y="11612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STMicroelectronics STM32U585 MCU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73184" y="15544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Zephyr RTOS @ 250 Hz Loop · 786 KB SRAM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73184" y="18562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Executes deterministic 4ms PID attitude control. Directly pulses motor ESCs without touching the AI vision pipeline.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20840" y="28803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720840" y="2880360"/>
            <a:ext cx="73152" cy="16642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67144" y="300837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1192" y="29900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Non-Blocking RPC Inter-Core Bridge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67144" y="33832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Asynchronous bridge.notify() Calls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67144" y="36850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Shared-memory messaging separates flight dynamics from Linux OS jitter. If Linux restarts, drone never crashes.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26880" y="28803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326880" y="28803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473184" y="3008376"/>
            <a:ext cx="310896" cy="310896"/>
          </a:xfrm>
          <a:prstGeom prst="ellipse">
            <a:avLst/>
          </a:prstGeom>
          <a:solidFill>
            <a:srgbClr val="0284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57232" y="29900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Semtech SX1262 LoRa Node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73184" y="33832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868 MHz Sub-GHz SPI · +22 dBm PA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73184" y="36850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Punches encrypted 17-byte victim coordinates through concrete debris over 3–5 km to portable ground station.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720840" y="47091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20840" y="4709160"/>
            <a:ext cx="73152" cy="16642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67144" y="483717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51192" y="48188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Patched 350 Hz Hardware PWM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67144" y="52120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Direct Brushless ESC Synchronization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67144" y="55138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Custom Zephyr kernel patch modifies timer period down to 2.5ms (400 Hz) for lag-free motor response.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7091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326880" y="47091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473184" y="4837176"/>
            <a:ext cx="310896" cy="310896"/>
          </a:xfrm>
          <a:prstGeom prst="ellipse">
            <a:avLst/>
          </a:prstGeom>
          <a:solidFill>
            <a:srgbClr val="0284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57232" y="48188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Silicone Vibration Dampers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473184" y="52120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IMU Harmonic Mechanical Isolation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73184" y="55138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Four corner silicone dampening balls isolate the onboard MPU6050 gyroscope from high-RPM motor flutter.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9164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1E293B"/>
                </a:solidFill>
                <a:latin typeface="Calibri"/>
              </a:rPr>
              <a:t>PHOENIX X · SIH26177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19456"/>
            <a:ext cx="6949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EA580C"/>
                </a:solidFill>
                <a:latin typeface="Calibri"/>
              </a:rPr>
              <a:t>MULTI-SPECTRAL OPTICS &amp; GEOLOCATION · SENSOR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38912"/>
            <a:ext cx="69494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00" b="1">
                <a:solidFill>
                  <a:srgbClr val="0F172A"/>
                </a:solidFill>
                <a:latin typeface="Calibri"/>
              </a:rPr>
              <a:t>Dual-Spectral Optical/Thermal Gimbal &amp; Downward Laser Ray-Caster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74320"/>
            <a:ext cx="2194560" cy="38404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EA580C"/>
                </a:solidFill>
                <a:latin typeface="Calibri"/>
              </a:rPr>
              <a:t>RADIOMETRIC GIMBAL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943600" cy="5349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216152"/>
            <a:ext cx="1463040" cy="54864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25880"/>
            <a:ext cx="4114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000">
                <a:solidFill>
                  <a:srgbClr val="0F172A"/>
                </a:solidFill>
              </a:rPr>
              <a:t>DUAL-SPECTRAL SENSOR PAYLOAD </a:t>
            </a:r>
            <a:r>
              <a:rPr sz="1000">
                <a:solidFill>
                  <a:srgbClr val="64748B"/>
                </a:solidFill>
              </a:rPr>
              <a:t>· RAY-CASTING OPTICS</a:t>
            </a:r>
          </a:p>
        </p:txBody>
      </p:sp>
      <p:pic>
        <p:nvPicPr>
          <p:cNvPr id="10" name="Picture 9" descr="gimbal_sensor_macro_r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5486400" cy="306324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3445459" y="2938927"/>
            <a:ext cx="402336" cy="402336"/>
          </a:xfrm>
          <a:prstGeom prst="ellipse">
            <a:avLst/>
          </a:prstGeom>
          <a:solidFill>
            <a:srgbClr val="0284C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00323" y="2993791"/>
            <a:ext cx="292608" cy="29260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4405579" y="2975686"/>
            <a:ext cx="402336" cy="402336"/>
          </a:xfrm>
          <a:prstGeom prst="ellipse">
            <a:avLst/>
          </a:prstGeom>
          <a:solidFill>
            <a:srgbClr val="EA580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60443" y="3030550"/>
            <a:ext cx="292608" cy="292608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4762195" y="2938927"/>
            <a:ext cx="402336" cy="402336"/>
          </a:xfrm>
          <a:prstGeom prst="ellipse">
            <a:avLst/>
          </a:prstGeom>
          <a:solidFill>
            <a:srgbClr val="EA580C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17059" y="2993791"/>
            <a:ext cx="292608" cy="292608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4043476" y="3735369"/>
            <a:ext cx="402336" cy="402336"/>
          </a:xfrm>
          <a:prstGeom prst="ellipse">
            <a:avLst/>
          </a:prstGeom>
          <a:solidFill>
            <a:srgbClr val="0D9488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098340" y="3790233"/>
            <a:ext cx="292608" cy="292608"/>
          </a:xfrm>
          <a:prstGeom prst="ellipse">
            <a:avLst/>
          </a:prstGeom>
          <a:solidFill>
            <a:srgbClr val="0D948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Oval 18"/>
          <p:cNvSpPr/>
          <p:nvPr/>
        </p:nvSpPr>
        <p:spPr>
          <a:xfrm>
            <a:off x="2688336" y="2859283"/>
            <a:ext cx="402336" cy="402336"/>
          </a:xfrm>
          <a:prstGeom prst="ellipse">
            <a:avLst/>
          </a:prstGeom>
          <a:solidFill>
            <a:srgbClr val="7C3AED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743200" y="2914147"/>
            <a:ext cx="292608" cy="292608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Oval 20"/>
          <p:cNvSpPr/>
          <p:nvPr/>
        </p:nvSpPr>
        <p:spPr>
          <a:xfrm>
            <a:off x="2929737" y="1741200"/>
            <a:ext cx="402336" cy="402336"/>
          </a:xfrm>
          <a:prstGeom prst="ellipse">
            <a:avLst/>
          </a:prstGeom>
          <a:solidFill>
            <a:srgbClr val="0284C7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984601" y="1796064"/>
            <a:ext cx="292608" cy="29260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5029199"/>
            <a:ext cx="1737360" cy="1143000"/>
          </a:xfrm>
          <a:prstGeom prst="roundRect">
            <a:avLst/>
          </a:prstGeom>
          <a:solidFill>
            <a:srgbClr val="FFF7ED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THERMAL SENSITIVITY
</a:t>
            </a:r>
          </a:p>
          <a:p>
            <a:r>
              <a:rPr sz="1300" b="1">
                <a:solidFill>
                  <a:srgbClr val="EA580C"/>
                </a:solidFill>
              </a:rPr>
              <a:t>NETD &lt; 50 mK
</a:t>
            </a:r>
          </a:p>
          <a:p>
            <a:r>
              <a:rPr sz="850">
                <a:solidFill>
                  <a:srgbClr val="334155"/>
                </a:solidFill>
              </a:rPr>
              <a:t>8–14μm Uncooled Sensor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15184" y="5029199"/>
            <a:ext cx="1737360" cy="1143000"/>
          </a:xfrm>
          <a:prstGeom prst="roundRect">
            <a:avLst/>
          </a:prstGeom>
          <a:solidFill>
            <a:srgbClr val="F0FDFA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BIOLOGICAL GATE
</a:t>
            </a:r>
          </a:p>
          <a:p>
            <a:r>
              <a:rPr sz="1300" b="1">
                <a:solidFill>
                  <a:srgbClr val="0D9488"/>
                </a:solidFill>
              </a:rPr>
              <a:t>36.5°C – 37.5°C
</a:t>
            </a:r>
          </a:p>
          <a:p>
            <a:r>
              <a:rPr sz="850">
                <a:solidFill>
                  <a:srgbClr val="334155"/>
                </a:solidFill>
              </a:rPr>
              <a:t>Rejects Solar False Heat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5029199"/>
            <a:ext cx="1737360" cy="1143000"/>
          </a:xfrm>
          <a:prstGeom prst="roundRect">
            <a:avLst/>
          </a:prstGeom>
          <a:solidFill>
            <a:srgbClr val="F0F9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109728"/>
          <a:lstStyle/>
          <a:p>
            <a:pPr algn="ctr"/>
            <a:r>
              <a:rPr sz="850" b="1">
                <a:solidFill>
                  <a:srgbClr val="64748B"/>
                </a:solidFill>
              </a:rPr>
              <a:t>GEODETIC ACCURACY
</a:t>
            </a:r>
          </a:p>
          <a:p>
            <a:r>
              <a:rPr sz="1300" b="1">
                <a:solidFill>
                  <a:srgbClr val="0284C7"/>
                </a:solidFill>
              </a:rPr>
              <a:t>±2.1m SEP
</a:t>
            </a:r>
          </a:p>
          <a:p>
            <a:r>
              <a:rPr sz="850">
                <a:solidFill>
                  <a:srgbClr val="334155"/>
                </a:solidFill>
              </a:rPr>
              <a:t>WGS-84 Coordinate Output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10515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720840" y="10515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67144" y="1179576"/>
            <a:ext cx="310896" cy="310896"/>
          </a:xfrm>
          <a:prstGeom prst="ellipse">
            <a:avLst/>
          </a:prstGeom>
          <a:solidFill>
            <a:srgbClr val="0284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1192" y="11612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Daylight Optical 1080p Sensor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67144" y="15544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UVC Distortion-Free 120° FOV Lens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7144" y="18562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Captures high-resolution structural edge contours, survivor clothing colors, and physical hazard perimeters.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0" y="10515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326880" y="1051560"/>
            <a:ext cx="73152" cy="16642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473184" y="117957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232" y="11612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Radiometric LWIR Sensor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73184" y="15544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8–14μm Spectral Band · NETD &lt; 50 mK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73184" y="18562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Captures biological body heat through dust, fog, and nighttime darkness. Calibrated for 36.5°C–37.5°C human lock.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20840" y="28803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720840" y="2880360"/>
            <a:ext cx="73152" cy="16642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67144" y="3008376"/>
            <a:ext cx="310896" cy="310896"/>
          </a:xfrm>
          <a:prstGeom prst="ellipse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1192" y="29900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Anti-Reflective Germanium Lens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67144" y="33832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High Infrared Optical Transmittance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67144" y="36850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Precision coated germanium element eliminates solar glare reflections off corrugated tin roofs and wet mud.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26880" y="28803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326880" y="2880360"/>
            <a:ext cx="73152" cy="166420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473184" y="3008376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57232" y="29900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1D ToF Laser Altimeter Aperture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73184" y="33832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VL53L1X Rangefinder (Sub-cm Accuracy)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73184" y="36850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Fires downward laser pulse to measure true AGL ground clearance, eliminating barometric pressure drift on slopes.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720840" y="47091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720840" y="4709160"/>
            <a:ext cx="73152" cy="16642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67144" y="4837176"/>
            <a:ext cx="310896" cy="3108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51192" y="48188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2-Axis Brushless Gimbal Motors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67144" y="52120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Active Pitch &amp; Roll Compensation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67144" y="55138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Isolates the camera optical axis from UAV flight maneuvers, ensuring stable bounding-box tracking during gusts.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709160"/>
            <a:ext cx="242316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326880" y="47091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473184" y="4837176"/>
            <a:ext cx="310896" cy="310896"/>
          </a:xfrm>
          <a:prstGeom prst="ellipse">
            <a:avLst/>
          </a:prstGeom>
          <a:solidFill>
            <a:srgbClr val="0284C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57232" y="4818888"/>
            <a:ext cx="1801368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100">
                <a:solidFill>
                  <a:srgbClr val="0F172A"/>
                </a:solidFill>
              </a:rPr>
              <a:t>Tait-Bryan 6-DOF DCM Geodetics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473184" y="5212080"/>
            <a:ext cx="2130552" cy="237744"/>
          </a:xfrm>
          <a:prstGeom prst="round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b="1" sz="850">
                <a:solidFill>
                  <a:srgbClr val="334155"/>
                </a:solidFill>
              </a:rPr>
              <a:t>Camera Pixel ➔ WGS-84 (±2.1m SEP)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73184" y="5513832"/>
            <a:ext cx="213055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>
                <a:solidFill>
                  <a:srgbClr val="334155"/>
                </a:solidFill>
              </a:rPr>
              <a:t>Projects camera line-of-sight vector down to local DEM terrain grid without requiring dangerous overhead hover.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9164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1E293B"/>
                </a:solidFill>
                <a:latin typeface="Calibri"/>
              </a:rPr>
              <a:t>PHOENIX X · SIH26177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19456"/>
            <a:ext cx="6949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EA580C"/>
                </a:solidFill>
                <a:latin typeface="Calibri"/>
              </a:rPr>
              <a:t>REAL-TIME TARGET ACQUISITION · ZERO-VISIBILITY RECONNAISSANCE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38912"/>
            <a:ext cx="69494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00" b="1">
                <a:solidFill>
                  <a:srgbClr val="0F172A"/>
                </a:solidFill>
                <a:latin typeface="Calibri"/>
              </a:rPr>
              <a:t>How Phoenix X Detects Living Survivors Through Dense Smoke &amp; Debris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74320"/>
            <a:ext cx="2194560" cy="38404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EA580C"/>
                </a:solidFill>
                <a:latin typeface="Calibri"/>
              </a:rPr>
              <a:t>DUAL-BEAM TACTICAL HUD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7132320" cy="5349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hoenix_drone_dual_beam_a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6858000" cy="5074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09560" y="1051560"/>
            <a:ext cx="3730752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82880" tIns="128016"/>
          <a:lstStyle/>
          <a:p>
            <a:pPr algn="ctr"/>
            <a:r>
              <a:rPr b="1" sz="1100">
                <a:solidFill>
                  <a:srgbClr val="0F172A"/>
                </a:solidFill>
              </a:rPr>
              <a:t>1. DUAL-SPECTRAL CONICAL SENSING
</a:t>
            </a:r>
          </a:p>
          <a:p>
            <a:r>
              <a:rPr b="1" sz="850">
                <a:solidFill>
                  <a:srgbClr val="0284C7"/>
                </a:solidFill>
              </a:rPr>
              <a:t>Cyan Beam: 1080p Optical Geometry
Orange Beam: 8–14μm Radiometric LWIR
</a:t>
            </a:r>
          </a:p>
          <a:p>
            <a:r>
              <a:rPr sz="950">
                <a:solidFill>
                  <a:srgbClr val="475569"/>
                </a:solidFill>
              </a:rPr>
              <a:t>Standard RGB cameras blind at dusk and in smoke plumes. Phoenix X projects co-registered optical and thermal fields-of-view, continuously scanning rubble crevices for human infrared emissions.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10515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09560" y="2889504"/>
            <a:ext cx="3730752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82880" tIns="128016"/>
          <a:lstStyle/>
          <a:p>
            <a:pPr algn="ctr"/>
            <a:r>
              <a:rPr b="1" sz="1100">
                <a:solidFill>
                  <a:srgbClr val="0F172A"/>
                </a:solidFill>
              </a:rPr>
              <a:t>2. RADIOMETRIC CORE HEAT FILTER
</a:t>
            </a:r>
          </a:p>
          <a:p>
            <a:r>
              <a:rPr b="1" sz="850">
                <a:solidFill>
                  <a:srgbClr val="EA580C"/>
                </a:solidFill>
              </a:rPr>
              <a:t>Gated Detection: 36.5°C to 37.5°C
Noise Equivalent Temp Diff: NETD &lt; 50 mK
</a:t>
            </a:r>
          </a:p>
          <a:p>
            <a:r>
              <a:rPr sz="950">
                <a:solidFill>
                  <a:srgbClr val="475569"/>
                </a:solidFill>
              </a:rPr>
              <a:t>Solar radiation heats tin roofs, wet mud, and rocks to over 45°C. Phoenix X isolates true biological core temperature profiles, instantly discarding thermal false alarms before passing tensors to the NPU.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2889504"/>
            <a:ext cx="73152" cy="16642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09560" y="4727448"/>
            <a:ext cx="3730752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82880" tIns="128016"/>
          <a:lstStyle/>
          <a:p>
            <a:pPr algn="ctr"/>
            <a:r>
              <a:rPr b="1" sz="1100">
                <a:solidFill>
                  <a:srgbClr val="0F172A"/>
                </a:solidFill>
              </a:rPr>
              <a:t>3. 6-DOF TAIT-BRYAN RAY-CASTING
</a:t>
            </a:r>
          </a:p>
          <a:p>
            <a:r>
              <a:rPr b="1" sz="850">
                <a:solidFill>
                  <a:srgbClr val="0D9488"/>
                </a:solidFill>
              </a:rPr>
              <a:t>Optical-to-Ground Vector Projection
Accuracy: WGS-84 within ±2.1m SEP
</a:t>
            </a:r>
          </a:p>
          <a:p>
            <a:r>
              <a:rPr sz="950">
                <a:solidFill>
                  <a:srgbClr val="475569"/>
                </a:solidFill>
              </a:rPr>
              <a:t>Hovering overhead puts drones at risk of collision. The drone flies at an oblique standoff angle; its onboard NPU projects camera bounding-box pixels directly onto a local DEM elevation grid in &lt; 60 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4727448"/>
            <a:ext cx="73152" cy="166420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9164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1E293B"/>
                </a:solidFill>
                <a:latin typeface="Calibri"/>
              </a:rPr>
              <a:t>PHOENIX X · SIH26177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19456"/>
            <a:ext cx="6949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EA580C"/>
                </a:solidFill>
                <a:latin typeface="Calibri"/>
              </a:rPr>
              <a:t>INCIDENT COMMAND &amp; GIS ROUTING · FIRST RESPONDER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38912"/>
            <a:ext cx="69494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00" b="1">
                <a:solidFill>
                  <a:srgbClr val="0F172A"/>
                </a:solidFill>
                <a:latin typeface="Calibri"/>
              </a:rPr>
              <a:t>From Airborne Detection to Boots-on-Ground Extraction in &lt; 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74320"/>
            <a:ext cx="2194560" cy="384048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0D9488"/>
                </a:solidFill>
                <a:latin typeface="Calibri"/>
              </a:rPr>
              <a:t>TACTICAL RESCUE GCS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7132320" cy="5349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ctical_gcs_safe_route_tabl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6858000" cy="5074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09560" y="1051560"/>
            <a:ext cx="3730752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82880" tIns="128016"/>
          <a:lstStyle/>
          <a:p>
            <a:pPr algn="ctr"/>
            <a:r>
              <a:rPr b="1" sz="1100">
                <a:solidFill>
                  <a:srgbClr val="0F172A"/>
                </a:solidFill>
              </a:rPr>
              <a:t>1. 17-BYTE LORA PACKET INGESTION
</a:t>
            </a:r>
          </a:p>
          <a:p>
            <a:r>
              <a:rPr b="1" sz="850">
                <a:solidFill>
                  <a:srgbClr val="0284C7"/>
                </a:solidFill>
              </a:rPr>
              <a:t>Zero Cloud / Zero Internet Architecture
Air-Gapped Local Tactical Mesh (868 MHz)
</a:t>
            </a:r>
          </a:p>
          <a:p>
            <a:r>
              <a:rPr sz="950">
                <a:solidFill>
                  <a:srgbClr val="475569"/>
                </a:solidFill>
              </a:rPr>
              <a:t>Incoming telemetry packets unpack victim coordinates, biological body temperature (37.0°C), and triage status directly into the offline Leaflet GIS dashboard in milliseconds without commercial cellular service.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1051560"/>
            <a:ext cx="73152" cy="1664208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09560" y="2889504"/>
            <a:ext cx="3730752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82880" tIns="128016"/>
          <a:lstStyle/>
          <a:p>
            <a:pPr algn="ctr"/>
            <a:r>
              <a:rPr b="1" sz="1100">
                <a:solidFill>
                  <a:srgbClr val="0F172A"/>
                </a:solidFill>
              </a:rPr>
              <a:t>2. HAZARD-AWARE DIJKSTRA ROUTING
</a:t>
            </a:r>
          </a:p>
          <a:p>
            <a:r>
              <a:rPr b="1" sz="850">
                <a:solidFill>
                  <a:srgbClr val="E11D48"/>
                </a:solidFill>
              </a:rPr>
              <a:t>Dynamic Obstacle &amp; Danger Buffers
Avoids: 11kV Severed Wires, Landslides, Fires
</a:t>
            </a:r>
          </a:p>
          <a:p>
            <a:r>
              <a:rPr sz="950">
                <a:solidFill>
                  <a:srgbClr val="475569"/>
                </a:solidFill>
              </a:rPr>
              <a:t>Rescuers walking blindly into disaster zones suffer secondary casualties. Phoenix X plots an automated, hazard-weighted pedestrian extraction path navigating safely around verified hazards.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2889504"/>
            <a:ext cx="73152" cy="1664208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09560" y="4727448"/>
            <a:ext cx="3730752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82880" tIns="128016"/>
          <a:lstStyle/>
          <a:p>
            <a:pPr algn="ctr"/>
            <a:r>
              <a:rPr b="1" sz="1100">
                <a:solidFill>
                  <a:srgbClr val="0F172A"/>
                </a:solidFill>
              </a:rPr>
              <a:t>3. 5-MINUTE TACTICAL CYCLE
</a:t>
            </a:r>
          </a:p>
          <a:p>
            <a:r>
              <a:rPr b="1" sz="850">
                <a:solidFill>
                  <a:srgbClr val="0D9488"/>
                </a:solidFill>
              </a:rPr>
              <a:t>Golden 72 Hours Response Compression
Instant Triage Priority for NDRF / SDRF
</a:t>
            </a:r>
          </a:p>
          <a:p>
            <a:r>
              <a:rPr sz="950">
                <a:solidFill>
                  <a:srgbClr val="475569"/>
                </a:solidFill>
              </a:rPr>
              <a:t>What traditionally takes hours of agonizing, dangerous foot searches across square kilometers of debris is compressed into a rapid sub-5-minute autonomous sortie from unboxing to casualty recovery.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4727448"/>
            <a:ext cx="73152" cy="1664208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9164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1E293B"/>
                </a:solidFill>
                <a:latin typeface="Calibri"/>
              </a:rPr>
              <a:t>PHOENIX X · SIH26177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19456"/>
            <a:ext cx="6949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950" b="1">
                <a:solidFill>
                  <a:srgbClr val="EA580C"/>
                </a:solidFill>
                <a:latin typeface="Calibri"/>
              </a:rPr>
              <a:t>OPERATIONAL PIPELINE · ZERO-CONNECTIVITY RECONNAISSANCE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38912"/>
            <a:ext cx="69494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00" b="1">
                <a:solidFill>
                  <a:srgbClr val="0F172A"/>
                </a:solidFill>
                <a:latin typeface="Calibri"/>
              </a:rPr>
              <a:t>End-to-End Autonomous Reconnaissance &amp; Survivor Extraction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18320" y="274320"/>
            <a:ext cx="2194560" cy="384048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EA580C"/>
                </a:solidFill>
                <a:latin typeface="Calibri"/>
              </a:rPr>
              <a:t>RAPID SORTIE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2084831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868680"/>
          <a:lstStyle/>
          <a:p>
            <a:pPr algn="ctr"/>
            <a:r>
              <a:rPr b="1" sz="1100">
                <a:solidFill>
                  <a:srgbClr val="0F172A"/>
                </a:solidFill>
              </a:rPr>
              <a:t>1. RAPID SORTIE LAUNCH
</a:t>
            </a:r>
          </a:p>
          <a:p>
            <a:r>
              <a:rPr b="1" sz="950">
                <a:solidFill>
                  <a:srgbClr val="EA580C"/>
                </a:solidFill>
              </a:rPr>
              <a:t>&lt; 3 Minutes Deployment
</a:t>
            </a:r>
          </a:p>
          <a:p>
            <a:r>
              <a:rPr sz="950">
                <a:solidFill>
                  <a:srgbClr val="475569"/>
                </a:solidFill>
              </a:rPr>
              <a:t>Operator outlines 2 km² search polygon on offline tablet. UAV unboxes from rugged backpack and auto-launches.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143000"/>
            <a:ext cx="2084831" cy="73152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371600"/>
            <a:ext cx="475488" cy="475488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98063" y="1143000"/>
            <a:ext cx="2084831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868680"/>
          <a:lstStyle/>
          <a:p>
            <a:pPr algn="ctr"/>
            <a:r>
              <a:rPr b="1" sz="1100">
                <a:solidFill>
                  <a:srgbClr val="0F172A"/>
                </a:solidFill>
              </a:rPr>
              <a:t>2. BOUSTROPHEDON SWEEP
</a:t>
            </a:r>
          </a:p>
          <a:p>
            <a:r>
              <a:rPr b="1" sz="950">
                <a:solidFill>
                  <a:srgbClr val="0284C7"/>
                </a:solidFill>
              </a:rPr>
              <a:t>STM32U5 @ 250 Hz Loop
</a:t>
            </a:r>
          </a:p>
          <a:p>
            <a:r>
              <a:rPr sz="950">
                <a:solidFill>
                  <a:srgbClr val="475569"/>
                </a:solidFill>
              </a:rPr>
              <a:t>Autonomous lawnmower search trajectory at 25-30m AGL. 1D ToF laser altimeter maintains terrain contour following.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98063" y="1143000"/>
            <a:ext cx="2084831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980943" y="1371600"/>
            <a:ext cx="475488" cy="47548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6" y="1143000"/>
            <a:ext cx="2084831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868680"/>
          <a:lstStyle/>
          <a:p>
            <a:pPr algn="ctr"/>
            <a:r>
              <a:rPr b="1" sz="1100">
                <a:solidFill>
                  <a:srgbClr val="0F172A"/>
                </a:solidFill>
              </a:rPr>
              <a:t>3. 37°C THERMAL LOCK
</a:t>
            </a:r>
          </a:p>
          <a:p>
            <a:r>
              <a:rPr b="1" sz="950">
                <a:solidFill>
                  <a:srgbClr val="7C3AED"/>
                </a:solidFill>
              </a:rPr>
              <a:t>Qualcomm NPU (&lt; 5W)
</a:t>
            </a:r>
          </a:p>
          <a:p>
            <a:r>
              <a:rPr sz="950">
                <a:solidFill>
                  <a:srgbClr val="475569"/>
                </a:solidFill>
              </a:rPr>
              <a:t>Quantized INT8 YOLO model fuses daylight contours with radiometric 8-14μm body heat, spotting trapped survivors.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47486" y="1143000"/>
            <a:ext cx="2084831" cy="73152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0366" y="1371600"/>
            <a:ext cx="475488" cy="475488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96909" y="1143000"/>
            <a:ext cx="2084831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868680"/>
          <a:lstStyle/>
          <a:p>
            <a:pPr algn="ctr"/>
            <a:r>
              <a:rPr b="1" sz="1100">
                <a:solidFill>
                  <a:srgbClr val="0F172A"/>
                </a:solidFill>
              </a:rPr>
              <a:t>4. 17-BYTE LORA BURST
</a:t>
            </a:r>
          </a:p>
          <a:p>
            <a:r>
              <a:rPr b="1" sz="950">
                <a:solidFill>
                  <a:srgbClr val="0284C7"/>
                </a:solidFill>
              </a:rPr>
              <a:t>Souli et al. (Elsevier 2024)
</a:t>
            </a:r>
          </a:p>
          <a:p>
            <a:r>
              <a:rPr sz="950">
                <a:solidFill>
                  <a:srgbClr val="475569"/>
                </a:solidFill>
              </a:rPr>
              <a:t>Tait-Bryan ray-caster projects pixel to WGS-84 pin. Lat/Long/Temp compressed into 17-byte HMAC-SHA256 packet.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09" y="1143000"/>
            <a:ext cx="2084831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79789" y="1371600"/>
            <a:ext cx="475488" cy="475488"/>
          </a:xfrm>
          <a:prstGeom prst="ellipse">
            <a:avLst/>
          </a:prstGeom>
          <a:solidFill>
            <a:srgbClr val="0284C7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46332" y="1143000"/>
            <a:ext cx="2084831" cy="5120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101600" dist="25400" dir="5400000" algn="t" rotWithShape="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 tIns="868680"/>
          <a:lstStyle/>
          <a:p>
            <a:pPr algn="ctr"/>
            <a:r>
              <a:rPr b="1" sz="1100">
                <a:solidFill>
                  <a:srgbClr val="0F172A"/>
                </a:solidFill>
              </a:rPr>
              <a:t>5. SAFE ROUTE EXTRACTION
</a:t>
            </a:r>
          </a:p>
          <a:p>
            <a:r>
              <a:rPr b="1" sz="950">
                <a:solidFill>
                  <a:srgbClr val="0D9488"/>
                </a:solidFill>
              </a:rPr>
              <a:t>Hazard-Aware Dijkstra
</a:t>
            </a:r>
          </a:p>
          <a:p>
            <a:r>
              <a:rPr sz="950">
                <a:solidFill>
                  <a:srgbClr val="475569"/>
                </a:solidFill>
              </a:rPr>
              <a:t>Offline Ground Station instantly charts safe walking corridor bypassing 11kV wires directly to casualty.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46332" y="1143000"/>
            <a:ext cx="2084831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29212" y="1371600"/>
            <a:ext cx="475488" cy="475488"/>
          </a:xfrm>
          <a:prstGeom prst="ellipse">
            <a:avLst/>
          </a:prstGeom>
          <a:solidFill>
            <a:srgbClr val="0D9488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300">
                <a:solidFill>
                  <a:srgbClr val="FFFFFF"/>
                </a:solidFill>
              </a:rP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